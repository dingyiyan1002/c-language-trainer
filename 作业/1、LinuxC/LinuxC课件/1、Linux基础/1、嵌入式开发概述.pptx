
<file path=[Content_Types].xml><?xml version="1.0" encoding="utf-8"?>
<Types xmlns="http://schemas.openxmlformats.org/package/2006/content-types">
  <Default Extension="jpeg" ContentType="image/jpe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8" r:id="rId3"/>
    <p:sldId id="262" r:id="rId5"/>
    <p:sldId id="264" r:id="rId6"/>
    <p:sldId id="267" r:id="rId7"/>
    <p:sldId id="278" r:id="rId8"/>
    <p:sldId id="284" r:id="rId9"/>
    <p:sldId id="282" r:id="rId10"/>
    <p:sldId id="265" r:id="rId11"/>
    <p:sldId id="287" r:id="rId12"/>
    <p:sldId id="283" r:id="rId13"/>
    <p:sldId id="279" r:id="rId14"/>
    <p:sldId id="286" r:id="rId15"/>
    <p:sldId id="276" r:id="rId16"/>
    <p:sldId id="297" r:id="rId17"/>
    <p:sldId id="296" r:id="rId18"/>
    <p:sldId id="26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0E4"/>
    <a:srgbClr val="6AAFE6"/>
    <a:srgbClr val="D4D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08" y="696"/>
      </p:cViewPr>
      <p:guideLst>
        <p:guide pos="3840"/>
        <p:guide pos="214"/>
        <p:guide pos="7468"/>
        <p:guide orient="horz" pos="379"/>
        <p:guide orient="horz" pos="4004"/>
        <p:guide orient="horz" pos="786"/>
        <p:guide orient="horz" pos="219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7" b="2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843530" y="2967990"/>
            <a:ext cx="650494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  <a:cs typeface="+mn-ea"/>
                <a:sym typeface="+mn-lt"/>
              </a:rPr>
              <a:t>嵌入式开发概述</a:t>
            </a:r>
            <a:endParaRPr lang="zh-CN" altLang="en-US" sz="5400" b="1" dirty="0">
              <a:solidFill>
                <a:schemeClr val="bg2">
                  <a:lumMod val="50000"/>
                </a:schemeClr>
              </a:solidFill>
              <a:latin typeface="+mj-lt"/>
              <a:ea typeface="+mj-lt"/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17516" y="1063209"/>
            <a:ext cx="1756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目录</a:t>
            </a:r>
            <a:endParaRPr lang="zh-CN" altLang="en-US" sz="54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988577" y="2548679"/>
            <a:ext cx="3645351" cy="923330"/>
            <a:chOff x="1988577" y="2548679"/>
            <a:chExt cx="3645351" cy="923330"/>
          </a:xfrm>
        </p:grpSpPr>
        <p:sp>
          <p:nvSpPr>
            <p:cNvPr id="12" name="文本框 11"/>
            <p:cNvSpPr txBox="1"/>
            <p:nvPr/>
          </p:nvSpPr>
          <p:spPr>
            <a:xfrm>
              <a:off x="1988577" y="2548679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123138" y="2579457"/>
              <a:ext cx="2510790" cy="859525"/>
              <a:chOff x="3315584" y="3169020"/>
              <a:chExt cx="2510790" cy="85952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3315584" y="3169020"/>
                <a:ext cx="2510790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什么是嵌入式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315584" y="3692240"/>
                <a:ext cx="2011680" cy="3363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嵌入式的定义、应用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1988577" y="4298948"/>
            <a:ext cx="3590106" cy="923330"/>
            <a:chOff x="1988577" y="4080834"/>
            <a:chExt cx="3590106" cy="923330"/>
          </a:xfrm>
        </p:grpSpPr>
        <p:sp>
          <p:nvSpPr>
            <p:cNvPr id="17" name="文本框 16"/>
            <p:cNvSpPr txBox="1"/>
            <p:nvPr/>
          </p:nvSpPr>
          <p:spPr>
            <a:xfrm>
              <a:off x="1988577" y="4080834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3123138" y="4111612"/>
              <a:ext cx="2455545" cy="860405"/>
              <a:chOff x="3315584" y="3169020"/>
              <a:chExt cx="2455545" cy="860405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3315584" y="3169020"/>
                <a:ext cx="2135271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课程安排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315584" y="3692240"/>
                <a:ext cx="2455545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LinuxC</a:t>
                </a: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部分课程内容介绍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6832352" y="4298948"/>
            <a:ext cx="3670116" cy="923330"/>
            <a:chOff x="6832352" y="4080834"/>
            <a:chExt cx="3670116" cy="923330"/>
          </a:xfrm>
        </p:grpSpPr>
        <p:sp>
          <p:nvSpPr>
            <p:cNvPr id="22" name="文本框 21"/>
            <p:cNvSpPr txBox="1"/>
            <p:nvPr/>
          </p:nvSpPr>
          <p:spPr>
            <a:xfrm>
              <a:off x="6832352" y="4080834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7966913" y="4111612"/>
              <a:ext cx="2535555" cy="859525"/>
              <a:chOff x="3315584" y="3169020"/>
              <a:chExt cx="2535555" cy="859525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3315584" y="3169020"/>
                <a:ext cx="2535555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搭建开发环境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315584" y="3692240"/>
                <a:ext cx="1710055" cy="3363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</a:t>
                </a: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简介与安装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6832352" y="2548679"/>
            <a:ext cx="3349441" cy="923330"/>
            <a:chOff x="6832352" y="2548679"/>
            <a:chExt cx="3349441" cy="923330"/>
          </a:xfrm>
        </p:grpSpPr>
        <p:sp>
          <p:nvSpPr>
            <p:cNvPr id="27" name="文本框 26"/>
            <p:cNvSpPr txBox="1"/>
            <p:nvPr/>
          </p:nvSpPr>
          <p:spPr>
            <a:xfrm>
              <a:off x="6832352" y="2548679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7966913" y="2579457"/>
              <a:ext cx="2214880" cy="860405"/>
              <a:chOff x="3315584" y="3169020"/>
              <a:chExt cx="2214880" cy="86040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315584" y="3169020"/>
                <a:ext cx="1620957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求职方向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3315584" y="3692240"/>
                <a:ext cx="22148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嵌入式在商业中的应用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10" y="3151918"/>
              <a:ext cx="4242512" cy="1100417"/>
              <a:chOff x="5100210" y="3214515"/>
              <a:chExt cx="4242512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10" y="3214515"/>
                <a:ext cx="3061335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什么是嵌入式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嵌入式的定义、应用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87840" y="617719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嵌入式定义</a:t>
            </a:r>
            <a:endParaRPr lang="zh-CN" altLang="en-US" sz="3600" b="1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1175" y="1498709"/>
            <a:ext cx="11288380" cy="1753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2"/>
                </a:solidFill>
                <a:sym typeface="+mn-ea"/>
              </a:rPr>
              <a:t>以</a:t>
            </a:r>
            <a:r>
              <a:rPr lang="zh-CN" altLang="en-US" sz="2400" b="1" dirty="0">
                <a:solidFill>
                  <a:schemeClr val="tx2"/>
                </a:solidFill>
                <a:sym typeface="+mn-ea"/>
              </a:rPr>
              <a:t>应用为中心</a:t>
            </a:r>
            <a:r>
              <a:rPr lang="zh-CN" altLang="en-US" sz="2400" dirty="0">
                <a:solidFill>
                  <a:schemeClr val="tx2"/>
                </a:solidFill>
                <a:sym typeface="+mn-ea"/>
              </a:rPr>
              <a:t>、以</a:t>
            </a:r>
            <a:r>
              <a:rPr lang="zh-CN" altLang="en-US" sz="2400" b="1" dirty="0">
                <a:solidFill>
                  <a:schemeClr val="tx2"/>
                </a:solidFill>
                <a:sym typeface="+mn-ea"/>
              </a:rPr>
              <a:t>计算机技术</a:t>
            </a:r>
            <a:r>
              <a:rPr lang="zh-CN" altLang="en-US" sz="2400" dirty="0">
                <a:solidFill>
                  <a:schemeClr val="tx2"/>
                </a:solidFill>
                <a:sym typeface="+mn-ea"/>
              </a:rPr>
              <a:t>为基础，</a:t>
            </a:r>
            <a:r>
              <a:rPr lang="zh-CN" altLang="en-US" sz="2400" b="1" dirty="0">
                <a:solidFill>
                  <a:schemeClr val="tx2"/>
                </a:solidFill>
                <a:sym typeface="+mn-ea"/>
              </a:rPr>
              <a:t>软硬件可裁剪，</a:t>
            </a:r>
            <a:r>
              <a:rPr lang="zh-CN" altLang="en-US" sz="2400" dirty="0">
                <a:solidFill>
                  <a:schemeClr val="tx2"/>
                </a:solidFill>
                <a:sym typeface="+mn-ea"/>
              </a:rPr>
              <a:t>应用系统对功能、可靠性、成本、体积、功耗和应用环境有特殊要求的</a:t>
            </a:r>
            <a:r>
              <a:rPr lang="zh-CN" altLang="en-US" sz="2400" b="1" dirty="0">
                <a:solidFill>
                  <a:schemeClr val="tx2"/>
                </a:solidFill>
                <a:sym typeface="+mn-ea"/>
              </a:rPr>
              <a:t>专用计算机系统</a:t>
            </a:r>
            <a:r>
              <a:rPr lang="zh-CN" altLang="en-US" sz="2400" dirty="0">
                <a:solidFill>
                  <a:schemeClr val="tx2"/>
                </a:solidFill>
                <a:sym typeface="+mn-ea"/>
              </a:rPr>
              <a:t>。是</a:t>
            </a:r>
            <a:r>
              <a:rPr lang="zh-CN" altLang="en-US" sz="2400" b="1" dirty="0">
                <a:solidFill>
                  <a:schemeClr val="tx2"/>
                </a:solidFill>
                <a:sym typeface="+mn-ea"/>
              </a:rPr>
              <a:t>将应用程序、操作系统和计算机硬件集成在一起的系统。</a:t>
            </a:r>
            <a:endParaRPr lang="zh-CN" altLang="en-US" sz="2400" b="1" dirty="0">
              <a:solidFill>
                <a:schemeClr val="tx2"/>
              </a:solidFill>
              <a:cs typeface="+mn-ea"/>
              <a:sym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4" name="图片 3" descr="路由器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85" y="4185920"/>
            <a:ext cx="3587115" cy="2018665"/>
          </a:xfrm>
          <a:prstGeom prst="rect">
            <a:avLst/>
          </a:prstGeom>
        </p:spPr>
      </p:pic>
      <p:pic>
        <p:nvPicPr>
          <p:cNvPr id="5" name="图片 4" descr="手机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395" y="4185920"/>
            <a:ext cx="3585845" cy="2018665"/>
          </a:xfrm>
          <a:prstGeom prst="rect">
            <a:avLst/>
          </a:prstGeom>
        </p:spPr>
      </p:pic>
      <p:pic>
        <p:nvPicPr>
          <p:cNvPr id="6" name="图片 5" descr="净化器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400" y="4185920"/>
            <a:ext cx="3585845" cy="20186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503045" y="3519170"/>
            <a:ext cx="14833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/>
              <a:t>路由器</a:t>
            </a:r>
            <a:endParaRPr lang="zh-CN" altLang="en-US" sz="2000" b="1"/>
          </a:p>
        </p:txBody>
      </p:sp>
      <p:sp>
        <p:nvSpPr>
          <p:cNvPr id="11" name="文本框 10"/>
          <p:cNvSpPr txBox="1"/>
          <p:nvPr/>
        </p:nvSpPr>
        <p:spPr>
          <a:xfrm>
            <a:off x="5353685" y="3519170"/>
            <a:ext cx="14833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/>
              <a:t>智能手机</a:t>
            </a:r>
            <a:endParaRPr lang="zh-CN" altLang="en-US" sz="2000" b="1"/>
          </a:p>
        </p:txBody>
      </p:sp>
      <p:sp>
        <p:nvSpPr>
          <p:cNvPr id="12" name="文本框 11"/>
          <p:cNvSpPr txBox="1"/>
          <p:nvPr/>
        </p:nvSpPr>
        <p:spPr>
          <a:xfrm>
            <a:off x="9204325" y="3519170"/>
            <a:ext cx="14833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/>
              <a:t>空气净化器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39746" y="989984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智能硬件</a:t>
            </a:r>
            <a:endParaRPr lang="zh-CN" altLang="en-US" sz="3600" b="1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9746" y="1635218"/>
            <a:ext cx="5644190" cy="1337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小米手环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endParaRPr lang="en-US" altLang="zh-CN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Wingdings 2" panose="05020102010507070707" charset="0"/>
              </a:rPr>
              <a:t>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OLED显示屏            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Wingdings 2" panose="05020102010507070707" charset="0"/>
              </a:rPr>
              <a:t>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三轴加速度传感器</a:t>
            </a:r>
            <a:endParaRPr lang="en-US" altLang="zh-CN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Wingdings 2" panose="05020102010507070707" charset="0"/>
              </a:rPr>
              <a:t>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PPG心率传感器       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Wingdings 2" panose="05020102010507070707" charset="0"/>
              </a:rPr>
              <a:t>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蓝牙4.2BLE</a:t>
            </a:r>
            <a:endParaRPr lang="en-US" altLang="zh-CN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706327" y="3814048"/>
            <a:ext cx="4799556" cy="2168525"/>
            <a:chOff x="7057482" y="3879453"/>
            <a:chExt cx="4799556" cy="2168525"/>
          </a:xfrm>
        </p:grpSpPr>
        <p:sp>
          <p:nvSpPr>
            <p:cNvPr id="14" name="文本框 13"/>
            <p:cNvSpPr txBox="1"/>
            <p:nvPr/>
          </p:nvSpPr>
          <p:spPr>
            <a:xfrm>
              <a:off x="7057482" y="4911366"/>
              <a:ext cx="479955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057482" y="3879453"/>
              <a:ext cx="4799556" cy="2168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四轴飞行器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视觉处理单元：嵌入式深度神经网络、位姿估算、手势跟踪；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主控芯片：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ST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公司的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ARM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或者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INTEL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无人机专用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CPU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。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4" name="图片 3" descr="手环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635" y="443865"/>
            <a:ext cx="5408930" cy="2985135"/>
          </a:xfrm>
          <a:prstGeom prst="rect">
            <a:avLst/>
          </a:prstGeom>
        </p:spPr>
      </p:pic>
      <p:pic>
        <p:nvPicPr>
          <p:cNvPr id="5" name="图片 4" descr="无人机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650" y="3439795"/>
            <a:ext cx="5340985" cy="2916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10" y="3151918"/>
              <a:ext cx="4242512" cy="1100417"/>
              <a:chOff x="5100210" y="3214515"/>
              <a:chExt cx="4242512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10" y="3214515"/>
                <a:ext cx="2358390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求职方向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嵌入式在商业中的应用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87840" y="617719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嵌入式应用领域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4618355" y="3167380"/>
            <a:ext cx="2707640" cy="1283970"/>
            <a:chOff x="7273" y="5158"/>
            <a:chExt cx="4264" cy="2022"/>
          </a:xfrm>
        </p:grpSpPr>
        <p:sp>
          <p:nvSpPr>
            <p:cNvPr id="4" name="椭圆 3"/>
            <p:cNvSpPr/>
            <p:nvPr/>
          </p:nvSpPr>
          <p:spPr>
            <a:xfrm>
              <a:off x="7273" y="5158"/>
              <a:ext cx="4264" cy="2023"/>
            </a:xfrm>
            <a:prstGeom prst="ellipse">
              <a:avLst/>
            </a:prstGeom>
            <a:solidFill>
              <a:srgbClr val="6AAFE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418" y="5807"/>
              <a:ext cx="397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/>
                <a:t>嵌入式应用领域</a:t>
              </a:r>
              <a:endParaRPr lang="zh-CN" altLang="en-US" sz="2400"/>
            </a:p>
          </p:txBody>
        </p:sp>
      </p:grpSp>
      <p:sp>
        <p:nvSpPr>
          <p:cNvPr id="15" name="矩形 14"/>
          <p:cNvSpPr/>
          <p:nvPr/>
        </p:nvSpPr>
        <p:spPr>
          <a:xfrm>
            <a:off x="5001260" y="1863725"/>
            <a:ext cx="1942465" cy="520065"/>
          </a:xfrm>
          <a:prstGeom prst="rect">
            <a:avLst/>
          </a:prstGeom>
          <a:solidFill>
            <a:srgbClr val="8EC0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567045" y="1362075"/>
            <a:ext cx="810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/>
              <a:t>军事</a:t>
            </a:r>
            <a:endParaRPr lang="zh-CN" altLang="en-US" sz="2000"/>
          </a:p>
        </p:txBody>
      </p:sp>
      <p:sp>
        <p:nvSpPr>
          <p:cNvPr id="43" name="文本框 42"/>
          <p:cNvSpPr txBox="1"/>
          <p:nvPr/>
        </p:nvSpPr>
        <p:spPr>
          <a:xfrm>
            <a:off x="5337810" y="1939290"/>
            <a:ext cx="1269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军事电子</a:t>
            </a:r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153400" y="1771015"/>
            <a:ext cx="1941830" cy="3319780"/>
            <a:chOff x="12605" y="3174"/>
            <a:chExt cx="3058" cy="5228"/>
          </a:xfrm>
        </p:grpSpPr>
        <p:sp>
          <p:nvSpPr>
            <p:cNvPr id="33" name="矩形 32"/>
            <p:cNvSpPr/>
            <p:nvPr/>
          </p:nvSpPr>
          <p:spPr>
            <a:xfrm>
              <a:off x="12605" y="4027"/>
              <a:ext cx="3059" cy="819"/>
            </a:xfrm>
            <a:prstGeom prst="rect">
              <a:avLst/>
            </a:prstGeom>
            <a:solidFill>
              <a:srgbClr val="8EC0E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2605" y="5158"/>
              <a:ext cx="3059" cy="819"/>
            </a:xfrm>
            <a:prstGeom prst="rect">
              <a:avLst/>
            </a:prstGeom>
            <a:solidFill>
              <a:srgbClr val="8EC0E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12605" y="6362"/>
              <a:ext cx="3059" cy="819"/>
            </a:xfrm>
            <a:prstGeom prst="rect">
              <a:avLst/>
            </a:prstGeom>
            <a:solidFill>
              <a:srgbClr val="8EC0E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2605" y="7584"/>
              <a:ext cx="3059" cy="819"/>
            </a:xfrm>
            <a:prstGeom prst="rect">
              <a:avLst/>
            </a:prstGeom>
            <a:solidFill>
              <a:srgbClr val="8EC0E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014" y="3174"/>
              <a:ext cx="224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/>
                <a:t>消费电子</a:t>
              </a:r>
              <a:endParaRPr lang="zh-CN" altLang="en-US" sz="200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169" y="4146"/>
              <a:ext cx="19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信息家电</a:t>
              </a:r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3015" y="5278"/>
              <a:ext cx="22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智能玩具</a:t>
              </a:r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2929" y="6482"/>
              <a:ext cx="24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通信设备</a:t>
              </a:r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2990" y="7703"/>
              <a:ext cx="22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移动存储</a:t>
              </a:r>
              <a:endParaRPr lang="zh-CN" altLang="en-US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069715" y="5091430"/>
            <a:ext cx="3884295" cy="1099185"/>
            <a:chOff x="6120" y="8017"/>
            <a:chExt cx="6117" cy="1731"/>
          </a:xfrm>
        </p:grpSpPr>
        <p:sp>
          <p:nvSpPr>
            <p:cNvPr id="37" name="矩形 36"/>
            <p:cNvSpPr/>
            <p:nvPr/>
          </p:nvSpPr>
          <p:spPr>
            <a:xfrm>
              <a:off x="6120" y="8017"/>
              <a:ext cx="3059" cy="819"/>
            </a:xfrm>
            <a:prstGeom prst="rect">
              <a:avLst/>
            </a:prstGeom>
            <a:solidFill>
              <a:srgbClr val="8EC0E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9179" y="8017"/>
              <a:ext cx="3059" cy="819"/>
            </a:xfrm>
            <a:prstGeom prst="rect">
              <a:avLst/>
            </a:prstGeom>
            <a:solidFill>
              <a:srgbClr val="8EC0E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876" y="9120"/>
              <a:ext cx="269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/>
                <a:t>网络</a:t>
              </a:r>
              <a:endParaRPr lang="zh-CN" altLang="en-US" sz="200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28" y="8137"/>
              <a:ext cx="284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网络设备</a:t>
              </a:r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9203" y="8136"/>
              <a:ext cx="30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网络安全</a:t>
              </a:r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839595" y="1981835"/>
            <a:ext cx="1941830" cy="2589530"/>
            <a:chOff x="2800" y="3417"/>
            <a:chExt cx="3058" cy="4078"/>
          </a:xfrm>
        </p:grpSpPr>
        <p:sp>
          <p:nvSpPr>
            <p:cNvPr id="39" name="矩形 38"/>
            <p:cNvSpPr/>
            <p:nvPr/>
          </p:nvSpPr>
          <p:spPr>
            <a:xfrm>
              <a:off x="2800" y="4339"/>
              <a:ext cx="3059" cy="819"/>
            </a:xfrm>
            <a:prstGeom prst="rect">
              <a:avLst/>
            </a:prstGeom>
            <a:solidFill>
              <a:srgbClr val="8EC0E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800" y="5543"/>
              <a:ext cx="3059" cy="819"/>
            </a:xfrm>
            <a:prstGeom prst="rect">
              <a:avLst/>
            </a:prstGeom>
            <a:solidFill>
              <a:srgbClr val="8EC0E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281" y="3417"/>
              <a:ext cx="209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/>
                <a:t>工业控制</a:t>
              </a:r>
              <a:endParaRPr lang="zh-CN" altLang="en-US" sz="2000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3221" y="4458"/>
              <a:ext cx="22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汽车电子</a:t>
              </a:r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3453" y="5709"/>
              <a:ext cx="17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工控设备</a:t>
              </a:r>
              <a:endParaRPr lang="zh-CN" altLang="en-US"/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2800" y="6677"/>
              <a:ext cx="3058" cy="818"/>
              <a:chOff x="2800" y="7079"/>
              <a:chExt cx="3058" cy="818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2800" y="7079"/>
                <a:ext cx="3059" cy="819"/>
              </a:xfrm>
              <a:prstGeom prst="rect">
                <a:avLst/>
              </a:prstGeom>
              <a:solidFill>
                <a:srgbClr val="8EC0E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3305" y="7198"/>
                <a:ext cx="20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智能仪表</a:t>
                </a:r>
                <a:endParaRPr lang="zh-CN" altLang="en-US"/>
              </a:p>
            </p:txBody>
          </p:sp>
        </p:grpSp>
      </p:grpSp>
      <p:cxnSp>
        <p:nvCxnSpPr>
          <p:cNvPr id="61" name="直接箭头连接符 60"/>
          <p:cNvCxnSpPr>
            <a:stCxn id="4" idx="1"/>
            <a:endCxn id="39" idx="3"/>
          </p:cNvCxnSpPr>
          <p:nvPr/>
        </p:nvCxnSpPr>
        <p:spPr>
          <a:xfrm flipH="1" flipV="1">
            <a:off x="3782060" y="2827655"/>
            <a:ext cx="1232535" cy="527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5" idx="1"/>
            <a:endCxn id="40" idx="3"/>
          </p:cNvCxnSpPr>
          <p:nvPr/>
        </p:nvCxnSpPr>
        <p:spPr>
          <a:xfrm flipH="1" flipV="1">
            <a:off x="3782060" y="3592195"/>
            <a:ext cx="928370" cy="217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4" idx="3"/>
            <a:endCxn id="41" idx="3"/>
          </p:cNvCxnSpPr>
          <p:nvPr/>
        </p:nvCxnSpPr>
        <p:spPr>
          <a:xfrm flipH="1">
            <a:off x="3782060" y="4264025"/>
            <a:ext cx="1232535" cy="482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4" idx="0"/>
            <a:endCxn id="15" idx="2"/>
          </p:cNvCxnSpPr>
          <p:nvPr/>
        </p:nvCxnSpPr>
        <p:spPr>
          <a:xfrm flipV="1">
            <a:off x="5972175" y="2383790"/>
            <a:ext cx="635" cy="7835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endCxn id="37" idx="0"/>
          </p:cNvCxnSpPr>
          <p:nvPr/>
        </p:nvCxnSpPr>
        <p:spPr>
          <a:xfrm flipH="1">
            <a:off x="5041265" y="4468495"/>
            <a:ext cx="373380" cy="6229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endCxn id="38" idx="0"/>
          </p:cNvCxnSpPr>
          <p:nvPr/>
        </p:nvCxnSpPr>
        <p:spPr>
          <a:xfrm>
            <a:off x="6592570" y="4438015"/>
            <a:ext cx="391160" cy="653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endCxn id="33" idx="1"/>
          </p:cNvCxnSpPr>
          <p:nvPr/>
        </p:nvCxnSpPr>
        <p:spPr>
          <a:xfrm flipV="1">
            <a:off x="6531610" y="2573020"/>
            <a:ext cx="1621790" cy="579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endCxn id="34" idx="1"/>
          </p:cNvCxnSpPr>
          <p:nvPr/>
        </p:nvCxnSpPr>
        <p:spPr>
          <a:xfrm flipV="1">
            <a:off x="7173595" y="3291205"/>
            <a:ext cx="979805" cy="198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" idx="6"/>
            <a:endCxn id="35" idx="1"/>
          </p:cNvCxnSpPr>
          <p:nvPr/>
        </p:nvCxnSpPr>
        <p:spPr>
          <a:xfrm>
            <a:off x="7325995" y="3810000"/>
            <a:ext cx="827405" cy="2457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4" idx="5"/>
            <a:endCxn id="36" idx="1"/>
          </p:cNvCxnSpPr>
          <p:nvPr/>
        </p:nvCxnSpPr>
        <p:spPr>
          <a:xfrm>
            <a:off x="6929755" y="4264025"/>
            <a:ext cx="1223645" cy="567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90150" y="602479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求职方向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8418733" y="1966505"/>
            <a:ext cx="2935067" cy="4661734"/>
            <a:chOff x="8418733" y="1788705"/>
            <a:chExt cx="2935067" cy="4661734"/>
          </a:xfrm>
        </p:grpSpPr>
        <p:grpSp>
          <p:nvGrpSpPr>
            <p:cNvPr id="6" name="组合 5"/>
            <p:cNvGrpSpPr/>
            <p:nvPr/>
          </p:nvGrpSpPr>
          <p:grpSpPr>
            <a:xfrm>
              <a:off x="8864476" y="1788705"/>
              <a:ext cx="2043583" cy="2224346"/>
              <a:chOff x="9033334" y="1788705"/>
              <a:chExt cx="2043583" cy="2224346"/>
            </a:xfrm>
          </p:grpSpPr>
          <p:sp>
            <p:nvSpPr>
              <p:cNvPr id="12" name="梯形 11"/>
              <p:cNvSpPr/>
              <p:nvPr/>
            </p:nvSpPr>
            <p:spPr>
              <a:xfrm rot="5400000">
                <a:off x="8942952" y="1879086"/>
                <a:ext cx="2224346" cy="2043583"/>
              </a:xfrm>
              <a:prstGeom prst="trapezoid">
                <a:avLst/>
              </a:prstGeom>
              <a:solidFill>
                <a:srgbClr val="8EC0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9252733" y="2425272"/>
                <a:ext cx="1605280" cy="953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1"/>
                    </a:solidFill>
                  </a:rPr>
                  <a:t>技术支持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  <a:p>
                <a:r>
                  <a:rPr lang="zh-CN" altLang="en-US" sz="2800" dirty="0">
                    <a:solidFill>
                      <a:schemeClr val="bg1"/>
                    </a:solidFill>
                  </a:rPr>
                  <a:t>软件实施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8418733" y="4418379"/>
              <a:ext cx="2935067" cy="2032060"/>
              <a:chOff x="523215" y="4089251"/>
              <a:chExt cx="2935067" cy="2032060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1255450" y="4089251"/>
                <a:ext cx="1470597" cy="460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4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任职要求</a:t>
                </a:r>
                <a:endParaRPr lang="zh-CN" altLang="en-US" sz="2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523215" y="4552861"/>
                <a:ext cx="2935067" cy="1568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掌握</a:t>
                </a:r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</a:t>
                </a: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基本操作；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有一定的网络知识，具有基本的网络故障排查能力；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具备强的动手、沟通能力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4493341" y="1966505"/>
            <a:ext cx="2935067" cy="4457899"/>
            <a:chOff x="4027746" y="1788705"/>
            <a:chExt cx="2935067" cy="4457899"/>
          </a:xfrm>
        </p:grpSpPr>
        <p:grpSp>
          <p:nvGrpSpPr>
            <p:cNvPr id="24" name="组合 23"/>
            <p:cNvGrpSpPr/>
            <p:nvPr/>
          </p:nvGrpSpPr>
          <p:grpSpPr>
            <a:xfrm>
              <a:off x="4473178" y="1788705"/>
              <a:ext cx="2090067" cy="2224346"/>
              <a:chOff x="3561841" y="1788705"/>
              <a:chExt cx="2090067" cy="2224346"/>
            </a:xfrm>
          </p:grpSpPr>
          <p:sp>
            <p:nvSpPr>
              <p:cNvPr id="11" name="梯形 10"/>
              <p:cNvSpPr/>
              <p:nvPr/>
            </p:nvSpPr>
            <p:spPr>
              <a:xfrm rot="5400000">
                <a:off x="3471770" y="1879086"/>
                <a:ext cx="2224346" cy="2043583"/>
              </a:xfrm>
              <a:prstGeom prst="trapezoid">
                <a:avLst/>
              </a:prstGeom>
              <a:solidFill>
                <a:srgbClr val="6AAF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561841" y="2640537"/>
                <a:ext cx="2090067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</a:rPr>
                  <a:t>C/C++</a:t>
                </a:r>
                <a:r>
                  <a:rPr lang="zh-CN" altLang="en-US" sz="2800" dirty="0">
                    <a:solidFill>
                      <a:schemeClr val="bg1"/>
                    </a:solidFill>
                  </a:rPr>
                  <a:t>开发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4027746" y="4217719"/>
              <a:ext cx="2935067" cy="2028885"/>
              <a:chOff x="523215" y="3888591"/>
              <a:chExt cx="2935067" cy="2028885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1255450" y="3888591"/>
                <a:ext cx="1470597" cy="460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4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任职要求</a:t>
                </a:r>
                <a:endParaRPr lang="zh-CN" altLang="en-US" sz="2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523215" y="4349026"/>
                <a:ext cx="2935067" cy="1568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熟练掌握</a:t>
                </a:r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C/C++</a:t>
                </a: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设计语言；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至少熟悉一种数据库；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熟练使用</a:t>
                </a:r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</a:t>
                </a: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操作系统，能完成</a:t>
                </a:r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</a:t>
                </a: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下的开发任务。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567949" y="1966505"/>
            <a:ext cx="3639185" cy="4661674"/>
            <a:chOff x="567949" y="1788705"/>
            <a:chExt cx="3639185" cy="4661674"/>
          </a:xfrm>
        </p:grpSpPr>
        <p:grpSp>
          <p:nvGrpSpPr>
            <p:cNvPr id="4" name="组合 3"/>
            <p:cNvGrpSpPr/>
            <p:nvPr/>
          </p:nvGrpSpPr>
          <p:grpSpPr>
            <a:xfrm>
              <a:off x="1013692" y="1788705"/>
              <a:ext cx="2043583" cy="2224346"/>
              <a:chOff x="580170" y="1788705"/>
              <a:chExt cx="2043583" cy="2224346"/>
            </a:xfrm>
          </p:grpSpPr>
          <p:sp>
            <p:nvSpPr>
              <p:cNvPr id="10" name="梯形 9"/>
              <p:cNvSpPr/>
              <p:nvPr/>
            </p:nvSpPr>
            <p:spPr>
              <a:xfrm rot="5400000">
                <a:off x="489788" y="1879086"/>
                <a:ext cx="2224346" cy="2043583"/>
              </a:xfrm>
              <a:prstGeom prst="trapezoid">
                <a:avLst/>
              </a:prstGeom>
              <a:solidFill>
                <a:srgbClr val="8EC0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662409" y="2639267"/>
                <a:ext cx="196088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1"/>
                    </a:solidFill>
                  </a:rPr>
                  <a:t>嵌入式开发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567949" y="4418379"/>
              <a:ext cx="3639185" cy="2032000"/>
              <a:chOff x="523215" y="4089251"/>
              <a:chExt cx="3639185" cy="2032000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1254815" y="4089251"/>
                <a:ext cx="1470597" cy="460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4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任职要求</a:t>
                </a:r>
                <a:endParaRPr lang="zh-CN" altLang="en-US" sz="2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523215" y="4552801"/>
                <a:ext cx="3639185" cy="1568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精通 C/C++ 熟悉面向对象；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精通STM32系列处理器；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熟悉</a:t>
                </a:r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</a:t>
                </a: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嵌入式操作系统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熟悉FreeRTOS 架构的软件设计；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09" y="3151918"/>
              <a:ext cx="4242513" cy="1100417"/>
              <a:chOff x="5100209" y="3214515"/>
              <a:chExt cx="4242513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09" y="3214515"/>
                <a:ext cx="2290361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课程安排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LinuxC</a:t>
                </a: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部分课程内容介绍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61170" y="617719"/>
            <a:ext cx="34696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LinuxC</a:t>
            </a:r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课程内容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1069731" y="2303936"/>
            <a:ext cx="2968805" cy="3922005"/>
            <a:chOff x="1069731" y="1845790"/>
            <a:chExt cx="2968805" cy="3922005"/>
          </a:xfrm>
        </p:grpSpPr>
        <p:sp>
          <p:nvSpPr>
            <p:cNvPr id="59" name="矩形: 圆角 58"/>
            <p:cNvSpPr/>
            <p:nvPr/>
          </p:nvSpPr>
          <p:spPr>
            <a:xfrm>
              <a:off x="1069731" y="1845790"/>
              <a:ext cx="2897436" cy="392200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rgbClr val="8EC0E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1113091" y="2351169"/>
              <a:ext cx="2925445" cy="3104682"/>
              <a:chOff x="1113091" y="2550625"/>
              <a:chExt cx="2925445" cy="3104682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1113091" y="3532885"/>
                <a:ext cx="2925445" cy="2122422"/>
                <a:chOff x="1123013" y="3433095"/>
                <a:chExt cx="2925445" cy="2122422"/>
              </a:xfrm>
            </p:grpSpPr>
            <p:sp>
              <p:nvSpPr>
                <p:cNvPr id="63" name="文本框 62"/>
                <p:cNvSpPr txBox="1"/>
                <p:nvPr/>
              </p:nvSpPr>
              <p:spPr>
                <a:xfrm>
                  <a:off x="2030035" y="3433095"/>
                  <a:ext cx="997585" cy="4603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C</a:t>
                  </a:r>
                  <a:r>
                    <a:rPr lang="zh-CN" altLang="en-US" sz="2400" b="1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语言</a:t>
                  </a:r>
                  <a:endParaRPr lang="zh-CN" altLang="en-US" sz="2400" b="1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1123013" y="4228750"/>
                  <a:ext cx="2925445" cy="13267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en-US" altLang="zh-CN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C</a:t>
                  </a:r>
                  <a:r>
                    <a:rPr lang="zh-CN" altLang="en-US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语言是嵌入式开发必备语言，是后面所有课程的基础。学完</a:t>
                  </a:r>
                  <a:r>
                    <a:rPr lang="en-US" altLang="zh-CN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C</a:t>
                  </a:r>
                  <a:r>
                    <a:rPr lang="zh-CN" altLang="en-US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语言需要积累</a:t>
                  </a:r>
                  <a:r>
                    <a:rPr lang="en-US" altLang="zh-CN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5000</a:t>
                  </a:r>
                  <a:r>
                    <a:rPr lang="zh-CN" altLang="en-US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行代码，完成一个</a:t>
                  </a:r>
                  <a:r>
                    <a:rPr lang="en-US" altLang="zh-CN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500</a:t>
                  </a:r>
                  <a:r>
                    <a:rPr lang="zh-CN" altLang="en-US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行代码的项目。</a:t>
                  </a:r>
                  <a:endPara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2" name="太阳形 44"/>
              <p:cNvSpPr>
                <a:spLocks noChangeArrowheads="1"/>
              </p:cNvSpPr>
              <p:nvPr/>
            </p:nvSpPr>
            <p:spPr bwMode="auto">
              <a:xfrm>
                <a:off x="2176449" y="2550625"/>
                <a:ext cx="684000" cy="672388"/>
              </a:xfrm>
              <a:custGeom>
                <a:avLst/>
                <a:gdLst>
                  <a:gd name="connsiteX0" fmla="*/ 385710 w 608838"/>
                  <a:gd name="connsiteY0" fmla="*/ 348311 h 596560"/>
                  <a:gd name="connsiteX1" fmla="*/ 413544 w 608838"/>
                  <a:gd name="connsiteY1" fmla="*/ 348311 h 596560"/>
                  <a:gd name="connsiteX2" fmla="*/ 427485 w 608838"/>
                  <a:gd name="connsiteY2" fmla="*/ 348311 h 596560"/>
                  <a:gd name="connsiteX3" fmla="*/ 427485 w 608838"/>
                  <a:gd name="connsiteY3" fmla="*/ 390015 h 596560"/>
                  <a:gd name="connsiteX4" fmla="*/ 385710 w 608838"/>
                  <a:gd name="connsiteY4" fmla="*/ 390015 h 596560"/>
                  <a:gd name="connsiteX5" fmla="*/ 385710 w 608838"/>
                  <a:gd name="connsiteY5" fmla="*/ 355881 h 596560"/>
                  <a:gd name="connsiteX6" fmla="*/ 351898 w 608838"/>
                  <a:gd name="connsiteY6" fmla="*/ 304981 h 596560"/>
                  <a:gd name="connsiteX7" fmla="*/ 351898 w 608838"/>
                  <a:gd name="connsiteY7" fmla="*/ 305969 h 596560"/>
                  <a:gd name="connsiteX8" fmla="*/ 351898 w 608838"/>
                  <a:gd name="connsiteY8" fmla="*/ 320924 h 596560"/>
                  <a:gd name="connsiteX9" fmla="*/ 351898 w 608838"/>
                  <a:gd name="connsiteY9" fmla="*/ 343028 h 596560"/>
                  <a:gd name="connsiteX10" fmla="*/ 351898 w 608838"/>
                  <a:gd name="connsiteY10" fmla="*/ 365132 h 596560"/>
                  <a:gd name="connsiteX11" fmla="*/ 351898 w 608838"/>
                  <a:gd name="connsiteY11" fmla="*/ 431348 h 596560"/>
                  <a:gd name="connsiteX12" fmla="*/ 526975 w 608838"/>
                  <a:gd name="connsiteY12" fmla="*/ 431348 h 596560"/>
                  <a:gd name="connsiteX13" fmla="*/ 548359 w 608838"/>
                  <a:gd name="connsiteY13" fmla="*/ 431348 h 596560"/>
                  <a:gd name="connsiteX14" fmla="*/ 566164 w 608838"/>
                  <a:gd name="connsiteY14" fmla="*/ 431348 h 596560"/>
                  <a:gd name="connsiteX15" fmla="*/ 566164 w 608838"/>
                  <a:gd name="connsiteY15" fmla="*/ 304981 h 596560"/>
                  <a:gd name="connsiteX16" fmla="*/ 551138 w 608838"/>
                  <a:gd name="connsiteY16" fmla="*/ 304981 h 596560"/>
                  <a:gd name="connsiteX17" fmla="*/ 548359 w 608838"/>
                  <a:gd name="connsiteY17" fmla="*/ 304981 h 596560"/>
                  <a:gd name="connsiteX18" fmla="*/ 526975 w 608838"/>
                  <a:gd name="connsiteY18" fmla="*/ 304981 h 596560"/>
                  <a:gd name="connsiteX19" fmla="*/ 491507 w 608838"/>
                  <a:gd name="connsiteY19" fmla="*/ 304981 h 596560"/>
                  <a:gd name="connsiteX20" fmla="*/ 410445 w 608838"/>
                  <a:gd name="connsiteY20" fmla="*/ 304981 h 596560"/>
                  <a:gd name="connsiteX21" fmla="*/ 353829 w 608838"/>
                  <a:gd name="connsiteY21" fmla="*/ 304981 h 596560"/>
                  <a:gd name="connsiteX22" fmla="*/ 42721 w 608838"/>
                  <a:gd name="connsiteY22" fmla="*/ 184494 h 596560"/>
                  <a:gd name="connsiteX23" fmla="*/ 42721 w 608838"/>
                  <a:gd name="connsiteY23" fmla="*/ 190513 h 596560"/>
                  <a:gd name="connsiteX24" fmla="*/ 42721 w 608838"/>
                  <a:gd name="connsiteY24" fmla="*/ 234297 h 596560"/>
                  <a:gd name="connsiteX25" fmla="*/ 42721 w 608838"/>
                  <a:gd name="connsiteY25" fmla="*/ 240693 h 596560"/>
                  <a:gd name="connsiteX26" fmla="*/ 42721 w 608838"/>
                  <a:gd name="connsiteY26" fmla="*/ 321677 h 596560"/>
                  <a:gd name="connsiteX27" fmla="*/ 42721 w 608838"/>
                  <a:gd name="connsiteY27" fmla="*/ 553905 h 596560"/>
                  <a:gd name="connsiteX28" fmla="*/ 526975 w 608838"/>
                  <a:gd name="connsiteY28" fmla="*/ 553905 h 596560"/>
                  <a:gd name="connsiteX29" fmla="*/ 526975 w 608838"/>
                  <a:gd name="connsiteY29" fmla="*/ 474003 h 596560"/>
                  <a:gd name="connsiteX30" fmla="*/ 309176 w 608838"/>
                  <a:gd name="connsiteY30" fmla="*/ 474003 h 596560"/>
                  <a:gd name="connsiteX31" fmla="*/ 309176 w 608838"/>
                  <a:gd name="connsiteY31" fmla="*/ 376748 h 596560"/>
                  <a:gd name="connsiteX32" fmla="*/ 309176 w 608838"/>
                  <a:gd name="connsiteY32" fmla="*/ 354691 h 596560"/>
                  <a:gd name="connsiteX33" fmla="*/ 309176 w 608838"/>
                  <a:gd name="connsiteY33" fmla="*/ 332587 h 596560"/>
                  <a:gd name="connsiteX34" fmla="*/ 309176 w 608838"/>
                  <a:gd name="connsiteY34" fmla="*/ 327085 h 596560"/>
                  <a:gd name="connsiteX35" fmla="*/ 309176 w 608838"/>
                  <a:gd name="connsiteY35" fmla="*/ 279492 h 596560"/>
                  <a:gd name="connsiteX36" fmla="*/ 309176 w 608838"/>
                  <a:gd name="connsiteY36" fmla="*/ 262326 h 596560"/>
                  <a:gd name="connsiteX37" fmla="*/ 343843 w 608838"/>
                  <a:gd name="connsiteY37" fmla="*/ 262326 h 596560"/>
                  <a:gd name="connsiteX38" fmla="*/ 440025 w 608838"/>
                  <a:gd name="connsiteY38" fmla="*/ 262326 h 596560"/>
                  <a:gd name="connsiteX39" fmla="*/ 495229 w 608838"/>
                  <a:gd name="connsiteY39" fmla="*/ 262326 h 596560"/>
                  <a:gd name="connsiteX40" fmla="*/ 517366 w 608838"/>
                  <a:gd name="connsiteY40" fmla="*/ 262326 h 596560"/>
                  <a:gd name="connsiteX41" fmla="*/ 526975 w 608838"/>
                  <a:gd name="connsiteY41" fmla="*/ 262326 h 596560"/>
                  <a:gd name="connsiteX42" fmla="*/ 526975 w 608838"/>
                  <a:gd name="connsiteY42" fmla="*/ 216661 h 596560"/>
                  <a:gd name="connsiteX43" fmla="*/ 526975 w 608838"/>
                  <a:gd name="connsiteY43" fmla="*/ 184494 h 596560"/>
                  <a:gd name="connsiteX44" fmla="*/ 518214 w 608838"/>
                  <a:gd name="connsiteY44" fmla="*/ 184494 h 596560"/>
                  <a:gd name="connsiteX45" fmla="*/ 496076 w 608838"/>
                  <a:gd name="connsiteY45" fmla="*/ 184494 h 596560"/>
                  <a:gd name="connsiteX46" fmla="*/ 473938 w 608838"/>
                  <a:gd name="connsiteY46" fmla="*/ 184494 h 596560"/>
                  <a:gd name="connsiteX47" fmla="*/ 450435 w 608838"/>
                  <a:gd name="connsiteY47" fmla="*/ 184494 h 596560"/>
                  <a:gd name="connsiteX48" fmla="*/ 402768 w 608838"/>
                  <a:gd name="connsiteY48" fmla="*/ 184494 h 596560"/>
                  <a:gd name="connsiteX49" fmla="*/ 145874 w 608838"/>
                  <a:gd name="connsiteY49" fmla="*/ 184494 h 596560"/>
                  <a:gd name="connsiteX50" fmla="*/ 82098 w 608838"/>
                  <a:gd name="connsiteY50" fmla="*/ 184494 h 596560"/>
                  <a:gd name="connsiteX51" fmla="*/ 64812 w 608838"/>
                  <a:gd name="connsiteY51" fmla="*/ 184494 h 596560"/>
                  <a:gd name="connsiteX52" fmla="*/ 451188 w 608838"/>
                  <a:gd name="connsiteY52" fmla="*/ 101300 h 596560"/>
                  <a:gd name="connsiteX53" fmla="*/ 414166 w 608838"/>
                  <a:gd name="connsiteY53" fmla="*/ 111411 h 596560"/>
                  <a:gd name="connsiteX54" fmla="*/ 372198 w 608838"/>
                  <a:gd name="connsiteY54" fmla="*/ 122839 h 596560"/>
                  <a:gd name="connsiteX55" fmla="*/ 302346 w 608838"/>
                  <a:gd name="connsiteY55" fmla="*/ 141839 h 596560"/>
                  <a:gd name="connsiteX56" fmla="*/ 381619 w 608838"/>
                  <a:gd name="connsiteY56" fmla="*/ 141839 h 596560"/>
                  <a:gd name="connsiteX57" fmla="*/ 429286 w 608838"/>
                  <a:gd name="connsiteY57" fmla="*/ 141839 h 596560"/>
                  <a:gd name="connsiteX58" fmla="*/ 462304 w 608838"/>
                  <a:gd name="connsiteY58" fmla="*/ 141839 h 596560"/>
                  <a:gd name="connsiteX59" fmla="*/ 339557 w 608838"/>
                  <a:gd name="connsiteY59" fmla="*/ 57140 h 596560"/>
                  <a:gd name="connsiteX60" fmla="*/ 202773 w 608838"/>
                  <a:gd name="connsiteY60" fmla="*/ 124814 h 596560"/>
                  <a:gd name="connsiteX61" fmla="*/ 352840 w 608838"/>
                  <a:gd name="connsiteY61" fmla="*/ 83899 h 596560"/>
                  <a:gd name="connsiteX62" fmla="*/ 358869 w 608838"/>
                  <a:gd name="connsiteY62" fmla="*/ 0 h 596560"/>
                  <a:gd name="connsiteX63" fmla="*/ 394855 w 608838"/>
                  <a:gd name="connsiteY63" fmla="*/ 72471 h 596560"/>
                  <a:gd name="connsiteX64" fmla="*/ 481145 w 608838"/>
                  <a:gd name="connsiteY64" fmla="*/ 48957 h 596560"/>
                  <a:gd name="connsiteX65" fmla="*/ 506533 w 608838"/>
                  <a:gd name="connsiteY65" fmla="*/ 141839 h 596560"/>
                  <a:gd name="connsiteX66" fmla="*/ 569696 w 608838"/>
                  <a:gd name="connsiteY66" fmla="*/ 141839 h 596560"/>
                  <a:gd name="connsiteX67" fmla="*/ 569696 w 608838"/>
                  <a:gd name="connsiteY67" fmla="*/ 262326 h 596560"/>
                  <a:gd name="connsiteX68" fmla="*/ 608838 w 608838"/>
                  <a:gd name="connsiteY68" fmla="*/ 262326 h 596560"/>
                  <a:gd name="connsiteX69" fmla="*/ 608838 w 608838"/>
                  <a:gd name="connsiteY69" fmla="*/ 474003 h 596560"/>
                  <a:gd name="connsiteX70" fmla="*/ 569696 w 608838"/>
                  <a:gd name="connsiteY70" fmla="*/ 474003 h 596560"/>
                  <a:gd name="connsiteX71" fmla="*/ 569696 w 608838"/>
                  <a:gd name="connsiteY71" fmla="*/ 596560 h 596560"/>
                  <a:gd name="connsiteX72" fmla="*/ 0 w 608838"/>
                  <a:gd name="connsiteY72" fmla="*/ 596560 h 596560"/>
                  <a:gd name="connsiteX73" fmla="*/ 0 w 608838"/>
                  <a:gd name="connsiteY73" fmla="*/ 141839 h 596560"/>
                  <a:gd name="connsiteX74" fmla="*/ 72113 w 608838"/>
                  <a:gd name="connsiteY74" fmla="*/ 141839 h 596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608838" h="596560">
                    <a:moveTo>
                      <a:pt x="385710" y="348311"/>
                    </a:moveTo>
                    <a:lnTo>
                      <a:pt x="413544" y="348311"/>
                    </a:lnTo>
                    <a:lnTo>
                      <a:pt x="427485" y="348311"/>
                    </a:lnTo>
                    <a:lnTo>
                      <a:pt x="427485" y="390015"/>
                    </a:lnTo>
                    <a:lnTo>
                      <a:pt x="385710" y="390015"/>
                    </a:lnTo>
                    <a:lnTo>
                      <a:pt x="385710" y="355881"/>
                    </a:lnTo>
                    <a:close/>
                    <a:moveTo>
                      <a:pt x="351898" y="304981"/>
                    </a:moveTo>
                    <a:lnTo>
                      <a:pt x="351898" y="305969"/>
                    </a:lnTo>
                    <a:lnTo>
                      <a:pt x="351898" y="320924"/>
                    </a:lnTo>
                    <a:lnTo>
                      <a:pt x="351898" y="343028"/>
                    </a:lnTo>
                    <a:lnTo>
                      <a:pt x="351898" y="365132"/>
                    </a:lnTo>
                    <a:lnTo>
                      <a:pt x="351898" y="431348"/>
                    </a:lnTo>
                    <a:lnTo>
                      <a:pt x="526975" y="431348"/>
                    </a:lnTo>
                    <a:lnTo>
                      <a:pt x="548359" y="431348"/>
                    </a:lnTo>
                    <a:lnTo>
                      <a:pt x="566164" y="431348"/>
                    </a:lnTo>
                    <a:lnTo>
                      <a:pt x="566164" y="304981"/>
                    </a:lnTo>
                    <a:lnTo>
                      <a:pt x="551138" y="304981"/>
                    </a:lnTo>
                    <a:lnTo>
                      <a:pt x="548359" y="304981"/>
                    </a:lnTo>
                    <a:lnTo>
                      <a:pt x="526975" y="304981"/>
                    </a:lnTo>
                    <a:lnTo>
                      <a:pt x="491507" y="304981"/>
                    </a:lnTo>
                    <a:lnTo>
                      <a:pt x="410445" y="304981"/>
                    </a:lnTo>
                    <a:lnTo>
                      <a:pt x="353829" y="304981"/>
                    </a:lnTo>
                    <a:close/>
                    <a:moveTo>
                      <a:pt x="42721" y="184494"/>
                    </a:moveTo>
                    <a:lnTo>
                      <a:pt x="42721" y="190513"/>
                    </a:lnTo>
                    <a:lnTo>
                      <a:pt x="42721" y="234297"/>
                    </a:lnTo>
                    <a:lnTo>
                      <a:pt x="42721" y="240693"/>
                    </a:lnTo>
                    <a:lnTo>
                      <a:pt x="42721" y="321677"/>
                    </a:lnTo>
                    <a:lnTo>
                      <a:pt x="42721" y="553905"/>
                    </a:lnTo>
                    <a:lnTo>
                      <a:pt x="526975" y="553905"/>
                    </a:lnTo>
                    <a:lnTo>
                      <a:pt x="526975" y="474003"/>
                    </a:lnTo>
                    <a:lnTo>
                      <a:pt x="309176" y="474003"/>
                    </a:lnTo>
                    <a:lnTo>
                      <a:pt x="309176" y="376748"/>
                    </a:lnTo>
                    <a:lnTo>
                      <a:pt x="309176" y="354691"/>
                    </a:lnTo>
                    <a:lnTo>
                      <a:pt x="309176" y="332587"/>
                    </a:lnTo>
                    <a:lnTo>
                      <a:pt x="309176" y="327085"/>
                    </a:lnTo>
                    <a:lnTo>
                      <a:pt x="309176" y="279492"/>
                    </a:lnTo>
                    <a:lnTo>
                      <a:pt x="309176" y="262326"/>
                    </a:lnTo>
                    <a:lnTo>
                      <a:pt x="343843" y="262326"/>
                    </a:lnTo>
                    <a:lnTo>
                      <a:pt x="440025" y="262326"/>
                    </a:lnTo>
                    <a:lnTo>
                      <a:pt x="495229" y="262326"/>
                    </a:lnTo>
                    <a:lnTo>
                      <a:pt x="517366" y="262326"/>
                    </a:lnTo>
                    <a:lnTo>
                      <a:pt x="526975" y="262326"/>
                    </a:lnTo>
                    <a:lnTo>
                      <a:pt x="526975" y="216661"/>
                    </a:lnTo>
                    <a:lnTo>
                      <a:pt x="526975" y="184494"/>
                    </a:lnTo>
                    <a:lnTo>
                      <a:pt x="518214" y="184494"/>
                    </a:lnTo>
                    <a:lnTo>
                      <a:pt x="496076" y="184494"/>
                    </a:lnTo>
                    <a:lnTo>
                      <a:pt x="473938" y="184494"/>
                    </a:lnTo>
                    <a:lnTo>
                      <a:pt x="450435" y="184494"/>
                    </a:lnTo>
                    <a:lnTo>
                      <a:pt x="402768" y="184494"/>
                    </a:lnTo>
                    <a:lnTo>
                      <a:pt x="145874" y="184494"/>
                    </a:lnTo>
                    <a:lnTo>
                      <a:pt x="82098" y="184494"/>
                    </a:lnTo>
                    <a:lnTo>
                      <a:pt x="64812" y="184494"/>
                    </a:lnTo>
                    <a:close/>
                    <a:moveTo>
                      <a:pt x="451188" y="101300"/>
                    </a:moveTo>
                    <a:lnTo>
                      <a:pt x="414166" y="111411"/>
                    </a:lnTo>
                    <a:lnTo>
                      <a:pt x="372198" y="122839"/>
                    </a:lnTo>
                    <a:lnTo>
                      <a:pt x="302346" y="141839"/>
                    </a:lnTo>
                    <a:lnTo>
                      <a:pt x="381619" y="141839"/>
                    </a:lnTo>
                    <a:lnTo>
                      <a:pt x="429286" y="141839"/>
                    </a:lnTo>
                    <a:lnTo>
                      <a:pt x="462304" y="141839"/>
                    </a:lnTo>
                    <a:close/>
                    <a:moveTo>
                      <a:pt x="339557" y="57140"/>
                    </a:moveTo>
                    <a:lnTo>
                      <a:pt x="202773" y="124814"/>
                    </a:lnTo>
                    <a:lnTo>
                      <a:pt x="352840" y="83899"/>
                    </a:lnTo>
                    <a:close/>
                    <a:moveTo>
                      <a:pt x="358869" y="0"/>
                    </a:moveTo>
                    <a:lnTo>
                      <a:pt x="394855" y="72471"/>
                    </a:lnTo>
                    <a:lnTo>
                      <a:pt x="481145" y="48957"/>
                    </a:lnTo>
                    <a:lnTo>
                      <a:pt x="506533" y="141839"/>
                    </a:lnTo>
                    <a:lnTo>
                      <a:pt x="569696" y="141839"/>
                    </a:lnTo>
                    <a:lnTo>
                      <a:pt x="569696" y="262326"/>
                    </a:lnTo>
                    <a:lnTo>
                      <a:pt x="608838" y="262326"/>
                    </a:lnTo>
                    <a:lnTo>
                      <a:pt x="608838" y="474003"/>
                    </a:lnTo>
                    <a:lnTo>
                      <a:pt x="569696" y="474003"/>
                    </a:lnTo>
                    <a:lnTo>
                      <a:pt x="569696" y="596560"/>
                    </a:lnTo>
                    <a:lnTo>
                      <a:pt x="0" y="596560"/>
                    </a:lnTo>
                    <a:lnTo>
                      <a:pt x="0" y="141839"/>
                    </a:lnTo>
                    <a:lnTo>
                      <a:pt x="72113" y="141839"/>
                    </a:lnTo>
                    <a:close/>
                  </a:path>
                </a:pathLst>
              </a:custGeom>
              <a:solidFill>
                <a:srgbClr val="8EC0E4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4645909" y="2303936"/>
            <a:ext cx="2918005" cy="3922005"/>
            <a:chOff x="4677826" y="1899620"/>
            <a:chExt cx="2918005" cy="3922005"/>
          </a:xfrm>
        </p:grpSpPr>
        <p:sp>
          <p:nvSpPr>
            <p:cNvPr id="66" name="矩形: 圆角 65"/>
            <p:cNvSpPr/>
            <p:nvPr/>
          </p:nvSpPr>
          <p:spPr>
            <a:xfrm>
              <a:off x="4677826" y="1899620"/>
              <a:ext cx="2897436" cy="3922005"/>
            </a:xfrm>
            <a:prstGeom prst="roundRect">
              <a:avLst>
                <a:gd name="adj" fmla="val 0"/>
              </a:avLst>
            </a:prstGeom>
            <a:solidFill>
              <a:srgbClr val="8EC0E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4712931" y="2404796"/>
              <a:ext cx="2882900" cy="3391970"/>
              <a:chOff x="4682387" y="2550219"/>
              <a:chExt cx="2882900" cy="3391970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4682387" y="3531615"/>
                <a:ext cx="2882900" cy="2410574"/>
                <a:chOff x="1114758" y="3431825"/>
                <a:chExt cx="2882900" cy="2410574"/>
              </a:xfrm>
            </p:grpSpPr>
            <p:sp>
              <p:nvSpPr>
                <p:cNvPr id="70" name="文本框 69"/>
                <p:cNvSpPr txBox="1"/>
                <p:nvPr/>
              </p:nvSpPr>
              <p:spPr>
                <a:xfrm>
                  <a:off x="1820485" y="3431825"/>
                  <a:ext cx="1402080" cy="4603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数据结构</a:t>
                  </a:r>
                  <a:endParaRPr lang="zh-CN" altLang="en-US" sz="2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文本框 70"/>
                <p:cNvSpPr txBox="1"/>
                <p:nvPr/>
              </p:nvSpPr>
              <p:spPr>
                <a:xfrm>
                  <a:off x="1114758" y="4228750"/>
                  <a:ext cx="2882900" cy="1613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数据结构主要解决代码的运行效率问题，后面也是笔试的重点内容，越是大的公司考察数据结构越多。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9" name="太阳形 44"/>
              <p:cNvSpPr>
                <a:spLocks noChangeArrowheads="1"/>
              </p:cNvSpPr>
              <p:nvPr/>
            </p:nvSpPr>
            <p:spPr bwMode="auto">
              <a:xfrm>
                <a:off x="5754000" y="2550219"/>
                <a:ext cx="684000" cy="673200"/>
              </a:xfrm>
              <a:custGeom>
                <a:avLst/>
                <a:gdLst>
                  <a:gd name="T0" fmla="*/ 11888 w 12803"/>
                  <a:gd name="T1" fmla="*/ 0 h 12345"/>
                  <a:gd name="T2" fmla="*/ 914 w 12803"/>
                  <a:gd name="T3" fmla="*/ 0 h 12345"/>
                  <a:gd name="T4" fmla="*/ 0 w 12803"/>
                  <a:gd name="T5" fmla="*/ 914 h 12345"/>
                  <a:gd name="T6" fmla="*/ 0 w 12803"/>
                  <a:gd name="T7" fmla="*/ 8687 h 12345"/>
                  <a:gd name="T8" fmla="*/ 914 w 12803"/>
                  <a:gd name="T9" fmla="*/ 9602 h 12345"/>
                  <a:gd name="T10" fmla="*/ 3201 w 12803"/>
                  <a:gd name="T11" fmla="*/ 9602 h 12345"/>
                  <a:gd name="T12" fmla="*/ 3201 w 12803"/>
                  <a:gd name="T13" fmla="*/ 12345 h 12345"/>
                  <a:gd name="T14" fmla="*/ 8230 w 12803"/>
                  <a:gd name="T15" fmla="*/ 9602 h 12345"/>
                  <a:gd name="T16" fmla="*/ 11888 w 12803"/>
                  <a:gd name="T17" fmla="*/ 9602 h 12345"/>
                  <a:gd name="T18" fmla="*/ 12803 w 12803"/>
                  <a:gd name="T19" fmla="*/ 8687 h 12345"/>
                  <a:gd name="T20" fmla="*/ 12803 w 12803"/>
                  <a:gd name="T21" fmla="*/ 914 h 12345"/>
                  <a:gd name="T22" fmla="*/ 11888 w 12803"/>
                  <a:gd name="T23" fmla="*/ 0 h 12345"/>
                  <a:gd name="T24" fmla="*/ 3201 w 12803"/>
                  <a:gd name="T25" fmla="*/ 5487 h 12345"/>
                  <a:gd name="T26" fmla="*/ 2286 w 12803"/>
                  <a:gd name="T27" fmla="*/ 4572 h 12345"/>
                  <a:gd name="T28" fmla="*/ 3201 w 12803"/>
                  <a:gd name="T29" fmla="*/ 3658 h 12345"/>
                  <a:gd name="T30" fmla="*/ 4115 w 12803"/>
                  <a:gd name="T31" fmla="*/ 4572 h 12345"/>
                  <a:gd name="T32" fmla="*/ 3201 w 12803"/>
                  <a:gd name="T33" fmla="*/ 5487 h 12345"/>
                  <a:gd name="T34" fmla="*/ 6401 w 12803"/>
                  <a:gd name="T35" fmla="*/ 5487 h 12345"/>
                  <a:gd name="T36" fmla="*/ 5487 w 12803"/>
                  <a:gd name="T37" fmla="*/ 4572 h 12345"/>
                  <a:gd name="T38" fmla="*/ 6401 w 12803"/>
                  <a:gd name="T39" fmla="*/ 3658 h 12345"/>
                  <a:gd name="T40" fmla="*/ 7316 w 12803"/>
                  <a:gd name="T41" fmla="*/ 4572 h 12345"/>
                  <a:gd name="T42" fmla="*/ 6401 w 12803"/>
                  <a:gd name="T43" fmla="*/ 5487 h 12345"/>
                  <a:gd name="T44" fmla="*/ 9602 w 12803"/>
                  <a:gd name="T45" fmla="*/ 5487 h 12345"/>
                  <a:gd name="T46" fmla="*/ 8687 w 12803"/>
                  <a:gd name="T47" fmla="*/ 4572 h 12345"/>
                  <a:gd name="T48" fmla="*/ 9602 w 12803"/>
                  <a:gd name="T49" fmla="*/ 3658 h 12345"/>
                  <a:gd name="T50" fmla="*/ 10516 w 12803"/>
                  <a:gd name="T51" fmla="*/ 4572 h 12345"/>
                  <a:gd name="T52" fmla="*/ 9602 w 12803"/>
                  <a:gd name="T53" fmla="*/ 5487 h 12345"/>
                  <a:gd name="T54" fmla="*/ 9602 w 12803"/>
                  <a:gd name="T55" fmla="*/ 5487 h 12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803" h="12345">
                    <a:moveTo>
                      <a:pt x="11888" y="0"/>
                    </a:moveTo>
                    <a:lnTo>
                      <a:pt x="914" y="0"/>
                    </a:lnTo>
                    <a:cubicBezTo>
                      <a:pt x="409" y="0"/>
                      <a:pt x="0" y="409"/>
                      <a:pt x="0" y="914"/>
                    </a:cubicBezTo>
                    <a:lnTo>
                      <a:pt x="0" y="8687"/>
                    </a:lnTo>
                    <a:cubicBezTo>
                      <a:pt x="0" y="9193"/>
                      <a:pt x="409" y="9602"/>
                      <a:pt x="914" y="9602"/>
                    </a:cubicBezTo>
                    <a:lnTo>
                      <a:pt x="3201" y="9602"/>
                    </a:lnTo>
                    <a:lnTo>
                      <a:pt x="3201" y="12345"/>
                    </a:lnTo>
                    <a:lnTo>
                      <a:pt x="8230" y="9602"/>
                    </a:lnTo>
                    <a:lnTo>
                      <a:pt x="11888" y="9602"/>
                    </a:lnTo>
                    <a:cubicBezTo>
                      <a:pt x="12393" y="9602"/>
                      <a:pt x="12803" y="9193"/>
                      <a:pt x="12803" y="8687"/>
                    </a:cubicBezTo>
                    <a:lnTo>
                      <a:pt x="12803" y="914"/>
                    </a:lnTo>
                    <a:cubicBezTo>
                      <a:pt x="12803" y="409"/>
                      <a:pt x="12393" y="0"/>
                      <a:pt x="11888" y="0"/>
                    </a:cubicBezTo>
                    <a:close/>
                    <a:moveTo>
                      <a:pt x="3201" y="5487"/>
                    </a:moveTo>
                    <a:cubicBezTo>
                      <a:pt x="2695" y="5487"/>
                      <a:pt x="2286" y="5077"/>
                      <a:pt x="2286" y="4572"/>
                    </a:cubicBezTo>
                    <a:cubicBezTo>
                      <a:pt x="2286" y="4067"/>
                      <a:pt x="2695" y="3658"/>
                      <a:pt x="3201" y="3658"/>
                    </a:cubicBezTo>
                    <a:cubicBezTo>
                      <a:pt x="3706" y="3658"/>
                      <a:pt x="4115" y="4067"/>
                      <a:pt x="4115" y="4572"/>
                    </a:cubicBezTo>
                    <a:cubicBezTo>
                      <a:pt x="4115" y="5077"/>
                      <a:pt x="3706" y="5487"/>
                      <a:pt x="3201" y="5487"/>
                    </a:cubicBezTo>
                    <a:close/>
                    <a:moveTo>
                      <a:pt x="6401" y="5487"/>
                    </a:moveTo>
                    <a:cubicBezTo>
                      <a:pt x="5896" y="5487"/>
                      <a:pt x="5487" y="5077"/>
                      <a:pt x="5487" y="4572"/>
                    </a:cubicBezTo>
                    <a:cubicBezTo>
                      <a:pt x="5487" y="4067"/>
                      <a:pt x="5896" y="3658"/>
                      <a:pt x="6401" y="3658"/>
                    </a:cubicBezTo>
                    <a:cubicBezTo>
                      <a:pt x="6907" y="3658"/>
                      <a:pt x="7316" y="4067"/>
                      <a:pt x="7316" y="4572"/>
                    </a:cubicBezTo>
                    <a:cubicBezTo>
                      <a:pt x="7316" y="5077"/>
                      <a:pt x="6907" y="5487"/>
                      <a:pt x="6401" y="5487"/>
                    </a:cubicBezTo>
                    <a:close/>
                    <a:moveTo>
                      <a:pt x="9602" y="5487"/>
                    </a:moveTo>
                    <a:cubicBezTo>
                      <a:pt x="9097" y="5487"/>
                      <a:pt x="8687" y="5077"/>
                      <a:pt x="8687" y="4572"/>
                    </a:cubicBezTo>
                    <a:cubicBezTo>
                      <a:pt x="8687" y="4067"/>
                      <a:pt x="9097" y="3658"/>
                      <a:pt x="9602" y="3658"/>
                    </a:cubicBezTo>
                    <a:cubicBezTo>
                      <a:pt x="10107" y="3658"/>
                      <a:pt x="10516" y="4067"/>
                      <a:pt x="10516" y="4572"/>
                    </a:cubicBezTo>
                    <a:cubicBezTo>
                      <a:pt x="10516" y="5077"/>
                      <a:pt x="10107" y="5487"/>
                      <a:pt x="9602" y="5487"/>
                    </a:cubicBezTo>
                    <a:close/>
                    <a:moveTo>
                      <a:pt x="9602" y="5487"/>
                    </a:moveTo>
                    <a:close/>
                  </a:path>
                </a:pathLst>
              </a:custGeom>
              <a:solidFill>
                <a:schemeClr val="bg1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6E7783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2" name="组合 71"/>
          <p:cNvGrpSpPr/>
          <p:nvPr/>
        </p:nvGrpSpPr>
        <p:grpSpPr>
          <a:xfrm>
            <a:off x="8222088" y="2303936"/>
            <a:ext cx="2897892" cy="3922005"/>
            <a:chOff x="8222088" y="1974681"/>
            <a:chExt cx="2897892" cy="3922005"/>
          </a:xfrm>
        </p:grpSpPr>
        <p:sp>
          <p:nvSpPr>
            <p:cNvPr id="73" name="矩形: 圆角 72"/>
            <p:cNvSpPr/>
            <p:nvPr/>
          </p:nvSpPr>
          <p:spPr>
            <a:xfrm>
              <a:off x="8222088" y="1974681"/>
              <a:ext cx="2897436" cy="392200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rgbClr val="8EC0E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8309263" y="2479857"/>
              <a:ext cx="2810717" cy="3361165"/>
              <a:chOff x="8312008" y="2550219"/>
              <a:chExt cx="2810717" cy="3361165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8312008" y="3531615"/>
                <a:ext cx="2810717" cy="2379769"/>
                <a:chOff x="1166828" y="3431825"/>
                <a:chExt cx="2810717" cy="2379769"/>
              </a:xfrm>
            </p:grpSpPr>
            <p:sp>
              <p:nvSpPr>
                <p:cNvPr id="77" name="文本框 76"/>
                <p:cNvSpPr txBox="1"/>
                <p:nvPr/>
              </p:nvSpPr>
              <p:spPr>
                <a:xfrm>
                  <a:off x="1826835" y="3431825"/>
                  <a:ext cx="1402080" cy="4603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系统编程</a:t>
                  </a:r>
                  <a:endParaRPr lang="zh-CN" altLang="en-US" sz="24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文本框 77"/>
                <p:cNvSpPr txBox="1"/>
                <p:nvPr/>
              </p:nvSpPr>
              <p:spPr>
                <a:xfrm>
                  <a:off x="1166828" y="4228324"/>
                  <a:ext cx="2810717" cy="15832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真正开始进入嵌入式开发，基于</a:t>
                  </a:r>
                  <a:r>
                    <a:rPr lang="en-US" altLang="zh-CN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Linux</a:t>
                  </a:r>
                  <a:r>
                    <a:rPr lang="zh-CN" altLang="en-US" sz="1600" dirty="0">
                      <a:solidFill>
                        <a:schemeClr val="bg2">
                          <a:lumMod val="50000"/>
                        </a:schemeClr>
                      </a:solidFill>
                      <a:cs typeface="+mn-ea"/>
                      <a:sym typeface="+mn-lt"/>
                    </a:rPr>
                    <a:t>操作系统编程。涉及到操作系统概念比较多，需要理论结合实践。</a:t>
                  </a:r>
                  <a:endPara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6" name="太阳形 44"/>
              <p:cNvSpPr>
                <a:spLocks noChangeArrowheads="1"/>
              </p:cNvSpPr>
              <p:nvPr/>
            </p:nvSpPr>
            <p:spPr bwMode="auto">
              <a:xfrm>
                <a:off x="9331551" y="2550219"/>
                <a:ext cx="684000" cy="673200"/>
              </a:xfrm>
              <a:custGeom>
                <a:avLst/>
                <a:gdLst>
                  <a:gd name="T0" fmla="*/ 12933 w 12933"/>
                  <a:gd name="T1" fmla="*/ 5028 h 12198"/>
                  <a:gd name="T2" fmla="*/ 7549 w 12933"/>
                  <a:gd name="T3" fmla="*/ 1531 h 12198"/>
                  <a:gd name="T4" fmla="*/ 6467 w 12933"/>
                  <a:gd name="T5" fmla="*/ 0 h 12198"/>
                  <a:gd name="T6" fmla="*/ 5384 w 12933"/>
                  <a:gd name="T7" fmla="*/ 1531 h 12198"/>
                  <a:gd name="T8" fmla="*/ 0 w 12933"/>
                  <a:gd name="T9" fmla="*/ 5028 h 12198"/>
                  <a:gd name="T10" fmla="*/ 452 w 12933"/>
                  <a:gd name="T11" fmla="*/ 7610 h 12198"/>
                  <a:gd name="T12" fmla="*/ 10910 w 12933"/>
                  <a:gd name="T13" fmla="*/ 12198 h 12198"/>
                  <a:gd name="T14" fmla="*/ 12933 w 12933"/>
                  <a:gd name="T15" fmla="*/ 7610 h 12198"/>
                  <a:gd name="T16" fmla="*/ 6920 w 12933"/>
                  <a:gd name="T17" fmla="*/ 8984 h 12198"/>
                  <a:gd name="T18" fmla="*/ 8704 w 12933"/>
                  <a:gd name="T19" fmla="*/ 7623 h 12198"/>
                  <a:gd name="T20" fmla="*/ 6013 w 12933"/>
                  <a:gd name="T21" fmla="*/ 11291 h 12198"/>
                  <a:gd name="T22" fmla="*/ 4453 w 12933"/>
                  <a:gd name="T23" fmla="*/ 9890 h 12198"/>
                  <a:gd name="T24" fmla="*/ 6013 w 12933"/>
                  <a:gd name="T25" fmla="*/ 11291 h 12198"/>
                  <a:gd name="T26" fmla="*/ 4229 w 12933"/>
                  <a:gd name="T27" fmla="*/ 7623 h 12198"/>
                  <a:gd name="T28" fmla="*/ 6013 w 12933"/>
                  <a:gd name="T29" fmla="*/ 8984 h 12198"/>
                  <a:gd name="T30" fmla="*/ 4363 w 12933"/>
                  <a:gd name="T31" fmla="*/ 8984 h 12198"/>
                  <a:gd name="T32" fmla="*/ 6630 w 12933"/>
                  <a:gd name="T33" fmla="*/ 1325 h 12198"/>
                  <a:gd name="T34" fmla="*/ 6303 w 12933"/>
                  <a:gd name="T35" fmla="*/ 1325 h 12198"/>
                  <a:gd name="T36" fmla="*/ 6303 w 12933"/>
                  <a:gd name="T37" fmla="*/ 971 h 12198"/>
                  <a:gd name="T38" fmla="*/ 6630 w 12933"/>
                  <a:gd name="T39" fmla="*/ 971 h 12198"/>
                  <a:gd name="T40" fmla="*/ 6000 w 12933"/>
                  <a:gd name="T41" fmla="*/ 2196 h 12198"/>
                  <a:gd name="T42" fmla="*/ 6934 w 12933"/>
                  <a:gd name="T43" fmla="*/ 2196 h 12198"/>
                  <a:gd name="T44" fmla="*/ 2935 w 12933"/>
                  <a:gd name="T45" fmla="*/ 5028 h 12198"/>
                  <a:gd name="T46" fmla="*/ 907 w 12933"/>
                  <a:gd name="T47" fmla="*/ 5935 h 12198"/>
                  <a:gd name="T48" fmla="*/ 12027 w 12933"/>
                  <a:gd name="T49" fmla="*/ 6704 h 12198"/>
                  <a:gd name="T50" fmla="*/ 907 w 12933"/>
                  <a:gd name="T51" fmla="*/ 5935 h 12198"/>
                  <a:gd name="T52" fmla="*/ 3452 w 12933"/>
                  <a:gd name="T53" fmla="*/ 8984 h 12198"/>
                  <a:gd name="T54" fmla="*/ 1415 w 12933"/>
                  <a:gd name="T55" fmla="*/ 7623 h 12198"/>
                  <a:gd name="T56" fmla="*/ 2671 w 12933"/>
                  <a:gd name="T57" fmla="*/ 11291 h 12198"/>
                  <a:gd name="T58" fmla="*/ 3542 w 12933"/>
                  <a:gd name="T59" fmla="*/ 9890 h 12198"/>
                  <a:gd name="T60" fmla="*/ 2671 w 12933"/>
                  <a:gd name="T61" fmla="*/ 11291 h 12198"/>
                  <a:gd name="T62" fmla="*/ 8480 w 12933"/>
                  <a:gd name="T63" fmla="*/ 9890 h 12198"/>
                  <a:gd name="T64" fmla="*/ 6920 w 12933"/>
                  <a:gd name="T65" fmla="*/ 11291 h 12198"/>
                  <a:gd name="T66" fmla="*/ 10263 w 12933"/>
                  <a:gd name="T67" fmla="*/ 11291 h 12198"/>
                  <a:gd name="T68" fmla="*/ 9391 w 12933"/>
                  <a:gd name="T69" fmla="*/ 9890 h 12198"/>
                  <a:gd name="T70" fmla="*/ 10263 w 12933"/>
                  <a:gd name="T71" fmla="*/ 11291 h 12198"/>
                  <a:gd name="T72" fmla="*/ 9481 w 12933"/>
                  <a:gd name="T73" fmla="*/ 8984 h 12198"/>
                  <a:gd name="T74" fmla="*/ 11519 w 12933"/>
                  <a:gd name="T75" fmla="*/ 7623 h 12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933" h="12198">
                    <a:moveTo>
                      <a:pt x="12933" y="7610"/>
                    </a:moveTo>
                    <a:lnTo>
                      <a:pt x="12933" y="5028"/>
                    </a:lnTo>
                    <a:lnTo>
                      <a:pt x="11334" y="5028"/>
                    </a:lnTo>
                    <a:lnTo>
                      <a:pt x="7549" y="1531"/>
                    </a:lnTo>
                    <a:cubicBezTo>
                      <a:pt x="7592" y="1411"/>
                      <a:pt x="7615" y="1282"/>
                      <a:pt x="7615" y="1148"/>
                    </a:cubicBezTo>
                    <a:cubicBezTo>
                      <a:pt x="7615" y="515"/>
                      <a:pt x="7100" y="0"/>
                      <a:pt x="6467" y="0"/>
                    </a:cubicBezTo>
                    <a:cubicBezTo>
                      <a:pt x="5834" y="0"/>
                      <a:pt x="5318" y="515"/>
                      <a:pt x="5318" y="1148"/>
                    </a:cubicBezTo>
                    <a:cubicBezTo>
                      <a:pt x="5318" y="1282"/>
                      <a:pt x="5342" y="1411"/>
                      <a:pt x="5384" y="1531"/>
                    </a:cubicBezTo>
                    <a:lnTo>
                      <a:pt x="1599" y="5028"/>
                    </a:lnTo>
                    <a:lnTo>
                      <a:pt x="0" y="5028"/>
                    </a:lnTo>
                    <a:lnTo>
                      <a:pt x="0" y="7610"/>
                    </a:lnTo>
                    <a:lnTo>
                      <a:pt x="452" y="7610"/>
                    </a:lnTo>
                    <a:lnTo>
                      <a:pt x="2023" y="12198"/>
                    </a:lnTo>
                    <a:lnTo>
                      <a:pt x="10910" y="12198"/>
                    </a:lnTo>
                    <a:lnTo>
                      <a:pt x="12481" y="7610"/>
                    </a:lnTo>
                    <a:lnTo>
                      <a:pt x="12933" y="7610"/>
                    </a:lnTo>
                    <a:close/>
                    <a:moveTo>
                      <a:pt x="8570" y="8984"/>
                    </a:moveTo>
                    <a:lnTo>
                      <a:pt x="6920" y="8984"/>
                    </a:lnTo>
                    <a:lnTo>
                      <a:pt x="6920" y="7623"/>
                    </a:lnTo>
                    <a:lnTo>
                      <a:pt x="8704" y="7623"/>
                    </a:lnTo>
                    <a:lnTo>
                      <a:pt x="8570" y="8984"/>
                    </a:lnTo>
                    <a:close/>
                    <a:moveTo>
                      <a:pt x="6013" y="11291"/>
                    </a:moveTo>
                    <a:lnTo>
                      <a:pt x="4591" y="11291"/>
                    </a:lnTo>
                    <a:lnTo>
                      <a:pt x="4453" y="9890"/>
                    </a:lnTo>
                    <a:lnTo>
                      <a:pt x="6013" y="9890"/>
                    </a:lnTo>
                    <a:lnTo>
                      <a:pt x="6013" y="11291"/>
                    </a:lnTo>
                    <a:close/>
                    <a:moveTo>
                      <a:pt x="4363" y="8984"/>
                    </a:moveTo>
                    <a:lnTo>
                      <a:pt x="4229" y="7623"/>
                    </a:lnTo>
                    <a:lnTo>
                      <a:pt x="6013" y="7623"/>
                    </a:lnTo>
                    <a:lnTo>
                      <a:pt x="6013" y="8984"/>
                    </a:lnTo>
                    <a:lnTo>
                      <a:pt x="4363" y="8984"/>
                    </a:lnTo>
                    <a:lnTo>
                      <a:pt x="4363" y="8984"/>
                    </a:lnTo>
                    <a:close/>
                    <a:moveTo>
                      <a:pt x="6708" y="1148"/>
                    </a:moveTo>
                    <a:cubicBezTo>
                      <a:pt x="6708" y="1218"/>
                      <a:pt x="6678" y="1281"/>
                      <a:pt x="6630" y="1325"/>
                    </a:cubicBezTo>
                    <a:cubicBezTo>
                      <a:pt x="6587" y="1365"/>
                      <a:pt x="6530" y="1389"/>
                      <a:pt x="6467" y="1389"/>
                    </a:cubicBezTo>
                    <a:cubicBezTo>
                      <a:pt x="6403" y="1389"/>
                      <a:pt x="6346" y="1365"/>
                      <a:pt x="6303" y="1325"/>
                    </a:cubicBezTo>
                    <a:cubicBezTo>
                      <a:pt x="6255" y="1281"/>
                      <a:pt x="6225" y="1218"/>
                      <a:pt x="6225" y="1148"/>
                    </a:cubicBezTo>
                    <a:cubicBezTo>
                      <a:pt x="6225" y="1078"/>
                      <a:pt x="6255" y="1015"/>
                      <a:pt x="6303" y="971"/>
                    </a:cubicBezTo>
                    <a:cubicBezTo>
                      <a:pt x="6346" y="931"/>
                      <a:pt x="6403" y="906"/>
                      <a:pt x="6467" y="906"/>
                    </a:cubicBezTo>
                    <a:cubicBezTo>
                      <a:pt x="6530" y="906"/>
                      <a:pt x="6587" y="931"/>
                      <a:pt x="6630" y="971"/>
                    </a:cubicBezTo>
                    <a:cubicBezTo>
                      <a:pt x="6678" y="1015"/>
                      <a:pt x="6708" y="1078"/>
                      <a:pt x="6708" y="1148"/>
                    </a:cubicBezTo>
                    <a:close/>
                    <a:moveTo>
                      <a:pt x="6000" y="2196"/>
                    </a:moveTo>
                    <a:cubicBezTo>
                      <a:pt x="6143" y="2260"/>
                      <a:pt x="6300" y="2296"/>
                      <a:pt x="6467" y="2296"/>
                    </a:cubicBezTo>
                    <a:cubicBezTo>
                      <a:pt x="6633" y="2296"/>
                      <a:pt x="6791" y="2260"/>
                      <a:pt x="6934" y="2196"/>
                    </a:cubicBezTo>
                    <a:lnTo>
                      <a:pt x="9998" y="5028"/>
                    </a:lnTo>
                    <a:lnTo>
                      <a:pt x="2935" y="5028"/>
                    </a:lnTo>
                    <a:lnTo>
                      <a:pt x="6000" y="2196"/>
                    </a:lnTo>
                    <a:close/>
                    <a:moveTo>
                      <a:pt x="907" y="5935"/>
                    </a:moveTo>
                    <a:lnTo>
                      <a:pt x="12027" y="5935"/>
                    </a:lnTo>
                    <a:lnTo>
                      <a:pt x="12027" y="6704"/>
                    </a:lnTo>
                    <a:lnTo>
                      <a:pt x="907" y="6704"/>
                    </a:lnTo>
                    <a:lnTo>
                      <a:pt x="907" y="5935"/>
                    </a:lnTo>
                    <a:close/>
                    <a:moveTo>
                      <a:pt x="3318" y="7623"/>
                    </a:moveTo>
                    <a:lnTo>
                      <a:pt x="3452" y="8984"/>
                    </a:lnTo>
                    <a:lnTo>
                      <a:pt x="1881" y="8984"/>
                    </a:lnTo>
                    <a:lnTo>
                      <a:pt x="1415" y="7623"/>
                    </a:lnTo>
                    <a:lnTo>
                      <a:pt x="3318" y="7623"/>
                    </a:lnTo>
                    <a:close/>
                    <a:moveTo>
                      <a:pt x="2671" y="11291"/>
                    </a:moveTo>
                    <a:lnTo>
                      <a:pt x="2191" y="9890"/>
                    </a:lnTo>
                    <a:lnTo>
                      <a:pt x="3542" y="9890"/>
                    </a:lnTo>
                    <a:lnTo>
                      <a:pt x="3680" y="11291"/>
                    </a:lnTo>
                    <a:lnTo>
                      <a:pt x="2671" y="11291"/>
                    </a:lnTo>
                    <a:close/>
                    <a:moveTo>
                      <a:pt x="6920" y="9890"/>
                    </a:moveTo>
                    <a:lnTo>
                      <a:pt x="8480" y="9890"/>
                    </a:lnTo>
                    <a:lnTo>
                      <a:pt x="8342" y="11291"/>
                    </a:lnTo>
                    <a:lnTo>
                      <a:pt x="6920" y="11291"/>
                    </a:lnTo>
                    <a:lnTo>
                      <a:pt x="6920" y="9890"/>
                    </a:lnTo>
                    <a:close/>
                    <a:moveTo>
                      <a:pt x="10263" y="11291"/>
                    </a:moveTo>
                    <a:lnTo>
                      <a:pt x="9253" y="11291"/>
                    </a:lnTo>
                    <a:lnTo>
                      <a:pt x="9391" y="9890"/>
                    </a:lnTo>
                    <a:lnTo>
                      <a:pt x="10742" y="9890"/>
                    </a:lnTo>
                    <a:lnTo>
                      <a:pt x="10263" y="11291"/>
                    </a:lnTo>
                    <a:close/>
                    <a:moveTo>
                      <a:pt x="11053" y="8984"/>
                    </a:moveTo>
                    <a:lnTo>
                      <a:pt x="9481" y="8984"/>
                    </a:lnTo>
                    <a:lnTo>
                      <a:pt x="9615" y="7623"/>
                    </a:lnTo>
                    <a:lnTo>
                      <a:pt x="11519" y="7623"/>
                    </a:lnTo>
                    <a:lnTo>
                      <a:pt x="11053" y="8984"/>
                    </a:lnTo>
                    <a:close/>
                  </a:path>
                </a:pathLst>
              </a:custGeom>
              <a:solidFill>
                <a:srgbClr val="8EC0E4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79" name="文本框 78"/>
          <p:cNvSpPr txBox="1"/>
          <p:nvPr/>
        </p:nvSpPr>
        <p:spPr>
          <a:xfrm>
            <a:off x="2788920" y="1263015"/>
            <a:ext cx="661035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重点掌握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C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语言、数据结构、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系统编程、系统移植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65935" y="4251960"/>
            <a:ext cx="1620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</a:rPr>
              <a:t>难度：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Wingdings 2" panose="05020102010507070707" charset="0"/>
              </a:rPr>
              <a:t>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Wingdings 2" panose="05020102010507070707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77485" y="4251960"/>
            <a:ext cx="1620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</a:rPr>
              <a:t>难度：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Wingdings 2" panose="05020102010507070707" charset="0"/>
              </a:rPr>
              <a:t>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Wingdings 2" panose="05020102010507070707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03970" y="4251960"/>
            <a:ext cx="1620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</a:rPr>
              <a:t>难度：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Wingdings 2" panose="05020102010507070707" charset="0"/>
              </a:rPr>
              <a:t>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Wingdings 2" panose="05020102010507070707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87840" y="617719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项目案例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12010" y="1280795"/>
            <a:ext cx="634936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课程结束后需要完成智能家居项目，约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3000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行代码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3" name="图片 2" descr="音箱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45" y="2437130"/>
            <a:ext cx="3889375" cy="25908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666240" y="1907540"/>
            <a:ext cx="1816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AI</a:t>
            </a:r>
            <a:r>
              <a:rPr lang="zh-CN" altLang="en-US"/>
              <a:t>智能音箱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04545" y="5126990"/>
            <a:ext cx="406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cs typeface="+mn-ea"/>
              </a:rPr>
              <a:t>硬件：ARM开发套件+阿里云服务器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cs typeface="+mn-ea"/>
              </a:rPr>
              <a:t>软件：Linux、madplay、Android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cs typeface="+mn-ea"/>
              </a:rPr>
              <a:t>功能：手机远程控制音箱，实现播放、暂停、切歌、音量调节等功能。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cs typeface="+mn-ea"/>
            </a:endParaRPr>
          </a:p>
        </p:txBody>
      </p:sp>
      <p:pic>
        <p:nvPicPr>
          <p:cNvPr id="14" name="图片 13" descr="摄像头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570" y="2437130"/>
            <a:ext cx="3324225" cy="259016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913245" y="1907540"/>
            <a:ext cx="2683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智能</a:t>
            </a:r>
            <a:r>
              <a:rPr lang="en-US" altLang="zh-CN"/>
              <a:t>WiFi</a:t>
            </a:r>
            <a:r>
              <a:rPr lang="zh-CN" altLang="en-US"/>
              <a:t>摄像头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592570" y="5126990"/>
            <a:ext cx="338264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cs typeface="+mn-ea"/>
              </a:rPr>
              <a:t>硬件：ARM开发套件+阿里云服务器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cs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cs typeface="+mn-ea"/>
              </a:rPr>
              <a:t>软件：Linux、mjpg-streamer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cs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cs typeface="+mn-ea"/>
              </a:rPr>
              <a:t>功能：手机远程360度实时监控。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10" y="3151918"/>
              <a:ext cx="4242512" cy="1100417"/>
              <a:chOff x="5100210" y="3214515"/>
              <a:chExt cx="4242512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10" y="3214515"/>
                <a:ext cx="1991580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开发环境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</a:t>
                </a: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开发环境介绍、环境搭建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28605" y="755514"/>
            <a:ext cx="13347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endParaRPr lang="en-US" altLang="zh-CN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8490" y="1677035"/>
            <a:ext cx="6900545" cy="24917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，全称GNU/Linux，是一种免费使用和自由传播的类UNIX操作系统，其内核由林纳斯·本纳第克特·托瓦兹于1991年10月5日首次发布，它主要受到Minix和Unix思想的启发，是一个基于POSIX和Unix的多用户、多任务、支持多线程和多CPU的操作系统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生活中哪些地方用到了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？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34301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979525" y="5145904"/>
            <a:ext cx="13144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Linus</a:t>
            </a:r>
            <a:endParaRPr lang="en-US" altLang="zh-CN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 descr="林纳斯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5890" y="2018665"/>
            <a:ext cx="3761740" cy="2821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14205" y="426584"/>
            <a:ext cx="31635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主要特性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203324" y="3345539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8506" y="3633426"/>
            <a:ext cx="2214142" cy="2255218"/>
            <a:chOff x="1568927" y="2517902"/>
            <a:chExt cx="2214142" cy="2255218"/>
          </a:xfrm>
        </p:grpSpPr>
        <p:sp>
          <p:nvSpPr>
            <p:cNvPr id="11" name="文本框 10"/>
            <p:cNvSpPr txBox="1"/>
            <p:nvPr/>
          </p:nvSpPr>
          <p:spPr>
            <a:xfrm>
              <a:off x="1568927" y="2835100"/>
              <a:ext cx="2214142" cy="193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Linux是一款免费的操作系统，用户可以通过网络或其他途径免费获得，并可以任意修改其源代码。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97400" y="2517902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开源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3576939" y="3345539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02121" y="3633426"/>
            <a:ext cx="2214142" cy="1659588"/>
            <a:chOff x="1568927" y="2517902"/>
            <a:chExt cx="2214142" cy="1659588"/>
          </a:xfrm>
        </p:grpSpPr>
        <p:sp>
          <p:nvSpPr>
            <p:cNvPr id="16" name="文本框 15"/>
            <p:cNvSpPr txBox="1"/>
            <p:nvPr/>
          </p:nvSpPr>
          <p:spPr>
            <a:xfrm>
              <a:off x="1568927" y="2978610"/>
              <a:ext cx="2214142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Linux支持多用户，可以使多个程序同时并独立地运行。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8042" y="2517902"/>
              <a:ext cx="11360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多任务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>
            <a:off x="5950554" y="3345539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175101" y="3633426"/>
            <a:ext cx="2214142" cy="1516078"/>
            <a:chOff x="1568292" y="2517902"/>
            <a:chExt cx="2214142" cy="1516078"/>
          </a:xfrm>
        </p:grpSpPr>
        <p:sp>
          <p:nvSpPr>
            <p:cNvPr id="21" name="文本框 20"/>
            <p:cNvSpPr txBox="1"/>
            <p:nvPr/>
          </p:nvSpPr>
          <p:spPr>
            <a:xfrm>
              <a:off x="1568292" y="3204035"/>
              <a:ext cx="2214142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Linux同时具有字符界面和图形界面。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33392" y="2517902"/>
              <a:ext cx="18853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良好的界面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8324170" y="3345539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548717" y="3633426"/>
            <a:ext cx="2214142" cy="1885648"/>
            <a:chOff x="1568292" y="2517902"/>
            <a:chExt cx="2214142" cy="1885648"/>
          </a:xfrm>
        </p:grpSpPr>
        <p:sp>
          <p:nvSpPr>
            <p:cNvPr id="26" name="文本框 25"/>
            <p:cNvSpPr txBox="1"/>
            <p:nvPr/>
          </p:nvSpPr>
          <p:spPr>
            <a:xfrm>
              <a:off x="1568292" y="2835100"/>
              <a:ext cx="2214142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Linux可以运行在多种硬件平台上，如具有x86、680x0、SPARC、Alpha等处理器的平台。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98035" y="2517902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多平台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45005" y="1498709"/>
            <a:ext cx="10901990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的基本思想有两点：第一，一切都是文件；第二，每个文件都有确定的用途。其中第一条详细来讲就是系统中的所有都归结为一个文件，包括命令、硬件和软件设备、操作系统、进程等等对于操作系统内核而言，都被视为拥有各自特性或类型的文件。至于说Linux是基于Unix的，很大程度上也是因为这两者的基本思想十分相近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2669540" y="60102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42805" y="426584"/>
            <a:ext cx="27063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发行版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203324" y="2937234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9141" y="3449276"/>
            <a:ext cx="2214142" cy="1682448"/>
            <a:chOff x="1569562" y="2742057"/>
            <a:chExt cx="2214142" cy="1682448"/>
          </a:xfrm>
        </p:grpSpPr>
        <p:sp>
          <p:nvSpPr>
            <p:cNvPr id="11" name="文本框 10"/>
            <p:cNvSpPr txBox="1"/>
            <p:nvPr/>
          </p:nvSpPr>
          <p:spPr>
            <a:xfrm>
              <a:off x="1569562" y="3225625"/>
              <a:ext cx="2214142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多用于服务器、或者学习，处理软件包的功能比较强大。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98035" y="2742057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Ubuntu</a:t>
              </a:r>
              <a:endParaRPr lang="en-US" altLang="zh-CN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3576939" y="2937234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02121" y="3449276"/>
            <a:ext cx="2214142" cy="1291923"/>
            <a:chOff x="1568927" y="2742057"/>
            <a:chExt cx="2214142" cy="1291923"/>
          </a:xfrm>
        </p:grpSpPr>
        <p:sp>
          <p:nvSpPr>
            <p:cNvPr id="16" name="文本框 15"/>
            <p:cNvSpPr txBox="1"/>
            <p:nvPr/>
          </p:nvSpPr>
          <p:spPr>
            <a:xfrm>
              <a:off x="1568927" y="3204035"/>
              <a:ext cx="2214142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一般学习使用，适合初学者。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897400" y="2742057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Redhat</a:t>
              </a:r>
              <a:endParaRPr lang="en-US" altLang="zh-CN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>
            <a:off x="5950554" y="2937234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175736" y="3449276"/>
            <a:ext cx="2214142" cy="1313513"/>
            <a:chOff x="1568927" y="2742057"/>
            <a:chExt cx="2214142" cy="1313513"/>
          </a:xfrm>
        </p:grpSpPr>
        <p:sp>
          <p:nvSpPr>
            <p:cNvPr id="21" name="文本框 20"/>
            <p:cNvSpPr txBox="1"/>
            <p:nvPr/>
          </p:nvSpPr>
          <p:spPr>
            <a:xfrm>
              <a:off x="1568927" y="3225625"/>
              <a:ext cx="2214142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网络功能比较强大，适用于路由器。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897400" y="2742057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openwrt</a:t>
              </a:r>
              <a:endParaRPr lang="en-US" altLang="zh-CN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8324170" y="2937234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549352" y="3449276"/>
            <a:ext cx="2214142" cy="1682448"/>
            <a:chOff x="1568927" y="2742057"/>
            <a:chExt cx="2214142" cy="1682448"/>
          </a:xfrm>
        </p:grpSpPr>
        <p:sp>
          <p:nvSpPr>
            <p:cNvPr id="26" name="文本框 25"/>
            <p:cNvSpPr txBox="1"/>
            <p:nvPr/>
          </p:nvSpPr>
          <p:spPr>
            <a:xfrm>
              <a:off x="1568927" y="3225625"/>
              <a:ext cx="2214142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中国自主研发的</a:t>
              </a:r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Linux</a:t>
              </a: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发行版，度用于企业服务器。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12132" y="2742057"/>
              <a:ext cx="172783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红旗</a:t>
              </a:r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Linux</a:t>
              </a:r>
              <a:endParaRPr lang="en-US" altLang="zh-CN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45005" y="1071989"/>
            <a:ext cx="1090199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针对不同的应用场景开发了不同的发行版本，他们有个共同的特点，就是核心都是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。不同的发行版本侧重点也是不一样。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7" b="2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845435" y="2967990"/>
            <a:ext cx="650113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开发环境搭建</a:t>
            </a:r>
            <a:endParaRPr lang="zh-CN" altLang="en-US" sz="54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4" name="图片 3" descr="实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365" y="0"/>
            <a:ext cx="2540635" cy="2545715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s5upg2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1910</Words>
  <Application>WPS 演示</Application>
  <PresentationFormat>宽屏</PresentationFormat>
  <Paragraphs>252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Wingdings 2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51</cp:revision>
  <dcterms:created xsi:type="dcterms:W3CDTF">2020-06-26T00:28:00Z</dcterms:created>
  <dcterms:modified xsi:type="dcterms:W3CDTF">2020-10-31T09:27:58Z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2052-10.1.0.6553</vt:lpwstr>
  </property>
</Properties>
</file>