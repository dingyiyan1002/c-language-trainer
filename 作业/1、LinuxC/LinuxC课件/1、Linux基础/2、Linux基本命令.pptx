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8" r:id="rId3"/>
    <p:sldId id="262" r:id="rId5"/>
    <p:sldId id="264" r:id="rId6"/>
    <p:sldId id="301" r:id="rId7"/>
    <p:sldId id="302" r:id="rId8"/>
    <p:sldId id="303" r:id="rId9"/>
    <p:sldId id="284" r:id="rId10"/>
    <p:sldId id="282" r:id="rId11"/>
    <p:sldId id="304" r:id="rId12"/>
    <p:sldId id="287" r:id="rId13"/>
    <p:sldId id="283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0E4"/>
    <a:srgbClr val="6AAFE6"/>
    <a:srgbClr val="D4D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08" y="696"/>
      </p:cViewPr>
      <p:guideLst>
        <p:guide pos="3840"/>
        <p:guide pos="214"/>
        <p:guide pos="7507"/>
        <p:guide orient="horz" pos="346"/>
        <p:guide orient="horz" pos="4004"/>
        <p:guide orient="horz" pos="801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51A8-EA9E-4DAA-970D-4FAD41FB9F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1DE8-D4B5-4FE2-8FBD-4E6A057F7A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microsoft.com/office/2007/relationships/hdphoto" Target="../media/image6.wdp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" b="2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297555" y="2967990"/>
            <a:ext cx="559689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  <a:cs typeface="+mn-ea"/>
                <a:sym typeface="+mn-lt"/>
              </a:rPr>
              <a:t>Linux</a:t>
            </a:r>
            <a:r>
              <a:rPr lang="zh-CN" altLang="en-US" sz="5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  <a:cs typeface="+mn-ea"/>
                <a:sym typeface="+mn-lt"/>
              </a:rPr>
              <a:t>基本命令</a:t>
            </a:r>
            <a:endParaRPr lang="zh-CN" altLang="en-US" sz="5400" b="1" dirty="0">
              <a:solidFill>
                <a:schemeClr val="bg2">
                  <a:lumMod val="50000"/>
                </a:schemeClr>
              </a:solidFill>
              <a:latin typeface="+mj-lt"/>
              <a:ea typeface="+mj-lt"/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217516" y="1063209"/>
            <a:ext cx="1756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目录</a:t>
            </a:r>
            <a:endParaRPr lang="zh-CN" altLang="en-US" sz="54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988577" y="2548679"/>
            <a:ext cx="3645351" cy="923330"/>
            <a:chOff x="1988577" y="2548679"/>
            <a:chExt cx="3645351" cy="923330"/>
          </a:xfrm>
        </p:grpSpPr>
        <p:sp>
          <p:nvSpPr>
            <p:cNvPr id="12" name="文本框 11"/>
            <p:cNvSpPr txBox="1"/>
            <p:nvPr/>
          </p:nvSpPr>
          <p:spPr>
            <a:xfrm>
              <a:off x="1988577" y="2548679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3123138" y="2579457"/>
              <a:ext cx="2510790" cy="860423"/>
              <a:chOff x="3315584" y="3169020"/>
              <a:chExt cx="2510790" cy="860423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3315584" y="3169020"/>
                <a:ext cx="2510790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目录结构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315584" y="3692240"/>
                <a:ext cx="2011680" cy="337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了解各个目录的作用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1988577" y="4298948"/>
            <a:ext cx="3269832" cy="923330"/>
            <a:chOff x="1988577" y="4080834"/>
            <a:chExt cx="3269832" cy="923330"/>
          </a:xfrm>
        </p:grpSpPr>
        <p:sp>
          <p:nvSpPr>
            <p:cNvPr id="17" name="文本框 16"/>
            <p:cNvSpPr txBox="1"/>
            <p:nvPr/>
          </p:nvSpPr>
          <p:spPr>
            <a:xfrm>
              <a:off x="1988577" y="4080834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123138" y="4111612"/>
              <a:ext cx="2135271" cy="860405"/>
              <a:chOff x="3315584" y="3169020"/>
              <a:chExt cx="2135271" cy="860405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3315584" y="3169020"/>
                <a:ext cx="2135271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文件目录类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315584" y="3692240"/>
                <a:ext cx="2008505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ls cd cp mv chmod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6832352" y="4298948"/>
            <a:ext cx="3670116" cy="923330"/>
            <a:chOff x="6832352" y="4080834"/>
            <a:chExt cx="3670116" cy="923330"/>
          </a:xfrm>
        </p:grpSpPr>
        <p:sp>
          <p:nvSpPr>
            <p:cNvPr id="22" name="文本框 21"/>
            <p:cNvSpPr txBox="1"/>
            <p:nvPr/>
          </p:nvSpPr>
          <p:spPr>
            <a:xfrm>
              <a:off x="6832352" y="4080834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7966913" y="4111612"/>
              <a:ext cx="2535555" cy="860973"/>
              <a:chOff x="3315584" y="3169020"/>
              <a:chExt cx="2535555" cy="860973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3315584" y="3169020"/>
                <a:ext cx="253555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其他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315584" y="3692240"/>
                <a:ext cx="1522730" cy="337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压缩 查找 进程</a:t>
                </a:r>
                <a:endParaRPr lang="zh-CN" altLang="en-US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6832352" y="2548679"/>
            <a:ext cx="3242126" cy="923330"/>
            <a:chOff x="6832352" y="2548679"/>
            <a:chExt cx="3242126" cy="923330"/>
          </a:xfrm>
        </p:grpSpPr>
        <p:sp>
          <p:nvSpPr>
            <p:cNvPr id="27" name="文本框 26"/>
            <p:cNvSpPr txBox="1"/>
            <p:nvPr/>
          </p:nvSpPr>
          <p:spPr>
            <a:xfrm>
              <a:off x="6832352" y="2548679"/>
              <a:ext cx="99578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7966913" y="2579457"/>
              <a:ext cx="2107565" cy="860405"/>
              <a:chOff x="3315584" y="3169020"/>
              <a:chExt cx="2107565" cy="860405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3315584" y="3169020"/>
                <a:ext cx="210756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用户管理类</a:t>
                </a:r>
                <a:endParaRPr lang="zh-CN" altLang="en-US" sz="28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3315584" y="3692240"/>
                <a:ext cx="2016125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useradd userdel su</a:t>
                </a:r>
                <a:endParaRPr lang="en-US" altLang="zh-CN" sz="16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3061335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Linux</a:t>
                </a:r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目录结构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了解各个目录结构的作用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20332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8506" y="3633426"/>
            <a:ext cx="2214142" cy="1659588"/>
            <a:chOff x="1568927" y="2517902"/>
            <a:chExt cx="2214142" cy="1659588"/>
          </a:xfrm>
        </p:grpSpPr>
        <p:sp>
          <p:nvSpPr>
            <p:cNvPr id="11" name="文本框 10"/>
            <p:cNvSpPr txBox="1"/>
            <p:nvPr/>
          </p:nvSpPr>
          <p:spPr>
            <a:xfrm>
              <a:off x="1568927" y="2978610"/>
              <a:ext cx="2214142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binary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的缩写，存放可执行文件（即普通的系统命令）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7400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cs typeface="+mn-ea"/>
                  <a:sym typeface="+mn-lt"/>
                </a:rPr>
                <a:t>bin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3576939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02121" y="3633426"/>
            <a:ext cx="2214142" cy="2029158"/>
            <a:chOff x="1568927" y="2517902"/>
            <a:chExt cx="2214142" cy="2029158"/>
          </a:xfrm>
        </p:grpSpPr>
        <p:sp>
          <p:nvSpPr>
            <p:cNvPr id="16" name="文本框 15"/>
            <p:cNvSpPr txBox="1"/>
            <p:nvPr/>
          </p:nvSpPr>
          <p:spPr>
            <a:xfrm>
              <a:off x="1568927" y="2978610"/>
              <a:ext cx="2214142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device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的缩写，存放设备文件（一个设备文件对应一个硬件设备）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8042" y="2517902"/>
              <a:ext cx="11360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dev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595055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175736" y="3633426"/>
            <a:ext cx="2214142" cy="2128218"/>
            <a:chOff x="1568927" y="2517902"/>
            <a:chExt cx="2214142" cy="2128218"/>
          </a:xfrm>
        </p:grpSpPr>
        <p:sp>
          <p:nvSpPr>
            <p:cNvPr id="21" name="文本框 20"/>
            <p:cNvSpPr txBox="1"/>
            <p:nvPr/>
          </p:nvSpPr>
          <p:spPr>
            <a:xfrm>
              <a:off x="1568927" y="2939240"/>
              <a:ext cx="2214142" cy="1706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法语et cetera，翻译成中文等等，即存放零零散散的东西。一般该目录下存放系统的配置文件，比如开机启动项；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33392" y="2517902"/>
              <a:ext cx="1885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etc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8324170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548717" y="3633426"/>
            <a:ext cx="2214142" cy="2024078"/>
            <a:chOff x="1568292" y="2517902"/>
            <a:chExt cx="2214142" cy="2024078"/>
          </a:xfrm>
        </p:grpSpPr>
        <p:sp>
          <p:nvSpPr>
            <p:cNvPr id="26" name="文本框 25"/>
            <p:cNvSpPr txBox="1"/>
            <p:nvPr/>
          </p:nvSpPr>
          <p:spPr>
            <a:xfrm>
              <a:off x="1568292" y="2835100"/>
              <a:ext cx="2214142" cy="1706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家目录，</a:t>
              </a: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Linux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每个用户都有一个专属目录，这个专属目录一般存放在</a:t>
              </a: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home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目录下（有些系统不一定）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98035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home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9235" y="636143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467215" y="729479"/>
            <a:ext cx="32575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目录结构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20" y="1498600"/>
            <a:ext cx="8545195" cy="1445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20332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8506" y="3633426"/>
            <a:ext cx="2214142" cy="1290653"/>
            <a:chOff x="1568927" y="2517902"/>
            <a:chExt cx="2214142" cy="1290653"/>
          </a:xfrm>
        </p:grpSpPr>
        <p:sp>
          <p:nvSpPr>
            <p:cNvPr id="11" name="文本框 10"/>
            <p:cNvSpPr txBox="1"/>
            <p:nvPr/>
          </p:nvSpPr>
          <p:spPr>
            <a:xfrm>
              <a:off x="1568927" y="2978610"/>
              <a:ext cx="2214142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library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的缩写，存放系统用到的库文件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7400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lib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3576939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02121" y="3633426"/>
            <a:ext cx="2214142" cy="1290653"/>
            <a:chOff x="1568927" y="2517902"/>
            <a:chExt cx="2214142" cy="1290653"/>
          </a:xfrm>
        </p:grpSpPr>
        <p:sp>
          <p:nvSpPr>
            <p:cNvPr id="16" name="文本框 15"/>
            <p:cNvSpPr txBox="1"/>
            <p:nvPr/>
          </p:nvSpPr>
          <p:spPr>
            <a:xfrm>
              <a:off x="1568927" y="2978610"/>
              <a:ext cx="2214142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mount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的缩写，用于挂载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8042" y="2517902"/>
              <a:ext cx="11360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mnt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595055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175736" y="3633426"/>
            <a:ext cx="2214142" cy="835358"/>
            <a:chOff x="1568927" y="2517902"/>
            <a:chExt cx="2214142" cy="835358"/>
          </a:xfrm>
        </p:grpSpPr>
        <p:sp>
          <p:nvSpPr>
            <p:cNvPr id="21" name="文本框 20"/>
            <p:cNvSpPr txBox="1"/>
            <p:nvPr/>
          </p:nvSpPr>
          <p:spPr>
            <a:xfrm>
              <a:off x="1568927" y="2939240"/>
              <a:ext cx="2214142" cy="414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用于安装附加软件包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33392" y="2517902"/>
              <a:ext cx="1885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opt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8324170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548717" y="3633426"/>
            <a:ext cx="2214142" cy="1700863"/>
            <a:chOff x="1568292" y="2517902"/>
            <a:chExt cx="2214142" cy="1700863"/>
          </a:xfrm>
        </p:grpSpPr>
        <p:sp>
          <p:nvSpPr>
            <p:cNvPr id="26" name="文本框 25"/>
            <p:cNvSpPr txBox="1"/>
            <p:nvPr/>
          </p:nvSpPr>
          <p:spPr>
            <a:xfrm>
              <a:off x="1568292" y="2835100"/>
              <a:ext cx="2214142" cy="1383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process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的缩写，存放操作系统的相关信息，比如可以通过</a:t>
              </a: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proc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读取进程的信息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98035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sym typeface="+mn-ea"/>
                </a:rPr>
                <a:t>proc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9235" y="636143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467215" y="729479"/>
            <a:ext cx="32575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目录结构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20" y="1498600"/>
            <a:ext cx="8545195" cy="1445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20332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8506" y="3633426"/>
            <a:ext cx="2214142" cy="921083"/>
            <a:chOff x="1568927" y="2517902"/>
            <a:chExt cx="2214142" cy="921083"/>
          </a:xfrm>
        </p:grpSpPr>
        <p:sp>
          <p:nvSpPr>
            <p:cNvPr id="11" name="文本框 10"/>
            <p:cNvSpPr txBox="1"/>
            <p:nvPr/>
          </p:nvSpPr>
          <p:spPr>
            <a:xfrm>
              <a:off x="1568927" y="2978610"/>
              <a:ext cx="221414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root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用户的家目录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7400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sym typeface="+mn-ea"/>
                </a:rPr>
                <a:t>root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3576939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02121" y="3633426"/>
            <a:ext cx="2214142" cy="1659588"/>
            <a:chOff x="1568927" y="2517902"/>
            <a:chExt cx="2214142" cy="1659588"/>
          </a:xfrm>
        </p:grpSpPr>
        <p:sp>
          <p:nvSpPr>
            <p:cNvPr id="16" name="文本框 15"/>
            <p:cNvSpPr txBox="1"/>
            <p:nvPr/>
          </p:nvSpPr>
          <p:spPr>
            <a:xfrm>
              <a:off x="1568927" y="2978610"/>
              <a:ext cx="2214142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super binary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的缩写，存放</a:t>
              </a:r>
              <a:r>
                <a:rPr lang="en-US" altLang="zh-CN" sz="1600">
                  <a:solidFill>
                    <a:schemeClr val="bg1"/>
                  </a:solidFill>
                  <a:sym typeface="+mn-ea"/>
                </a:rPr>
                <a:t>root</a:t>
              </a:r>
              <a:r>
                <a:rPr lang="zh-CN" altLang="en-US" sz="1600">
                  <a:solidFill>
                    <a:schemeClr val="bg1"/>
                  </a:solidFill>
                  <a:sym typeface="+mn-ea"/>
                </a:rPr>
                <a:t>用户才能使用的命令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8042" y="2517902"/>
              <a:ext cx="11360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sym typeface="+mn-ea"/>
                </a:rPr>
                <a:t>sbin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5950554" y="3345539"/>
            <a:ext cx="2664506" cy="2664506"/>
          </a:xfrm>
          <a:prstGeom prst="ellipse">
            <a:avLst/>
          </a:prstGeom>
          <a:solidFill>
            <a:srgbClr val="6AA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175736" y="3633426"/>
            <a:ext cx="2214142" cy="1481788"/>
            <a:chOff x="1568927" y="2517902"/>
            <a:chExt cx="2214142" cy="1481788"/>
          </a:xfrm>
        </p:grpSpPr>
        <p:sp>
          <p:nvSpPr>
            <p:cNvPr id="21" name="文本框 20"/>
            <p:cNvSpPr txBox="1"/>
            <p:nvPr/>
          </p:nvSpPr>
          <p:spPr>
            <a:xfrm>
              <a:off x="1568927" y="2939240"/>
              <a:ext cx="2214142" cy="1060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system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的缩写，通过</a:t>
              </a: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sys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目录，可以读取内核驱动相关信息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33392" y="2517902"/>
              <a:ext cx="188531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sym typeface="+mn-ea"/>
                </a:rPr>
                <a:t>sys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8324170" y="3345539"/>
            <a:ext cx="2664506" cy="2664506"/>
          </a:xfrm>
          <a:prstGeom prst="ellipse">
            <a:avLst/>
          </a:prstGeom>
          <a:solidFill>
            <a:srgbClr val="8EC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548717" y="3633426"/>
            <a:ext cx="2214142" cy="1054433"/>
            <a:chOff x="1568292" y="2517902"/>
            <a:chExt cx="2214142" cy="1054433"/>
          </a:xfrm>
        </p:grpSpPr>
        <p:sp>
          <p:nvSpPr>
            <p:cNvPr id="26" name="文本框 25"/>
            <p:cNvSpPr txBox="1"/>
            <p:nvPr/>
          </p:nvSpPr>
          <p:spPr>
            <a:xfrm>
              <a:off x="1568292" y="2835100"/>
              <a:ext cx="2214142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400">
                  <a:solidFill>
                    <a:schemeClr val="bg1"/>
                  </a:solidFill>
                  <a:sym typeface="+mn-ea"/>
                </a:rPr>
                <a:t>user</a:t>
              </a:r>
              <a:r>
                <a:rPr lang="zh-CN" altLang="en-US" sz="1400">
                  <a:solidFill>
                    <a:schemeClr val="bg1"/>
                  </a:solidFill>
                  <a:sym typeface="+mn-ea"/>
                </a:rPr>
                <a:t>的缩写，存放用户安装的软件包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98035" y="2517902"/>
              <a:ext cx="1557197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sym typeface="+mn-ea"/>
                </a:rPr>
                <a:t>usr</a:t>
              </a:r>
              <a:endParaRPr lang="en-US" altLang="zh-CN" sz="2400" b="1" dirty="0">
                <a:solidFill>
                  <a:schemeClr val="bg1"/>
                </a:solidFill>
                <a:cs typeface="+mn-ea"/>
                <a:sym typeface="+mn-ea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9235" y="636143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467215" y="729479"/>
            <a:ext cx="325755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36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目录结构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20" y="1498600"/>
            <a:ext cx="8545195" cy="14452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10" y="3151918"/>
              <a:ext cx="4242512" cy="1100417"/>
              <a:chOff x="5100210" y="3214515"/>
              <a:chExt cx="4242512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10" y="3214515"/>
                <a:ext cx="2358390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用户管理类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useradd userdel su</a:t>
                </a:r>
                <a:endParaRPr lang="en-US" altLang="zh-CN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67690" y="1205230"/>
            <a:ext cx="11279505" cy="4078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①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添加用户：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useradd</a:t>
            </a:r>
            <a:endParaRPr kumimoji="0" lang="en-US" altLang="zh-CN" sz="2800" b="0" i="0" u="none" strike="noStrike" kern="0" cap="none" spc="0" normalizeH="0" baseline="0" noProof="1" dirty="0" err="1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useradd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[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用户名</a:t>
            </a:r>
            <a:endParaRPr kumimoji="0" lang="zh-CN" altLang="en-US" sz="2800" b="0" i="0" u="none" strike="noStrike" kern="0" cap="none" spc="0" normalizeH="0" baseline="0" noProof="1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useradd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xueyide</a:t>
            </a:r>
            <a:endParaRPr kumimoji="0" lang="en-US" altLang="zh-CN" sz="2800" b="0" i="0" u="none" strike="noStrike" kern="0" cap="none" spc="0" normalizeH="0" baseline="0" noProof="1" dirty="0" err="1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结果：添加名字为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xueyide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的用户，位置在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8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② 修改密码：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passwd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passwd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用户名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示例：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passwd xueyide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结果：修改用户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xueyide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的密码，连续两次输入密码（密码不会显示），修改成功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46430" y="1130935"/>
            <a:ext cx="9872345" cy="4595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③ 删除用户：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userdel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userdel [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]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用户名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示例：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userdel xueyide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或者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userdel -r xueyide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结果：删除用户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xueyide/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加上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-r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+mn-ea"/>
              </a:rPr>
              <a:t>选项，连用户目录一并删除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zh-CN" altLang="en-US" sz="28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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切换用户：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su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格式：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su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用户名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示例：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su test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结果：切换到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test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用户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sym typeface="Wingdings 2" panose="05020102010507070707" charset="0"/>
              </a:rPr>
              <a:t>注：同级别用户切换或者向高级别用户切换，需要输入密码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Calibri" panose="020F0502020204030204" charset="0"/>
              <a:ea typeface="微软雅黑" panose="020B0503020204020204" pitchFamily="34" charset="-122"/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410" y="2919095"/>
            <a:ext cx="5250815" cy="1100455"/>
            <a:chOff x="3965221" y="3151918"/>
            <a:chExt cx="3881998" cy="1100455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85554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09" y="3151918"/>
              <a:ext cx="2747010" cy="1100455"/>
              <a:chOff x="5100209" y="3214515"/>
              <a:chExt cx="2747010" cy="1100455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09" y="3214515"/>
                <a:ext cx="2290361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文件目录类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09" y="3808240"/>
                <a:ext cx="274701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ls cd cp mv chmod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3756660" y="628586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838898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查看目录：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ls</a:t>
            </a:r>
            <a:endParaRPr lang="en-US" altLang="zh-CN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endParaRPr lang="en-US" altLang="zh-CN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格式：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ls [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选项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] 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路径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示例：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    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ls             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显示当前目录下所有内容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    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ls /home 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显示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home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目录下的所有内容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    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ls -l /home   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显示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home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目录下所有内容及其属性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    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ls -a /home  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显示</a:t>
            </a:r>
            <a:r>
              <a:rPr lang="en-US" altLang="zh-CN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home</a:t>
            </a:r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目录下所有文件（包括隐藏文件）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r>
              <a:rPr lang="zh-CN" altLang="en-US" sz="2400" b="1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路径：绝对路径</a:t>
            </a:r>
            <a:r>
              <a:rPr lang="en-US" altLang="zh-CN" sz="2400" b="1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/</a:t>
            </a:r>
            <a:r>
              <a:rPr lang="zh-CN" altLang="en-US" sz="2400" b="1">
                <a:solidFill>
                  <a:schemeClr val="bg2">
                    <a:lumMod val="50000"/>
                  </a:schemeClr>
                </a:solidFill>
                <a:latin typeface="+mj-lt"/>
                <a:ea typeface="+mj-lt"/>
              </a:rPr>
              <a:t>相对路径？</a:t>
            </a:r>
            <a:endParaRPr lang="zh-CN" altLang="en-US" sz="2400" b="1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  <a:p>
            <a:endParaRPr lang="zh-CN" altLang="en-US" sz="2400">
              <a:solidFill>
                <a:schemeClr val="bg2">
                  <a:lumMod val="50000"/>
                </a:schemeClr>
              </a:solidFill>
              <a:latin typeface="+mj-lt"/>
              <a:ea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8388985" cy="51866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改变工作目录：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</a:t>
            </a:r>
            <a:r>
              <a:rPr lang="zh-CN" altLang="en-US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（也可以理解成进入目录）</a:t>
            </a:r>
            <a:endParaRPr lang="zh-CN" altLang="en-US" sz="2400" kern="0" dirty="0" err="1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400" b="0" i="0" u="none" strike="noStrike" kern="0" cap="none" spc="0" normalizeH="0" baseline="0" noProof="1" dirty="0" err="1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</a:t>
            </a:r>
            <a:endParaRPr kumimoji="0" lang="zh-CN" altLang="en-US" sz="2400" b="0" i="0" u="none" strike="noStrike" kern="0" cap="none" spc="0" normalizeH="0" baseline="0" noProof="1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err="1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/home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目录下（绝对路径）</a:t>
            </a:r>
            <a:endParaRPr kumimoji="0" lang="zh-CN" altLang="en-US" sz="2400" b="0" i="0" u="none" strike="noStrike" kern="0" cap="none" spc="0" normalizeH="0" baseline="0" noProof="1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cd  ..        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进入上一级目录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 .          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进入当前目录（什么也没干）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 -         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回到刚才工作的目录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 ~        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进入当前用户的家目录（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~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可以省略）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14350" marR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cd /         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进入跟目录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838898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文件创建：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touch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touch [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touch  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  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在当前目录下创建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目录创建：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mkdir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mkdir [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目录名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mkdir test    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在当前目录下创建名为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test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的文件夹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106254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复制文件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目录：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 [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源文件   目标文件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  /home/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tmp/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拷贝到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 hello.c ..                       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把当前目录下的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文件拷贝到上一级目录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cp  -r /home/dir   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    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/home/dir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目录拷贝到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注：拷贝目录的时候必须加上 </a:t>
            </a:r>
            <a:r>
              <a:rPr lang="en-US" altLang="zh-CN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-r </a:t>
            </a: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选项（递归的意思）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1062545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剪切：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mv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mv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[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源文件或目录  目标文件或目录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mv  /home/test/  /tmp 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目录下的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test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目录剪切到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mv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test.c t.c                    </a:t>
            </a:r>
            <a:r>
              <a:rPr lang="zh-CN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将当前目录下的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test.c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文件名改成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t.c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注：修改名字和剪切是一个意思，只不过发生在同一个目录下面。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1590" y="1054100"/>
            <a:ext cx="1062545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rm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rm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[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文件或目录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范例：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rm /home/test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目录下的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test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rm  -r /home/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ddd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/home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目录下的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ddd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注：删除目录需要加上 </a:t>
            </a:r>
            <a:r>
              <a:rPr lang="en-US" altLang="zh-CN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-r </a:t>
            </a: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选项。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为了方便，我们一般使用 </a:t>
            </a:r>
            <a:r>
              <a:rPr lang="en-US" altLang="zh-CN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rm -rf </a:t>
            </a: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命令，不管是文件还是文件夹，都可以彻底删除。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rm -rf *   </a:t>
            </a:r>
            <a:r>
              <a:rPr lang="zh-CN" altLang="en-US" sz="24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 </a:t>
            </a:r>
            <a:r>
              <a:rPr lang="en-US" altLang="zh-CN" sz="24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rm -rf /          </a:t>
            </a:r>
            <a:r>
              <a:rPr lang="zh-CN" altLang="en-US" sz="2400" b="1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慎用！</a:t>
            </a:r>
            <a:endParaRPr lang="zh-CN" altLang="en-US" sz="2400" b="1" kern="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9510" y="613410"/>
            <a:ext cx="1062545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改变文件权限：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chmod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chmod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[who] + /- /= [mode]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Who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u :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表示文件的所有者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g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：表示与文件所有者同组的用户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o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：表示其他用户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a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：表示所有用户，它是系统默认值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+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：添加某个权限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-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：取消某个权限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=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：赋予权限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chmod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u+w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结果：修改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文件所有者有写的权限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46175" y="1536700"/>
            <a:ext cx="106254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改变文件权限的另一种用法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-rwxrw-r--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的二进制表示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111110100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换成十进制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764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chmod 777 test.c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test.c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文件权限修改成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-rwxrwxrwx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chmod 755 test.c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test.c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文件权限修改成 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-rwxrw-rw-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76500" y="2459990"/>
            <a:ext cx="60185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查看当前工作路径：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pwd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pwd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pwd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显示当前工作目录的绝对路径</a:t>
            </a:r>
            <a:endParaRPr lang="zh-CN" altLang="en-US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6" r="5326" b="74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3407250" y="2919086"/>
            <a:ext cx="5377501" cy="1100417"/>
            <a:chOff x="3965221" y="3151918"/>
            <a:chExt cx="5377501" cy="1100417"/>
          </a:xfrm>
        </p:grpSpPr>
        <p:sp>
          <p:nvSpPr>
            <p:cNvPr id="32" name="文本框 31"/>
            <p:cNvSpPr txBox="1"/>
            <p:nvPr/>
          </p:nvSpPr>
          <p:spPr>
            <a:xfrm>
              <a:off x="3965221" y="3154001"/>
              <a:ext cx="1076960" cy="10147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rPr>
                <a:t>04</a:t>
              </a:r>
              <a:endParaRPr lang="zh-CN" altLang="en-US" sz="60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100209" y="3151918"/>
              <a:ext cx="4242513" cy="1100417"/>
              <a:chOff x="5100209" y="3214515"/>
              <a:chExt cx="4242513" cy="110041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5100209" y="3214515"/>
                <a:ext cx="2290361" cy="5835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其他</a:t>
                </a:r>
                <a:endParaRPr lang="zh-CN" altLang="en-US" sz="3200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5100210" y="3808202"/>
                <a:ext cx="4242512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2">
                        <a:lumMod val="50000"/>
                      </a:schemeClr>
                    </a:solidFill>
                    <a:cs typeface="+mn-ea"/>
                    <a:sym typeface="+mn-lt"/>
                  </a:rPr>
                  <a:t>压缩 查找 进程</a:t>
                </a:r>
                <a:endParaRPr lang="zh-CN" altLang="en-US" dirty="0">
                  <a:solidFill>
                    <a:schemeClr val="bg2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2465" y="1536700"/>
            <a:ext cx="114014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压缩打包：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 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gzip bzip2</a:t>
            </a: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  [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目录或文件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 -zcf  tmp.tar.gz a b c d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将当前目录下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abcd</a:t>
            </a:r>
            <a:r>
              <a:rPr lang="zh-CN" altLang="en-US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四个文件打包压缩成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tmp.tar.gz</a:t>
            </a:r>
            <a:endParaRPr lang="en-US" altLang="zh-CN" sz="2400" dirty="0" err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tar -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xzf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tmp.tar.gz              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将压缩包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tmp.tar.gz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在当前目录下解开</a:t>
            </a: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用的比较多，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gzip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bzip2</a:t>
            </a: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用的很少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2465" y="1536700"/>
            <a:ext cx="114014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查找文件：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find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find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 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–name “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文件名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范例：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find  ./  -name “hel*” 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查找当前目录及其子目录中寻找名为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开头的文件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find  /  -name “hello.c”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在根目录及其子目录中寻找名为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hello.c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的文件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在根目录下查找相当于搜索整个系统，文件众多，时间会比较长，可以适当缩小范围。如果要搜索中途停止，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ctrl+c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kern="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2465" y="1536700"/>
            <a:ext cx="114014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查找字符串（关键字）：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grep</a:t>
            </a:r>
            <a:endParaRPr lang="en-US" altLang="zh-CN" sz="2400" dirty="0" err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格式：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grep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[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选项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grep “hello”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./ -</a:t>
            </a:r>
            <a:r>
              <a:rPr lang="en-US" altLang="zh-CN" sz="24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 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在当前目录及其子目录中，查找包含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hello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字符串的文件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grep “eth0” /etc/* -r  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/etc</a:t>
            </a:r>
            <a:r>
              <a:rPr lang="zh-CN" altLang="en-US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目录及其子目录下的所有文件中查找</a:t>
            </a:r>
            <a:r>
              <a:rPr lang="en-US" altLang="zh-CN" sz="2400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“eth0”</a:t>
            </a: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endParaRPr lang="en-US" altLang="zh-CN" sz="2400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en-US" altLang="zh-CN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grep</a:t>
            </a:r>
            <a:r>
              <a:rPr lang="zh-CN" altLang="en-US" sz="2400" b="1" kern="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也会搜索二进制文件，可以不用管。</a:t>
            </a:r>
            <a:endParaRPr lang="zh-CN" altLang="en-US" sz="2400" b="1" kern="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7" b="2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555735" y="2967335"/>
            <a:ext cx="5080531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5400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ThankYou</a:t>
            </a:r>
            <a:endParaRPr lang="en-US" altLang="zh-CN" sz="5400" dirty="0">
              <a:solidFill>
                <a:schemeClr val="bg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s5upg2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3321</Words>
  <Application>WPS 演示</Application>
  <PresentationFormat>宽屏</PresentationFormat>
  <Paragraphs>313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微软雅黑</vt:lpstr>
      <vt:lpstr>Wingdings 2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80</cp:revision>
  <dcterms:created xsi:type="dcterms:W3CDTF">2020-06-26T00:28:00Z</dcterms:created>
  <dcterms:modified xsi:type="dcterms:W3CDTF">2021-04-17T07:55:57Z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06157DDDE54644D2893EB66B0F41FBCB</vt:lpwstr>
  </property>
</Properties>
</file>