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256" r:id="rId3"/>
    <p:sldId id="257" r:id="rId5"/>
    <p:sldId id="258" r:id="rId6"/>
    <p:sldId id="265" r:id="rId7"/>
    <p:sldId id="260" r:id="rId8"/>
    <p:sldId id="266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61" r:id="rId21"/>
    <p:sldId id="267" r:id="rId22"/>
    <p:sldId id="264" r:id="rId23"/>
    <p:sldId id="268" r:id="rId24"/>
    <p:sldId id="305" r:id="rId25"/>
    <p:sldId id="306" r:id="rId26"/>
    <p:sldId id="307" r:id="rId27"/>
    <p:sldId id="308" r:id="rId28"/>
    <p:sldId id="262" r:id="rId29"/>
    <p:sldId id="269" r:id="rId30"/>
    <p:sldId id="271" r:id="rId31"/>
    <p:sldId id="318" r:id="rId32"/>
    <p:sldId id="270" r:id="rId33"/>
    <p:sldId id="263" r:id="rId34"/>
    <p:sldId id="272" r:id="rId35"/>
    <p:sldId id="259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网络编程（上）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679"/>
            <a:ext cx="6625184" cy="2780664"/>
            <a:chOff x="3388622" y="2209939"/>
            <a:chExt cx="5040937" cy="2326461"/>
          </a:xfrm>
        </p:grpSpPr>
        <p:grpSp>
          <p:nvGrpSpPr>
            <p:cNvPr id="7" name="组合 6"/>
            <p:cNvGrpSpPr/>
            <p:nvPr/>
          </p:nvGrpSpPr>
          <p:grpSpPr>
            <a:xfrm>
              <a:off x="5018480" y="2209939"/>
              <a:ext cx="3411079" cy="2326461"/>
              <a:chOff x="5018480" y="2209939"/>
              <a:chExt cx="3411079" cy="2326461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480" y="2209939"/>
                <a:ext cx="583445" cy="2218338"/>
                <a:chOff x="5421311" y="2621290"/>
                <a:chExt cx="583445" cy="2218338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311" y="2764668"/>
                  <a:ext cx="0" cy="20416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9" name="文本框 23"/>
                <p:cNvSpPr txBox="1"/>
                <p:nvPr/>
              </p:nvSpPr>
              <p:spPr>
                <a:xfrm>
                  <a:off x="5710997" y="4351384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4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847575" y="2246597"/>
                <a:ext cx="2581984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Linux</a:t>
                </a: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网络基础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2797531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socket</a:t>
                </a:r>
                <a:endPara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3403187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TCP</a:t>
                </a: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编程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3" name="文本框 48"/>
              <p:cNvSpPr txBox="1">
                <a:spLocks noChangeArrowheads="1"/>
              </p:cNvSpPr>
              <p:nvPr/>
            </p:nvSpPr>
            <p:spPr bwMode="auto">
              <a:xfrm>
                <a:off x="5848058" y="3996623"/>
                <a:ext cx="2581501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UDP</a:t>
                </a: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编程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Linux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网络基础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protocol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协议栈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0910" y="1467485"/>
            <a:ext cx="950976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的优点之一就是在于它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丰富而稳定的网络协议栈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，其范围是从协议无关层（如通用的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层接口和设备层）到各种网络协议的实现；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对于网络理论介绍一般采用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OSI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，但是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中网络栈的介绍一般分为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四层的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Internet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net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网络模型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828800" y="1239520"/>
          <a:ext cx="8532495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70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03425" y="1368425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OSI</a:t>
            </a:r>
            <a:r>
              <a:rPr lang="zh-CN" altLang="en-US" b="1"/>
              <a:t>七层网络模型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4847590" y="1368425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TCP/IP</a:t>
            </a:r>
            <a:r>
              <a:rPr lang="zh-CN" altLang="en-US" b="1"/>
              <a:t>四层概念模型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7669530" y="1368425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对应的网络协议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2003425" y="2017395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应用层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003425" y="2609850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表示层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03425" y="3159760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会话层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03425" y="3766185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传输层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003425" y="4401185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网络层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003425" y="5007610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数据链路层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003425" y="5614035"/>
            <a:ext cx="249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物理层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129530" y="2609850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应用层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128260" y="376618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传输层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129530" y="440118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网络层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128260" y="5375910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网络接口层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951470" y="201739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TFTP FTP NFS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7951470" y="2609850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Telnet Rlogin 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7951470" y="3244850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DNS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7951470" y="386270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TCP UDP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7951470" y="440118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IP ARP RARP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7951470" y="5007610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Ethernet PPP PDN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7951470" y="561403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IEEE 802.1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TCP/IP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TCP/IP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协议族体系结构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16387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635" y="1735455"/>
            <a:ext cx="8635365" cy="401828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TCP/IP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数据链路层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72590" y="1537335"/>
            <a:ext cx="88468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数据链路层实现了网卡接口的网络驱动程序，以处理数据在网络媒介上（比如以太网）上的传输。不同的物理网络层具有不同的电器特性，网络驱动驱动程序隐藏了这些细节，为上层协议提供一个统一的接口。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TCP/IP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网络层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79195" y="1494790"/>
            <a:ext cx="98336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网络层实现数据包的选路和转发。</a:t>
            </a:r>
            <a:r>
              <a:rPr lang="en-US" altLang="zh-CN" sz="20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WAN</a:t>
            </a:r>
            <a:r>
              <a:rPr lang="zh-CN" altLang="en-US" sz="20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通常使用众多分级的路由器来连接分散的主机或</a:t>
            </a:r>
            <a:r>
              <a:rPr lang="en-US" altLang="zh-CN" sz="20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LAN</a:t>
            </a:r>
            <a:r>
              <a:rPr lang="zh-CN" altLang="en-US" sz="20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因此，通信的两台主机一般不是直接连接的，而是通过多个中间节点连接的。网络层的任务就是选择这些节点，以确定两台主机间的通信路径。同时，网络层对上层协议隐藏了网络拓扑连接的细节，使得在传输层和网络应用程序看来，通信的双发是直接相连的。</a:t>
            </a:r>
            <a:endParaRPr lang="zh-CN" altLang="en-US" sz="20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TCP/IP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传输层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79195" y="1494790"/>
            <a:ext cx="98336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传输层为两台主机上的应用程序提供端到端（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end to end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）的通信。与网络层使用的逐跳的通信方式不同，传输层只关心通信的起始端和目的端，而不在话数据包的中转过程。</a:t>
            </a:r>
            <a:endParaRPr lang="zh-CN" altLang="en-US" sz="20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TCP/IP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应用层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79195" y="1135380"/>
            <a:ext cx="983361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应用层负责处理应用程序的逻辑。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应用层协议很多：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ping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：应用程序，不是协议，调试网络环境；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telnet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：远程登录协议；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DNS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：机器域名到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的转换；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HTTP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超文本传输协议(Hypertext transfer protocol)。是一种详细规定了浏览器和万维网(WWW = World Wide Web)服务器之间互相通信的规则，通过因特网传送万维网文档的数据传送协议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DHCP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动态主机配置协议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TCP/IP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数据封装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79195" y="1135380"/>
            <a:ext cx="98336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应用程序数据在发送到屋里网络上之前，将沿着协议栈从上往下依次传递。每层协议都将在上层协议的基础上加上自己的头部信息（有时还包括尾部信息），以实现该层的功能，这个过程称为封装。</a:t>
            </a:r>
            <a:endParaRPr lang="zh-CN" altLang="en-US" sz="20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1507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570" y="2611755"/>
            <a:ext cx="7643495" cy="374459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79195" y="1290320"/>
            <a:ext cx="98336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Transmission Control Protocol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，传输控制协议）为应用层提供可靠的、面向连接的、基于流（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stream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）的服务。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协议使用超时重传、数据确认等方式来确保数据包被正确的发送到目的，因此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服务是可靠的。使用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协议通信的双方必须先建立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连接，并且在内核中为该连接维持一些必须的数据结构。当通信结束时，双方必须关闭连接以释放这些内核数据。</a:t>
            </a:r>
            <a:endParaRPr lang="zh-CN" altLang="en-US" sz="20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协议头部结构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2560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618" y="1522413"/>
            <a:ext cx="7643812" cy="38131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三次握手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82955" y="1046480"/>
            <a:ext cx="106254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所谓三次握手(Three-way Handshake)，是指建立一个TCP连接时，需要客户端和服务器总共发送3个包。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628" name="图片 4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130" y="2205355"/>
            <a:ext cx="5538470" cy="4006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四次挥手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82955" y="1046480"/>
            <a:ext cx="106254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TCP连接的删除需要发送四个包，因此称为四次挥手(four-way handshake)。客户端或服务器均可主动发起挥手动作，在socket编程中，任何一方执行close()操作即可产生挥手操作。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7652" name="图片 4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313" y="2183765"/>
            <a:ext cx="6429375" cy="40497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User DataGram Protocol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UDP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82955" y="1046480"/>
            <a:ext cx="1062545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UDP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User DataGram Protocol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，用户数据报协议）它与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协议完全相反，提供不可靠、无连接和基于数据报的服务。不可靠意味着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协议无法保证数据从发送端正确的传送到接收端。如果数据在中途丢失，或者目的端通过数据校验发现数据错误而将其丢弃，则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协议只是简单的通知应用层发送失败。因此使用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协议的应用程序通常要自己处理数据确认、超时重传等逻辑性。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User DataGram Protocol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UDP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协议头部结构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29699" name="内容占位符 3" descr="QQ截图未命名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5245" y="1300798"/>
            <a:ext cx="7000875" cy="46434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socket</a:t>
                </a:r>
                <a:endParaRPr lang="en-US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socket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套接字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43940" y="1438910"/>
            <a:ext cx="8763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中的网络编程通过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Socket(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套接字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接口实现，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一种文件描述符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socket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套接字类型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26820"/>
            <a:ext cx="969454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套接字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有三种类型：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流式套接字（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SOCK_STREAM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流式的套接字可以提供可靠的、面向连接的通讯流。它使用了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协议。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保证了数据传输的正确性和顺序性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数据报套接字（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SOCK_DGRAM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数据报套接字定义了一种无连接的服务，数据通过相互独立的报文进行传输，是无序的，并且不保证可靠，无差错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它使用数据报协议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UDP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原始套接字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原始套接字允许对低层协议如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ICMP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直接访问，主要用于新的网络协议的测试等。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struct sockaddr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地址结构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424940"/>
            <a:ext cx="821245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sockaddr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u_short sa_family;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sa_data[14];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};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sa_family: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地址族，采用“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AF_xxx”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的形式，如：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AF_INET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sa_data: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字节的特定协议地址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struct sockaddr_in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地址结构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0910" y="1452880"/>
            <a:ext cx="979297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sockaddr_in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short int sin_family;  /* Internet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地址族 *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unsigned short int sin_port;  /*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端口号 *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struct in_addr sin_addr;   /* IP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 *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unsigned char sin_zero[8];  /*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填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 */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编程中一般并不直接针对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sockaddr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数据结构操作，而是使用与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sockaddr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等价的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sockaddr_in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数据结构。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struct sockaddr_in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地址结构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0910" y="1452880"/>
            <a:ext cx="97929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in_addr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unsigned long s_addr;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s_addr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位的地址。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order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字节序转换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452880"/>
            <a:ext cx="979297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不同类型的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对变量的字节存储顺序可能不同，分为大端字节序和小端字节序。而网络传输的数据顺序是一定要统一的。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所以当内部字节存储顺序和网络字节顺序不同时，就一定要进行转换。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网络字节顺序采用大端排序方式。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字节序转换几个函数：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sym typeface="+mn-ea"/>
              </a:rPr>
              <a:t>uint32_t htonl(uint32_t hostlong);</a:t>
            </a:r>
            <a:endParaRPr lang="en-US" altLang="zh-CN" sz="2000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sym typeface="+mn-ea"/>
              </a:rPr>
              <a:t>uint16_t htons(uint16_t hostshort);</a:t>
            </a:r>
            <a:endParaRPr lang="en-US" altLang="zh-CN" sz="2000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sym typeface="+mn-ea"/>
              </a:rPr>
              <a:t>uint32_t ntohl(uint32_t netlong);</a:t>
            </a:r>
            <a:endParaRPr lang="en-US" altLang="zh-CN" sz="2000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sym typeface="+mn-ea"/>
              </a:rPr>
              <a:t>uint16_t ntohs(uint16_t netshort);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inet_addr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地址转换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452880"/>
            <a:ext cx="97929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地址通常由数字加点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(192.168.0.1)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的形式表示，而在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in_addr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中使用的是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地址是由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位的整数表示的，为了转换我们可以使用下面两个函数：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inet_aton(const char *cp,struct in_addr *inp);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*inet_ntoa(struct in_addr in);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inet_addr(char *ip);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编程中经常使用第三个函数，可以直接把字符串形式的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地址转换成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位整数表示。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TCP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3904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Transmission Control Protocol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24940"/>
            <a:ext cx="372554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服务器建立步骤：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创建一个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socket();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、绑定信息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bind();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、监听端口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listen();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、接收客户端的连接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accept();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、读写操作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recv()/send();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36870" y="1424940"/>
            <a:ext cx="372554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客户端建立步骤：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创建一个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socket();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、连接服务器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connect();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、读写操作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recv()/send()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bind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服务器绑定操作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3540" y="1397000"/>
            <a:ext cx="11216640" cy="430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client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终止时自动关闭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描述符，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server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连接收到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client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发的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FIN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段后处于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TIME_WAIT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状态。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协议规定，主动关闭连接的一方要处于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TIME_WAIT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状态，等待两个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MSL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maximum segment lifetime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）的时间后才能回到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CLOSED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状态，因为我们先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Ctrl-C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终止了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server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，所以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server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是主动关闭连接的一方，在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TIME_WAIT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期间仍然不能再次监听同样的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server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端口。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MSL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RFC1122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中规定为两分钟，但是各操作系统的实现不同，在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上一般经过半分钟后就可以再次启动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server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了。</a:t>
            </a:r>
            <a:endParaRPr kumimoji="0" lang="en-US" altLang="zh-CN" b="0" i="0" u="none" strike="noStrike" kern="0" cap="none" spc="0" normalizeH="0" baseline="0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server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连接没有完全断开之前不允许重新监听是不合理的，因为，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连接没有完全断开指的是</a:t>
            </a:r>
            <a:r>
              <a:rPr lang="en-US" altLang="zh-CN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127.0.0.1:8000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）没有完全断开，而我们重新监听的是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</a:t>
            </a:r>
            <a:r>
              <a:rPr lang="en-US" altLang="zh-CN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0.0.0.0:8000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），虽然是占用同一个端口，但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地址不同，</a:t>
            </a:r>
            <a:r>
              <a:rPr lang="en-US" altLang="zh-CN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对应的是不某个客户端通讯的一个具体的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地址，而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</a:t>
            </a:r>
            <a:r>
              <a:rPr lang="en-US" altLang="zh-CN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对应的是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wildcard address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。解决这个问题的方法是使用</a:t>
            </a:r>
            <a:r>
              <a:rPr lang="en-US" altLang="zh-CN" kern="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setsockopt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()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描述符的选项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SO_REUSEADDR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，表示允许创建端口号相同但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地址不同的多个</a:t>
            </a:r>
            <a:r>
              <a:rPr lang="en-US" altLang="zh-CN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</a:t>
            </a:r>
            <a:r>
              <a:rPr lang="zh-CN" altLang="en-US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描述符。</a:t>
            </a:r>
            <a:endParaRPr lang="zh-CN" altLang="en-US" kern="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bind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服务器绑定操作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397000"/>
            <a:ext cx="1031367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server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代码的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socket()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bind()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调用之间插入如下代码：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opt = 1; 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setsockopt(sockfd,SOL_SOCKET, SO_REUSEADDR, &amp;opt, sizeof(opt));</a:t>
            </a:r>
            <a:endParaRPr lang="en-US" altLang="zh-CN" sz="2000" b="1" kern="0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Transmission Control Protocol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TCP 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并发服务器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9970" y="1551940"/>
            <a:ext cx="869251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并发服务器：能够同时处理多个客户端的服务器。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(1)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int fd = accept(sockfd, &amp;client_addr, &amp;length);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pthread_create();       //</a:t>
            </a:r>
            <a:r>
              <a:rPr lang="zh-CN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为每一个客户端创建一个线程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UDP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User DataGram Protocol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UDP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52245" y="1536700"/>
            <a:ext cx="35515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服务器建立步骤：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、创建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socket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socket();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、绑定信息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bind();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、收发数据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recvfrom()/sendto();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41365" y="1536700"/>
            <a:ext cx="35515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客户端建立步骤：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、创建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socket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socket();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、收发数据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recvfrom()/sendto();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sp>
        <p:nvSpPr>
          <p:cNvPr id="12" name="原创设计师QQ598969553      _12"/>
          <p:cNvSpPr>
            <a:spLocks noChangeArrowheads="1"/>
          </p:cNvSpPr>
          <p:nvPr/>
        </p:nvSpPr>
        <p:spPr bwMode="auto">
          <a:xfrm>
            <a:off x="4254500" y="2543810"/>
            <a:ext cx="3682365" cy="1769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over</a:t>
            </a:r>
            <a:endParaRPr lang="en-US" altLang="zh-CN" sz="11500" dirty="0">
              <a:solidFill>
                <a:schemeClr val="bg1"/>
              </a:solidFill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28f666ae-4ef1-44eb-87bf-1e81a996c555}"/>
  <p:tag name="TABLE_ENDDRAG_ORIGIN_RECT" val="671*382"/>
  <p:tag name="TABLE_ENDDRAG_RECT" val="144*97*671*38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4560</Words>
  <Application>WPS 演示</Application>
  <PresentationFormat>宽屏</PresentationFormat>
  <Paragraphs>379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Arial</vt:lpstr>
      <vt:lpstr>宋体</vt:lpstr>
      <vt:lpstr>Wingdings</vt:lpstr>
      <vt:lpstr>文鼎习字体</vt:lpstr>
      <vt:lpstr>Nexa Light</vt:lpstr>
      <vt:lpstr>Wide Latin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Calibri</vt:lpstr>
      <vt:lpstr>Arial Unicode MS</vt:lpstr>
      <vt:lpstr>Calibri Light</vt:lpstr>
      <vt:lpstr>hakuyoxingshu7000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lpp_p</cp:lastModifiedBy>
  <cp:revision>58</cp:revision>
  <dcterms:created xsi:type="dcterms:W3CDTF">2017-11-17T09:39:00Z</dcterms:created>
  <dcterms:modified xsi:type="dcterms:W3CDTF">2022-05-23T13:35:34Z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2052-11.1.0.11579</vt:lpwstr>
  </property>
  <property fmtid="{D5CDD505-2E9C-101B-9397-08002B2CF9AE}" pid="3" name="ICV">
    <vt:lpwstr>C0D4B13902B04B91A01F0C11AE224471</vt:lpwstr>
  </property>
</Properties>
</file>