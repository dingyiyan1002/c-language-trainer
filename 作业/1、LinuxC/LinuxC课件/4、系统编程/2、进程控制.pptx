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7"/>
  </p:handoutMasterIdLst>
  <p:sldIdLst>
    <p:sldId id="256" r:id="rId3"/>
    <p:sldId id="257" r:id="rId5"/>
    <p:sldId id="258" r:id="rId6"/>
    <p:sldId id="265" r:id="rId7"/>
    <p:sldId id="281" r:id="rId8"/>
    <p:sldId id="260" r:id="rId9"/>
    <p:sldId id="266" r:id="rId10"/>
    <p:sldId id="282" r:id="rId11"/>
    <p:sldId id="283" r:id="rId12"/>
    <p:sldId id="284" r:id="rId13"/>
    <p:sldId id="285" r:id="rId14"/>
    <p:sldId id="286" r:id="rId15"/>
    <p:sldId id="288" r:id="rId16"/>
    <p:sldId id="321" r:id="rId17"/>
    <p:sldId id="289" r:id="rId18"/>
    <p:sldId id="261" r:id="rId19"/>
    <p:sldId id="267" r:id="rId20"/>
    <p:sldId id="264" r:id="rId21"/>
    <p:sldId id="268" r:id="rId22"/>
    <p:sldId id="291" r:id="rId23"/>
    <p:sldId id="292" r:id="rId24"/>
    <p:sldId id="293" r:id="rId25"/>
    <p:sldId id="294" r:id="rId26"/>
    <p:sldId id="262" r:id="rId27"/>
    <p:sldId id="269" r:id="rId28"/>
    <p:sldId id="295" r:id="rId29"/>
    <p:sldId id="296" r:id="rId30"/>
    <p:sldId id="271" r:id="rId31"/>
    <p:sldId id="270" r:id="rId32"/>
    <p:sldId id="297" r:id="rId33"/>
    <p:sldId id="298" r:id="rId34"/>
    <p:sldId id="263" r:id="rId35"/>
    <p:sldId id="272" r:id="rId36"/>
    <p:sldId id="273" r:id="rId37"/>
    <p:sldId id="274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259" r:id="rId4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4242"/>
    <a:srgbClr val="F6F5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96" y="60"/>
      </p:cViewPr>
      <p:guideLst>
        <p:guide orient="horz" pos="220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0" Type="http://schemas.openxmlformats.org/officeDocument/2006/relationships/tableStyles" Target="tableStyles.xml"/><Relationship Id="rId5" Type="http://schemas.openxmlformats.org/officeDocument/2006/relationships/slide" Target="slides/slide2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handoutMaster" Target="handoutMasters/handoutMaster1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框 3"/>
          <p:cNvSpPr txBox="1"/>
          <p:nvPr/>
        </p:nvSpPr>
        <p:spPr>
          <a:xfrm>
            <a:off x="2135407" y="2657915"/>
            <a:ext cx="820314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spc="225" dirty="0">
                <a:ln>
                  <a:solidFill>
                    <a:schemeClr val="bg1"/>
                  </a:solidFill>
                </a:ln>
                <a:solidFill>
                  <a:srgbClr val="F6F5F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习字体" panose="020B0602010101010101" pitchFamily="33" charset="-122"/>
                <a:ea typeface="文鼎习字体" panose="020B0602010101010101" pitchFamily="33" charset="-122"/>
              </a:rPr>
              <a:t>进程控制</a:t>
            </a:r>
            <a:endParaRPr lang="zh-CN" altLang="en-US" sz="6600" spc="225" dirty="0">
              <a:ln>
                <a:solidFill>
                  <a:schemeClr val="bg1"/>
                </a:solidFill>
              </a:ln>
              <a:solidFill>
                <a:srgbClr val="F6F5F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32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2783454" y="2102679"/>
            <a:ext cx="6625184" cy="2780664"/>
            <a:chOff x="3388622" y="2209939"/>
            <a:chExt cx="5040937" cy="2326461"/>
          </a:xfrm>
        </p:grpSpPr>
        <p:grpSp>
          <p:nvGrpSpPr>
            <p:cNvPr id="7" name="组合 6"/>
            <p:cNvGrpSpPr/>
            <p:nvPr/>
          </p:nvGrpSpPr>
          <p:grpSpPr>
            <a:xfrm>
              <a:off x="5018480" y="2209939"/>
              <a:ext cx="3411079" cy="2326461"/>
              <a:chOff x="5018480" y="2209939"/>
              <a:chExt cx="3411079" cy="2326461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5018480" y="2209939"/>
                <a:ext cx="583445" cy="2218338"/>
                <a:chOff x="5421311" y="2621290"/>
                <a:chExt cx="583445" cy="2218338"/>
              </a:xfrm>
            </p:grpSpPr>
            <p:sp>
              <p:nvSpPr>
                <p:cNvPr id="14" name="文本框 16"/>
                <p:cNvSpPr txBox="1"/>
                <p:nvPr/>
              </p:nvSpPr>
              <p:spPr>
                <a:xfrm>
                  <a:off x="5710997" y="2621290"/>
                  <a:ext cx="293759" cy="4882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kumimoji="0" lang="en-US" altLang="zh-CN" sz="3200" kern="1200" cap="none" spc="0" normalizeH="0" baseline="0" noProof="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1</a:t>
                  </a:r>
                  <a:endParaRPr kumimoji="0" lang="en-US" altLang="zh-CN" sz="3200" kern="1200" cap="none" spc="0" normalizeH="0" baseline="0" noProof="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Arial" panose="020B0604020202020204"/>
                  </a:endParaRPr>
                </a:p>
              </p:txBody>
            </p:sp>
            <p:sp>
              <p:nvSpPr>
                <p:cNvPr id="15" name="文本框 23"/>
                <p:cNvSpPr txBox="1"/>
                <p:nvPr/>
              </p:nvSpPr>
              <p:spPr>
                <a:xfrm>
                  <a:off x="5710997" y="3200727"/>
                  <a:ext cx="293759" cy="4882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kumimoji="0" lang="en-US" altLang="zh-CN" sz="3200" kern="1200" cap="none" spc="0" normalizeH="0" baseline="0" noProof="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2</a:t>
                  </a: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Arial" panose="020B0604020202020204"/>
                  </a:endParaRPr>
                </a:p>
              </p:txBody>
            </p:sp>
            <p:sp>
              <p:nvSpPr>
                <p:cNvPr id="16" name="文本框 15"/>
                <p:cNvSpPr txBox="1"/>
                <p:nvPr/>
              </p:nvSpPr>
              <p:spPr>
                <a:xfrm>
                  <a:off x="5787612" y="3773815"/>
                  <a:ext cx="140557" cy="48925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华康海报体W12(P)"/>
                    <a:ea typeface="微软雅黑" panose="020B0503020204020204" charset="-122"/>
                    <a:sym typeface="Arial" panose="020B0604020202020204"/>
                  </a:endParaRPr>
                </a:p>
              </p:txBody>
            </p:sp>
            <p:cxnSp>
              <p:nvCxnSpPr>
                <p:cNvPr id="17" name="直接连接符 16"/>
                <p:cNvCxnSpPr/>
                <p:nvPr/>
              </p:nvCxnSpPr>
              <p:spPr>
                <a:xfrm>
                  <a:off x="5421311" y="2764668"/>
                  <a:ext cx="0" cy="204166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文本框 16"/>
                <p:cNvSpPr txBox="1"/>
                <p:nvPr/>
              </p:nvSpPr>
              <p:spPr>
                <a:xfrm>
                  <a:off x="5710997" y="3771947"/>
                  <a:ext cx="293759" cy="4882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lang="en-US" altLang="zh-CN" sz="320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3</a:t>
                  </a: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Arial" panose="020B0604020202020204"/>
                  </a:endParaRPr>
                </a:p>
              </p:txBody>
            </p:sp>
            <p:sp>
              <p:nvSpPr>
                <p:cNvPr id="19" name="文本框 23"/>
                <p:cNvSpPr txBox="1"/>
                <p:nvPr/>
              </p:nvSpPr>
              <p:spPr>
                <a:xfrm>
                  <a:off x="5710997" y="4351384"/>
                  <a:ext cx="293759" cy="4882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lang="en-US" altLang="zh-CN" sz="320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4</a:t>
                  </a: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Arial" panose="020B0604020202020204"/>
                  </a:endParaRPr>
                </a:p>
              </p:txBody>
            </p:sp>
          </p:grpSp>
          <p:sp>
            <p:nvSpPr>
              <p:cNvPr id="10" name="文本框 48"/>
              <p:cNvSpPr txBox="1">
                <a:spLocks noChangeArrowheads="1"/>
              </p:cNvSpPr>
              <p:nvPr/>
            </p:nvSpPr>
            <p:spPr bwMode="auto">
              <a:xfrm>
                <a:off x="5847575" y="2246597"/>
                <a:ext cx="2581984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l" defTabSz="685800" eaLnBrk="1" hangingPunct="1">
                  <a:buClrTx/>
                  <a:buSzTx/>
                  <a:buFontTx/>
                </a:pPr>
                <a:r>
                  <a:rPr lang="zh-CN" altLang="en-US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操作系统理论</a:t>
                </a:r>
                <a:endPara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  <p:sp>
            <p:nvSpPr>
              <p:cNvPr id="11" name="文本框 48"/>
              <p:cNvSpPr txBox="1">
                <a:spLocks noChangeArrowheads="1"/>
              </p:cNvSpPr>
              <p:nvPr/>
            </p:nvSpPr>
            <p:spPr bwMode="auto">
              <a:xfrm>
                <a:off x="5847092" y="2797531"/>
                <a:ext cx="2582467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l" defTabSz="685800" eaLnBrk="1" hangingPunct="1">
                  <a:buClrTx/>
                  <a:buSzTx/>
                  <a:buFontTx/>
                </a:pPr>
                <a:r>
                  <a:rPr lang="en-US" altLang="zh-CN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fork</a:t>
                </a:r>
                <a:endParaRPr lang="en-US" altLang="zh-CN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  <p:sp>
            <p:nvSpPr>
              <p:cNvPr id="12" name="文本框 48"/>
              <p:cNvSpPr txBox="1">
                <a:spLocks noChangeArrowheads="1"/>
              </p:cNvSpPr>
              <p:nvPr/>
            </p:nvSpPr>
            <p:spPr bwMode="auto">
              <a:xfrm>
                <a:off x="5847092" y="3403187"/>
                <a:ext cx="2582467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l" defTabSz="685800" eaLnBrk="1" hangingPunct="1">
                  <a:buClrTx/>
                  <a:buSzTx/>
                  <a:buFontTx/>
                </a:pPr>
                <a:r>
                  <a:rPr lang="zh-CN" altLang="en-US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创建进程</a:t>
                </a:r>
                <a:endPara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  <p:sp>
            <p:nvSpPr>
              <p:cNvPr id="13" name="文本框 48"/>
              <p:cNvSpPr txBox="1">
                <a:spLocks noChangeArrowheads="1"/>
              </p:cNvSpPr>
              <p:nvPr/>
            </p:nvSpPr>
            <p:spPr bwMode="auto">
              <a:xfrm>
                <a:off x="5848058" y="3996623"/>
                <a:ext cx="2581501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l" defTabSz="685800" eaLnBrk="1" hangingPunct="1">
                  <a:buClrTx/>
                  <a:buSzTx/>
                  <a:buFontTx/>
                </a:pPr>
                <a:r>
                  <a:rPr lang="zh-CN" altLang="en-US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僵尸进程</a:t>
                </a:r>
                <a:endPara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</p:grpSp>
        <p:sp>
          <p:nvSpPr>
            <p:cNvPr id="8" name="文本框 16"/>
            <p:cNvSpPr txBox="1"/>
            <p:nvPr/>
          </p:nvSpPr>
          <p:spPr>
            <a:xfrm>
              <a:off x="3388622" y="2302014"/>
              <a:ext cx="1629858" cy="1004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目录 </a:t>
              </a:r>
              <a:r>
                <a:rPr lang="en-US" altLang="zh-CN" sz="3600" dirty="0" smtClean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 </a:t>
              </a:r>
              <a:r>
                <a:rPr lang="en-US" altLang="zh-CN" sz="32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Contents</a:t>
              </a:r>
              <a:r>
                <a:rPr lang="en-US" altLang="zh-CN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 </a:t>
              </a:r>
              <a:endPara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PART01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操作系统理论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95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process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进程是什么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4870" y="1410970"/>
            <a:ext cx="1049718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进程是一个具有一定独立功能的程序的一次运行活动，同时也是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资源分配的最小单元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Linux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终端下：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en-US" altLang="zh-CN" sz="24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ps -elf</a:t>
            </a:r>
            <a:endParaRPr lang="en-US" altLang="zh-CN" sz="24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看到的是操作系统所有的进程。</a:t>
            </a:r>
            <a:endParaRPr lang="zh-CN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program process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程序和进程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5505" y="1410970"/>
            <a:ext cx="104965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程序是放到磁盘的可执行文件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进程是指程序执行的实例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process and program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进程和程序的区别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44880" y="1537970"/>
            <a:ext cx="1061085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进程是动态的，程序是静态的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：程序是有序代码的集合；进程是程序的执行。通常进程不可在计算机之间迁移；而程序通常对应着文件、静态和可以复制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进程是暂时的，程序使长久的：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进程是一个状态变化的过程，程序可长久保存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进程与程序组成不同：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进程的组成包括程序、数据和进程控制块（即进程状态信息）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进程与程序的对应关系：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通过多次执行，一个程序可对应多个进程；通过调用关系，一个进程可包括多个程序。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process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进程的生命周期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60425" y="1594485"/>
            <a:ext cx="92710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创建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lang="zh-CN" altLang="en-US" sz="24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每个进程都是由其父进程创建，进程可以创建子进程，子进程又可以创建子进程的子进程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运行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lang="zh-CN" altLang="en-US" sz="24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多个进程可以同时存在，进程间可以通信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撤销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r>
              <a:rPr lang="zh-CN" altLang="en-US" sz="24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进程可以被撤销，从而结束一个进程的运行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process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进程的状态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60425" y="1594485"/>
            <a:ext cx="92710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为什么有了操作系统，就能同时处理多个任务？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执行状态：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进程正在占用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CPU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就绪状态：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进程已具备一切条件，正在等待分配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CPU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的处理时间片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等待状态：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进程不能使用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CPU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，若等待事件发生则可将其唤醒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process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进程的状态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grpSp>
        <p:nvGrpSpPr>
          <p:cNvPr id="33" name="组合 32"/>
          <p:cNvGrpSpPr/>
          <p:nvPr/>
        </p:nvGrpSpPr>
        <p:grpSpPr>
          <a:xfrm>
            <a:off x="2404745" y="1170940"/>
            <a:ext cx="7268845" cy="3668395"/>
            <a:chOff x="3787" y="1844"/>
            <a:chExt cx="11447" cy="5777"/>
          </a:xfrm>
        </p:grpSpPr>
        <p:sp>
          <p:nvSpPr>
            <p:cNvPr id="2" name="矩形 1"/>
            <p:cNvSpPr/>
            <p:nvPr/>
          </p:nvSpPr>
          <p:spPr>
            <a:xfrm>
              <a:off x="7722" y="1844"/>
              <a:ext cx="3756" cy="1978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2442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3966" y="5643"/>
              <a:ext cx="3756" cy="1978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2442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1478" y="5643"/>
              <a:ext cx="3756" cy="1978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2442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690" y="2471"/>
              <a:ext cx="1821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400" b="1">
                  <a:solidFill>
                    <a:srgbClr val="244242"/>
                  </a:solidFill>
                </a:rPr>
                <a:t>就绪</a:t>
              </a:r>
              <a:endParaRPr lang="zh-CN" altLang="en-US" sz="2400" b="1">
                <a:solidFill>
                  <a:srgbClr val="244242"/>
                </a:solidFill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933" y="6269"/>
              <a:ext cx="1821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400" b="1">
                  <a:solidFill>
                    <a:srgbClr val="244242"/>
                  </a:solidFill>
                </a:rPr>
                <a:t>执行</a:t>
              </a:r>
              <a:endParaRPr lang="zh-CN" altLang="en-US" sz="2400" b="1">
                <a:solidFill>
                  <a:srgbClr val="244242"/>
                </a:solidFill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2446" y="6270"/>
              <a:ext cx="1821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400" b="1">
                  <a:solidFill>
                    <a:srgbClr val="244242"/>
                  </a:solidFill>
                </a:rPr>
                <a:t>等待</a:t>
              </a:r>
              <a:endParaRPr lang="zh-CN" altLang="en-US" sz="2400" b="1">
                <a:solidFill>
                  <a:srgbClr val="244242"/>
                </a:solidFill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 flipH="1">
              <a:off x="6688" y="3399"/>
              <a:ext cx="104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/>
          </p:nvSpPr>
          <p:spPr>
            <a:xfrm>
              <a:off x="5844" y="4231"/>
              <a:ext cx="168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b="1">
                  <a:solidFill>
                    <a:schemeClr val="bg1"/>
                  </a:solidFill>
                </a:rPr>
                <a:t>调度</a:t>
              </a:r>
              <a:endParaRPr lang="zh-CN" altLang="en-US" b="1">
                <a:solidFill>
                  <a:schemeClr val="bg1"/>
                </a:solidFill>
              </a:endParaRPr>
            </a:p>
          </p:txBody>
        </p:sp>
        <p:cxnSp>
          <p:nvCxnSpPr>
            <p:cNvPr id="19" name="直接连接符 18"/>
            <p:cNvCxnSpPr/>
            <p:nvPr/>
          </p:nvCxnSpPr>
          <p:spPr>
            <a:xfrm>
              <a:off x="6687" y="3399"/>
              <a:ext cx="1" cy="83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/>
            <p:nvPr/>
          </p:nvCxnSpPr>
          <p:spPr>
            <a:xfrm>
              <a:off x="6689" y="4811"/>
              <a:ext cx="0" cy="833"/>
            </a:xfrm>
            <a:prstGeom prst="straightConnector1">
              <a:avLst/>
            </a:prstGeom>
            <a:ln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4754" y="4811"/>
              <a:ext cx="1" cy="83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/>
            <p:cNvSpPr txBox="1"/>
            <p:nvPr/>
          </p:nvSpPr>
          <p:spPr>
            <a:xfrm>
              <a:off x="3787" y="4231"/>
              <a:ext cx="193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b="1">
                  <a:solidFill>
                    <a:schemeClr val="bg1"/>
                  </a:solidFill>
                </a:rPr>
                <a:t>时间片到</a:t>
              </a:r>
              <a:endParaRPr lang="zh-CN" altLang="en-US" b="1">
                <a:solidFill>
                  <a:schemeClr val="bg1"/>
                </a:solidFill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4752" y="2334"/>
              <a:ext cx="4" cy="189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>
              <a:off x="4777" y="2333"/>
              <a:ext cx="2934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/>
            <p:cNvSpPr txBox="1"/>
            <p:nvPr/>
          </p:nvSpPr>
          <p:spPr>
            <a:xfrm>
              <a:off x="8534" y="6123"/>
              <a:ext cx="2134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b="1">
                  <a:solidFill>
                    <a:schemeClr val="bg1"/>
                  </a:solidFill>
                </a:rPr>
                <a:t>因等待某个资源睡眠</a:t>
              </a:r>
              <a:endParaRPr lang="zh-CN" altLang="en-US" b="1">
                <a:solidFill>
                  <a:schemeClr val="bg1"/>
                </a:solidFill>
              </a:endParaRPr>
            </a:p>
          </p:txBody>
        </p:sp>
        <p:cxnSp>
          <p:nvCxnSpPr>
            <p:cNvPr id="27" name="直接连接符 26"/>
            <p:cNvCxnSpPr>
              <a:stCxn id="5" idx="3"/>
              <a:endCxn id="26" idx="1"/>
            </p:cNvCxnSpPr>
            <p:nvPr/>
          </p:nvCxnSpPr>
          <p:spPr>
            <a:xfrm flipV="1">
              <a:off x="7722" y="6631"/>
              <a:ext cx="812" cy="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>
              <a:stCxn id="26" idx="3"/>
              <a:endCxn id="6" idx="1"/>
            </p:cNvCxnSpPr>
            <p:nvPr/>
          </p:nvCxnSpPr>
          <p:spPr>
            <a:xfrm>
              <a:off x="10668" y="6631"/>
              <a:ext cx="810" cy="1"/>
            </a:xfrm>
            <a:prstGeom prst="straightConnector1">
              <a:avLst/>
            </a:prstGeom>
            <a:ln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本框 28"/>
            <p:cNvSpPr txBox="1"/>
            <p:nvPr/>
          </p:nvSpPr>
          <p:spPr>
            <a:xfrm>
              <a:off x="12289" y="3822"/>
              <a:ext cx="2134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b="1">
                  <a:solidFill>
                    <a:schemeClr val="bg1"/>
                  </a:solidFill>
                </a:rPr>
                <a:t>资源被分配而唤醒</a:t>
              </a:r>
              <a:endParaRPr lang="zh-CN" altLang="en-US" b="1">
                <a:solidFill>
                  <a:schemeClr val="bg1"/>
                </a:solidFill>
              </a:endParaRPr>
            </a:p>
          </p:txBody>
        </p:sp>
        <p:cxnSp>
          <p:nvCxnSpPr>
            <p:cNvPr id="30" name="直接连接符 29"/>
            <p:cNvCxnSpPr>
              <a:stCxn id="6" idx="0"/>
              <a:endCxn id="29" idx="2"/>
            </p:cNvCxnSpPr>
            <p:nvPr/>
          </p:nvCxnSpPr>
          <p:spPr>
            <a:xfrm flipV="1">
              <a:off x="13356" y="4838"/>
              <a:ext cx="0" cy="80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V="1">
              <a:off x="13356" y="2822"/>
              <a:ext cx="0" cy="863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>
              <a:endCxn id="2" idx="3"/>
            </p:cNvCxnSpPr>
            <p:nvPr/>
          </p:nvCxnSpPr>
          <p:spPr>
            <a:xfrm flipH="1">
              <a:off x="11478" y="2799"/>
              <a:ext cx="1855" cy="34"/>
            </a:xfrm>
            <a:prstGeom prst="straightConnector1">
              <a:avLst/>
            </a:prstGeom>
            <a:ln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process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Linux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进程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29970" y="1509395"/>
            <a:ext cx="976376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Linux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系统是一个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多进程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的系统，它的进程之间具有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并行性、互不干扰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等特点。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也就是说，每个进程都是一个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独立的运行单位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拥有各自的权利和责任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。其中，各个进程都运行在独立的虚拟地址空间，因此，即使一个进程发生异常，它也不会影响到系统中的其他进程。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process id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进程的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ID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29970" y="1509395"/>
            <a:ext cx="976376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ID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PID)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标识进程的唯一数字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父进程的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ID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PPID)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启动进程的用户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ID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UID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系统启动的第一个进程称为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祖先进程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/init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一号进程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process id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进程的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ID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29970" y="1509395"/>
            <a:ext cx="976376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ID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PID)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标识进程的唯一数字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父进程的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ID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PPID)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启动进程的用户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ID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UID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系统启动的第一个进程称为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祖先进程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/init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一号进程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process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互斥、临界资源、临界区、同步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14730" y="1347470"/>
            <a:ext cx="1001776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进程互斥是指当有若干进程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都要使用某一共享资源时，任何时刻最多允许一个进程使用</a:t>
            </a:r>
            <a:r>
              <a:rPr lang="zh-CN" altLang="en-US" sz="20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其他要使用该资源的进程必须等待，直到占用该资源者释放了该资源为止；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操作系统中将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一次只允许一个进程访问的资源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称为临界资源；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进程中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访问临界资源的那段程序代码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称为临界区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，为实现对临界资源的互斥访问，应保证诸进程互斥地进入各自的临界区；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一组并发进程按一定的顺序执行的过程称为进程间的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同步；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具有同步关系一组并发进程称为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合作进程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，合作进程间互相发送的信号称为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消息或事件。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lock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死锁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14730" y="1347470"/>
            <a:ext cx="1001776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多个进程因竞争资源而形成一种僵局，若无外力作用，这些进程都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将永远不能再向前推进。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process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进程调度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14730" y="1347470"/>
            <a:ext cx="1001776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进程调度：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按一定算法，从一组待运行的进程中选出一个来占有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CPU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运行。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调度方式：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、抢占式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2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、非抢占式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调度算法：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2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先来先服务调度算法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2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短进程优先调度算法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2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高优先级优先调度算法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2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时间片轮转法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PART02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fork</a:t>
                </a:r>
                <a:endParaRPr lang="en-US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getpid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获取进程号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02970" y="1636395"/>
            <a:ext cx="855091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#include &lt;sys/</a:t>
            </a:r>
            <a:r>
              <a:rPr lang="en-US" altLang="zh-CN" sz="24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types.h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 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#include &lt;</a:t>
            </a:r>
            <a:r>
              <a:rPr lang="en-US" altLang="zh-CN" sz="24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unistd.h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 err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pid_t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400" b="1" dirty="0" err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getpid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(void)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获取本进程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ID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 err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pid_t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400" b="1" dirty="0" err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getppid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(void)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获取父进程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ID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fork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创建进程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4870" y="1438910"/>
            <a:ext cx="980630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#include &lt;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unistd.h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 err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pid_t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fork(void)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功能：创建子进程。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fork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的奇妙之处在于它被调用一次，却返回两次，它可能有三种不同的返回值：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、失败返回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-1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、父进程返回子进程的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id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、子进程返回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fork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fork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示例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278890"/>
            <a:ext cx="8903335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1" fontAlgn="base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#include &lt;sys/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types.h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</a:t>
            </a:r>
            <a:endParaRPr lang="en-US" altLang="zh-CN" sz="20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fontAlgn="base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#include &lt;unistd.h&gt;</a:t>
            </a:r>
            <a:endParaRPr lang="en-US" altLang="zh-CN" sz="2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fontAlgn="base" hangingPunct="1">
              <a:buFont typeface="Wingdings" panose="05000000000000000000" pitchFamily="2" charset="2"/>
              <a:buNone/>
              <a:defRPr/>
            </a:pPr>
            <a:endParaRPr lang="en-US" altLang="zh-CN" sz="20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fontAlgn="base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 main()</a:t>
            </a:r>
            <a:endParaRPr lang="en-US" altLang="zh-CN" sz="20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fontAlgn="base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endParaRPr lang="en-US" altLang="zh-CN" sz="20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fontAlgn="base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pid_t 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;</a:t>
            </a:r>
            <a:endParaRPr lang="en-US" altLang="zh-CN" sz="20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fontAlgn="base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/*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此时仅有一个进程*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endParaRPr lang="en-US" altLang="zh-CN" sz="20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fontAlgn="base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=fork();               /*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此时已经有两个进程在同时运行*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endParaRPr lang="en-US" altLang="zh-CN" sz="20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fontAlgn="base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if(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&lt;0)</a:t>
            </a:r>
            <a:endParaRPr lang="en-US" altLang="zh-CN" sz="20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fontAlgn="base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printf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("error in fork!");</a:t>
            </a:r>
            <a:endParaRPr lang="en-US" altLang="zh-CN" sz="20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fontAlgn="base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en-US" altLang="zh-CN" sz="2000" b="1" dirty="0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else if(</a:t>
            </a:r>
            <a:r>
              <a:rPr lang="en-US" altLang="zh-CN" sz="2000" b="1" dirty="0" err="1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 </a:t>
            </a:r>
            <a:r>
              <a:rPr lang="en-US" altLang="zh-CN" sz="2000" b="1" dirty="0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== 0)</a:t>
            </a:r>
            <a:endParaRPr lang="en-US" altLang="zh-CN" sz="2000" b="1" strike="noStrike" noProof="1" dirty="0" smtClean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fontAlgn="base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printf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("I am the child process, ID is %d\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n",getpid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());</a:t>
            </a:r>
            <a:endParaRPr lang="en-US" altLang="zh-CN" sz="20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fontAlgn="base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en-US" altLang="zh-CN" sz="2000" b="1" dirty="0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else</a:t>
            </a:r>
            <a:endParaRPr lang="en-US" altLang="zh-CN" sz="2000" b="1" strike="noStrike" noProof="1" dirty="0" smtClean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fontAlgn="base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printf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("I am the parent 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process,ID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is %d\</a:t>
            </a:r>
            <a:r>
              <a:rPr lang="en-US" altLang="zh-CN" sz="200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n",getpid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());</a:t>
            </a:r>
            <a:endParaRPr lang="en-US" altLang="zh-CN" sz="20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fontAlgn="base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  <a:endParaRPr lang="en-US" altLang="zh-CN" sz="2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fork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fork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示例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278890"/>
            <a:ext cx="890333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1" fontAlgn="base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注意事项：</a:t>
            </a:r>
            <a:endParaRPr lang="zh-CN" altLang="en-US" sz="2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fontAlgn="base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、如果代码只想让父进程执行，那么只能写在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else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语句里；</a:t>
            </a:r>
            <a:endParaRPr lang="zh-CN" altLang="en-US" sz="2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fontAlgn="base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、如果代码只想让子进程执行，那么只能写在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else if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语句里；</a:t>
            </a:r>
            <a:endParaRPr lang="zh-CN" altLang="en-US" sz="2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fontAlgn="base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、写在其他地方的代码，父子进程都会执行。</a:t>
            </a:r>
            <a:endParaRPr lang="zh-CN" altLang="en-US" sz="2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fontAlgn="base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zh-CN" altLang="en-US" sz="2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fontAlgn="base" hangingPunct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pid_t pid = fork();</a:t>
            </a:r>
            <a:endParaRPr lang="en-US" altLang="zh-CN" sz="2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fontAlgn="base" hangingPunct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if (0 == pid)</a:t>
            </a:r>
            <a:endParaRPr lang="en-US" altLang="zh-CN" sz="2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fontAlgn="base" hangingPunct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printf(“this is child\n”);</a:t>
            </a:r>
            <a:endParaRPr lang="en-US" altLang="zh-CN" sz="2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fontAlgn="base" hangingPunct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else if (pid &gt; 0)</a:t>
            </a:r>
            <a:endParaRPr lang="en-US" altLang="zh-CN" sz="2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fontAlgn="base" hangingPunct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printf(“this is parent\n”);</a:t>
            </a:r>
            <a:endParaRPr lang="en-US" altLang="zh-CN" sz="2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fontAlgn="base" hangingPunct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printf(“helloworld\n”);         //</a:t>
            </a:r>
            <a:r>
              <a:rPr lang="zh-CN" altLang="zh-CN" sz="2000" b="1" dirty="0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这行代码即属于父进程又属于子进程</a:t>
            </a:r>
            <a:endParaRPr lang="zh-CN" altLang="zh-CN" sz="2000" b="1" dirty="0" smtClean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fork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fork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278890"/>
            <a:ext cx="972121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eaLnBrk="1" fontAlgn="base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=fork()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之前，只有一个进程在执行，但在这条语句执行之后，就变成两个进程在执行了，这两个进程的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共享代码段，将要执行的下一条语句都是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if(</a:t>
            </a:r>
            <a:r>
              <a:rPr lang="en-US" altLang="zh-CN" sz="2000" b="1" dirty="0" err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==0)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en-US" altLang="zh-CN" sz="20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fontAlgn="base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fontAlgn="base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两个进程中，原来就存在的那个进程被称作</a:t>
            </a:r>
            <a:r>
              <a:rPr lang="zh-CN" altLang="en-US" sz="20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父进程</a:t>
            </a:r>
            <a:r>
              <a:rPr lang="zh-CN" altLang="en-US" sz="20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，新出现的那个进程被称作</a:t>
            </a:r>
            <a:r>
              <a:rPr lang="zh-CN" altLang="en-US" sz="20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子进程</a:t>
            </a:r>
            <a:r>
              <a:rPr lang="zh-CN" altLang="en-US" sz="20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父子进程的区别在于进程标识符（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）不同。</a:t>
            </a:r>
            <a:endParaRPr lang="en-US" altLang="zh-CN" sz="2000" b="1" dirty="0" smtClean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fork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思考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278890"/>
            <a:ext cx="972121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 main(void)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	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count=0;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	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= fork();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if (0 == pid)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	{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		count++;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        	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printf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 “count = %d\n", count );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	}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	else if (pid &gt; 0)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	{ 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		count++;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        	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printf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 “count = %d\n", count );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	}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return 0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90000"/>
              </a:lnSpc>
            </a:pPr>
            <a:endParaRPr lang="en-US" altLang="zh-CN" sz="20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fork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fork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的原理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278890"/>
            <a:ext cx="972121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子进程的数据空间、堆栈空间都会从父进程得到一个拷贝，而不是共享</a:t>
            </a:r>
            <a:r>
              <a:rPr lang="zh-CN" altLang="en-US" sz="24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4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在子进程中对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count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进行加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的操作，并没有影响到父进程中的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count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值，父进程中的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count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值仍然为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4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PART03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创建进程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32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vfork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vfork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系统调用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185545"/>
            <a:ext cx="10879455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#include &lt;sys/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types.h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#include &lt;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unistd.h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buNone/>
            </a:pP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None/>
            </a:pPr>
            <a:r>
              <a:rPr lang="en-US" altLang="zh-CN" sz="2000" b="1" dirty="0" err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pid_t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000" b="1" dirty="0" err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vfork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(void)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None/>
            </a:pP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功能：创建子进程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buNone/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vfork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()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会产生一个新的子进程，其子进程会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共享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父进程的数据与堆栈空间，并继承父进程的用户代码、组代码、环境变量、已打开的文件代码、工作目录和资源限制等；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子进程不会继承父进程的文件锁定和未处理的信号；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注意，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vfork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产生的子进程，一定是子进程先执行、父进程后执行。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vfork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vfork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思考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185545"/>
            <a:ext cx="10879455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 main(void)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pid_t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count=0;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pid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= vfork();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if (0 == pid)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	{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count++;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       	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printf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 “count = %d\n", count );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		exit(1);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	}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	else if (pid &gt; 0)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	{ 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		count++;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       	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printf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 “count = %d\n", count );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	}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return 0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  <a:endParaRPr lang="zh-CN" altLang="en-US" sz="200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fork vfork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fork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和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vfork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的区别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510030"/>
            <a:ext cx="1087945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区别：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1.   fork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子进程拷贝父进程的数据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vfork</a:t>
            </a:r>
            <a:r>
              <a:rPr lang="zh-CN" altLang="en-US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子进程与父进程共享数据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2.   fork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父、子进程的执行次序不确定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vfork</a:t>
            </a:r>
            <a:r>
              <a:rPr lang="zh-CN" altLang="en-US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子进程先运行，父进程后运行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exec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exec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函数族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87425" y="1594485"/>
            <a:ext cx="942594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exec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用于启动一个不相关的新的进程，被执行的程序替换调用它的程序。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exec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fork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区别：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fork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创建一个新的进程（子进程），产生一个新的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exec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启动一个新程序，替换原有的进程，因此进程的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不会改变。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execl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exec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相关函数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02970" y="1650365"/>
            <a:ext cx="1069594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#include&lt;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unistd.h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 err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000" b="1" dirty="0" err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execl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(const char * </a:t>
            </a:r>
            <a:r>
              <a:rPr lang="en-US" altLang="zh-CN" sz="2000" b="1" dirty="0" err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path,const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char * arg1, ...)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参数：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path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：被执行程序名（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含完整路径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arg1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至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argn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被执行程序所需的命令行参数，含程序名。以空指针（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NULL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）结束。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execv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exec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相关函数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02970" y="1650365"/>
            <a:ext cx="1069594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#include&lt;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unistd.h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 err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000" b="1" dirty="0" err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execv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(const char * path, char * const </a:t>
            </a:r>
            <a:r>
              <a:rPr lang="en-US" altLang="zh-CN" sz="2000" b="1" dirty="0" err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argv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[ ])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参数：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path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被执行程序名（含完整路径）。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argv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[]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被执行程序所需的命令行参数数组。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system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system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系统调用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02970" y="1650365"/>
            <a:ext cx="1069594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defTabSz="914400">
              <a:lnSpc>
                <a:spcPct val="150000"/>
              </a:lnSpc>
              <a:tabLst>
                <a:tab pos="215900" algn="l"/>
                <a:tab pos="342900" algn="l"/>
                <a:tab pos="952500" algn="l"/>
                <a:tab pos="990600" algn="l"/>
                <a:tab pos="1041400" algn="l"/>
              </a:tabLst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#include &lt;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stdlib.h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914400">
              <a:lnSpc>
                <a:spcPct val="150000"/>
              </a:lnSpc>
              <a:buNone/>
              <a:tabLst>
                <a:tab pos="215900" algn="l"/>
                <a:tab pos="342900" algn="l"/>
                <a:tab pos="952500" algn="l"/>
                <a:tab pos="990600" algn="l"/>
                <a:tab pos="1041400" algn="l"/>
              </a:tabLst>
            </a:pPr>
            <a:r>
              <a:rPr lang="en-US" altLang="zh-CN" sz="2000" b="1" dirty="0" err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system( const char* string )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914400">
              <a:lnSpc>
                <a:spcPct val="150000"/>
              </a:lnSpc>
              <a:tabLst>
                <a:tab pos="215900" algn="l"/>
                <a:tab pos="342900" algn="l"/>
                <a:tab pos="952500" algn="l"/>
                <a:tab pos="990600" algn="l"/>
                <a:tab pos="1041400" algn="l"/>
              </a:tabLst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功能：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914400">
              <a:lnSpc>
                <a:spcPct val="150000"/>
              </a:lnSpc>
              <a:buNone/>
              <a:tabLst>
                <a:tab pos="215900" algn="l"/>
                <a:tab pos="342900" algn="l"/>
                <a:tab pos="952500" algn="l"/>
                <a:tab pos="990600" algn="l"/>
                <a:tab pos="1041400" algn="l"/>
              </a:tabLst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调用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fork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产生子进程，由子进程来调用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/bin/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sh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-c string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来执行参数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string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所代表的命令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PART04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僵尸进程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0077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process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孤儿进程现象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16940" y="1410970"/>
            <a:ext cx="9595485" cy="42767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int main()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pid_t pid = fork();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if (pid &gt; 0)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printf(“this is parent\n”);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}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else if (0 == pid)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{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sleep(1);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	printf(“this is child\n”);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	}</a:t>
            </a:r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}</a:t>
            </a:r>
            <a:endParaRPr lang="en-US" altLang="zh-CN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  <a:p>
            <a:r>
              <a:rPr lang="zh-CN" altLang="zh-CN" sz="2000" b="1">
                <a:solidFill>
                  <a:schemeClr val="accent2"/>
                </a:solidFill>
              </a:rPr>
              <a:t>程序的现象？</a:t>
            </a:r>
            <a:endParaRPr lang="zh-CN" altLang="zh-CN" sz="2000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process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孤儿进程和僵尸进程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30910" y="1495425"/>
            <a:ext cx="1027303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chemeClr val="accent2"/>
                </a:solidFill>
              </a:rPr>
              <a:t>孤儿进程：</a:t>
            </a:r>
            <a:r>
              <a:rPr lang="zh-CN" altLang="en-US" sz="2400">
                <a:solidFill>
                  <a:schemeClr val="bg1"/>
                </a:solidFill>
              </a:rPr>
              <a:t>父进程创建了子进程，但是父进程提前运行结束；此时子进程变成孤儿进程。操作系统一般会将孤儿进程</a:t>
            </a:r>
            <a:r>
              <a:rPr lang="en-US" altLang="zh-CN" sz="2400">
                <a:solidFill>
                  <a:schemeClr val="bg1"/>
                </a:solidFill>
              </a:rPr>
              <a:t>“</a:t>
            </a:r>
            <a:r>
              <a:rPr lang="zh-CN" altLang="en-US" sz="2400">
                <a:solidFill>
                  <a:schemeClr val="bg1"/>
                </a:solidFill>
              </a:rPr>
              <a:t>过继</a:t>
            </a:r>
            <a:r>
              <a:rPr lang="en-US" altLang="zh-CN" sz="2400">
                <a:solidFill>
                  <a:schemeClr val="bg1"/>
                </a:solidFill>
              </a:rPr>
              <a:t>”</a:t>
            </a:r>
            <a:r>
              <a:rPr lang="zh-CN" altLang="en-US" sz="2400">
                <a:solidFill>
                  <a:schemeClr val="bg1"/>
                </a:solidFill>
              </a:rPr>
              <a:t>给</a:t>
            </a:r>
            <a:r>
              <a:rPr lang="en-US" altLang="zh-CN" sz="2400">
                <a:solidFill>
                  <a:schemeClr val="bg1"/>
                </a:solidFill>
              </a:rPr>
              <a:t>init</a:t>
            </a:r>
            <a:r>
              <a:rPr lang="zh-CN" altLang="en-US" sz="2400">
                <a:solidFill>
                  <a:schemeClr val="bg1"/>
                </a:solidFill>
              </a:rPr>
              <a:t>进程，即</a:t>
            </a:r>
            <a:r>
              <a:rPr lang="en-US" altLang="zh-CN" sz="2400">
                <a:solidFill>
                  <a:schemeClr val="bg1"/>
                </a:solidFill>
              </a:rPr>
              <a:t>1</a:t>
            </a:r>
            <a:r>
              <a:rPr lang="zh-CN" altLang="en-US" sz="2400">
                <a:solidFill>
                  <a:schemeClr val="bg1"/>
                </a:solidFill>
              </a:rPr>
              <a:t>号进程。</a:t>
            </a:r>
            <a:endParaRPr lang="zh-CN" altLang="en-US" sz="24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24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chemeClr val="accent2"/>
                </a:solidFill>
              </a:rPr>
              <a:t>僵尸进程：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僵尸进程指的是那些虽然已经终止的进程，但仍然保留一些信息，等待其父进程为其收尸。</a:t>
            </a:r>
            <a:endParaRPr lang="en-US" altLang="zh-CN" sz="2400" dirty="0">
              <a:solidFill>
                <a:srgbClr val="16161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400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process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僵尸进程产生的过程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4870" y="1283970"/>
            <a:ext cx="11006455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1.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父进程调用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fork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创建子进程后，子进程运行直至其终止，它立即从内存中移除，但进程描述符仍然保留在内存中（进程描述符占有极少的内存空间）。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0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2.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子进程的状态变成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EXIT_ZOMBIE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，并且向父进程发送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SIGCHLD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 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信号，父进程此时需要获取子进程的退出状态以及其它的信息，并将残留的信息从内存中移出。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因此一个僵尸存在于其终止到父进程回收它这个时间的间隙，一般很快就消失，但如果编程不合理，父进程没有回收僵尸进程，那么这些进程会一直存在内存中。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父进程如何回收僵尸进程？ 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wait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wait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进程回收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4870" y="1283970"/>
            <a:ext cx="1100645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#include &lt;sys/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types.h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#include &lt;sys/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wait.h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 err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pid_t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wait (</a:t>
            </a:r>
            <a:r>
              <a:rPr lang="en-US" altLang="zh-CN" sz="2000" b="1" dirty="0" err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* status)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功能：阻塞该进程，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直到其某个子进程退出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waitpid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进程回收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4870" y="1283970"/>
            <a:ext cx="1100645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#include &lt;sys/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types.h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#include &lt;sys/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wait.h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 err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pid_t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000" b="1" dirty="0" err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waitpid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(</a:t>
            </a:r>
            <a:r>
              <a:rPr lang="en-US" altLang="zh-CN" sz="2000" b="1" dirty="0" err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pid_t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000" b="1" dirty="0" err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, </a:t>
            </a:r>
            <a:r>
              <a:rPr lang="en-US" altLang="zh-CN" sz="2000" b="1" dirty="0" err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*status, </a:t>
            </a:r>
            <a:r>
              <a:rPr lang="en-US" altLang="zh-CN" sz="2000" b="1" dirty="0" err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options)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功能：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该函数默认为阻塞，直到有信号来到或指定的子进程结束。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waitpid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waitpid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的参数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4870" y="1283970"/>
            <a:ext cx="1100645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参数：如果不在意结束状态值，则参数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status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可以设成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NULL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参数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为欲等待的子进程识别码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:</a:t>
            </a:r>
            <a:b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&lt;-1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等待进程组识别码为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绝对值的任何子进程。</a:t>
            </a:r>
            <a:b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=-1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等待任何子进程，相当于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wait()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b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=0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等待进程组识别码与目前进程相同的任何子进程。</a:t>
            </a:r>
            <a:b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&gt;0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等待任何子进程识别码为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pid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的子进程。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waitpid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waitpid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的参数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4870" y="1283970"/>
            <a:ext cx="1100645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参数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option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可以为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或下面的宏组合</a:t>
            </a:r>
            <a:b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WNOHANG  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如果没有任何已经结束的子进程则马上返回，不予以等待。</a:t>
            </a:r>
            <a:b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WUNTRACED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：如果子进程进入暂停执行情况则马上返回，但结束状态不予以理会。</a:t>
            </a:r>
            <a:b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b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返回值：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如果执行成功则返回子进程识别码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(PID)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，如果有错误发生则返回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。失败原因存于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errno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中。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exit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和</a:t>
              </a: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_exit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进程的退出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4870" y="1283970"/>
            <a:ext cx="1100645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exit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_exit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用于终止进程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区别：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_exit: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直接使进程停止，清除其使用的内存，并清除缓冲区中内容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exit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与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_exit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的区别：在停止进程之前，要检查文件的打开情况，并把文件缓冲区中的内容写回文件才停止进程。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29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PART05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编程训练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0077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madplay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编程训练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4870" y="1637030"/>
            <a:ext cx="1100645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父进程、子进程、孙进程，配合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madplay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完成音乐播放的程序；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实现：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切歌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暂停、继续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音量调节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播放模式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"/>
            <a:ext cx="12192000" cy="6858000"/>
          </a:xfrm>
          <a:prstGeom prst="rect">
            <a:avLst/>
          </a:prstGeom>
        </p:spPr>
      </p:pic>
      <p:sp>
        <p:nvSpPr>
          <p:cNvPr id="12" name="原创设计师QQ598969553      _12"/>
          <p:cNvSpPr>
            <a:spLocks noChangeArrowheads="1"/>
          </p:cNvSpPr>
          <p:nvPr/>
        </p:nvSpPr>
        <p:spPr bwMode="auto">
          <a:xfrm>
            <a:off x="4093210" y="2543810"/>
            <a:ext cx="4005580" cy="1769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11500" dirty="0">
                <a:solidFill>
                  <a:schemeClr val="bg1"/>
                </a:solidFill>
                <a:latin typeface="hakuyoxingshu7000" panose="02000600000000000000" pitchFamily="2" charset="-122"/>
                <a:ea typeface="hakuyoxingshu7000" panose="02000600000000000000" pitchFamily="2" charset="-122"/>
                <a:cs typeface="hakuyoxingshu7000" panose="02000600000000000000" pitchFamily="2" charset="-122"/>
              </a:rPr>
              <a:t>OVER</a:t>
            </a:r>
            <a:endParaRPr lang="en-US" altLang="zh-CN" sz="11500" dirty="0">
              <a:solidFill>
                <a:schemeClr val="bg1"/>
              </a:solidFill>
              <a:latin typeface="hakuyoxingshu7000" panose="02000600000000000000" pitchFamily="2" charset="-122"/>
              <a:ea typeface="hakuyoxingshu7000" panose="02000600000000000000" pitchFamily="2" charset="-122"/>
              <a:cs typeface="hakuyoxingshu7000" panose="02000600000000000000" pitchFamily="2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5751</Words>
  <Application>WPS 演示</Application>
  <PresentationFormat>宽屏</PresentationFormat>
  <Paragraphs>531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62" baseType="lpstr">
      <vt:lpstr>Arial</vt:lpstr>
      <vt:lpstr>宋体</vt:lpstr>
      <vt:lpstr>Wingdings</vt:lpstr>
      <vt:lpstr>文鼎习字体</vt:lpstr>
      <vt:lpstr>Nexa Light</vt:lpstr>
      <vt:lpstr>Vrinda</vt:lpstr>
      <vt:lpstr>华康少女文字W5(P)</vt:lpstr>
      <vt:lpstr>方正清刻本悦宋简体</vt:lpstr>
      <vt:lpstr>Arial</vt:lpstr>
      <vt:lpstr>华康海报体W12(P)</vt:lpstr>
      <vt:lpstr>微软雅黑</vt:lpstr>
      <vt:lpstr>华文细黑</vt:lpstr>
      <vt:lpstr>Calibri</vt:lpstr>
      <vt:lpstr>Arial Unicode MS</vt:lpstr>
      <vt:lpstr>Calibri Light</vt:lpstr>
      <vt:lpstr>Times New Roman</vt:lpstr>
      <vt:lpstr>hakuyoxingshu7000</vt:lpstr>
      <vt:lpstr>Segoe Print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X6</cp:lastModifiedBy>
  <cp:revision>77</cp:revision>
  <dcterms:created xsi:type="dcterms:W3CDTF">2017-11-17T09:39:00Z</dcterms:created>
  <dcterms:modified xsi:type="dcterms:W3CDTF">2021-02-25T05:32:31Z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