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0"/>
  </p:handoutMasterIdLst>
  <p:sldIdLst>
    <p:sldId id="256" r:id="rId3"/>
    <p:sldId id="257" r:id="rId5"/>
    <p:sldId id="258" r:id="rId6"/>
    <p:sldId id="265" r:id="rId7"/>
    <p:sldId id="281" r:id="rId8"/>
    <p:sldId id="282" r:id="rId9"/>
    <p:sldId id="283" r:id="rId10"/>
    <p:sldId id="260" r:id="rId11"/>
    <p:sldId id="284" r:id="rId12"/>
    <p:sldId id="266" r:id="rId13"/>
    <p:sldId id="285" r:id="rId14"/>
    <p:sldId id="286" r:id="rId15"/>
    <p:sldId id="262" r:id="rId16"/>
    <p:sldId id="269" r:id="rId17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94" r:id="rId25"/>
    <p:sldId id="263" r:id="rId26"/>
    <p:sldId id="272" r:id="rId27"/>
    <p:sldId id="295" r:id="rId28"/>
    <p:sldId id="296" r:id="rId29"/>
    <p:sldId id="297" r:id="rId30"/>
    <p:sldId id="298" r:id="rId31"/>
    <p:sldId id="299" r:id="rId32"/>
    <p:sldId id="300" r:id="rId33"/>
    <p:sldId id="301" r:id="rId34"/>
    <p:sldId id="302" r:id="rId35"/>
    <p:sldId id="303" r:id="rId36"/>
    <p:sldId id="304" r:id="rId37"/>
    <p:sldId id="305" r:id="rId38"/>
    <p:sldId id="259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4242"/>
    <a:srgbClr val="F6F5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696" y="60"/>
      </p:cViewPr>
      <p:guideLst>
        <p:guide orient="horz" pos="216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2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文本框 3"/>
          <p:cNvSpPr txBox="1"/>
          <p:nvPr/>
        </p:nvSpPr>
        <p:spPr>
          <a:xfrm>
            <a:off x="2135407" y="2657915"/>
            <a:ext cx="820314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spc="225" dirty="0">
                <a:ln>
                  <a:solidFill>
                    <a:schemeClr val="bg1"/>
                  </a:solidFill>
                </a:ln>
                <a:solidFill>
                  <a:srgbClr val="F6F5F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文鼎习字体" panose="020B0602010101010101" pitchFamily="33" charset="-122"/>
                <a:ea typeface="文鼎习字体" panose="020B0602010101010101" pitchFamily="33" charset="-122"/>
              </a:rPr>
              <a:t>系统编程</a:t>
            </a:r>
            <a:r>
              <a:rPr lang="en-US" altLang="zh-CN" sz="6600" spc="225" dirty="0">
                <a:ln>
                  <a:solidFill>
                    <a:schemeClr val="bg1"/>
                  </a:solidFill>
                </a:ln>
                <a:solidFill>
                  <a:srgbClr val="F6F5F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文鼎习字体" panose="020B0602010101010101" pitchFamily="33" charset="-122"/>
                <a:ea typeface="文鼎习字体" panose="020B0602010101010101" pitchFamily="33" charset="-122"/>
              </a:rPr>
              <a:t>-</a:t>
            </a:r>
            <a:r>
              <a:rPr lang="zh-CN" altLang="en-US" sz="6600" spc="225" dirty="0">
                <a:ln>
                  <a:solidFill>
                    <a:schemeClr val="bg1"/>
                  </a:solidFill>
                </a:ln>
                <a:solidFill>
                  <a:srgbClr val="F6F5F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文鼎习字体" panose="020B0602010101010101" pitchFamily="33" charset="-122"/>
                <a:ea typeface="文鼎习字体" panose="020B0602010101010101" pitchFamily="33" charset="-122"/>
              </a:rPr>
              <a:t>文件</a:t>
            </a:r>
            <a:endParaRPr lang="zh-CN" altLang="en-US" sz="6600" spc="225" dirty="0">
              <a:ln>
                <a:solidFill>
                  <a:schemeClr val="bg1"/>
                </a:solidFill>
              </a:ln>
              <a:solidFill>
                <a:srgbClr val="F6F5F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4332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2783454" y="2102679"/>
            <a:ext cx="6625184" cy="2780664"/>
            <a:chOff x="3388622" y="2209939"/>
            <a:chExt cx="5040937" cy="2326461"/>
          </a:xfrm>
        </p:grpSpPr>
        <p:grpSp>
          <p:nvGrpSpPr>
            <p:cNvPr id="7" name="组合 6"/>
            <p:cNvGrpSpPr/>
            <p:nvPr/>
          </p:nvGrpSpPr>
          <p:grpSpPr>
            <a:xfrm>
              <a:off x="5018480" y="2209939"/>
              <a:ext cx="3411079" cy="2326461"/>
              <a:chOff x="5018480" y="2209939"/>
              <a:chExt cx="3411079" cy="2326461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5018480" y="2209939"/>
                <a:ext cx="583445" cy="2218338"/>
                <a:chOff x="5421311" y="2621290"/>
                <a:chExt cx="583445" cy="2218338"/>
              </a:xfrm>
            </p:grpSpPr>
            <p:sp>
              <p:nvSpPr>
                <p:cNvPr id="14" name="文本框 16"/>
                <p:cNvSpPr txBox="1"/>
                <p:nvPr/>
              </p:nvSpPr>
              <p:spPr>
                <a:xfrm>
                  <a:off x="5710997" y="2621290"/>
                  <a:ext cx="293759" cy="48824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zh-CN"/>
                  </a:defPPr>
                  <a:lvl1pPr marL="0" lvl="0" indent="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1pPr>
                  <a:lvl2pPr marL="342900" lvl="1" indent="1143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2pPr>
                  <a:lvl3pPr marL="685800" lvl="2" indent="2286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3pPr>
                  <a:lvl4pPr marL="1028700" lvl="3" indent="3429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4pPr>
                  <a:lvl5pPr marL="1371600" lvl="4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5pPr>
                  <a:lvl6pPr marL="2286000" lvl="5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6pPr>
                  <a:lvl7pPr marL="2743200" lvl="6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7pPr>
                  <a:lvl8pPr marL="3200400" lvl="7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8pPr>
                  <a:lvl9pPr marL="3657600" lvl="8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9pPr>
                </a:lstStyle>
                <a:p>
                  <a:pPr marR="0" algn="ctr" defTabSz="685800" rtl="0" fontAlgn="auto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defRPr/>
                  </a:pPr>
                  <a:r>
                    <a:rPr kumimoji="0" lang="en-US" altLang="zh-CN" sz="3200" kern="1200" cap="none" spc="0" normalizeH="0" baseline="0" noProof="0" dirty="0">
                      <a:solidFill>
                        <a:srgbClr val="F6F5F6"/>
                      </a:solidFill>
                      <a:latin typeface="方正清刻本悦宋简体" panose="02000000000000000000" pitchFamily="2" charset="-122"/>
                      <a:ea typeface="方正清刻本悦宋简体" panose="02000000000000000000" pitchFamily="2" charset="-122"/>
                      <a:sym typeface="Arial" panose="020B0604020202020204"/>
                    </a:rPr>
                    <a:t>1</a:t>
                  </a:r>
                  <a:endParaRPr kumimoji="0" lang="en-US" altLang="zh-CN" sz="3200" kern="1200" cap="none" spc="0" normalizeH="0" baseline="0" noProof="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  <a:sym typeface="Arial" panose="020B0604020202020204"/>
                  </a:endParaRPr>
                </a:p>
              </p:txBody>
            </p:sp>
            <p:sp>
              <p:nvSpPr>
                <p:cNvPr id="15" name="文本框 23"/>
                <p:cNvSpPr txBox="1"/>
                <p:nvPr/>
              </p:nvSpPr>
              <p:spPr>
                <a:xfrm>
                  <a:off x="5710997" y="3200727"/>
                  <a:ext cx="293759" cy="48824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zh-CN"/>
                  </a:defPPr>
                  <a:lvl1pPr marL="0" lvl="0" indent="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1pPr>
                  <a:lvl2pPr marL="342900" lvl="1" indent="1143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2pPr>
                  <a:lvl3pPr marL="685800" lvl="2" indent="2286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3pPr>
                  <a:lvl4pPr marL="1028700" lvl="3" indent="3429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4pPr>
                  <a:lvl5pPr marL="1371600" lvl="4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5pPr>
                  <a:lvl6pPr marL="2286000" lvl="5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6pPr>
                  <a:lvl7pPr marL="2743200" lvl="6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7pPr>
                  <a:lvl8pPr marL="3200400" lvl="7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8pPr>
                  <a:lvl9pPr marL="3657600" lvl="8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9pPr>
                </a:lstStyle>
                <a:p>
                  <a:pPr marR="0" algn="ctr" defTabSz="685800" rtl="0" fontAlgn="auto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defRPr/>
                  </a:pPr>
                  <a:r>
                    <a:rPr kumimoji="0" lang="en-US" altLang="zh-CN" sz="3200" kern="1200" cap="none" spc="0" normalizeH="0" baseline="0" noProof="0" dirty="0">
                      <a:solidFill>
                        <a:srgbClr val="F6F5F6"/>
                      </a:solidFill>
                      <a:latin typeface="方正清刻本悦宋简体" panose="02000000000000000000" pitchFamily="2" charset="-122"/>
                      <a:ea typeface="方正清刻本悦宋简体" panose="02000000000000000000" pitchFamily="2" charset="-122"/>
                      <a:sym typeface="Arial" panose="020B0604020202020204"/>
                    </a:rPr>
                    <a:t>2</a:t>
                  </a:r>
                  <a:endParaRPr kumimoji="0" lang="zh-CN" altLang="en-US" sz="3200" kern="1200" cap="none" spc="0" normalizeH="0" baseline="0" noProof="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  <a:sym typeface="Arial" panose="020B0604020202020204"/>
                  </a:endParaRPr>
                </a:p>
              </p:txBody>
            </p:sp>
            <p:sp>
              <p:nvSpPr>
                <p:cNvPr id="16" name="文本框 15"/>
                <p:cNvSpPr txBox="1"/>
                <p:nvPr/>
              </p:nvSpPr>
              <p:spPr>
                <a:xfrm>
                  <a:off x="5787612" y="3773815"/>
                  <a:ext cx="140557" cy="48925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zh-CN"/>
                  </a:defPPr>
                  <a:lvl1pPr marL="0" lvl="0" indent="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1pPr>
                  <a:lvl2pPr marL="342900" lvl="1" indent="1143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2pPr>
                  <a:lvl3pPr marL="685800" lvl="2" indent="2286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3pPr>
                  <a:lvl4pPr marL="1028700" lvl="3" indent="3429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4pPr>
                  <a:lvl5pPr marL="1371600" lvl="4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5pPr>
                  <a:lvl6pPr marL="2286000" lvl="5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6pPr>
                  <a:lvl7pPr marL="2743200" lvl="6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7pPr>
                  <a:lvl8pPr marL="3200400" lvl="7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8pPr>
                  <a:lvl9pPr marL="3657600" lvl="8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9pPr>
                </a:lstStyle>
                <a:p>
                  <a:pPr marR="0" algn="ctr" defTabSz="685800" rtl="0" fontAlgn="auto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defRPr/>
                  </a:pPr>
                  <a:endParaRPr kumimoji="0" lang="zh-CN" altLang="en-US" sz="3200" kern="1200" cap="none" spc="0" normalizeH="0" baseline="0" noProof="0" dirty="0">
                    <a:solidFill>
                      <a:srgbClr val="F6F5F6"/>
                    </a:solidFill>
                    <a:latin typeface="华康海报体W12(P)"/>
                    <a:ea typeface="微软雅黑" panose="020B0503020204020204" charset="-122"/>
                    <a:sym typeface="Arial" panose="020B0604020202020204"/>
                  </a:endParaRPr>
                </a:p>
              </p:txBody>
            </p:sp>
            <p:cxnSp>
              <p:nvCxnSpPr>
                <p:cNvPr id="17" name="直接连接符 16"/>
                <p:cNvCxnSpPr/>
                <p:nvPr/>
              </p:nvCxnSpPr>
              <p:spPr>
                <a:xfrm>
                  <a:off x="5421311" y="2764668"/>
                  <a:ext cx="0" cy="2041667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" name="文本框 16"/>
                <p:cNvSpPr txBox="1"/>
                <p:nvPr/>
              </p:nvSpPr>
              <p:spPr>
                <a:xfrm>
                  <a:off x="5710997" y="3771947"/>
                  <a:ext cx="293759" cy="48824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zh-CN"/>
                  </a:defPPr>
                  <a:lvl1pPr marL="0" lvl="0" indent="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1pPr>
                  <a:lvl2pPr marL="342900" lvl="1" indent="1143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2pPr>
                  <a:lvl3pPr marL="685800" lvl="2" indent="2286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3pPr>
                  <a:lvl4pPr marL="1028700" lvl="3" indent="3429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4pPr>
                  <a:lvl5pPr marL="1371600" lvl="4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5pPr>
                  <a:lvl6pPr marL="2286000" lvl="5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6pPr>
                  <a:lvl7pPr marL="2743200" lvl="6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7pPr>
                  <a:lvl8pPr marL="3200400" lvl="7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8pPr>
                  <a:lvl9pPr marL="3657600" lvl="8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9pPr>
                </a:lstStyle>
                <a:p>
                  <a:pPr marR="0" algn="ctr" defTabSz="685800" rtl="0" fontAlgn="auto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defRPr/>
                  </a:pPr>
                  <a:r>
                    <a:rPr lang="en-US" altLang="zh-CN" sz="3200" dirty="0">
                      <a:solidFill>
                        <a:srgbClr val="F6F5F6"/>
                      </a:solidFill>
                      <a:latin typeface="方正清刻本悦宋简体" panose="02000000000000000000" pitchFamily="2" charset="-122"/>
                      <a:ea typeface="方正清刻本悦宋简体" panose="02000000000000000000" pitchFamily="2" charset="-122"/>
                      <a:sym typeface="Arial" panose="020B0604020202020204"/>
                    </a:rPr>
                    <a:t>3</a:t>
                  </a:r>
                  <a:endParaRPr kumimoji="0" lang="zh-CN" altLang="en-US" sz="3200" kern="1200" cap="none" spc="0" normalizeH="0" baseline="0" noProof="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  <a:sym typeface="Arial" panose="020B0604020202020204"/>
                  </a:endParaRPr>
                </a:p>
              </p:txBody>
            </p:sp>
            <p:sp>
              <p:nvSpPr>
                <p:cNvPr id="19" name="文本框 23"/>
                <p:cNvSpPr txBox="1"/>
                <p:nvPr/>
              </p:nvSpPr>
              <p:spPr>
                <a:xfrm>
                  <a:off x="5710997" y="4351384"/>
                  <a:ext cx="293759" cy="48824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zh-CN"/>
                  </a:defPPr>
                  <a:lvl1pPr marL="0" lvl="0" indent="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1pPr>
                  <a:lvl2pPr marL="342900" lvl="1" indent="1143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2pPr>
                  <a:lvl3pPr marL="685800" lvl="2" indent="2286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3pPr>
                  <a:lvl4pPr marL="1028700" lvl="3" indent="3429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4pPr>
                  <a:lvl5pPr marL="1371600" lvl="4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5pPr>
                  <a:lvl6pPr marL="2286000" lvl="5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6pPr>
                  <a:lvl7pPr marL="2743200" lvl="6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7pPr>
                  <a:lvl8pPr marL="3200400" lvl="7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8pPr>
                  <a:lvl9pPr marL="3657600" lvl="8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9pPr>
                </a:lstStyle>
                <a:p>
                  <a:pPr marR="0" algn="ctr" defTabSz="685800" rtl="0" fontAlgn="auto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defRPr/>
                  </a:pPr>
                  <a:r>
                    <a:rPr lang="en-US" altLang="zh-CN" sz="3200" dirty="0">
                      <a:solidFill>
                        <a:srgbClr val="F6F5F6"/>
                      </a:solidFill>
                      <a:latin typeface="方正清刻本悦宋简体" panose="02000000000000000000" pitchFamily="2" charset="-122"/>
                      <a:ea typeface="方正清刻本悦宋简体" panose="02000000000000000000" pitchFamily="2" charset="-122"/>
                      <a:sym typeface="Arial" panose="020B0604020202020204"/>
                    </a:rPr>
                    <a:t>4</a:t>
                  </a:r>
                  <a:endParaRPr kumimoji="0" lang="zh-CN" altLang="en-US" sz="3200" kern="1200" cap="none" spc="0" normalizeH="0" baseline="0" noProof="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  <a:sym typeface="Arial" panose="020B0604020202020204"/>
                  </a:endParaRPr>
                </a:p>
              </p:txBody>
            </p:sp>
          </p:grpSp>
          <p:sp>
            <p:nvSpPr>
              <p:cNvPr id="10" name="文本框 48"/>
              <p:cNvSpPr txBox="1">
                <a:spLocks noChangeArrowheads="1"/>
              </p:cNvSpPr>
              <p:nvPr/>
            </p:nvSpPr>
            <p:spPr bwMode="auto">
              <a:xfrm>
                <a:off x="5847575" y="2246597"/>
                <a:ext cx="2581984" cy="5397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l" defTabSz="685800" eaLnBrk="1" hangingPunct="1">
                  <a:buClrTx/>
                  <a:buSzTx/>
                  <a:buFontTx/>
                </a:pPr>
                <a:r>
                  <a:rPr lang="zh-CN" altLang="en-US" sz="360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系统调用及</a:t>
                </a:r>
                <a:r>
                  <a:rPr lang="en-US" altLang="zh-CN" sz="360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API</a:t>
                </a:r>
                <a:endParaRPr lang="en-US" altLang="zh-CN" sz="36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endParaRPr>
              </a:p>
            </p:txBody>
          </p:sp>
          <p:sp>
            <p:nvSpPr>
              <p:cNvPr id="11" name="文本框 48"/>
              <p:cNvSpPr txBox="1">
                <a:spLocks noChangeArrowheads="1"/>
              </p:cNvSpPr>
              <p:nvPr/>
            </p:nvSpPr>
            <p:spPr bwMode="auto">
              <a:xfrm>
                <a:off x="5847092" y="2797531"/>
                <a:ext cx="2582467" cy="5397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l" defTabSz="685800" eaLnBrk="1" hangingPunct="1">
                  <a:buClrTx/>
                  <a:buSzTx/>
                  <a:buFontTx/>
                </a:pPr>
                <a:r>
                  <a:rPr lang="en-US" altLang="zh-CN" sz="360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Linux</a:t>
                </a:r>
                <a:r>
                  <a:rPr lang="zh-CN" altLang="en-US" sz="360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文件概述</a:t>
                </a:r>
                <a:endParaRPr lang="zh-CN" altLang="en-US" sz="36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endParaRPr>
              </a:p>
            </p:txBody>
          </p:sp>
          <p:sp>
            <p:nvSpPr>
              <p:cNvPr id="12" name="文本框 48"/>
              <p:cNvSpPr txBox="1">
                <a:spLocks noChangeArrowheads="1"/>
              </p:cNvSpPr>
              <p:nvPr/>
            </p:nvSpPr>
            <p:spPr bwMode="auto">
              <a:xfrm>
                <a:off x="5847092" y="3403187"/>
                <a:ext cx="2582467" cy="5397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l" defTabSz="685800" eaLnBrk="1" hangingPunct="1">
                  <a:buClrTx/>
                  <a:buSzTx/>
                  <a:buFontTx/>
                </a:pPr>
                <a:r>
                  <a:rPr lang="zh-CN" altLang="en-US" sz="360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系统</a:t>
                </a:r>
                <a:r>
                  <a:rPr lang="en-US" altLang="zh-CN" sz="360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IO</a:t>
                </a:r>
                <a:r>
                  <a:rPr lang="zh-CN" altLang="en-US" sz="360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操作</a:t>
                </a:r>
                <a:endParaRPr lang="zh-CN" altLang="en-US" sz="36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endParaRPr>
              </a:p>
            </p:txBody>
          </p:sp>
          <p:sp>
            <p:nvSpPr>
              <p:cNvPr id="13" name="文本框 48"/>
              <p:cNvSpPr txBox="1">
                <a:spLocks noChangeArrowheads="1"/>
              </p:cNvSpPr>
              <p:nvPr/>
            </p:nvSpPr>
            <p:spPr bwMode="auto">
              <a:xfrm>
                <a:off x="5848058" y="3996623"/>
                <a:ext cx="2581501" cy="5397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l" defTabSz="685800" eaLnBrk="1" hangingPunct="1">
                  <a:buClrTx/>
                  <a:buSzTx/>
                  <a:buFontTx/>
                </a:pPr>
                <a:r>
                  <a:rPr lang="zh-CN" altLang="en-US" sz="360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标准</a:t>
                </a:r>
                <a:r>
                  <a:rPr lang="en-US" altLang="zh-CN" sz="360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IO</a:t>
                </a:r>
                <a:r>
                  <a:rPr lang="zh-CN" altLang="en-US" sz="360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操作</a:t>
                </a:r>
                <a:endParaRPr lang="zh-CN" altLang="en-US" sz="36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endParaRPr>
              </a:p>
            </p:txBody>
          </p:sp>
        </p:grpSp>
        <p:sp>
          <p:nvSpPr>
            <p:cNvPr id="8" name="文本框 16"/>
            <p:cNvSpPr txBox="1"/>
            <p:nvPr/>
          </p:nvSpPr>
          <p:spPr>
            <a:xfrm>
              <a:off x="3388622" y="2302014"/>
              <a:ext cx="1629858" cy="1004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36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rPr>
                <a:t>目录 </a:t>
              </a:r>
              <a:r>
                <a:rPr lang="en-US" altLang="zh-CN" sz="3600" dirty="0" smtClean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rPr>
                <a:t> </a:t>
              </a:r>
              <a:r>
                <a:rPr lang="en-US" altLang="zh-CN" sz="32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rPr>
                <a:t>Contents</a:t>
              </a:r>
              <a:r>
                <a:rPr lang="en-US" altLang="zh-CN" sz="36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rPr>
                <a:t> </a:t>
              </a:r>
              <a:endParaRPr lang="zh-CN" altLang="en-US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2935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PART01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系统调用及</a:t>
                </a:r>
                <a:r>
                  <a:rPr lang="en-US" altLang="zh-CN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API</a:t>
                </a:r>
                <a:endParaRPr lang="en-US" altLang="zh-CN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43955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system call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什么是系统调用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64870" y="1537970"/>
            <a:ext cx="9990455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所谓</a:t>
            </a:r>
            <a:r>
              <a:rPr lang="zh-CN" altLang="en-US" sz="28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系统调用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是指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操作系统提供给用户的一组“特殊”接口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，用户程序可以通过这组“特殊”接口来获得操作系统内核提供的的服务</a:t>
            </a:r>
            <a:endParaRPr lang="zh-CN" altLang="en-US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为什么用户程序不能直接访问系统内核提供的服务呢？？</a:t>
            </a:r>
            <a:endParaRPr lang="zh-CN" altLang="en-US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system call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什么是系统调用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pic>
        <p:nvPicPr>
          <p:cNvPr id="11267" name="Picture 4" descr="VRF65WHDFTTH(8PF5(_[SF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415" y="1748790"/>
            <a:ext cx="9107170" cy="4200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system call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什么是系统调用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64870" y="1358900"/>
            <a:ext cx="9990455" cy="46158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由于在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Linux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中，为了更好地保护内核空间，将程序的运行空间分为</a:t>
            </a:r>
            <a:r>
              <a:rPr lang="zh-CN" altLang="en-US" sz="28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内核空间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r>
              <a:rPr lang="zh-CN" altLang="en-US" sz="28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用户空间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（也就是常称的内核态和用户态），它们分别运行在不同的级别上，在逻辑上是相互隔离的。</a:t>
            </a:r>
            <a:endParaRPr lang="en-US" altLang="zh-CN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en-US" altLang="zh-CN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因此，用户进程在通常情况下不允许访问内核数据，也无法使用内核函数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，它们只能在用户空间操作用户数据，调用用户空间的函数。</a:t>
            </a:r>
            <a:endParaRPr lang="en-US" altLang="zh-CN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Application Program Interface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什么是</a:t>
              </a: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API</a:t>
              </a:r>
              <a:endPara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64870" y="1358900"/>
            <a:ext cx="999045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系统调用并不是直接与程序员进行交互的，它仅仅是一个通过软中断机制向内核提交请求，以获取内核服务的接口。在实际使用中程序员调用的通常是</a:t>
            </a:r>
            <a:r>
              <a:rPr lang="zh-CN" altLang="en-US" sz="28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用户编程接口</a:t>
            </a:r>
            <a:r>
              <a:rPr lang="en-US" altLang="zh-CN" sz="28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—API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en-US" altLang="zh-CN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系统命令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相对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API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更高了一层，它实际上一个可执行程序，它的内部引用了用户编程接口（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API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）来实现相应的功能</a:t>
            </a:r>
            <a:endParaRPr lang="zh-CN" altLang="en-US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Application Program Interface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什么是</a:t>
              </a: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API</a:t>
              </a:r>
              <a:endPara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2963545" y="1636395"/>
            <a:ext cx="6264910" cy="42475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" name="直接连接符 8"/>
          <p:cNvCxnSpPr>
            <a:stCxn id="8" idx="1"/>
            <a:endCxn id="8" idx="3"/>
          </p:cNvCxnSpPr>
          <p:nvPr/>
        </p:nvCxnSpPr>
        <p:spPr>
          <a:xfrm>
            <a:off x="2963545" y="3760470"/>
            <a:ext cx="6264910" cy="0"/>
          </a:xfrm>
          <a:prstGeom prst="line">
            <a:avLst/>
          </a:prstGeom>
          <a:ln>
            <a:solidFill>
              <a:srgbClr val="2442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3752850" y="2920365"/>
            <a:ext cx="2808605" cy="1678940"/>
          </a:xfrm>
          <a:prstGeom prst="rect">
            <a:avLst/>
          </a:prstGeom>
          <a:noFill/>
          <a:ln>
            <a:solidFill>
              <a:srgbClr val="24424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916680" y="3159760"/>
            <a:ext cx="24809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应用编程接口（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937000" y="3992245"/>
            <a:ext cx="24809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系统调用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747510" y="2920365"/>
            <a:ext cx="24809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用户空间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747510" y="4091940"/>
            <a:ext cx="24809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内核空间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407410" y="1636395"/>
            <a:ext cx="5377815" cy="1002030"/>
          </a:xfrm>
          <a:prstGeom prst="rect">
            <a:avLst/>
          </a:prstGeom>
          <a:solidFill>
            <a:schemeClr val="bg1"/>
          </a:solidFill>
          <a:ln>
            <a:solidFill>
              <a:srgbClr val="244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4855845" y="1814830"/>
            <a:ext cx="24809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应用程序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（系统命令、其他程序）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PART02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Linux</a:t>
                </a:r>
                <a:r>
                  <a:rPr lang="zh-CN" altLang="en-US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文件概述</a:t>
                </a:r>
                <a:endParaRPr lang="zh-CN" altLang="en-US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2935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file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Linux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文件概述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09015" y="1424305"/>
            <a:ext cx="1017397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Linux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一点哲学：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一切皆为文件</a:t>
            </a:r>
            <a:endParaRPr lang="zh-CN" altLang="en-US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Linux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中对目录和设备的操作都等同于对文件的操作，都是使用文件描述符来进行的。</a:t>
            </a:r>
            <a:endParaRPr lang="zh-CN" altLang="en-US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Linux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文件可分为：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普通文件，目录文件，链接文件，设备文件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；</a:t>
            </a:r>
            <a:endParaRPr lang="zh-CN" altLang="en-US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file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Linux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文件概述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09015" y="1226820"/>
            <a:ext cx="10173970" cy="4780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、当打开一个现存文件或创建一个新文件时，内核就向进程返回一个</a:t>
            </a:r>
            <a:r>
              <a:rPr lang="zh-CN" altLang="en-US" sz="24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文件描述符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；当需要读写文件时，也需要把文件描述符作为参数传递给相应的函数。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10000"/>
              </a:lnSpc>
            </a:pP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文件描述符是一个非负的整数，它是一个索引值，并指向在内核中每个进程打开文件的记录表。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10000"/>
              </a:lnSpc>
            </a:pP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、一个进程启动时，都会打开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个文件：</a:t>
            </a:r>
            <a:r>
              <a:rPr lang="zh-CN" altLang="en-US" sz="24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标准输入、标准输出和标准出错处理 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file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Linux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文件概述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1871345" y="1848485"/>
          <a:ext cx="8532495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/>
                <a:gridCol w="2844165"/>
                <a:gridCol w="2844165"/>
              </a:tblGrid>
              <a:tr h="10058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类型</a:t>
                      </a:r>
                      <a:endParaRPr lang="zh-CN" altLang="en-US" sz="28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>
                          <a:solidFill>
                            <a:schemeClr val="bg1"/>
                          </a:solidFill>
                        </a:rPr>
                        <a:t>文件描述符</a:t>
                      </a:r>
                      <a:endParaRPr lang="zh-CN" altLang="en-US" sz="2800">
                        <a:solidFill>
                          <a:schemeClr val="bg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>
                          <a:solidFill>
                            <a:schemeClr val="bg1"/>
                          </a:solidFill>
                        </a:rPr>
                        <a:t>宏定义</a:t>
                      </a:r>
                      <a:endParaRPr lang="zh-CN" altLang="en-US" sz="2800">
                        <a:solidFill>
                          <a:schemeClr val="bg1"/>
                        </a:solidFill>
                      </a:endParaRPr>
                    </a:p>
                  </a:txBody>
                  <a:tcPr anchor="ctr" anchorCtr="0"/>
                </a:tc>
              </a:tr>
              <a:tr h="10058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>
                          <a:solidFill>
                            <a:schemeClr val="accent2"/>
                          </a:solidFill>
                        </a:rPr>
                        <a:t>标准输入</a:t>
                      </a:r>
                      <a:endParaRPr lang="zh-CN" altLang="en-US" sz="2800">
                        <a:solidFill>
                          <a:schemeClr val="accent2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accent2"/>
                          </a:solidFill>
                        </a:rPr>
                        <a:t>0</a:t>
                      </a:r>
                      <a:endParaRPr lang="en-US" altLang="zh-CN" sz="2800">
                        <a:solidFill>
                          <a:schemeClr val="accent2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accent2"/>
                          </a:solidFill>
                        </a:rPr>
                        <a:t>stdin</a:t>
                      </a:r>
                      <a:endParaRPr lang="en-US" altLang="zh-CN" sz="2800">
                        <a:solidFill>
                          <a:schemeClr val="accent2"/>
                        </a:solidFill>
                      </a:endParaRPr>
                    </a:p>
                  </a:txBody>
                  <a:tcPr anchor="ctr" anchorCtr="0"/>
                </a:tc>
              </a:tr>
              <a:tr h="10058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>
                          <a:solidFill>
                            <a:schemeClr val="accent2"/>
                          </a:solidFill>
                        </a:rPr>
                        <a:t>标准输出</a:t>
                      </a:r>
                      <a:endParaRPr lang="zh-CN" altLang="en-US" sz="2800">
                        <a:solidFill>
                          <a:schemeClr val="accent2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accent2"/>
                          </a:solidFill>
                        </a:rPr>
                        <a:t>1</a:t>
                      </a:r>
                      <a:endParaRPr lang="en-US" altLang="zh-CN" sz="2800">
                        <a:solidFill>
                          <a:schemeClr val="accent2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accent2"/>
                          </a:solidFill>
                        </a:rPr>
                        <a:t>stdout</a:t>
                      </a:r>
                      <a:endParaRPr lang="en-US" altLang="zh-CN" sz="2800">
                        <a:solidFill>
                          <a:schemeClr val="accent2"/>
                        </a:solidFill>
                      </a:endParaRPr>
                    </a:p>
                  </a:txBody>
                  <a:tcPr anchor="ctr" anchorCtr="0"/>
                </a:tc>
              </a:tr>
              <a:tr h="10058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>
                          <a:solidFill>
                            <a:schemeClr val="accent2"/>
                          </a:solidFill>
                        </a:rPr>
                        <a:t>标准错误处理</a:t>
                      </a:r>
                      <a:endParaRPr lang="zh-CN" altLang="en-US" sz="2800">
                        <a:solidFill>
                          <a:schemeClr val="accent2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accent2"/>
                          </a:solidFill>
                        </a:rPr>
                        <a:t>2</a:t>
                      </a:r>
                      <a:endParaRPr lang="en-US" altLang="zh-CN" sz="2800">
                        <a:solidFill>
                          <a:schemeClr val="accent2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accent2"/>
                          </a:solidFill>
                        </a:rPr>
                        <a:t>stderr</a:t>
                      </a:r>
                      <a:endParaRPr lang="en-US" altLang="zh-CN" sz="2800">
                        <a:solidFill>
                          <a:schemeClr val="accent2"/>
                        </a:solidFill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4021455" y="1183005"/>
            <a:ext cx="41490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solidFill>
                  <a:schemeClr val="bg1"/>
                </a:solidFill>
              </a:rPr>
              <a:t>进程默认的文件描述符</a:t>
            </a:r>
            <a:endParaRPr lang="zh-CN" altLang="en-US" sz="24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PART03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系统</a:t>
                </a:r>
                <a:r>
                  <a:rPr lang="en-US" altLang="zh-CN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IO</a:t>
                </a:r>
                <a:r>
                  <a:rPr lang="zh-CN" altLang="en-US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操作</a:t>
                </a:r>
                <a:endParaRPr lang="zh-CN" altLang="en-US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4332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system call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系统</a:t>
              </a: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IO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操作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4730" y="1501140"/>
            <a:ext cx="9313545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bg1"/>
                </a:solidFill>
              </a:rPr>
              <a:t>Linux</a:t>
            </a:r>
            <a:r>
              <a:rPr lang="zh-CN" altLang="en-US" sz="2800">
                <a:solidFill>
                  <a:schemeClr val="bg1"/>
                </a:solidFill>
              </a:rPr>
              <a:t>操作系统给用户提供一些操作文件（文件夹）的操作，需要掌握的有：</a:t>
            </a:r>
            <a:endParaRPr lang="zh-CN" altLang="en-US" sz="2800">
              <a:solidFill>
                <a:schemeClr val="bg1"/>
              </a:solidFill>
            </a:endParaRPr>
          </a:p>
          <a:p>
            <a:r>
              <a:rPr lang="en-US" altLang="zh-CN" sz="2800">
                <a:solidFill>
                  <a:schemeClr val="bg1"/>
                </a:solidFill>
              </a:rPr>
              <a:t>	open        //</a:t>
            </a:r>
            <a:r>
              <a:rPr lang="zh-CN" altLang="zh-CN" sz="2800">
                <a:solidFill>
                  <a:schemeClr val="bg1"/>
                </a:solidFill>
              </a:rPr>
              <a:t>打开文件</a:t>
            </a:r>
            <a:endParaRPr lang="en-US" altLang="zh-CN" sz="2800">
              <a:solidFill>
                <a:schemeClr val="bg1"/>
              </a:solidFill>
            </a:endParaRPr>
          </a:p>
          <a:p>
            <a:r>
              <a:rPr lang="en-US" altLang="zh-CN" sz="2800">
                <a:solidFill>
                  <a:schemeClr val="bg1"/>
                </a:solidFill>
              </a:rPr>
              <a:t>	read         //</a:t>
            </a:r>
            <a:r>
              <a:rPr lang="zh-CN" altLang="en-US" sz="2800">
                <a:solidFill>
                  <a:schemeClr val="bg1"/>
                </a:solidFill>
              </a:rPr>
              <a:t>读取文件</a:t>
            </a:r>
            <a:endParaRPr lang="en-US" altLang="zh-CN" sz="2800">
              <a:solidFill>
                <a:schemeClr val="bg1"/>
              </a:solidFill>
            </a:endParaRPr>
          </a:p>
          <a:p>
            <a:r>
              <a:rPr lang="en-US" altLang="zh-CN" sz="2800">
                <a:solidFill>
                  <a:schemeClr val="bg1"/>
                </a:solidFill>
              </a:rPr>
              <a:t>	write        //</a:t>
            </a:r>
            <a:r>
              <a:rPr lang="zh-CN" altLang="zh-CN" sz="2800">
                <a:solidFill>
                  <a:schemeClr val="bg1"/>
                </a:solidFill>
              </a:rPr>
              <a:t>写入文件</a:t>
            </a:r>
            <a:endParaRPr lang="en-US" altLang="zh-CN" sz="2800">
              <a:solidFill>
                <a:schemeClr val="bg1"/>
              </a:solidFill>
            </a:endParaRPr>
          </a:p>
          <a:p>
            <a:r>
              <a:rPr lang="en-US" altLang="zh-CN" sz="2800">
                <a:solidFill>
                  <a:schemeClr val="bg1"/>
                </a:solidFill>
              </a:rPr>
              <a:t>	close        //</a:t>
            </a:r>
            <a:r>
              <a:rPr lang="zh-CN" altLang="zh-CN" sz="2800">
                <a:solidFill>
                  <a:schemeClr val="bg1"/>
                </a:solidFill>
              </a:rPr>
              <a:t>关闭文件</a:t>
            </a:r>
            <a:endParaRPr lang="zh-CN" altLang="zh-CN" sz="2800">
              <a:solidFill>
                <a:schemeClr val="bg1"/>
              </a:solidFill>
            </a:endParaRPr>
          </a:p>
          <a:p>
            <a:r>
              <a:rPr lang="en-US" altLang="zh-CN" sz="2800">
                <a:solidFill>
                  <a:schemeClr val="bg1"/>
                </a:solidFill>
              </a:rPr>
              <a:t>	fseek        //</a:t>
            </a:r>
            <a:r>
              <a:rPr lang="zh-CN" altLang="zh-CN" sz="2800">
                <a:solidFill>
                  <a:schemeClr val="bg1"/>
                </a:solidFill>
              </a:rPr>
              <a:t>修改偏移量</a:t>
            </a:r>
            <a:endParaRPr lang="zh-CN" altLang="zh-CN" sz="2800">
              <a:solidFill>
                <a:schemeClr val="bg1"/>
              </a:solidFill>
            </a:endParaRPr>
          </a:p>
          <a:p>
            <a:endParaRPr lang="zh-CN" altLang="zh-CN" sz="2800">
              <a:solidFill>
                <a:schemeClr val="bg1"/>
              </a:solidFill>
            </a:endParaRPr>
          </a:p>
          <a:p>
            <a:r>
              <a:rPr lang="zh-CN" altLang="zh-CN" sz="2800" b="1">
                <a:solidFill>
                  <a:schemeClr val="accent2"/>
                </a:solidFill>
              </a:rPr>
              <a:t>注：这几个函数只能在</a:t>
            </a:r>
            <a:r>
              <a:rPr lang="en-US" altLang="zh-CN" sz="2800" b="1">
                <a:solidFill>
                  <a:schemeClr val="accent2"/>
                </a:solidFill>
              </a:rPr>
              <a:t>Linux</a:t>
            </a:r>
            <a:r>
              <a:rPr lang="zh-CN" altLang="en-US" sz="2800" b="1">
                <a:solidFill>
                  <a:schemeClr val="accent2"/>
                </a:solidFill>
              </a:rPr>
              <a:t>系统运行，不能在</a:t>
            </a:r>
            <a:r>
              <a:rPr lang="en-US" altLang="zh-CN" sz="2800" b="1">
                <a:solidFill>
                  <a:schemeClr val="accent2"/>
                </a:solidFill>
              </a:rPr>
              <a:t>Windows</a:t>
            </a:r>
            <a:r>
              <a:rPr lang="zh-CN" altLang="en-US" sz="2800" b="1">
                <a:solidFill>
                  <a:schemeClr val="accent2"/>
                </a:solidFill>
              </a:rPr>
              <a:t>里面运行。</a:t>
            </a:r>
            <a:endParaRPr lang="zh-CN" altLang="en-US" sz="2800" b="1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create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创建空文件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4730" y="1186815"/>
            <a:ext cx="9820910" cy="51695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函数原型：</a:t>
            </a:r>
            <a:endParaRPr lang="zh-CN" altLang="en-US" sz="2000" dirty="0" err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int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creat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(const char *filename,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mode_t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mode ) 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参数：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filename :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创建的文件名（包含路径，缺省为当前路径）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	mode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：创建模式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常创建模式：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S_IRUSR     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可读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		S_IWUSR    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可写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		S_IXUSR     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可执行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		S_IXRWU    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可读、可写、可执行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除用以上宏来选择创建模式，也可以用数字来表示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open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打开（创建）文件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4730" y="1186815"/>
            <a:ext cx="9820910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函数原型：</a:t>
            </a:r>
            <a:endParaRPr lang="zh-CN" altLang="en-US" sz="2000" dirty="0" err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 open(const char *pathname, int flags);                            //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只打开文件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	int open(const char *pathname, int flags, mode_t mode);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//</a:t>
            </a:r>
            <a:r>
              <a:rPr lang="zh-CN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创建并打开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参数：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pathname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是要打开或创建的文件的名字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flags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参数可用来说明此函数的多个选择项（比如只读打开、只写打开）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mode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对于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open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函数而言，仅当创建新文件时才使用第三个参数</a:t>
            </a:r>
            <a:endParaRPr lang="en-US" altLang="zh-CN" sz="2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返回值：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成功返回新分配的文件描述符，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出错返回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-1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并设置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errno</a:t>
            </a:r>
            <a:endParaRPr lang="en-US" altLang="zh-CN" sz="2000" dirty="0" err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read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读取文件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4730" y="1186815"/>
            <a:ext cx="982091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函数原型：</a:t>
            </a:r>
            <a:endParaRPr lang="zh-CN" altLang="en-US" sz="2000" dirty="0" err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read(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fd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, const void *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buf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,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size_t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length)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参数：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fd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需要读取的文件的文件描述符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buf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：读取的数据存放在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buf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指向的内存区域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length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：读取的长度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返回值：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成功返回读取的字节数；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出错返回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-1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并设置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errno</a:t>
            </a:r>
            <a:r>
              <a:rPr lang="zh-CN" altLang="en-US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000" dirty="0" err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write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写入文件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4730" y="1186815"/>
            <a:ext cx="982091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函数原型：</a:t>
            </a:r>
            <a:endParaRPr lang="zh-CN" altLang="en-US" sz="2000" dirty="0" err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write(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fd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, const void *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buf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,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size_t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length)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参数：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fd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需要写入的文件的文件描述符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buf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：需要写入的数据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length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：写入数据的长度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返回值：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成功返回写入的字节数；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出错返回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-1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并设置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errno</a:t>
            </a:r>
            <a:r>
              <a:rPr lang="zh-CN" altLang="en-US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000" dirty="0" err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lseek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设置偏移量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4730" y="1186815"/>
            <a:ext cx="9820910" cy="51695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文件偏移量怎么解释？</a:t>
            </a:r>
            <a:endParaRPr lang="zh-CN" altLang="en-US" sz="2000" dirty="0" err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000" dirty="0" err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函数原型：</a:t>
            </a:r>
            <a:endParaRPr lang="zh-CN" altLang="en-US" sz="2000" dirty="0" err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lseek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fd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,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offset_t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offset, 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whence)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参数：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fd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要设置偏移量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的文件的文件描述符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offset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：偏移量大小（正数向后、负数向前）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whence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：开始位置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SEEK_SET</a:t>
            </a:r>
            <a:r>
              <a:rPr lang="zh-CN" altLang="en-US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：从文件开始位置移动；</a:t>
            </a:r>
            <a:endParaRPr lang="en-US" altLang="zh-CN" sz="2000" dirty="0" err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		SEEK_CUR</a:t>
            </a:r>
            <a:r>
              <a:rPr lang="zh-CN" altLang="en-US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：从当前位置开始移动；</a:t>
            </a:r>
            <a:endParaRPr lang="en-US" altLang="zh-CN" sz="2000" dirty="0" err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      	SEEK_END</a:t>
            </a:r>
            <a:r>
              <a:rPr lang="zh-CN" altLang="en-US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：从文件末尾开始移动。</a:t>
            </a:r>
            <a:endParaRPr lang="zh-CN" altLang="en-US" sz="2000" dirty="0" err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4730" y="2649855"/>
            <a:ext cx="967105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如何利用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lseek</a:t>
            </a:r>
            <a:r>
              <a:rPr lang="zh-CN" altLang="en-US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来计算文件的长度？</a:t>
            </a:r>
            <a:endParaRPr lang="zh-CN" altLang="en-US" sz="2000" dirty="0" err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lseek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设置偏移量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close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36518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关闭文件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64870" y="1863725"/>
            <a:ext cx="982091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函数原型：</a:t>
            </a:r>
            <a:endParaRPr lang="zh-CN" altLang="en-US" sz="2000" dirty="0" err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 close(int fd);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参数：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fd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要关闭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的文件的文件描述符</a:t>
            </a:r>
            <a:endParaRPr lang="zh-CN" altLang="en-US" sz="2000" dirty="0" err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copy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36518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文件拷贝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64870" y="1198880"/>
            <a:ext cx="982091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实现文件的拷贝操作。</a:t>
            </a:r>
            <a:endParaRPr lang="zh-CN" altLang="en-US" sz="2000" dirty="0" err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597025" y="1905000"/>
            <a:ext cx="2441575" cy="6064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928495" y="2024380"/>
            <a:ext cx="1778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/>
              <a:t>打开文件</a:t>
            </a:r>
            <a:r>
              <a:rPr lang="en-US" altLang="zh-CN" sz="1600" b="1"/>
              <a:t>A</a:t>
            </a:r>
            <a:endParaRPr lang="en-US" altLang="zh-CN" sz="1600" b="1"/>
          </a:p>
        </p:txBody>
      </p:sp>
      <p:sp>
        <p:nvSpPr>
          <p:cNvPr id="6" name="矩形 5"/>
          <p:cNvSpPr/>
          <p:nvPr/>
        </p:nvSpPr>
        <p:spPr>
          <a:xfrm>
            <a:off x="1597025" y="3033395"/>
            <a:ext cx="2441575" cy="6064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928495" y="3152775"/>
            <a:ext cx="1778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/>
              <a:t>读取文件</a:t>
            </a:r>
            <a:r>
              <a:rPr lang="en-US" altLang="zh-CN" sz="1600" b="1"/>
              <a:t>A</a:t>
            </a:r>
            <a:endParaRPr lang="en-US" altLang="zh-CN" sz="1600" b="1"/>
          </a:p>
        </p:txBody>
      </p:sp>
      <p:sp>
        <p:nvSpPr>
          <p:cNvPr id="8" name="矩形 7"/>
          <p:cNvSpPr/>
          <p:nvPr/>
        </p:nvSpPr>
        <p:spPr>
          <a:xfrm>
            <a:off x="1596390" y="4303395"/>
            <a:ext cx="2441575" cy="6064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927860" y="4422775"/>
            <a:ext cx="1778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/>
              <a:t>关闭文件</a:t>
            </a:r>
            <a:r>
              <a:rPr lang="en-US" altLang="zh-CN" sz="1600" b="1"/>
              <a:t>A</a:t>
            </a:r>
            <a:endParaRPr lang="en-US" altLang="zh-CN" sz="1600" b="1"/>
          </a:p>
        </p:txBody>
      </p:sp>
      <p:sp>
        <p:nvSpPr>
          <p:cNvPr id="10" name="矩形 9"/>
          <p:cNvSpPr/>
          <p:nvPr/>
        </p:nvSpPr>
        <p:spPr>
          <a:xfrm>
            <a:off x="6267450" y="1905000"/>
            <a:ext cx="2441575" cy="6064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598920" y="2024380"/>
            <a:ext cx="1778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/>
              <a:t>打开文件</a:t>
            </a:r>
            <a:r>
              <a:rPr lang="en-US" altLang="zh-CN" sz="1600" b="1"/>
              <a:t>B</a:t>
            </a:r>
            <a:endParaRPr lang="en-US" altLang="zh-CN" sz="1600" b="1"/>
          </a:p>
        </p:txBody>
      </p:sp>
      <p:sp>
        <p:nvSpPr>
          <p:cNvPr id="12" name="矩形 11"/>
          <p:cNvSpPr/>
          <p:nvPr/>
        </p:nvSpPr>
        <p:spPr>
          <a:xfrm>
            <a:off x="6266815" y="3033395"/>
            <a:ext cx="2441575" cy="6064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598285" y="3152775"/>
            <a:ext cx="1778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/>
              <a:t>写入文件</a:t>
            </a:r>
            <a:r>
              <a:rPr lang="en-US" altLang="zh-CN" sz="1600" b="1"/>
              <a:t>B</a:t>
            </a:r>
            <a:endParaRPr lang="en-US" altLang="zh-CN" sz="1600" b="1"/>
          </a:p>
        </p:txBody>
      </p:sp>
      <p:sp>
        <p:nvSpPr>
          <p:cNvPr id="18" name="矩形 17"/>
          <p:cNvSpPr/>
          <p:nvPr/>
        </p:nvSpPr>
        <p:spPr>
          <a:xfrm>
            <a:off x="6267450" y="4303395"/>
            <a:ext cx="2441575" cy="6064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598920" y="4422775"/>
            <a:ext cx="1778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/>
              <a:t>关闭文件</a:t>
            </a:r>
            <a:r>
              <a:rPr lang="en-US" altLang="zh-CN" sz="1600" b="1"/>
              <a:t>B</a:t>
            </a:r>
            <a:endParaRPr lang="en-US" altLang="zh-CN" sz="1600" b="1"/>
          </a:p>
        </p:txBody>
      </p:sp>
      <p:sp>
        <p:nvSpPr>
          <p:cNvPr id="20" name="下箭头 19"/>
          <p:cNvSpPr/>
          <p:nvPr/>
        </p:nvSpPr>
        <p:spPr>
          <a:xfrm>
            <a:off x="2655570" y="2567940"/>
            <a:ext cx="324485" cy="465455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下箭头 20"/>
          <p:cNvSpPr/>
          <p:nvPr/>
        </p:nvSpPr>
        <p:spPr>
          <a:xfrm>
            <a:off x="2654300" y="3738880"/>
            <a:ext cx="324485" cy="465455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下箭头 21"/>
          <p:cNvSpPr/>
          <p:nvPr/>
        </p:nvSpPr>
        <p:spPr>
          <a:xfrm>
            <a:off x="7325995" y="2567940"/>
            <a:ext cx="324485" cy="465455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下箭头 22"/>
          <p:cNvSpPr/>
          <p:nvPr/>
        </p:nvSpPr>
        <p:spPr>
          <a:xfrm>
            <a:off x="7324725" y="3738880"/>
            <a:ext cx="324485" cy="465455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右箭头 23"/>
          <p:cNvSpPr/>
          <p:nvPr/>
        </p:nvSpPr>
        <p:spPr>
          <a:xfrm>
            <a:off x="4178935" y="3166110"/>
            <a:ext cx="1947545" cy="310515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4263390" y="2828925"/>
            <a:ext cx="1778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solidFill>
                  <a:schemeClr val="bg1"/>
                </a:solidFill>
              </a:rPr>
              <a:t>循环</a:t>
            </a:r>
            <a:endParaRPr lang="zh-CN" altLang="en-US" sz="16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PART04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标准</a:t>
                </a:r>
                <a:r>
                  <a:rPr lang="en-US" altLang="zh-CN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IO</a:t>
                </a:r>
                <a:r>
                  <a:rPr lang="zh-CN" altLang="en-US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操作</a:t>
                </a:r>
                <a:endParaRPr lang="zh-CN" altLang="en-US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00775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stdio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标准库函数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4730" y="1201420"/>
            <a:ext cx="984948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库函数的文件操作是独立于具体的操作系统平台的，不管是在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DOS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Windows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Linux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还是在</a:t>
            </a:r>
            <a:r>
              <a:rPr lang="en-US" altLang="zh-CN" sz="28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VxWorks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中都是这些函数。</a:t>
            </a:r>
            <a:endParaRPr lang="zh-CN" altLang="en-US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stdio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标准库函数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4730" y="1201420"/>
            <a:ext cx="9849485" cy="41408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不带缓存的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I/O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对是文件描述符操作，带缓存的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I/O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是针对流的。</a:t>
            </a:r>
            <a:endParaRPr lang="en-US" altLang="zh-CN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</a:pPr>
            <a:endParaRPr lang="en-US" altLang="zh-CN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标准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I/O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库就是带缓存的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I/O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，它由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ANSI C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标准说明。当然，标准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I/O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最终都会调用上面的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I/O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例程。</a:t>
            </a:r>
            <a:endParaRPr lang="en-US" altLang="zh-CN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90000"/>
              </a:lnSpc>
            </a:pPr>
            <a:endParaRPr lang="en-US" altLang="zh-CN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标准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I/O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库代替用户处理很多细节，比如缓存分配、以优化长度执行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I/O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等。</a:t>
            </a:r>
            <a:endParaRPr lang="zh-CN" altLang="en-US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stdio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标准库函数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4730" y="1201420"/>
            <a:ext cx="984948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标准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I/O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提供缓存的目的就是减少调用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read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write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的次数，它对每个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I/O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流自动进行缓存管理（标准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I/O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函数通常调用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malloc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来分配缓存）。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它提供了三种类型的缓存：</a:t>
            </a:r>
            <a:b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   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1)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全缓存。当填满标准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I/O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缓存后才执行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I/O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操作。磁盘上的文件通常是全缓存的。</a:t>
            </a:r>
            <a:b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   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2)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行缓存。当输入输出遇到新行符或缓存满时，才由标准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I/O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库执行实际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I/O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操作。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stdin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stdout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通常是行缓存的。</a:t>
            </a:r>
            <a:b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   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3)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无缓存。相当于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read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write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了。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stderr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通常是无缓存的，因为它必须尽快输出。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fopen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标准库打开文件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4730" y="1201420"/>
            <a:ext cx="9849485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函数原型：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FILE *fopen(const char *path, const char *mode);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参数：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path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：打开的文件路径；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mode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：打开方式。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fopen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标准库打开文件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4730" y="1539875"/>
            <a:ext cx="1056894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0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rb</a:t>
            </a:r>
            <a:r>
              <a:rPr lang="zh-CN" altLang="en-US" sz="20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只读方式打开，文件必须已存在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w</a:t>
            </a:r>
            <a:r>
              <a:rPr lang="zh-CN" altLang="en-US" sz="20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0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wb</a:t>
            </a:r>
            <a:r>
              <a:rPr lang="zh-CN" altLang="en-US" sz="20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只写方式打开，如果文件不存在则创建，如果文件已存则清空重写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0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ab</a:t>
            </a:r>
            <a:r>
              <a:rPr lang="zh-CN" altLang="en-US" sz="20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只能在文件末尾追加数据，如果文件不存在则创建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r+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0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rb+</a:t>
            </a:r>
            <a:r>
              <a:rPr lang="zh-CN" altLang="en-US" sz="20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0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r+b</a:t>
            </a:r>
            <a:r>
              <a:rPr lang="zh-CN" altLang="en-US" sz="20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读写方式打开，文件必须已存在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w+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0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w+b</a:t>
            </a:r>
            <a:r>
              <a:rPr lang="zh-CN" altLang="en-US" sz="20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0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wb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读写方式打开，如果文件不存在则创建，如果文件已存在清空重写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a+</a:t>
            </a:r>
            <a:r>
              <a:rPr lang="zh-CN" altLang="en-US" sz="20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0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a+b</a:t>
            </a:r>
            <a:r>
              <a:rPr lang="zh-CN" altLang="en-US" sz="20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0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ab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读和追加方式打开，如果文件不存在则创建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用于区分二进制文件和文本文件，这一点在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DOS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Windows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系统中是有区分的，但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Linux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不区分二进制文件和文本文件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fread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标准库读取文件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4730" y="1201420"/>
            <a:ext cx="9849485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函数原型：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size_t fread(void *ptr, size_t size, size_t nmemb, FILE *stream);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参数：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ptr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：读取的数据存放在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ptr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指向的内存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size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：块的大小；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nmemb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：读取的块数；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stream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：打开的文件流。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返回值：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成功返回读取的字节数（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size * nmemb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失败返回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fwrite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标准库写入文件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4730" y="1201420"/>
            <a:ext cx="9849485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函数原型：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size_t fwrite(const void *ptr, size_t size, size_t nmemb,FILE *stream);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参数：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ptr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：指向要写入的数据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size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：块的大小；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nmemb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：写入的块数；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stream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：打开的文件流。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返回值：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成功返回写入的字节数（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size * nmemb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失败返回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ftell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标准库获取偏移量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4730" y="1201420"/>
            <a:ext cx="984948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函数原型：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long ftell(FILE *stream);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参数：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stream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：打开的文件流。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返回值：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成功返回打开文件的偏移量。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fseek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标准库修改偏移量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4730" y="1201420"/>
            <a:ext cx="9849485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函数原型：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int fseek(FILE *stream, long offset, int whence);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参数：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stream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：打开的文件流。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offset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：设置偏移量；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whence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：相对位置。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返回值：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成功返回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失败返回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-1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标准库函数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4730" y="1201420"/>
            <a:ext cx="9849485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标准库提供的文件操作函数有很多：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字符读写函数：  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fgetc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putc	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字符串读写函数：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fgets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fputs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格式化读写：     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fscanf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fprintf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宏函数：             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putc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getc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文件夹的相关操作：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opendir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readdir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closedir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29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PART05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en-US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编程训练</a:t>
                </a:r>
                <a:endParaRPr lang="zh-CN" altLang="en-US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00775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编程训练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64870" y="2739390"/>
            <a:ext cx="98494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给定目录，读取目录里面所有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mp3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结尾的文件，并存放在链表中。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"/>
            <a:ext cx="12192000" cy="6858000"/>
          </a:xfrm>
          <a:prstGeom prst="rect">
            <a:avLst/>
          </a:prstGeom>
        </p:spPr>
      </p:pic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2935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745865" y="2326640"/>
            <a:ext cx="4699635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3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over</a:t>
            </a:r>
            <a:endParaRPr lang="en-US" altLang="zh-CN" sz="13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f3c302b0-b3c8-4183-95b6-c8587b50a34b}"/>
  <p:tag name="TABLE_ENDDRAG_ORIGIN_RECT" val="671*316"/>
  <p:tag name="TABLE_ENDDRAG_RECT" val="147*137*671*316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4389</Words>
  <Application>WPS 演示</Application>
  <PresentationFormat>宽屏</PresentationFormat>
  <Paragraphs>448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53" baseType="lpstr">
      <vt:lpstr>Arial</vt:lpstr>
      <vt:lpstr>宋体</vt:lpstr>
      <vt:lpstr>Wingdings</vt:lpstr>
      <vt:lpstr>文鼎习字体</vt:lpstr>
      <vt:lpstr>Nexa Light</vt:lpstr>
      <vt:lpstr>Vrinda</vt:lpstr>
      <vt:lpstr>华康少女文字W5(P)</vt:lpstr>
      <vt:lpstr>方正清刻本悦宋简体</vt:lpstr>
      <vt:lpstr>Arial</vt:lpstr>
      <vt:lpstr>华康海报体W12(P)</vt:lpstr>
      <vt:lpstr>微软雅黑</vt:lpstr>
      <vt:lpstr>华文细黑</vt:lpstr>
      <vt:lpstr>Calibri</vt:lpstr>
      <vt:lpstr>Arial Unicode MS</vt:lpstr>
      <vt:lpstr>Calibri Light</vt:lpstr>
      <vt:lpstr>Segoe Print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79</cp:revision>
  <dcterms:created xsi:type="dcterms:W3CDTF">2017-11-17T09:39:00Z</dcterms:created>
  <dcterms:modified xsi:type="dcterms:W3CDTF">2021-06-26T01:03:37Z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2052-11.1.0.10578</vt:lpwstr>
  </property>
  <property fmtid="{D5CDD505-2E9C-101B-9397-08002B2CF9AE}" pid="3" name="ICV">
    <vt:lpwstr>FCBCC8D4A29449558B03C256BC360135</vt:lpwstr>
  </property>
</Properties>
</file>