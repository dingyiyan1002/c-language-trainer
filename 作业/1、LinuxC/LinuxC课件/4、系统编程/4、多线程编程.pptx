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6" r:id="rId3"/>
    <p:sldId id="257" r:id="rId5"/>
    <p:sldId id="258" r:id="rId6"/>
    <p:sldId id="265" r:id="rId7"/>
    <p:sldId id="260" r:id="rId8"/>
    <p:sldId id="281" r:id="rId9"/>
    <p:sldId id="266" r:id="rId10"/>
    <p:sldId id="261" r:id="rId11"/>
    <p:sldId id="267" r:id="rId12"/>
    <p:sldId id="264" r:id="rId13"/>
    <p:sldId id="268" r:id="rId14"/>
    <p:sldId id="283" r:id="rId15"/>
    <p:sldId id="282" r:id="rId16"/>
    <p:sldId id="262" r:id="rId17"/>
    <p:sldId id="269" r:id="rId18"/>
    <p:sldId id="271" r:id="rId19"/>
    <p:sldId id="270" r:id="rId20"/>
    <p:sldId id="285" r:id="rId21"/>
    <p:sldId id="286" r:id="rId22"/>
    <p:sldId id="287" r:id="rId23"/>
    <p:sldId id="288" r:id="rId24"/>
    <p:sldId id="289" r:id="rId25"/>
    <p:sldId id="25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多线程编程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184" cy="2130230"/>
            <a:chOff x="3388622" y="2209939"/>
            <a:chExt cx="5040937" cy="1782271"/>
          </a:xfrm>
        </p:grpSpPr>
        <p:grpSp>
          <p:nvGrpSpPr>
            <p:cNvPr id="7" name="组合 6"/>
            <p:cNvGrpSpPr/>
            <p:nvPr/>
          </p:nvGrpSpPr>
          <p:grpSpPr>
            <a:xfrm>
              <a:off x="5018600" y="2209939"/>
              <a:ext cx="3410959" cy="1782271"/>
              <a:chOff x="5018600" y="2209939"/>
              <a:chExt cx="3410959" cy="1782271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600" y="2209939"/>
                <a:ext cx="583325" cy="1782271"/>
                <a:chOff x="5421431" y="2621290"/>
                <a:chExt cx="583325" cy="1782271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431" y="2764572"/>
                  <a:ext cx="0" cy="1638989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847575" y="2246597"/>
                <a:ext cx="258198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线程理论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2797531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多线程编程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3403187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线程同步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线程理论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thread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线程理论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608455"/>
            <a:ext cx="101593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）技术早在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年代就被提出，但真正应用多线程到操作系统中去，是在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年代中期，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solaris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是这方面的佼佼者。传统的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Unix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也支持线程的概念，但是在一个进程（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process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）中只允许有一个线程，这样多线程就意味着多进程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现在，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多线程技术已经被许多操作系统所支持，包括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Windows/NT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 &amp; thread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进程和线程的区别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353820"/>
            <a:ext cx="100476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进程和线程的根本区别是进程是操作系统资源分配的基本单位，而线程是处理器任务调度和执行的基本单位。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资源开销：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每个进程都有独立的代码和数据空间（程序上下文），程序之间的切换会有较大的开销；线程可以看做轻量级的进程，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同一类线程共享代码和数据空间，每个线程都有自己独立的运行栈和程序计数器（PC）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，线程之间切换的开销小。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包含关系：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如果一个进程内有多个线程，则执行过程不是一条线的，而是多条线（线程）共同完成的；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线程是进程的一部分，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所以线程也被称为轻权进程或者轻量级进程。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 &amp; thread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进程和线程的区别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353820"/>
            <a:ext cx="100476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内存分配：同一进程的线程共享本进程的地址空间和资源，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而进程之间的地址空间和资源是相互独立的。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影响关系：一个进程崩溃后，在保护模式下不会对其他进程产生影响，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但是一个线程崩溃整个进程都死掉。所以多进程要比多线程健壮。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执行过程：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每个独立的进程有程序运行的入口、顺序执行序列和程序出口。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但是线程不能独立执行，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必须依存在应用程序中，由应用程序提供多个线程执行控制，两者均可并发执行。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thread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线程的优势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859228" y="2311797"/>
            <a:ext cx="4346936" cy="3161156"/>
            <a:chOff x="2691237" y="1504950"/>
            <a:chExt cx="3755282" cy="2730898"/>
          </a:xfrm>
        </p:grpSpPr>
        <p:sp>
          <p:nvSpPr>
            <p:cNvPr id="6" name="Freeform 5"/>
            <p:cNvSpPr/>
            <p:nvPr/>
          </p:nvSpPr>
          <p:spPr bwMode="auto">
            <a:xfrm>
              <a:off x="4582581" y="1504950"/>
              <a:ext cx="1169176" cy="1355398"/>
            </a:xfrm>
            <a:custGeom>
              <a:avLst/>
              <a:gdLst>
                <a:gd name="T0" fmla="*/ 0 w 175"/>
                <a:gd name="T1" fmla="*/ 0 h 203"/>
                <a:gd name="T2" fmla="*/ 6 w 175"/>
                <a:gd name="T3" fmla="*/ 2 h 203"/>
                <a:gd name="T4" fmla="*/ 171 w 175"/>
                <a:gd name="T5" fmla="*/ 99 h 203"/>
                <a:gd name="T6" fmla="*/ 175 w 175"/>
                <a:gd name="T7" fmla="*/ 104 h 203"/>
                <a:gd name="T8" fmla="*/ 0 w 175"/>
                <a:gd name="T9" fmla="*/ 203 h 203"/>
                <a:gd name="T10" fmla="*/ 0 w 175"/>
                <a:gd name="T11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" h="203">
                  <a:moveTo>
                    <a:pt x="0" y="0"/>
                  </a:moveTo>
                  <a:cubicBezTo>
                    <a:pt x="2" y="0"/>
                    <a:pt x="4" y="1"/>
                    <a:pt x="6" y="2"/>
                  </a:cubicBezTo>
                  <a:cubicBezTo>
                    <a:pt x="171" y="99"/>
                    <a:pt x="171" y="99"/>
                    <a:pt x="171" y="99"/>
                  </a:cubicBezTo>
                  <a:cubicBezTo>
                    <a:pt x="172" y="100"/>
                    <a:pt x="174" y="102"/>
                    <a:pt x="175" y="104"/>
                  </a:cubicBezTo>
                  <a:cubicBezTo>
                    <a:pt x="0" y="203"/>
                    <a:pt x="0" y="203"/>
                    <a:pt x="0" y="20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4582581" y="2880450"/>
              <a:ext cx="1169176" cy="1355398"/>
            </a:xfrm>
            <a:custGeom>
              <a:avLst/>
              <a:gdLst>
                <a:gd name="T0" fmla="*/ 0 w 175"/>
                <a:gd name="T1" fmla="*/ 0 h 203"/>
                <a:gd name="T2" fmla="*/ 175 w 175"/>
                <a:gd name="T3" fmla="*/ 100 h 203"/>
                <a:gd name="T4" fmla="*/ 171 w 175"/>
                <a:gd name="T5" fmla="*/ 104 h 203"/>
                <a:gd name="T6" fmla="*/ 6 w 175"/>
                <a:gd name="T7" fmla="*/ 202 h 203"/>
                <a:gd name="T8" fmla="*/ 0 w 175"/>
                <a:gd name="T9" fmla="*/ 203 h 203"/>
                <a:gd name="T10" fmla="*/ 0 w 175"/>
                <a:gd name="T11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" h="203">
                  <a:moveTo>
                    <a:pt x="0" y="0"/>
                  </a:moveTo>
                  <a:cubicBezTo>
                    <a:pt x="175" y="100"/>
                    <a:pt x="175" y="100"/>
                    <a:pt x="175" y="100"/>
                  </a:cubicBezTo>
                  <a:cubicBezTo>
                    <a:pt x="174" y="102"/>
                    <a:pt x="172" y="103"/>
                    <a:pt x="171" y="104"/>
                  </a:cubicBezTo>
                  <a:cubicBezTo>
                    <a:pt x="6" y="202"/>
                    <a:pt x="6" y="202"/>
                    <a:pt x="6" y="202"/>
                  </a:cubicBezTo>
                  <a:cubicBezTo>
                    <a:pt x="4" y="203"/>
                    <a:pt x="2" y="203"/>
                    <a:pt x="0" y="20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9"/>
            <p:cNvSpPr/>
            <p:nvPr/>
          </p:nvSpPr>
          <p:spPr bwMode="auto">
            <a:xfrm>
              <a:off x="4588930" y="2206456"/>
              <a:ext cx="1176582" cy="1328946"/>
            </a:xfrm>
            <a:custGeom>
              <a:avLst/>
              <a:gdLst>
                <a:gd name="T0" fmla="*/ 0 w 176"/>
                <a:gd name="T1" fmla="*/ 100 h 199"/>
                <a:gd name="T2" fmla="*/ 175 w 176"/>
                <a:gd name="T3" fmla="*/ 0 h 199"/>
                <a:gd name="T4" fmla="*/ 176 w 176"/>
                <a:gd name="T5" fmla="*/ 6 h 199"/>
                <a:gd name="T6" fmla="*/ 176 w 176"/>
                <a:gd name="T7" fmla="*/ 193 h 199"/>
                <a:gd name="T8" fmla="*/ 175 w 176"/>
                <a:gd name="T9" fmla="*/ 199 h 199"/>
                <a:gd name="T10" fmla="*/ 0 w 176"/>
                <a:gd name="T11" fmla="*/ 10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6" h="199">
                  <a:moveTo>
                    <a:pt x="0" y="100"/>
                  </a:moveTo>
                  <a:cubicBezTo>
                    <a:pt x="175" y="0"/>
                    <a:pt x="175" y="0"/>
                    <a:pt x="175" y="0"/>
                  </a:cubicBezTo>
                  <a:cubicBezTo>
                    <a:pt x="176" y="2"/>
                    <a:pt x="176" y="4"/>
                    <a:pt x="176" y="6"/>
                  </a:cubicBezTo>
                  <a:cubicBezTo>
                    <a:pt x="176" y="193"/>
                    <a:pt x="176" y="193"/>
                    <a:pt x="176" y="193"/>
                  </a:cubicBezTo>
                  <a:cubicBezTo>
                    <a:pt x="176" y="195"/>
                    <a:pt x="176" y="197"/>
                    <a:pt x="175" y="199"/>
                  </a:cubicBezTo>
                  <a:lnTo>
                    <a:pt x="0" y="10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11"/>
            <p:cNvSpPr/>
            <p:nvPr/>
          </p:nvSpPr>
          <p:spPr bwMode="auto">
            <a:xfrm>
              <a:off x="3398592" y="2880450"/>
              <a:ext cx="1170234" cy="1355398"/>
            </a:xfrm>
            <a:custGeom>
              <a:avLst/>
              <a:gdLst>
                <a:gd name="T0" fmla="*/ 175 w 175"/>
                <a:gd name="T1" fmla="*/ 203 h 203"/>
                <a:gd name="T2" fmla="*/ 169 w 175"/>
                <a:gd name="T3" fmla="*/ 202 h 203"/>
                <a:gd name="T4" fmla="*/ 4 w 175"/>
                <a:gd name="T5" fmla="*/ 104 h 203"/>
                <a:gd name="T6" fmla="*/ 0 w 175"/>
                <a:gd name="T7" fmla="*/ 100 h 203"/>
                <a:gd name="T8" fmla="*/ 175 w 175"/>
                <a:gd name="T9" fmla="*/ 0 h 203"/>
                <a:gd name="T10" fmla="*/ 175 w 175"/>
                <a:gd name="T11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" h="203">
                  <a:moveTo>
                    <a:pt x="175" y="203"/>
                  </a:moveTo>
                  <a:cubicBezTo>
                    <a:pt x="173" y="203"/>
                    <a:pt x="171" y="203"/>
                    <a:pt x="169" y="202"/>
                  </a:cubicBezTo>
                  <a:cubicBezTo>
                    <a:pt x="4" y="104"/>
                    <a:pt x="4" y="104"/>
                    <a:pt x="4" y="104"/>
                  </a:cubicBezTo>
                  <a:cubicBezTo>
                    <a:pt x="3" y="103"/>
                    <a:pt x="1" y="102"/>
                    <a:pt x="0" y="100"/>
                  </a:cubicBezTo>
                  <a:cubicBezTo>
                    <a:pt x="175" y="0"/>
                    <a:pt x="175" y="0"/>
                    <a:pt x="175" y="0"/>
                  </a:cubicBezTo>
                  <a:lnTo>
                    <a:pt x="175" y="203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13"/>
            <p:cNvSpPr/>
            <p:nvPr/>
          </p:nvSpPr>
          <p:spPr bwMode="auto">
            <a:xfrm>
              <a:off x="3378489" y="2206456"/>
              <a:ext cx="1183989" cy="1328946"/>
            </a:xfrm>
            <a:custGeom>
              <a:avLst/>
              <a:gdLst>
                <a:gd name="T0" fmla="*/ 2 w 177"/>
                <a:gd name="T1" fmla="*/ 199 h 199"/>
                <a:gd name="T2" fmla="*/ 0 w 177"/>
                <a:gd name="T3" fmla="*/ 193 h 199"/>
                <a:gd name="T4" fmla="*/ 0 w 177"/>
                <a:gd name="T5" fmla="*/ 6 h 199"/>
                <a:gd name="T6" fmla="*/ 2 w 177"/>
                <a:gd name="T7" fmla="*/ 0 h 199"/>
                <a:gd name="T8" fmla="*/ 177 w 177"/>
                <a:gd name="T9" fmla="*/ 100 h 199"/>
                <a:gd name="T10" fmla="*/ 2 w 177"/>
                <a:gd name="T11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199">
                  <a:moveTo>
                    <a:pt x="2" y="199"/>
                  </a:moveTo>
                  <a:cubicBezTo>
                    <a:pt x="1" y="197"/>
                    <a:pt x="0" y="195"/>
                    <a:pt x="0" y="19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2" y="0"/>
                  </a:cubicBezTo>
                  <a:cubicBezTo>
                    <a:pt x="177" y="100"/>
                    <a:pt x="177" y="100"/>
                    <a:pt x="177" y="100"/>
                  </a:cubicBezTo>
                  <a:lnTo>
                    <a:pt x="2" y="199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5"/>
            <p:cNvSpPr/>
            <p:nvPr/>
          </p:nvSpPr>
          <p:spPr bwMode="auto">
            <a:xfrm>
              <a:off x="3398592" y="1504950"/>
              <a:ext cx="1170234" cy="1355398"/>
            </a:xfrm>
            <a:custGeom>
              <a:avLst/>
              <a:gdLst>
                <a:gd name="T0" fmla="*/ 0 w 175"/>
                <a:gd name="T1" fmla="*/ 104 h 203"/>
                <a:gd name="T2" fmla="*/ 4 w 175"/>
                <a:gd name="T3" fmla="*/ 99 h 203"/>
                <a:gd name="T4" fmla="*/ 169 w 175"/>
                <a:gd name="T5" fmla="*/ 2 h 203"/>
                <a:gd name="T6" fmla="*/ 175 w 175"/>
                <a:gd name="T7" fmla="*/ 0 h 203"/>
                <a:gd name="T8" fmla="*/ 175 w 175"/>
                <a:gd name="T9" fmla="*/ 203 h 203"/>
                <a:gd name="T10" fmla="*/ 0 w 175"/>
                <a:gd name="T11" fmla="*/ 10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" h="203">
                  <a:moveTo>
                    <a:pt x="0" y="104"/>
                  </a:moveTo>
                  <a:cubicBezTo>
                    <a:pt x="1" y="102"/>
                    <a:pt x="3" y="100"/>
                    <a:pt x="4" y="99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1" y="1"/>
                    <a:pt x="173" y="0"/>
                    <a:pt x="175" y="0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0" y="104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691237" y="1504950"/>
              <a:ext cx="45719" cy="603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21"/>
            <p:cNvSpPr/>
            <p:nvPr/>
          </p:nvSpPr>
          <p:spPr>
            <a:xfrm>
              <a:off x="2691237" y="3632399"/>
              <a:ext cx="45719" cy="603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2"/>
            <p:cNvSpPr/>
            <p:nvPr/>
          </p:nvSpPr>
          <p:spPr>
            <a:xfrm>
              <a:off x="2691237" y="2568674"/>
              <a:ext cx="45719" cy="603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24"/>
            <p:cNvSpPr/>
            <p:nvPr/>
          </p:nvSpPr>
          <p:spPr>
            <a:xfrm>
              <a:off x="6400800" y="2179144"/>
              <a:ext cx="45719" cy="603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6"/>
            <p:cNvSpPr/>
            <p:nvPr/>
          </p:nvSpPr>
          <p:spPr>
            <a:xfrm>
              <a:off x="6400800" y="3115600"/>
              <a:ext cx="45719" cy="6034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40"/>
            <p:cNvGrpSpPr/>
            <p:nvPr/>
          </p:nvGrpSpPr>
          <p:grpSpPr>
            <a:xfrm>
              <a:off x="3951985" y="1998988"/>
              <a:ext cx="468188" cy="409875"/>
              <a:chOff x="4252913" y="6116638"/>
              <a:chExt cx="446087" cy="390525"/>
            </a:xfrm>
            <a:solidFill>
              <a:schemeClr val="bg1"/>
            </a:solidFill>
          </p:grpSpPr>
          <p:sp>
            <p:nvSpPr>
              <p:cNvPr id="35" name="Freeform 41"/>
              <p:cNvSpPr>
                <a:spLocks noEditPoints="1"/>
              </p:cNvSpPr>
              <p:nvPr/>
            </p:nvSpPr>
            <p:spPr bwMode="auto">
              <a:xfrm>
                <a:off x="4503738" y="6342063"/>
                <a:ext cx="195262" cy="157163"/>
              </a:xfrm>
              <a:custGeom>
                <a:avLst/>
                <a:gdLst>
                  <a:gd name="T0" fmla="*/ 52 w 52"/>
                  <a:gd name="T1" fmla="*/ 5 h 42"/>
                  <a:gd name="T2" fmla="*/ 42 w 52"/>
                  <a:gd name="T3" fmla="*/ 4 h 42"/>
                  <a:gd name="T4" fmla="*/ 36 w 52"/>
                  <a:gd name="T5" fmla="*/ 7 h 42"/>
                  <a:gd name="T6" fmla="*/ 28 w 52"/>
                  <a:gd name="T7" fmla="*/ 3 h 42"/>
                  <a:gd name="T8" fmla="*/ 0 w 52"/>
                  <a:gd name="T9" fmla="*/ 0 h 42"/>
                  <a:gd name="T10" fmla="*/ 30 w 52"/>
                  <a:gd name="T11" fmla="*/ 42 h 42"/>
                  <a:gd name="T12" fmla="*/ 52 w 52"/>
                  <a:gd name="T13" fmla="*/ 5 h 42"/>
                  <a:gd name="T14" fmla="*/ 26 w 52"/>
                  <a:gd name="T15" fmla="*/ 26 h 42"/>
                  <a:gd name="T16" fmla="*/ 19 w 52"/>
                  <a:gd name="T17" fmla="*/ 20 h 42"/>
                  <a:gd name="T18" fmla="*/ 26 w 52"/>
                  <a:gd name="T19" fmla="*/ 13 h 42"/>
                  <a:gd name="T20" fmla="*/ 32 w 52"/>
                  <a:gd name="T21" fmla="*/ 20 h 42"/>
                  <a:gd name="T22" fmla="*/ 26 w 52"/>
                  <a:gd name="T23" fmla="*/ 2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2" h="42">
                    <a:moveTo>
                      <a:pt x="52" y="5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1" y="6"/>
                      <a:pt x="38" y="7"/>
                      <a:pt x="36" y="7"/>
                    </a:cubicBezTo>
                    <a:cubicBezTo>
                      <a:pt x="32" y="7"/>
                      <a:pt x="30" y="5"/>
                      <a:pt x="28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42" y="34"/>
                      <a:pt x="50" y="20"/>
                      <a:pt x="52" y="5"/>
                    </a:cubicBezTo>
                    <a:close/>
                    <a:moveTo>
                      <a:pt x="26" y="26"/>
                    </a:moveTo>
                    <a:cubicBezTo>
                      <a:pt x="22" y="26"/>
                      <a:pt x="19" y="24"/>
                      <a:pt x="19" y="20"/>
                    </a:cubicBezTo>
                    <a:cubicBezTo>
                      <a:pt x="19" y="16"/>
                      <a:pt x="22" y="13"/>
                      <a:pt x="26" y="13"/>
                    </a:cubicBezTo>
                    <a:cubicBezTo>
                      <a:pt x="29" y="13"/>
                      <a:pt x="32" y="16"/>
                      <a:pt x="32" y="20"/>
                    </a:cubicBezTo>
                    <a:cubicBezTo>
                      <a:pt x="32" y="24"/>
                      <a:pt x="29" y="26"/>
                      <a:pt x="26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6" name="Freeform 42"/>
              <p:cNvSpPr>
                <a:spLocks noEditPoints="1"/>
              </p:cNvSpPr>
              <p:nvPr/>
            </p:nvSpPr>
            <p:spPr bwMode="auto">
              <a:xfrm>
                <a:off x="4252913" y="6116638"/>
                <a:ext cx="388937" cy="390525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83 w 104"/>
                  <a:gd name="T7" fmla="*/ 95 h 104"/>
                  <a:gd name="T8" fmla="*/ 52 w 104"/>
                  <a:gd name="T9" fmla="*/ 52 h 104"/>
                  <a:gd name="T10" fmla="*/ 80 w 104"/>
                  <a:gd name="T11" fmla="*/ 55 h 104"/>
                  <a:gd name="T12" fmla="*/ 78 w 104"/>
                  <a:gd name="T13" fmla="*/ 49 h 104"/>
                  <a:gd name="T14" fmla="*/ 88 w 104"/>
                  <a:gd name="T15" fmla="*/ 39 h 104"/>
                  <a:gd name="T16" fmla="*/ 97 w 104"/>
                  <a:gd name="T17" fmla="*/ 49 h 104"/>
                  <a:gd name="T18" fmla="*/ 94 w 104"/>
                  <a:gd name="T19" fmla="*/ 56 h 104"/>
                  <a:gd name="T20" fmla="*/ 104 w 104"/>
                  <a:gd name="T21" fmla="*/ 57 h 104"/>
                  <a:gd name="T22" fmla="*/ 104 w 104"/>
                  <a:gd name="T23" fmla="*/ 52 h 104"/>
                  <a:gd name="T24" fmla="*/ 52 w 104"/>
                  <a:gd name="T25" fmla="*/ 0 h 104"/>
                  <a:gd name="T26" fmla="*/ 13 w 104"/>
                  <a:gd name="T27" fmla="*/ 46 h 104"/>
                  <a:gd name="T28" fmla="*/ 19 w 104"/>
                  <a:gd name="T29" fmla="*/ 39 h 104"/>
                  <a:gd name="T30" fmla="*/ 26 w 104"/>
                  <a:gd name="T31" fmla="*/ 46 h 104"/>
                  <a:gd name="T32" fmla="*/ 19 w 104"/>
                  <a:gd name="T33" fmla="*/ 52 h 104"/>
                  <a:gd name="T34" fmla="*/ 13 w 104"/>
                  <a:gd name="T35" fmla="*/ 46 h 104"/>
                  <a:gd name="T36" fmla="*/ 29 w 104"/>
                  <a:gd name="T37" fmla="*/ 85 h 104"/>
                  <a:gd name="T38" fmla="*/ 19 w 104"/>
                  <a:gd name="T39" fmla="*/ 75 h 104"/>
                  <a:gd name="T40" fmla="*/ 29 w 104"/>
                  <a:gd name="T41" fmla="*/ 65 h 104"/>
                  <a:gd name="T42" fmla="*/ 39 w 104"/>
                  <a:gd name="T43" fmla="*/ 75 h 104"/>
                  <a:gd name="T44" fmla="*/ 29 w 104"/>
                  <a:gd name="T45" fmla="*/ 85 h 104"/>
                  <a:gd name="T46" fmla="*/ 36 w 104"/>
                  <a:gd name="T47" fmla="*/ 33 h 104"/>
                  <a:gd name="T48" fmla="*/ 26 w 104"/>
                  <a:gd name="T49" fmla="*/ 23 h 104"/>
                  <a:gd name="T50" fmla="*/ 36 w 104"/>
                  <a:gd name="T51" fmla="*/ 13 h 104"/>
                  <a:gd name="T52" fmla="*/ 45 w 104"/>
                  <a:gd name="T53" fmla="*/ 23 h 104"/>
                  <a:gd name="T54" fmla="*/ 36 w 104"/>
                  <a:gd name="T55" fmla="*/ 33 h 104"/>
                  <a:gd name="T56" fmla="*/ 55 w 104"/>
                  <a:gd name="T57" fmla="*/ 82 h 104"/>
                  <a:gd name="T58" fmla="*/ 62 w 104"/>
                  <a:gd name="T59" fmla="*/ 88 h 104"/>
                  <a:gd name="T60" fmla="*/ 55 w 104"/>
                  <a:gd name="T61" fmla="*/ 95 h 104"/>
                  <a:gd name="T62" fmla="*/ 49 w 104"/>
                  <a:gd name="T63" fmla="*/ 88 h 104"/>
                  <a:gd name="T64" fmla="*/ 55 w 104"/>
                  <a:gd name="T65" fmla="*/ 82 h 104"/>
                  <a:gd name="T66" fmla="*/ 65 w 104"/>
                  <a:gd name="T67" fmla="*/ 46 h 104"/>
                  <a:gd name="T68" fmla="*/ 58 w 104"/>
                  <a:gd name="T69" fmla="*/ 39 h 104"/>
                  <a:gd name="T70" fmla="*/ 65 w 104"/>
                  <a:gd name="T71" fmla="*/ 33 h 104"/>
                  <a:gd name="T72" fmla="*/ 71 w 104"/>
                  <a:gd name="T73" fmla="*/ 39 h 104"/>
                  <a:gd name="T74" fmla="*/ 65 w 104"/>
                  <a:gd name="T75" fmla="*/ 46 h 104"/>
                  <a:gd name="T76" fmla="*/ 71 w 104"/>
                  <a:gd name="T77" fmla="*/ 26 h 104"/>
                  <a:gd name="T78" fmla="*/ 65 w 104"/>
                  <a:gd name="T79" fmla="*/ 20 h 104"/>
                  <a:gd name="T80" fmla="*/ 71 w 104"/>
                  <a:gd name="T81" fmla="*/ 13 h 104"/>
                  <a:gd name="T82" fmla="*/ 78 w 104"/>
                  <a:gd name="T83" fmla="*/ 20 h 104"/>
                  <a:gd name="T84" fmla="*/ 71 w 104"/>
                  <a:gd name="T85" fmla="*/ 2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4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63" y="104"/>
                      <a:pt x="74" y="101"/>
                      <a:pt x="83" y="95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80" y="55"/>
                      <a:pt x="80" y="55"/>
                      <a:pt x="80" y="55"/>
                    </a:cubicBezTo>
                    <a:cubicBezTo>
                      <a:pt x="79" y="53"/>
                      <a:pt x="78" y="51"/>
                      <a:pt x="78" y="49"/>
                    </a:cubicBezTo>
                    <a:cubicBezTo>
                      <a:pt x="78" y="44"/>
                      <a:pt x="82" y="39"/>
                      <a:pt x="88" y="39"/>
                    </a:cubicBezTo>
                    <a:cubicBezTo>
                      <a:pt x="93" y="39"/>
                      <a:pt x="97" y="44"/>
                      <a:pt x="97" y="49"/>
                    </a:cubicBezTo>
                    <a:cubicBezTo>
                      <a:pt x="97" y="52"/>
                      <a:pt x="96" y="54"/>
                      <a:pt x="94" y="56"/>
                    </a:cubicBezTo>
                    <a:cubicBezTo>
                      <a:pt x="104" y="57"/>
                      <a:pt x="104" y="57"/>
                      <a:pt x="104" y="57"/>
                    </a:cubicBezTo>
                    <a:cubicBezTo>
                      <a:pt x="104" y="56"/>
                      <a:pt x="104" y="54"/>
                      <a:pt x="104" y="52"/>
                    </a:cubicBezTo>
                    <a:cubicBezTo>
                      <a:pt x="104" y="24"/>
                      <a:pt x="81" y="0"/>
                      <a:pt x="52" y="0"/>
                    </a:cubicBezTo>
                    <a:close/>
                    <a:moveTo>
                      <a:pt x="13" y="46"/>
                    </a:moveTo>
                    <a:cubicBezTo>
                      <a:pt x="13" y="42"/>
                      <a:pt x="16" y="39"/>
                      <a:pt x="19" y="39"/>
                    </a:cubicBezTo>
                    <a:cubicBezTo>
                      <a:pt x="23" y="39"/>
                      <a:pt x="26" y="42"/>
                      <a:pt x="26" y="46"/>
                    </a:cubicBezTo>
                    <a:cubicBezTo>
                      <a:pt x="26" y="50"/>
                      <a:pt x="23" y="52"/>
                      <a:pt x="19" y="52"/>
                    </a:cubicBezTo>
                    <a:cubicBezTo>
                      <a:pt x="16" y="52"/>
                      <a:pt x="13" y="50"/>
                      <a:pt x="13" y="46"/>
                    </a:cubicBezTo>
                    <a:close/>
                    <a:moveTo>
                      <a:pt x="29" y="85"/>
                    </a:moveTo>
                    <a:cubicBezTo>
                      <a:pt x="24" y="85"/>
                      <a:pt x="19" y="81"/>
                      <a:pt x="19" y="75"/>
                    </a:cubicBezTo>
                    <a:cubicBezTo>
                      <a:pt x="19" y="70"/>
                      <a:pt x="24" y="65"/>
                      <a:pt x="29" y="65"/>
                    </a:cubicBezTo>
                    <a:cubicBezTo>
                      <a:pt x="35" y="65"/>
                      <a:pt x="39" y="70"/>
                      <a:pt x="39" y="75"/>
                    </a:cubicBezTo>
                    <a:cubicBezTo>
                      <a:pt x="39" y="81"/>
                      <a:pt x="35" y="85"/>
                      <a:pt x="29" y="85"/>
                    </a:cubicBezTo>
                    <a:close/>
                    <a:moveTo>
                      <a:pt x="36" y="33"/>
                    </a:moveTo>
                    <a:cubicBezTo>
                      <a:pt x="30" y="33"/>
                      <a:pt x="26" y="29"/>
                      <a:pt x="26" y="23"/>
                    </a:cubicBezTo>
                    <a:cubicBezTo>
                      <a:pt x="26" y="18"/>
                      <a:pt x="30" y="13"/>
                      <a:pt x="36" y="13"/>
                    </a:cubicBezTo>
                    <a:cubicBezTo>
                      <a:pt x="41" y="13"/>
                      <a:pt x="45" y="18"/>
                      <a:pt x="45" y="23"/>
                    </a:cubicBezTo>
                    <a:cubicBezTo>
                      <a:pt x="45" y="29"/>
                      <a:pt x="41" y="33"/>
                      <a:pt x="36" y="33"/>
                    </a:cubicBezTo>
                    <a:close/>
                    <a:moveTo>
                      <a:pt x="55" y="82"/>
                    </a:moveTo>
                    <a:cubicBezTo>
                      <a:pt x="59" y="82"/>
                      <a:pt x="62" y="85"/>
                      <a:pt x="62" y="88"/>
                    </a:cubicBezTo>
                    <a:cubicBezTo>
                      <a:pt x="62" y="92"/>
                      <a:pt x="59" y="95"/>
                      <a:pt x="55" y="95"/>
                    </a:cubicBezTo>
                    <a:cubicBezTo>
                      <a:pt x="52" y="95"/>
                      <a:pt x="49" y="92"/>
                      <a:pt x="49" y="88"/>
                    </a:cubicBezTo>
                    <a:cubicBezTo>
                      <a:pt x="49" y="85"/>
                      <a:pt x="52" y="82"/>
                      <a:pt x="55" y="82"/>
                    </a:cubicBezTo>
                    <a:close/>
                    <a:moveTo>
                      <a:pt x="65" y="46"/>
                    </a:moveTo>
                    <a:cubicBezTo>
                      <a:pt x="61" y="46"/>
                      <a:pt x="58" y="43"/>
                      <a:pt x="58" y="39"/>
                    </a:cubicBezTo>
                    <a:cubicBezTo>
                      <a:pt x="58" y="36"/>
                      <a:pt x="61" y="33"/>
                      <a:pt x="65" y="33"/>
                    </a:cubicBezTo>
                    <a:cubicBezTo>
                      <a:pt x="69" y="33"/>
                      <a:pt x="71" y="36"/>
                      <a:pt x="71" y="39"/>
                    </a:cubicBezTo>
                    <a:cubicBezTo>
                      <a:pt x="71" y="43"/>
                      <a:pt x="69" y="46"/>
                      <a:pt x="65" y="46"/>
                    </a:cubicBezTo>
                    <a:close/>
                    <a:moveTo>
                      <a:pt x="71" y="26"/>
                    </a:moveTo>
                    <a:cubicBezTo>
                      <a:pt x="68" y="26"/>
                      <a:pt x="65" y="23"/>
                      <a:pt x="65" y="20"/>
                    </a:cubicBezTo>
                    <a:cubicBezTo>
                      <a:pt x="65" y="16"/>
                      <a:pt x="68" y="13"/>
                      <a:pt x="71" y="13"/>
                    </a:cubicBezTo>
                    <a:cubicBezTo>
                      <a:pt x="75" y="13"/>
                      <a:pt x="78" y="16"/>
                      <a:pt x="78" y="20"/>
                    </a:cubicBezTo>
                    <a:cubicBezTo>
                      <a:pt x="78" y="23"/>
                      <a:pt x="75" y="26"/>
                      <a:pt x="7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37" name="Group 43"/>
            <p:cNvGrpSpPr/>
            <p:nvPr/>
          </p:nvGrpSpPr>
          <p:grpSpPr>
            <a:xfrm>
              <a:off x="4769400" y="1995323"/>
              <a:ext cx="423735" cy="422265"/>
              <a:chOff x="6780213" y="5662613"/>
              <a:chExt cx="457199" cy="455612"/>
            </a:xfrm>
            <a:solidFill>
              <a:schemeClr val="bg1"/>
            </a:solidFill>
          </p:grpSpPr>
          <p:sp>
            <p:nvSpPr>
              <p:cNvPr id="38" name="Freeform 44"/>
              <p:cNvSpPr>
                <a:spLocks noEditPoints="1"/>
              </p:cNvSpPr>
              <p:nvPr/>
            </p:nvSpPr>
            <p:spPr bwMode="auto">
              <a:xfrm>
                <a:off x="7038975" y="5662613"/>
                <a:ext cx="198437" cy="198437"/>
              </a:xfrm>
              <a:custGeom>
                <a:avLst/>
                <a:gdLst>
                  <a:gd name="T0" fmla="*/ 42 w 53"/>
                  <a:gd name="T1" fmla="*/ 23 h 53"/>
                  <a:gd name="T2" fmla="*/ 26 w 53"/>
                  <a:gd name="T3" fmla="*/ 38 h 53"/>
                  <a:gd name="T4" fmla="*/ 19 w 53"/>
                  <a:gd name="T5" fmla="*/ 38 h 53"/>
                  <a:gd name="T6" fmla="*/ 11 w 53"/>
                  <a:gd name="T7" fmla="*/ 30 h 53"/>
                  <a:gd name="T8" fmla="*/ 11 w 53"/>
                  <a:gd name="T9" fmla="*/ 23 h 53"/>
                  <a:gd name="T10" fmla="*/ 19 w 53"/>
                  <a:gd name="T11" fmla="*/ 23 h 53"/>
                  <a:gd name="T12" fmla="*/ 23 w 53"/>
                  <a:gd name="T13" fmla="*/ 26 h 53"/>
                  <a:gd name="T14" fmla="*/ 34 w 53"/>
                  <a:gd name="T15" fmla="*/ 15 h 53"/>
                  <a:gd name="T16" fmla="*/ 42 w 53"/>
                  <a:gd name="T17" fmla="*/ 15 h 53"/>
                  <a:gd name="T18" fmla="*/ 42 w 53"/>
                  <a:gd name="T19" fmla="*/ 23 h 53"/>
                  <a:gd name="T20" fmla="*/ 26 w 53"/>
                  <a:gd name="T21" fmla="*/ 0 h 53"/>
                  <a:gd name="T22" fmla="*/ 0 w 53"/>
                  <a:gd name="T23" fmla="*/ 26 h 53"/>
                  <a:gd name="T24" fmla="*/ 26 w 53"/>
                  <a:gd name="T25" fmla="*/ 53 h 53"/>
                  <a:gd name="T26" fmla="*/ 53 w 53"/>
                  <a:gd name="T27" fmla="*/ 26 h 53"/>
                  <a:gd name="T28" fmla="*/ 26 w 53"/>
                  <a:gd name="T2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" h="53">
                    <a:moveTo>
                      <a:pt x="42" y="23"/>
                    </a:moveTo>
                    <a:cubicBezTo>
                      <a:pt x="26" y="38"/>
                      <a:pt x="26" y="38"/>
                      <a:pt x="26" y="38"/>
                    </a:cubicBezTo>
                    <a:cubicBezTo>
                      <a:pt x="24" y="40"/>
                      <a:pt x="21" y="40"/>
                      <a:pt x="19" y="38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9" y="28"/>
                      <a:pt x="9" y="25"/>
                      <a:pt x="11" y="23"/>
                    </a:cubicBezTo>
                    <a:cubicBezTo>
                      <a:pt x="13" y="20"/>
                      <a:pt x="17" y="20"/>
                      <a:pt x="19" y="23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6" y="13"/>
                      <a:pt x="40" y="13"/>
                      <a:pt x="42" y="15"/>
                    </a:cubicBezTo>
                    <a:cubicBezTo>
                      <a:pt x="44" y="17"/>
                      <a:pt x="44" y="20"/>
                      <a:pt x="42" y="23"/>
                    </a:cubicBezTo>
                    <a:close/>
                    <a:moveTo>
                      <a:pt x="26" y="0"/>
                    </a:moveTo>
                    <a:cubicBezTo>
                      <a:pt x="12" y="0"/>
                      <a:pt x="0" y="11"/>
                      <a:pt x="0" y="26"/>
                    </a:cubicBezTo>
                    <a:cubicBezTo>
                      <a:pt x="0" y="41"/>
                      <a:pt x="12" y="53"/>
                      <a:pt x="26" y="53"/>
                    </a:cubicBezTo>
                    <a:cubicBezTo>
                      <a:pt x="41" y="53"/>
                      <a:pt x="53" y="41"/>
                      <a:pt x="53" y="26"/>
                    </a:cubicBezTo>
                    <a:cubicBezTo>
                      <a:pt x="53" y="11"/>
                      <a:pt x="41" y="0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9" name="Freeform 45"/>
              <p:cNvSpPr/>
              <p:nvPr/>
            </p:nvSpPr>
            <p:spPr bwMode="auto">
              <a:xfrm>
                <a:off x="6780213" y="5662613"/>
                <a:ext cx="346075" cy="455612"/>
              </a:xfrm>
              <a:custGeom>
                <a:avLst/>
                <a:gdLst>
                  <a:gd name="T0" fmla="*/ 84 w 92"/>
                  <a:gd name="T1" fmla="*/ 95 h 122"/>
                  <a:gd name="T2" fmla="*/ 65 w 92"/>
                  <a:gd name="T3" fmla="*/ 95 h 122"/>
                  <a:gd name="T4" fmla="*/ 65 w 92"/>
                  <a:gd name="T5" fmla="*/ 114 h 122"/>
                  <a:gd name="T6" fmla="*/ 65 w 92"/>
                  <a:gd name="T7" fmla="*/ 114 h 122"/>
                  <a:gd name="T8" fmla="*/ 65 w 92"/>
                  <a:gd name="T9" fmla="*/ 114 h 122"/>
                  <a:gd name="T10" fmla="*/ 59 w 92"/>
                  <a:gd name="T11" fmla="*/ 114 h 122"/>
                  <a:gd name="T12" fmla="*/ 32 w 92"/>
                  <a:gd name="T13" fmla="*/ 114 h 122"/>
                  <a:gd name="T14" fmla="*/ 17 w 92"/>
                  <a:gd name="T15" fmla="*/ 114 h 122"/>
                  <a:gd name="T16" fmla="*/ 7 w 92"/>
                  <a:gd name="T17" fmla="*/ 105 h 122"/>
                  <a:gd name="T18" fmla="*/ 7 w 92"/>
                  <a:gd name="T19" fmla="*/ 17 h 122"/>
                  <a:gd name="T20" fmla="*/ 10 w 92"/>
                  <a:gd name="T21" fmla="*/ 10 h 122"/>
                  <a:gd name="T22" fmla="*/ 17 w 92"/>
                  <a:gd name="T23" fmla="*/ 7 h 122"/>
                  <a:gd name="T24" fmla="*/ 67 w 92"/>
                  <a:gd name="T25" fmla="*/ 7 h 122"/>
                  <a:gd name="T26" fmla="*/ 74 w 92"/>
                  <a:gd name="T27" fmla="*/ 0 h 122"/>
                  <a:gd name="T28" fmla="*/ 16 w 92"/>
                  <a:gd name="T29" fmla="*/ 0 h 122"/>
                  <a:gd name="T30" fmla="*/ 16 w 92"/>
                  <a:gd name="T31" fmla="*/ 0 h 122"/>
                  <a:gd name="T32" fmla="*/ 4 w 92"/>
                  <a:gd name="T33" fmla="*/ 4 h 122"/>
                  <a:gd name="T34" fmla="*/ 0 w 92"/>
                  <a:gd name="T35" fmla="*/ 16 h 122"/>
                  <a:gd name="T36" fmla="*/ 0 w 92"/>
                  <a:gd name="T37" fmla="*/ 106 h 122"/>
                  <a:gd name="T38" fmla="*/ 16 w 92"/>
                  <a:gd name="T39" fmla="*/ 122 h 122"/>
                  <a:gd name="T40" fmla="*/ 32 w 92"/>
                  <a:gd name="T41" fmla="*/ 122 h 122"/>
                  <a:gd name="T42" fmla="*/ 59 w 92"/>
                  <a:gd name="T43" fmla="*/ 122 h 122"/>
                  <a:gd name="T44" fmla="*/ 66 w 92"/>
                  <a:gd name="T45" fmla="*/ 122 h 122"/>
                  <a:gd name="T46" fmla="*/ 70 w 92"/>
                  <a:gd name="T47" fmla="*/ 120 h 122"/>
                  <a:gd name="T48" fmla="*/ 90 w 92"/>
                  <a:gd name="T49" fmla="*/ 101 h 122"/>
                  <a:gd name="T50" fmla="*/ 92 w 92"/>
                  <a:gd name="T51" fmla="*/ 96 h 122"/>
                  <a:gd name="T52" fmla="*/ 92 w 92"/>
                  <a:gd name="T53" fmla="*/ 96 h 122"/>
                  <a:gd name="T54" fmla="*/ 92 w 92"/>
                  <a:gd name="T55" fmla="*/ 96 h 122"/>
                  <a:gd name="T56" fmla="*/ 92 w 92"/>
                  <a:gd name="T57" fmla="*/ 61 h 122"/>
                  <a:gd name="T58" fmla="*/ 84 w 92"/>
                  <a:gd name="T59" fmla="*/ 59 h 122"/>
                  <a:gd name="T60" fmla="*/ 84 w 92"/>
                  <a:gd name="T61" fmla="*/ 95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2" h="122">
                    <a:moveTo>
                      <a:pt x="84" y="95"/>
                    </a:moveTo>
                    <a:cubicBezTo>
                      <a:pt x="65" y="95"/>
                      <a:pt x="65" y="95"/>
                      <a:pt x="65" y="95"/>
                    </a:cubicBezTo>
                    <a:cubicBezTo>
                      <a:pt x="65" y="114"/>
                      <a:pt x="65" y="114"/>
                      <a:pt x="65" y="114"/>
                    </a:cubicBezTo>
                    <a:cubicBezTo>
                      <a:pt x="65" y="114"/>
                      <a:pt x="65" y="114"/>
                      <a:pt x="65" y="114"/>
                    </a:cubicBezTo>
                    <a:cubicBezTo>
                      <a:pt x="65" y="114"/>
                      <a:pt x="65" y="114"/>
                      <a:pt x="65" y="114"/>
                    </a:cubicBezTo>
                    <a:cubicBezTo>
                      <a:pt x="59" y="114"/>
                      <a:pt x="59" y="114"/>
                      <a:pt x="59" y="114"/>
                    </a:cubicBezTo>
                    <a:cubicBezTo>
                      <a:pt x="32" y="114"/>
                      <a:pt x="32" y="114"/>
                      <a:pt x="32" y="114"/>
                    </a:cubicBezTo>
                    <a:cubicBezTo>
                      <a:pt x="17" y="114"/>
                      <a:pt x="17" y="114"/>
                      <a:pt x="17" y="114"/>
                    </a:cubicBezTo>
                    <a:cubicBezTo>
                      <a:pt x="12" y="114"/>
                      <a:pt x="7" y="110"/>
                      <a:pt x="7" y="105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4"/>
                      <a:pt x="8" y="12"/>
                      <a:pt x="10" y="10"/>
                    </a:cubicBezTo>
                    <a:cubicBezTo>
                      <a:pt x="12" y="8"/>
                      <a:pt x="14" y="7"/>
                      <a:pt x="17" y="7"/>
                    </a:cubicBezTo>
                    <a:cubicBezTo>
                      <a:pt x="67" y="7"/>
                      <a:pt x="67" y="7"/>
                      <a:pt x="67" y="7"/>
                    </a:cubicBezTo>
                    <a:cubicBezTo>
                      <a:pt x="69" y="4"/>
                      <a:pt x="71" y="2"/>
                      <a:pt x="74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1" y="0"/>
                      <a:pt x="7" y="1"/>
                      <a:pt x="4" y="4"/>
                    </a:cubicBezTo>
                    <a:cubicBezTo>
                      <a:pt x="2" y="7"/>
                      <a:pt x="0" y="11"/>
                      <a:pt x="0" y="16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5"/>
                      <a:pt x="7" y="122"/>
                      <a:pt x="16" y="122"/>
                    </a:cubicBezTo>
                    <a:cubicBezTo>
                      <a:pt x="32" y="122"/>
                      <a:pt x="32" y="122"/>
                      <a:pt x="32" y="122"/>
                    </a:cubicBezTo>
                    <a:cubicBezTo>
                      <a:pt x="59" y="122"/>
                      <a:pt x="59" y="122"/>
                      <a:pt x="59" y="122"/>
                    </a:cubicBezTo>
                    <a:cubicBezTo>
                      <a:pt x="66" y="122"/>
                      <a:pt x="66" y="122"/>
                      <a:pt x="66" y="122"/>
                    </a:cubicBezTo>
                    <a:cubicBezTo>
                      <a:pt x="68" y="122"/>
                      <a:pt x="69" y="121"/>
                      <a:pt x="70" y="120"/>
                    </a:cubicBezTo>
                    <a:cubicBezTo>
                      <a:pt x="90" y="101"/>
                      <a:pt x="90" y="101"/>
                      <a:pt x="90" y="101"/>
                    </a:cubicBezTo>
                    <a:cubicBezTo>
                      <a:pt x="91" y="100"/>
                      <a:pt x="91" y="98"/>
                      <a:pt x="92" y="96"/>
                    </a:cubicBezTo>
                    <a:cubicBezTo>
                      <a:pt x="92" y="96"/>
                      <a:pt x="92" y="96"/>
                      <a:pt x="92" y="96"/>
                    </a:cubicBezTo>
                    <a:cubicBezTo>
                      <a:pt x="92" y="96"/>
                      <a:pt x="92" y="96"/>
                      <a:pt x="92" y="96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89" y="60"/>
                      <a:pt x="86" y="60"/>
                      <a:pt x="84" y="59"/>
                    </a:cubicBezTo>
                    <a:lnTo>
                      <a:pt x="84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6835775" y="5756275"/>
                <a:ext cx="60325" cy="58737"/>
              </a:xfrm>
              <a:custGeom>
                <a:avLst/>
                <a:gdLst>
                  <a:gd name="T0" fmla="*/ 14 w 16"/>
                  <a:gd name="T1" fmla="*/ 0 h 16"/>
                  <a:gd name="T2" fmla="*/ 3 w 16"/>
                  <a:gd name="T3" fmla="*/ 0 h 16"/>
                  <a:gd name="T4" fmla="*/ 0 w 16"/>
                  <a:gd name="T5" fmla="*/ 3 h 16"/>
                  <a:gd name="T6" fmla="*/ 0 w 16"/>
                  <a:gd name="T7" fmla="*/ 13 h 16"/>
                  <a:gd name="T8" fmla="*/ 3 w 16"/>
                  <a:gd name="T9" fmla="*/ 16 h 16"/>
                  <a:gd name="T10" fmla="*/ 14 w 16"/>
                  <a:gd name="T11" fmla="*/ 16 h 16"/>
                  <a:gd name="T12" fmla="*/ 16 w 16"/>
                  <a:gd name="T13" fmla="*/ 13 h 16"/>
                  <a:gd name="T14" fmla="*/ 16 w 16"/>
                  <a:gd name="T15" fmla="*/ 3 h 16"/>
                  <a:gd name="T16" fmla="*/ 14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5"/>
                      <a:pt x="1" y="16"/>
                      <a:pt x="3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5" y="16"/>
                      <a:pt x="16" y="15"/>
                      <a:pt x="16" y="1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6835775" y="5861050"/>
                <a:ext cx="60325" cy="58737"/>
              </a:xfrm>
              <a:custGeom>
                <a:avLst/>
                <a:gdLst>
                  <a:gd name="T0" fmla="*/ 14 w 16"/>
                  <a:gd name="T1" fmla="*/ 0 h 16"/>
                  <a:gd name="T2" fmla="*/ 3 w 16"/>
                  <a:gd name="T3" fmla="*/ 0 h 16"/>
                  <a:gd name="T4" fmla="*/ 0 w 16"/>
                  <a:gd name="T5" fmla="*/ 2 h 16"/>
                  <a:gd name="T6" fmla="*/ 0 w 16"/>
                  <a:gd name="T7" fmla="*/ 13 h 16"/>
                  <a:gd name="T8" fmla="*/ 3 w 16"/>
                  <a:gd name="T9" fmla="*/ 16 h 16"/>
                  <a:gd name="T10" fmla="*/ 14 w 16"/>
                  <a:gd name="T11" fmla="*/ 16 h 16"/>
                  <a:gd name="T12" fmla="*/ 16 w 16"/>
                  <a:gd name="T13" fmla="*/ 13 h 16"/>
                  <a:gd name="T14" fmla="*/ 16 w 16"/>
                  <a:gd name="T15" fmla="*/ 2 h 16"/>
                  <a:gd name="T16" fmla="*/ 14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5"/>
                      <a:pt x="1" y="16"/>
                      <a:pt x="3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5" y="16"/>
                      <a:pt x="16" y="15"/>
                      <a:pt x="16" y="13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2" name="Freeform 48"/>
              <p:cNvSpPr/>
              <p:nvPr/>
            </p:nvSpPr>
            <p:spPr bwMode="auto">
              <a:xfrm>
                <a:off x="6835775" y="5961063"/>
                <a:ext cx="60325" cy="63500"/>
              </a:xfrm>
              <a:custGeom>
                <a:avLst/>
                <a:gdLst>
                  <a:gd name="T0" fmla="*/ 14 w 16"/>
                  <a:gd name="T1" fmla="*/ 0 h 17"/>
                  <a:gd name="T2" fmla="*/ 3 w 16"/>
                  <a:gd name="T3" fmla="*/ 0 h 17"/>
                  <a:gd name="T4" fmla="*/ 0 w 16"/>
                  <a:gd name="T5" fmla="*/ 3 h 17"/>
                  <a:gd name="T6" fmla="*/ 0 w 16"/>
                  <a:gd name="T7" fmla="*/ 14 h 17"/>
                  <a:gd name="T8" fmla="*/ 3 w 16"/>
                  <a:gd name="T9" fmla="*/ 17 h 17"/>
                  <a:gd name="T10" fmla="*/ 14 w 16"/>
                  <a:gd name="T11" fmla="*/ 17 h 17"/>
                  <a:gd name="T12" fmla="*/ 16 w 16"/>
                  <a:gd name="T13" fmla="*/ 14 h 17"/>
                  <a:gd name="T14" fmla="*/ 16 w 16"/>
                  <a:gd name="T15" fmla="*/ 3 h 17"/>
                  <a:gd name="T16" fmla="*/ 14 w 16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7">
                    <a:moveTo>
                      <a:pt x="1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7"/>
                      <a:pt x="3" y="17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5" y="17"/>
                      <a:pt x="16" y="15"/>
                      <a:pt x="16" y="14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2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3" name="Freeform 49"/>
              <p:cNvSpPr/>
              <p:nvPr/>
            </p:nvSpPr>
            <p:spPr bwMode="auto">
              <a:xfrm>
                <a:off x="6923088" y="5759450"/>
                <a:ext cx="90487" cy="30162"/>
              </a:xfrm>
              <a:custGeom>
                <a:avLst/>
                <a:gdLst>
                  <a:gd name="T0" fmla="*/ 23 w 24"/>
                  <a:gd name="T1" fmla="*/ 0 h 8"/>
                  <a:gd name="T2" fmla="*/ 4 w 24"/>
                  <a:gd name="T3" fmla="*/ 0 h 8"/>
                  <a:gd name="T4" fmla="*/ 0 w 24"/>
                  <a:gd name="T5" fmla="*/ 4 h 8"/>
                  <a:gd name="T6" fmla="*/ 4 w 24"/>
                  <a:gd name="T7" fmla="*/ 8 h 8"/>
                  <a:gd name="T8" fmla="*/ 24 w 24"/>
                  <a:gd name="T9" fmla="*/ 8 h 8"/>
                  <a:gd name="T10" fmla="*/ 23 w 24"/>
                  <a:gd name="T1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8">
                    <a:moveTo>
                      <a:pt x="23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3" y="5"/>
                      <a:pt x="23" y="3"/>
                      <a:pt x="2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6923088" y="5819775"/>
                <a:ext cx="120650" cy="25400"/>
              </a:xfrm>
              <a:custGeom>
                <a:avLst/>
                <a:gdLst>
                  <a:gd name="T0" fmla="*/ 4 w 32"/>
                  <a:gd name="T1" fmla="*/ 0 h 7"/>
                  <a:gd name="T2" fmla="*/ 0 w 32"/>
                  <a:gd name="T3" fmla="*/ 3 h 7"/>
                  <a:gd name="T4" fmla="*/ 4 w 32"/>
                  <a:gd name="T5" fmla="*/ 7 h 7"/>
                  <a:gd name="T6" fmla="*/ 32 w 32"/>
                  <a:gd name="T7" fmla="*/ 7 h 7"/>
                  <a:gd name="T8" fmla="*/ 27 w 32"/>
                  <a:gd name="T9" fmla="*/ 0 h 7"/>
                  <a:gd name="T10" fmla="*/ 4 w 32"/>
                  <a:gd name="T1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7">
                    <a:moveTo>
                      <a:pt x="4" y="0"/>
                    </a:moveTo>
                    <a:cubicBezTo>
                      <a:pt x="2" y="0"/>
                      <a:pt x="0" y="1"/>
                      <a:pt x="0" y="3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0" y="5"/>
                      <a:pt x="28" y="2"/>
                      <a:pt x="27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6923088" y="5875338"/>
                <a:ext cx="142875" cy="30162"/>
              </a:xfrm>
              <a:custGeom>
                <a:avLst/>
                <a:gdLst>
                  <a:gd name="T0" fmla="*/ 0 w 38"/>
                  <a:gd name="T1" fmla="*/ 4 h 8"/>
                  <a:gd name="T2" fmla="*/ 4 w 38"/>
                  <a:gd name="T3" fmla="*/ 8 h 8"/>
                  <a:gd name="T4" fmla="*/ 34 w 38"/>
                  <a:gd name="T5" fmla="*/ 8 h 8"/>
                  <a:gd name="T6" fmla="*/ 38 w 38"/>
                  <a:gd name="T7" fmla="*/ 4 h 8"/>
                  <a:gd name="T8" fmla="*/ 34 w 38"/>
                  <a:gd name="T9" fmla="*/ 0 h 8"/>
                  <a:gd name="T10" fmla="*/ 4 w 38"/>
                  <a:gd name="T11" fmla="*/ 0 h 8"/>
                  <a:gd name="T12" fmla="*/ 0 w 38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8">
                    <a:moveTo>
                      <a:pt x="0" y="4"/>
                    </a:moveTo>
                    <a:cubicBezTo>
                      <a:pt x="0" y="6"/>
                      <a:pt x="2" y="8"/>
                      <a:pt x="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7" y="8"/>
                      <a:pt x="38" y="6"/>
                      <a:pt x="38" y="4"/>
                    </a:cubicBezTo>
                    <a:cubicBezTo>
                      <a:pt x="38" y="2"/>
                      <a:pt x="37" y="0"/>
                      <a:pt x="3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6923088" y="5930900"/>
                <a:ext cx="142875" cy="30162"/>
              </a:xfrm>
              <a:custGeom>
                <a:avLst/>
                <a:gdLst>
                  <a:gd name="T0" fmla="*/ 34 w 38"/>
                  <a:gd name="T1" fmla="*/ 0 h 8"/>
                  <a:gd name="T2" fmla="*/ 4 w 38"/>
                  <a:gd name="T3" fmla="*/ 0 h 8"/>
                  <a:gd name="T4" fmla="*/ 0 w 38"/>
                  <a:gd name="T5" fmla="*/ 4 h 8"/>
                  <a:gd name="T6" fmla="*/ 4 w 38"/>
                  <a:gd name="T7" fmla="*/ 8 h 8"/>
                  <a:gd name="T8" fmla="*/ 34 w 38"/>
                  <a:gd name="T9" fmla="*/ 8 h 8"/>
                  <a:gd name="T10" fmla="*/ 38 w 38"/>
                  <a:gd name="T11" fmla="*/ 4 h 8"/>
                  <a:gd name="T12" fmla="*/ 34 w 38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8">
                    <a:moveTo>
                      <a:pt x="3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7" y="8"/>
                      <a:pt x="38" y="6"/>
                      <a:pt x="38" y="4"/>
                    </a:cubicBezTo>
                    <a:cubicBezTo>
                      <a:pt x="38" y="2"/>
                      <a:pt x="37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7" name="Freeform 53"/>
              <p:cNvSpPr/>
              <p:nvPr/>
            </p:nvSpPr>
            <p:spPr bwMode="auto">
              <a:xfrm>
                <a:off x="6923088" y="5991225"/>
                <a:ext cx="85725" cy="26987"/>
              </a:xfrm>
              <a:custGeom>
                <a:avLst/>
                <a:gdLst>
                  <a:gd name="T0" fmla="*/ 19 w 23"/>
                  <a:gd name="T1" fmla="*/ 0 h 7"/>
                  <a:gd name="T2" fmla="*/ 4 w 23"/>
                  <a:gd name="T3" fmla="*/ 0 h 7"/>
                  <a:gd name="T4" fmla="*/ 0 w 23"/>
                  <a:gd name="T5" fmla="*/ 3 h 7"/>
                  <a:gd name="T6" fmla="*/ 4 w 23"/>
                  <a:gd name="T7" fmla="*/ 7 h 7"/>
                  <a:gd name="T8" fmla="*/ 19 w 23"/>
                  <a:gd name="T9" fmla="*/ 7 h 7"/>
                  <a:gd name="T10" fmla="*/ 23 w 23"/>
                  <a:gd name="T11" fmla="*/ 3 h 7"/>
                  <a:gd name="T12" fmla="*/ 19 w 23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7">
                    <a:moveTo>
                      <a:pt x="19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6"/>
                      <a:pt x="2" y="7"/>
                      <a:pt x="4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21" y="7"/>
                      <a:pt x="23" y="6"/>
                      <a:pt x="23" y="3"/>
                    </a:cubicBezTo>
                    <a:cubicBezTo>
                      <a:pt x="23" y="1"/>
                      <a:pt x="21" y="0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48" name="Group 54"/>
            <p:cNvGrpSpPr/>
            <p:nvPr/>
          </p:nvGrpSpPr>
          <p:grpSpPr>
            <a:xfrm>
              <a:off x="3558981" y="2650995"/>
              <a:ext cx="486293" cy="416821"/>
              <a:chOff x="6238875" y="3305175"/>
              <a:chExt cx="511176" cy="438150"/>
            </a:xfrm>
            <a:solidFill>
              <a:schemeClr val="bg1"/>
            </a:solidFill>
          </p:grpSpPr>
          <p:sp>
            <p:nvSpPr>
              <p:cNvPr id="49" name="Freeform 55"/>
              <p:cNvSpPr>
                <a:spLocks noEditPoints="1"/>
              </p:cNvSpPr>
              <p:nvPr/>
            </p:nvSpPr>
            <p:spPr bwMode="auto">
              <a:xfrm>
                <a:off x="6367463" y="3305175"/>
                <a:ext cx="382588" cy="377825"/>
              </a:xfrm>
              <a:custGeom>
                <a:avLst/>
                <a:gdLst>
                  <a:gd name="T0" fmla="*/ 97 w 102"/>
                  <a:gd name="T1" fmla="*/ 97 h 101"/>
                  <a:gd name="T2" fmla="*/ 88 w 102"/>
                  <a:gd name="T3" fmla="*/ 101 h 101"/>
                  <a:gd name="T4" fmla="*/ 79 w 102"/>
                  <a:gd name="T5" fmla="*/ 97 h 101"/>
                  <a:gd name="T6" fmla="*/ 59 w 102"/>
                  <a:gd name="T7" fmla="*/ 77 h 101"/>
                  <a:gd name="T8" fmla="*/ 41 w 102"/>
                  <a:gd name="T9" fmla="*/ 82 h 101"/>
                  <a:gd name="T10" fmla="*/ 0 w 102"/>
                  <a:gd name="T11" fmla="*/ 41 h 101"/>
                  <a:gd name="T12" fmla="*/ 41 w 102"/>
                  <a:gd name="T13" fmla="*/ 0 h 101"/>
                  <a:gd name="T14" fmla="*/ 82 w 102"/>
                  <a:gd name="T15" fmla="*/ 41 h 101"/>
                  <a:gd name="T16" fmla="*/ 77 w 102"/>
                  <a:gd name="T17" fmla="*/ 59 h 101"/>
                  <a:gd name="T18" fmla="*/ 97 w 102"/>
                  <a:gd name="T19" fmla="*/ 79 h 101"/>
                  <a:gd name="T20" fmla="*/ 97 w 102"/>
                  <a:gd name="T21" fmla="*/ 97 h 101"/>
                  <a:gd name="T22" fmla="*/ 41 w 102"/>
                  <a:gd name="T23" fmla="*/ 63 h 101"/>
                  <a:gd name="T24" fmla="*/ 63 w 102"/>
                  <a:gd name="T25" fmla="*/ 41 h 101"/>
                  <a:gd name="T26" fmla="*/ 41 w 102"/>
                  <a:gd name="T27" fmla="*/ 19 h 101"/>
                  <a:gd name="T28" fmla="*/ 19 w 102"/>
                  <a:gd name="T29" fmla="*/ 41 h 101"/>
                  <a:gd name="T30" fmla="*/ 41 w 102"/>
                  <a:gd name="T31" fmla="*/ 6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101">
                    <a:moveTo>
                      <a:pt x="97" y="97"/>
                    </a:moveTo>
                    <a:cubicBezTo>
                      <a:pt x="94" y="99"/>
                      <a:pt x="91" y="101"/>
                      <a:pt x="88" y="101"/>
                    </a:cubicBezTo>
                    <a:cubicBezTo>
                      <a:pt x="85" y="101"/>
                      <a:pt x="81" y="99"/>
                      <a:pt x="79" y="97"/>
                    </a:cubicBezTo>
                    <a:cubicBezTo>
                      <a:pt x="59" y="77"/>
                      <a:pt x="59" y="77"/>
                      <a:pt x="59" y="77"/>
                    </a:cubicBezTo>
                    <a:cubicBezTo>
                      <a:pt x="54" y="80"/>
                      <a:pt x="47" y="82"/>
                      <a:pt x="41" y="82"/>
                    </a:cubicBezTo>
                    <a:cubicBezTo>
                      <a:pt x="18" y="82"/>
                      <a:pt x="0" y="63"/>
                      <a:pt x="0" y="41"/>
                    </a:cubicBezTo>
                    <a:cubicBezTo>
                      <a:pt x="0" y="18"/>
                      <a:pt x="18" y="0"/>
                      <a:pt x="41" y="0"/>
                    </a:cubicBezTo>
                    <a:cubicBezTo>
                      <a:pt x="63" y="0"/>
                      <a:pt x="82" y="18"/>
                      <a:pt x="82" y="41"/>
                    </a:cubicBezTo>
                    <a:cubicBezTo>
                      <a:pt x="82" y="47"/>
                      <a:pt x="80" y="54"/>
                      <a:pt x="77" y="59"/>
                    </a:cubicBezTo>
                    <a:cubicBezTo>
                      <a:pt x="97" y="79"/>
                      <a:pt x="97" y="79"/>
                      <a:pt x="97" y="79"/>
                    </a:cubicBezTo>
                    <a:cubicBezTo>
                      <a:pt x="102" y="84"/>
                      <a:pt x="102" y="92"/>
                      <a:pt x="97" y="97"/>
                    </a:cubicBezTo>
                    <a:close/>
                    <a:moveTo>
                      <a:pt x="41" y="63"/>
                    </a:moveTo>
                    <a:cubicBezTo>
                      <a:pt x="53" y="63"/>
                      <a:pt x="63" y="53"/>
                      <a:pt x="63" y="41"/>
                    </a:cubicBezTo>
                    <a:cubicBezTo>
                      <a:pt x="63" y="28"/>
                      <a:pt x="53" y="19"/>
                      <a:pt x="41" y="19"/>
                    </a:cubicBezTo>
                    <a:cubicBezTo>
                      <a:pt x="28" y="19"/>
                      <a:pt x="19" y="28"/>
                      <a:pt x="19" y="41"/>
                    </a:cubicBezTo>
                    <a:cubicBezTo>
                      <a:pt x="19" y="53"/>
                      <a:pt x="28" y="63"/>
                      <a:pt x="41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0" name="Freeform 56"/>
              <p:cNvSpPr>
                <a:spLocks noEditPoints="1"/>
              </p:cNvSpPr>
              <p:nvPr/>
            </p:nvSpPr>
            <p:spPr bwMode="auto">
              <a:xfrm>
                <a:off x="6238875" y="3473450"/>
                <a:ext cx="285750" cy="269875"/>
              </a:xfrm>
              <a:custGeom>
                <a:avLst/>
                <a:gdLst>
                  <a:gd name="T0" fmla="*/ 66 w 76"/>
                  <a:gd name="T1" fmla="*/ 44 h 72"/>
                  <a:gd name="T2" fmla="*/ 66 w 76"/>
                  <a:gd name="T3" fmla="*/ 46 h 72"/>
                  <a:gd name="T4" fmla="*/ 59 w 76"/>
                  <a:gd name="T5" fmla="*/ 53 h 72"/>
                  <a:gd name="T6" fmla="*/ 52 w 76"/>
                  <a:gd name="T7" fmla="*/ 46 h 72"/>
                  <a:gd name="T8" fmla="*/ 55 w 76"/>
                  <a:gd name="T9" fmla="*/ 41 h 72"/>
                  <a:gd name="T10" fmla="*/ 35 w 76"/>
                  <a:gd name="T11" fmla="*/ 25 h 72"/>
                  <a:gd name="T12" fmla="*/ 21 w 76"/>
                  <a:gd name="T13" fmla="*/ 25 h 72"/>
                  <a:gd name="T14" fmla="*/ 16 w 76"/>
                  <a:gd name="T15" fmla="*/ 25 h 72"/>
                  <a:gd name="T16" fmla="*/ 12 w 76"/>
                  <a:gd name="T17" fmla="*/ 21 h 72"/>
                  <a:gd name="T18" fmla="*/ 12 w 76"/>
                  <a:gd name="T19" fmla="*/ 16 h 72"/>
                  <a:gd name="T20" fmla="*/ 21 w 76"/>
                  <a:gd name="T21" fmla="*/ 6 h 72"/>
                  <a:gd name="T22" fmla="*/ 26 w 76"/>
                  <a:gd name="T23" fmla="*/ 6 h 72"/>
                  <a:gd name="T24" fmla="*/ 26 w 76"/>
                  <a:gd name="T25" fmla="*/ 0 h 72"/>
                  <a:gd name="T26" fmla="*/ 25 w 76"/>
                  <a:gd name="T27" fmla="*/ 0 h 72"/>
                  <a:gd name="T28" fmla="*/ 6 w 76"/>
                  <a:gd name="T29" fmla="*/ 15 h 72"/>
                  <a:gd name="T30" fmla="*/ 0 w 76"/>
                  <a:gd name="T31" fmla="*/ 21 h 72"/>
                  <a:gd name="T32" fmla="*/ 6 w 76"/>
                  <a:gd name="T33" fmla="*/ 27 h 72"/>
                  <a:gd name="T34" fmla="*/ 6 w 76"/>
                  <a:gd name="T35" fmla="*/ 27 h 72"/>
                  <a:gd name="T36" fmla="*/ 0 w 76"/>
                  <a:gd name="T37" fmla="*/ 37 h 72"/>
                  <a:gd name="T38" fmla="*/ 0 w 76"/>
                  <a:gd name="T39" fmla="*/ 48 h 72"/>
                  <a:gd name="T40" fmla="*/ 6 w 76"/>
                  <a:gd name="T41" fmla="*/ 60 h 72"/>
                  <a:gd name="T42" fmla="*/ 6 w 76"/>
                  <a:gd name="T43" fmla="*/ 64 h 72"/>
                  <a:gd name="T44" fmla="*/ 15 w 76"/>
                  <a:gd name="T45" fmla="*/ 72 h 72"/>
                  <a:gd name="T46" fmla="*/ 18 w 76"/>
                  <a:gd name="T47" fmla="*/ 72 h 72"/>
                  <a:gd name="T48" fmla="*/ 26 w 76"/>
                  <a:gd name="T49" fmla="*/ 64 h 72"/>
                  <a:gd name="T50" fmla="*/ 26 w 76"/>
                  <a:gd name="T51" fmla="*/ 64 h 72"/>
                  <a:gd name="T52" fmla="*/ 49 w 76"/>
                  <a:gd name="T53" fmla="*/ 64 h 72"/>
                  <a:gd name="T54" fmla="*/ 50 w 76"/>
                  <a:gd name="T55" fmla="*/ 64 h 72"/>
                  <a:gd name="T56" fmla="*/ 58 w 76"/>
                  <a:gd name="T57" fmla="*/ 72 h 72"/>
                  <a:gd name="T58" fmla="*/ 61 w 76"/>
                  <a:gd name="T59" fmla="*/ 72 h 72"/>
                  <a:gd name="T60" fmla="*/ 70 w 76"/>
                  <a:gd name="T61" fmla="*/ 64 h 72"/>
                  <a:gd name="T62" fmla="*/ 70 w 76"/>
                  <a:gd name="T63" fmla="*/ 60 h 72"/>
                  <a:gd name="T64" fmla="*/ 76 w 76"/>
                  <a:gd name="T65" fmla="*/ 48 h 72"/>
                  <a:gd name="T66" fmla="*/ 76 w 76"/>
                  <a:gd name="T67" fmla="*/ 45 h 72"/>
                  <a:gd name="T68" fmla="*/ 75 w 76"/>
                  <a:gd name="T69" fmla="*/ 45 h 72"/>
                  <a:gd name="T70" fmla="*/ 66 w 76"/>
                  <a:gd name="T71" fmla="*/ 44 h 72"/>
                  <a:gd name="T72" fmla="*/ 17 w 76"/>
                  <a:gd name="T73" fmla="*/ 53 h 72"/>
                  <a:gd name="T74" fmla="*/ 10 w 76"/>
                  <a:gd name="T75" fmla="*/ 46 h 72"/>
                  <a:gd name="T76" fmla="*/ 17 w 76"/>
                  <a:gd name="T77" fmla="*/ 39 h 72"/>
                  <a:gd name="T78" fmla="*/ 24 w 76"/>
                  <a:gd name="T79" fmla="*/ 46 h 72"/>
                  <a:gd name="T80" fmla="*/ 17 w 76"/>
                  <a:gd name="T81" fmla="*/ 5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6" h="72">
                    <a:moveTo>
                      <a:pt x="66" y="44"/>
                    </a:moveTo>
                    <a:cubicBezTo>
                      <a:pt x="66" y="45"/>
                      <a:pt x="66" y="46"/>
                      <a:pt x="66" y="46"/>
                    </a:cubicBezTo>
                    <a:cubicBezTo>
                      <a:pt x="66" y="50"/>
                      <a:pt x="63" y="53"/>
                      <a:pt x="59" y="53"/>
                    </a:cubicBezTo>
                    <a:cubicBezTo>
                      <a:pt x="55" y="53"/>
                      <a:pt x="52" y="50"/>
                      <a:pt x="52" y="46"/>
                    </a:cubicBezTo>
                    <a:cubicBezTo>
                      <a:pt x="52" y="44"/>
                      <a:pt x="53" y="42"/>
                      <a:pt x="55" y="41"/>
                    </a:cubicBezTo>
                    <a:cubicBezTo>
                      <a:pt x="47" y="37"/>
                      <a:pt x="40" y="32"/>
                      <a:pt x="35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4" y="25"/>
                      <a:pt x="12" y="23"/>
                      <a:pt x="12" y="21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0"/>
                      <a:pt x="16" y="6"/>
                      <a:pt x="21" y="6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4"/>
                      <a:pt x="26" y="2"/>
                      <a:pt x="26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4" y="0"/>
                      <a:pt x="6" y="7"/>
                      <a:pt x="6" y="15"/>
                    </a:cubicBezTo>
                    <a:cubicBezTo>
                      <a:pt x="3" y="15"/>
                      <a:pt x="0" y="18"/>
                      <a:pt x="0" y="21"/>
                    </a:cubicBezTo>
                    <a:cubicBezTo>
                      <a:pt x="0" y="24"/>
                      <a:pt x="3" y="27"/>
                      <a:pt x="6" y="27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2" y="30"/>
                      <a:pt x="0" y="33"/>
                      <a:pt x="0" y="3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3"/>
                      <a:pt x="2" y="58"/>
                      <a:pt x="6" y="60"/>
                    </a:cubicBezTo>
                    <a:cubicBezTo>
                      <a:pt x="6" y="63"/>
                      <a:pt x="6" y="63"/>
                      <a:pt x="6" y="64"/>
                    </a:cubicBezTo>
                    <a:cubicBezTo>
                      <a:pt x="6" y="68"/>
                      <a:pt x="10" y="72"/>
                      <a:pt x="15" y="72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22" y="72"/>
                      <a:pt x="26" y="68"/>
                      <a:pt x="26" y="64"/>
                    </a:cubicBezTo>
                    <a:cubicBezTo>
                      <a:pt x="26" y="63"/>
                      <a:pt x="26" y="65"/>
                      <a:pt x="26" y="64"/>
                    </a:cubicBezTo>
                    <a:cubicBezTo>
                      <a:pt x="49" y="64"/>
                      <a:pt x="49" y="64"/>
                      <a:pt x="49" y="64"/>
                    </a:cubicBezTo>
                    <a:cubicBezTo>
                      <a:pt x="50" y="65"/>
                      <a:pt x="50" y="63"/>
                      <a:pt x="50" y="64"/>
                    </a:cubicBezTo>
                    <a:cubicBezTo>
                      <a:pt x="50" y="68"/>
                      <a:pt x="53" y="72"/>
                      <a:pt x="58" y="72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6" y="72"/>
                      <a:pt x="70" y="68"/>
                      <a:pt x="70" y="64"/>
                    </a:cubicBezTo>
                    <a:cubicBezTo>
                      <a:pt x="70" y="63"/>
                      <a:pt x="70" y="63"/>
                      <a:pt x="70" y="60"/>
                    </a:cubicBezTo>
                    <a:cubicBezTo>
                      <a:pt x="73" y="58"/>
                      <a:pt x="76" y="53"/>
                      <a:pt x="76" y="48"/>
                    </a:cubicBezTo>
                    <a:cubicBezTo>
                      <a:pt x="76" y="45"/>
                      <a:pt x="76" y="45"/>
                      <a:pt x="76" y="45"/>
                    </a:cubicBezTo>
                    <a:cubicBezTo>
                      <a:pt x="75" y="45"/>
                      <a:pt x="75" y="45"/>
                      <a:pt x="75" y="45"/>
                    </a:cubicBezTo>
                    <a:cubicBezTo>
                      <a:pt x="72" y="45"/>
                      <a:pt x="69" y="45"/>
                      <a:pt x="66" y="44"/>
                    </a:cubicBezTo>
                    <a:close/>
                    <a:moveTo>
                      <a:pt x="17" y="53"/>
                    </a:moveTo>
                    <a:cubicBezTo>
                      <a:pt x="13" y="53"/>
                      <a:pt x="10" y="50"/>
                      <a:pt x="10" y="46"/>
                    </a:cubicBezTo>
                    <a:cubicBezTo>
                      <a:pt x="10" y="42"/>
                      <a:pt x="13" y="39"/>
                      <a:pt x="17" y="39"/>
                    </a:cubicBezTo>
                    <a:cubicBezTo>
                      <a:pt x="21" y="39"/>
                      <a:pt x="24" y="42"/>
                      <a:pt x="24" y="46"/>
                    </a:cubicBezTo>
                    <a:cubicBezTo>
                      <a:pt x="24" y="50"/>
                      <a:pt x="21" y="53"/>
                      <a:pt x="17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51" name="Group 57"/>
            <p:cNvGrpSpPr/>
            <p:nvPr/>
          </p:nvGrpSpPr>
          <p:grpSpPr>
            <a:xfrm>
              <a:off x="4006749" y="3373262"/>
              <a:ext cx="348328" cy="346023"/>
              <a:chOff x="4899025" y="2557463"/>
              <a:chExt cx="479425" cy="476251"/>
            </a:xfrm>
            <a:solidFill>
              <a:schemeClr val="bg1"/>
            </a:solidFill>
          </p:grpSpPr>
          <p:sp>
            <p:nvSpPr>
              <p:cNvPr id="52" name="Freeform 58"/>
              <p:cNvSpPr/>
              <p:nvPr/>
            </p:nvSpPr>
            <p:spPr bwMode="auto">
              <a:xfrm>
                <a:off x="4899025" y="2882901"/>
                <a:ext cx="149225" cy="150813"/>
              </a:xfrm>
              <a:custGeom>
                <a:avLst/>
                <a:gdLst>
                  <a:gd name="T0" fmla="*/ 19 w 40"/>
                  <a:gd name="T1" fmla="*/ 0 h 40"/>
                  <a:gd name="T2" fmla="*/ 0 w 40"/>
                  <a:gd name="T3" fmla="*/ 0 h 40"/>
                  <a:gd name="T4" fmla="*/ 40 w 40"/>
                  <a:gd name="T5" fmla="*/ 40 h 40"/>
                  <a:gd name="T6" fmla="*/ 40 w 40"/>
                  <a:gd name="T7" fmla="*/ 21 h 40"/>
                  <a:gd name="T8" fmla="*/ 19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1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10"/>
                      <a:pt x="31" y="0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3" name="Freeform 59"/>
              <p:cNvSpPr/>
              <p:nvPr/>
            </p:nvSpPr>
            <p:spPr bwMode="auto">
              <a:xfrm>
                <a:off x="5213350" y="2560638"/>
                <a:ext cx="161925" cy="161925"/>
              </a:xfrm>
              <a:custGeom>
                <a:avLst/>
                <a:gdLst>
                  <a:gd name="T0" fmla="*/ 3 w 43"/>
                  <a:gd name="T1" fmla="*/ 40 h 43"/>
                  <a:gd name="T2" fmla="*/ 16 w 43"/>
                  <a:gd name="T3" fmla="*/ 39 h 43"/>
                  <a:gd name="T4" fmla="*/ 43 w 43"/>
                  <a:gd name="T5" fmla="*/ 12 h 43"/>
                  <a:gd name="T6" fmla="*/ 30 w 43"/>
                  <a:gd name="T7" fmla="*/ 0 h 43"/>
                  <a:gd name="T8" fmla="*/ 4 w 43"/>
                  <a:gd name="T9" fmla="*/ 26 h 43"/>
                  <a:gd name="T10" fmla="*/ 3 w 43"/>
                  <a:gd name="T11" fmla="*/ 4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43">
                    <a:moveTo>
                      <a:pt x="3" y="40"/>
                    </a:moveTo>
                    <a:cubicBezTo>
                      <a:pt x="6" y="43"/>
                      <a:pt x="12" y="43"/>
                      <a:pt x="16" y="39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0" y="7"/>
                      <a:pt x="36" y="2"/>
                      <a:pt x="30" y="0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0" y="30"/>
                      <a:pt x="0" y="36"/>
                      <a:pt x="3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4" name="Freeform 60"/>
              <p:cNvSpPr>
                <a:spLocks noEditPoints="1"/>
              </p:cNvSpPr>
              <p:nvPr/>
            </p:nvSpPr>
            <p:spPr bwMode="auto">
              <a:xfrm>
                <a:off x="4899025" y="2557463"/>
                <a:ext cx="479425" cy="476250"/>
              </a:xfrm>
              <a:custGeom>
                <a:avLst/>
                <a:gdLst>
                  <a:gd name="T0" fmla="*/ 105 w 128"/>
                  <a:gd name="T1" fmla="*/ 44 h 127"/>
                  <a:gd name="T2" fmla="*/ 105 w 128"/>
                  <a:gd name="T3" fmla="*/ 58 h 127"/>
                  <a:gd name="T4" fmla="*/ 92 w 128"/>
                  <a:gd name="T5" fmla="*/ 57 h 127"/>
                  <a:gd name="T6" fmla="*/ 71 w 128"/>
                  <a:gd name="T7" fmla="*/ 35 h 127"/>
                  <a:gd name="T8" fmla="*/ 69 w 128"/>
                  <a:gd name="T9" fmla="*/ 23 h 127"/>
                  <a:gd name="T10" fmla="*/ 83 w 128"/>
                  <a:gd name="T11" fmla="*/ 23 h 127"/>
                  <a:gd name="T12" fmla="*/ 106 w 128"/>
                  <a:gd name="T13" fmla="*/ 0 h 127"/>
                  <a:gd name="T14" fmla="*/ 21 w 128"/>
                  <a:gd name="T15" fmla="*/ 0 h 127"/>
                  <a:gd name="T16" fmla="*/ 0 w 128"/>
                  <a:gd name="T17" fmla="*/ 21 h 127"/>
                  <a:gd name="T18" fmla="*/ 0 w 128"/>
                  <a:gd name="T19" fmla="*/ 79 h 127"/>
                  <a:gd name="T20" fmla="*/ 19 w 128"/>
                  <a:gd name="T21" fmla="*/ 79 h 127"/>
                  <a:gd name="T22" fmla="*/ 48 w 128"/>
                  <a:gd name="T23" fmla="*/ 108 h 127"/>
                  <a:gd name="T24" fmla="*/ 48 w 128"/>
                  <a:gd name="T25" fmla="*/ 127 h 127"/>
                  <a:gd name="T26" fmla="*/ 107 w 128"/>
                  <a:gd name="T27" fmla="*/ 127 h 127"/>
                  <a:gd name="T28" fmla="*/ 128 w 128"/>
                  <a:gd name="T29" fmla="*/ 106 h 127"/>
                  <a:gd name="T30" fmla="*/ 128 w 128"/>
                  <a:gd name="T31" fmla="*/ 21 h 127"/>
                  <a:gd name="T32" fmla="*/ 105 w 128"/>
                  <a:gd name="T33" fmla="*/ 44 h 127"/>
                  <a:gd name="T34" fmla="*/ 86 w 128"/>
                  <a:gd name="T35" fmla="*/ 63 h 127"/>
                  <a:gd name="T36" fmla="*/ 69 w 128"/>
                  <a:gd name="T37" fmla="*/ 63 h 127"/>
                  <a:gd name="T38" fmla="*/ 65 w 128"/>
                  <a:gd name="T39" fmla="*/ 59 h 127"/>
                  <a:gd name="T40" fmla="*/ 65 w 128"/>
                  <a:gd name="T41" fmla="*/ 42 h 127"/>
                  <a:gd name="T42" fmla="*/ 68 w 128"/>
                  <a:gd name="T43" fmla="*/ 40 h 127"/>
                  <a:gd name="T44" fmla="*/ 87 w 128"/>
                  <a:gd name="T45" fmla="*/ 60 h 127"/>
                  <a:gd name="T46" fmla="*/ 86 w 128"/>
                  <a:gd name="T47" fmla="*/ 6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8" h="127">
                    <a:moveTo>
                      <a:pt x="105" y="44"/>
                    </a:moveTo>
                    <a:cubicBezTo>
                      <a:pt x="101" y="48"/>
                      <a:pt x="101" y="54"/>
                      <a:pt x="105" y="58"/>
                    </a:cubicBezTo>
                    <a:cubicBezTo>
                      <a:pt x="101" y="61"/>
                      <a:pt x="96" y="60"/>
                      <a:pt x="92" y="57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67" y="32"/>
                      <a:pt x="67" y="27"/>
                      <a:pt x="69" y="23"/>
                    </a:cubicBezTo>
                    <a:cubicBezTo>
                      <a:pt x="73" y="27"/>
                      <a:pt x="79" y="27"/>
                      <a:pt x="83" y="23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35" y="79"/>
                      <a:pt x="48" y="92"/>
                      <a:pt x="48" y="108"/>
                    </a:cubicBezTo>
                    <a:cubicBezTo>
                      <a:pt x="48" y="127"/>
                      <a:pt x="48" y="127"/>
                      <a:pt x="48" y="127"/>
                    </a:cubicBezTo>
                    <a:cubicBezTo>
                      <a:pt x="107" y="127"/>
                      <a:pt x="107" y="127"/>
                      <a:pt x="107" y="127"/>
                    </a:cubicBezTo>
                    <a:cubicBezTo>
                      <a:pt x="119" y="127"/>
                      <a:pt x="128" y="118"/>
                      <a:pt x="128" y="106"/>
                    </a:cubicBezTo>
                    <a:cubicBezTo>
                      <a:pt x="128" y="21"/>
                      <a:pt x="128" y="21"/>
                      <a:pt x="128" y="21"/>
                    </a:cubicBezTo>
                    <a:lnTo>
                      <a:pt x="105" y="44"/>
                    </a:lnTo>
                    <a:close/>
                    <a:moveTo>
                      <a:pt x="86" y="63"/>
                    </a:moveTo>
                    <a:cubicBezTo>
                      <a:pt x="69" y="63"/>
                      <a:pt x="69" y="63"/>
                      <a:pt x="69" y="63"/>
                    </a:cubicBezTo>
                    <a:cubicBezTo>
                      <a:pt x="66" y="63"/>
                      <a:pt x="65" y="61"/>
                      <a:pt x="65" y="59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5" y="39"/>
                      <a:pt x="66" y="39"/>
                      <a:pt x="68" y="40"/>
                    </a:cubicBezTo>
                    <a:cubicBezTo>
                      <a:pt x="87" y="60"/>
                      <a:pt x="87" y="60"/>
                      <a:pt x="87" y="60"/>
                    </a:cubicBezTo>
                    <a:cubicBezTo>
                      <a:pt x="89" y="62"/>
                      <a:pt x="88" y="63"/>
                      <a:pt x="86" y="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55" name="Group 61"/>
            <p:cNvGrpSpPr/>
            <p:nvPr/>
          </p:nvGrpSpPr>
          <p:grpSpPr>
            <a:xfrm>
              <a:off x="4754001" y="3336351"/>
              <a:ext cx="423755" cy="382933"/>
              <a:chOff x="8296275" y="3235325"/>
              <a:chExt cx="477838" cy="431800"/>
            </a:xfrm>
            <a:solidFill>
              <a:schemeClr val="bg1"/>
            </a:solidFill>
          </p:grpSpPr>
          <p:sp>
            <p:nvSpPr>
              <p:cNvPr id="56" name="Freeform 62"/>
              <p:cNvSpPr>
                <a:spLocks noEditPoints="1"/>
              </p:cNvSpPr>
              <p:nvPr/>
            </p:nvSpPr>
            <p:spPr bwMode="auto">
              <a:xfrm>
                <a:off x="8296275" y="3606800"/>
                <a:ext cx="477838" cy="60325"/>
              </a:xfrm>
              <a:custGeom>
                <a:avLst/>
                <a:gdLst>
                  <a:gd name="T0" fmla="*/ 127 w 127"/>
                  <a:gd name="T1" fmla="*/ 8 h 16"/>
                  <a:gd name="T2" fmla="*/ 119 w 127"/>
                  <a:gd name="T3" fmla="*/ 16 h 16"/>
                  <a:gd name="T4" fmla="*/ 8 w 127"/>
                  <a:gd name="T5" fmla="*/ 16 h 16"/>
                  <a:gd name="T6" fmla="*/ 0 w 127"/>
                  <a:gd name="T7" fmla="*/ 8 h 16"/>
                  <a:gd name="T8" fmla="*/ 0 w 127"/>
                  <a:gd name="T9" fmla="*/ 8 h 16"/>
                  <a:gd name="T10" fmla="*/ 8 w 127"/>
                  <a:gd name="T11" fmla="*/ 0 h 16"/>
                  <a:gd name="T12" fmla="*/ 119 w 127"/>
                  <a:gd name="T13" fmla="*/ 0 h 16"/>
                  <a:gd name="T14" fmla="*/ 127 w 127"/>
                  <a:gd name="T15" fmla="*/ 8 h 16"/>
                  <a:gd name="T16" fmla="*/ 79 w 127"/>
                  <a:gd name="T17" fmla="*/ 8 h 16"/>
                  <a:gd name="T18" fmla="*/ 75 w 127"/>
                  <a:gd name="T19" fmla="*/ 4 h 16"/>
                  <a:gd name="T20" fmla="*/ 52 w 127"/>
                  <a:gd name="T21" fmla="*/ 4 h 16"/>
                  <a:gd name="T22" fmla="*/ 48 w 127"/>
                  <a:gd name="T23" fmla="*/ 8 h 16"/>
                  <a:gd name="T24" fmla="*/ 48 w 127"/>
                  <a:gd name="T25" fmla="*/ 8 h 16"/>
                  <a:gd name="T26" fmla="*/ 52 w 127"/>
                  <a:gd name="T27" fmla="*/ 12 h 16"/>
                  <a:gd name="T28" fmla="*/ 75 w 127"/>
                  <a:gd name="T29" fmla="*/ 12 h 16"/>
                  <a:gd name="T30" fmla="*/ 79 w 127"/>
                  <a:gd name="T31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7" h="16">
                    <a:moveTo>
                      <a:pt x="127" y="8"/>
                    </a:moveTo>
                    <a:cubicBezTo>
                      <a:pt x="127" y="12"/>
                      <a:pt x="123" y="16"/>
                      <a:pt x="119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2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3" y="0"/>
                      <a:pt x="127" y="3"/>
                      <a:pt x="127" y="8"/>
                    </a:cubicBezTo>
                    <a:close/>
                    <a:moveTo>
                      <a:pt x="79" y="8"/>
                    </a:moveTo>
                    <a:cubicBezTo>
                      <a:pt x="79" y="6"/>
                      <a:pt x="78" y="4"/>
                      <a:pt x="75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49" y="4"/>
                      <a:pt x="48" y="6"/>
                      <a:pt x="48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10"/>
                      <a:pt x="49" y="12"/>
                      <a:pt x="52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8" y="12"/>
                      <a:pt x="79" y="10"/>
                      <a:pt x="7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7" name="Freeform 63"/>
              <p:cNvSpPr>
                <a:spLocks noEditPoints="1"/>
              </p:cNvSpPr>
              <p:nvPr/>
            </p:nvSpPr>
            <p:spPr bwMode="auto">
              <a:xfrm>
                <a:off x="8304213" y="3235325"/>
                <a:ext cx="461963" cy="338138"/>
              </a:xfrm>
              <a:custGeom>
                <a:avLst/>
                <a:gdLst>
                  <a:gd name="T0" fmla="*/ 97 w 123"/>
                  <a:gd name="T1" fmla="*/ 90 h 90"/>
                  <a:gd name="T2" fmla="*/ 26 w 123"/>
                  <a:gd name="T3" fmla="*/ 90 h 90"/>
                  <a:gd name="T4" fmla="*/ 0 w 123"/>
                  <a:gd name="T5" fmla="*/ 64 h 90"/>
                  <a:gd name="T6" fmla="*/ 0 w 123"/>
                  <a:gd name="T7" fmla="*/ 26 h 90"/>
                  <a:gd name="T8" fmla="*/ 26 w 123"/>
                  <a:gd name="T9" fmla="*/ 0 h 90"/>
                  <a:gd name="T10" fmla="*/ 97 w 123"/>
                  <a:gd name="T11" fmla="*/ 0 h 90"/>
                  <a:gd name="T12" fmla="*/ 123 w 123"/>
                  <a:gd name="T13" fmla="*/ 26 h 90"/>
                  <a:gd name="T14" fmla="*/ 123 w 123"/>
                  <a:gd name="T15" fmla="*/ 64 h 90"/>
                  <a:gd name="T16" fmla="*/ 97 w 123"/>
                  <a:gd name="T17" fmla="*/ 90 h 90"/>
                  <a:gd name="T18" fmla="*/ 26 w 123"/>
                  <a:gd name="T19" fmla="*/ 10 h 90"/>
                  <a:gd name="T20" fmla="*/ 10 w 123"/>
                  <a:gd name="T21" fmla="*/ 26 h 90"/>
                  <a:gd name="T22" fmla="*/ 10 w 123"/>
                  <a:gd name="T23" fmla="*/ 64 h 90"/>
                  <a:gd name="T24" fmla="*/ 26 w 123"/>
                  <a:gd name="T25" fmla="*/ 80 h 90"/>
                  <a:gd name="T26" fmla="*/ 97 w 123"/>
                  <a:gd name="T27" fmla="*/ 80 h 90"/>
                  <a:gd name="T28" fmla="*/ 113 w 123"/>
                  <a:gd name="T29" fmla="*/ 64 h 90"/>
                  <a:gd name="T30" fmla="*/ 113 w 123"/>
                  <a:gd name="T31" fmla="*/ 26 h 90"/>
                  <a:gd name="T32" fmla="*/ 97 w 123"/>
                  <a:gd name="T33" fmla="*/ 10 h 90"/>
                  <a:gd name="T34" fmla="*/ 26 w 123"/>
                  <a:gd name="T35" fmla="*/ 1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3" h="90">
                    <a:moveTo>
                      <a:pt x="97" y="90"/>
                    </a:moveTo>
                    <a:cubicBezTo>
                      <a:pt x="26" y="90"/>
                      <a:pt x="26" y="90"/>
                      <a:pt x="26" y="90"/>
                    </a:cubicBezTo>
                    <a:cubicBezTo>
                      <a:pt x="12" y="90"/>
                      <a:pt x="0" y="79"/>
                      <a:pt x="0" y="64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111" y="0"/>
                      <a:pt x="123" y="11"/>
                      <a:pt x="123" y="26"/>
                    </a:cubicBezTo>
                    <a:cubicBezTo>
                      <a:pt x="123" y="64"/>
                      <a:pt x="123" y="64"/>
                      <a:pt x="123" y="64"/>
                    </a:cubicBezTo>
                    <a:cubicBezTo>
                      <a:pt x="123" y="79"/>
                      <a:pt x="111" y="90"/>
                      <a:pt x="97" y="90"/>
                    </a:cubicBezTo>
                    <a:close/>
                    <a:moveTo>
                      <a:pt x="26" y="10"/>
                    </a:moveTo>
                    <a:cubicBezTo>
                      <a:pt x="17" y="10"/>
                      <a:pt x="10" y="17"/>
                      <a:pt x="10" y="26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73"/>
                      <a:pt x="17" y="80"/>
                      <a:pt x="26" y="80"/>
                    </a:cubicBezTo>
                    <a:cubicBezTo>
                      <a:pt x="97" y="80"/>
                      <a:pt x="97" y="80"/>
                      <a:pt x="97" y="80"/>
                    </a:cubicBezTo>
                    <a:cubicBezTo>
                      <a:pt x="106" y="80"/>
                      <a:pt x="113" y="73"/>
                      <a:pt x="113" y="64"/>
                    </a:cubicBezTo>
                    <a:cubicBezTo>
                      <a:pt x="113" y="26"/>
                      <a:pt x="113" y="26"/>
                      <a:pt x="113" y="26"/>
                    </a:cubicBezTo>
                    <a:cubicBezTo>
                      <a:pt x="113" y="17"/>
                      <a:pt x="106" y="10"/>
                      <a:pt x="97" y="10"/>
                    </a:cubicBezTo>
                    <a:lnTo>
                      <a:pt x="26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8" name="Freeform 64"/>
              <p:cNvSpPr>
                <a:spLocks noEditPoints="1"/>
              </p:cNvSpPr>
              <p:nvPr/>
            </p:nvSpPr>
            <p:spPr bwMode="auto">
              <a:xfrm>
                <a:off x="8447088" y="3309938"/>
                <a:ext cx="176213" cy="187325"/>
              </a:xfrm>
              <a:custGeom>
                <a:avLst/>
                <a:gdLst>
                  <a:gd name="T0" fmla="*/ 33 w 47"/>
                  <a:gd name="T1" fmla="*/ 34 h 50"/>
                  <a:gd name="T2" fmla="*/ 46 w 47"/>
                  <a:gd name="T3" fmla="*/ 36 h 50"/>
                  <a:gd name="T4" fmla="*/ 38 w 47"/>
                  <a:gd name="T5" fmla="*/ 47 h 50"/>
                  <a:gd name="T6" fmla="*/ 24 w 47"/>
                  <a:gd name="T7" fmla="*/ 50 h 50"/>
                  <a:gd name="T8" fmla="*/ 5 w 47"/>
                  <a:gd name="T9" fmla="*/ 42 h 50"/>
                  <a:gd name="T10" fmla="*/ 0 w 47"/>
                  <a:gd name="T11" fmla="*/ 25 h 50"/>
                  <a:gd name="T12" fmla="*/ 7 w 47"/>
                  <a:gd name="T13" fmla="*/ 7 h 50"/>
                  <a:gd name="T14" fmla="*/ 23 w 47"/>
                  <a:gd name="T15" fmla="*/ 0 h 50"/>
                  <a:gd name="T16" fmla="*/ 41 w 47"/>
                  <a:gd name="T17" fmla="*/ 7 h 50"/>
                  <a:gd name="T18" fmla="*/ 47 w 47"/>
                  <a:gd name="T19" fmla="*/ 29 h 50"/>
                  <a:gd name="T20" fmla="*/ 14 w 47"/>
                  <a:gd name="T21" fmla="*/ 29 h 50"/>
                  <a:gd name="T22" fmla="*/ 17 w 47"/>
                  <a:gd name="T23" fmla="*/ 38 h 50"/>
                  <a:gd name="T24" fmla="*/ 24 w 47"/>
                  <a:gd name="T25" fmla="*/ 41 h 50"/>
                  <a:gd name="T26" fmla="*/ 30 w 47"/>
                  <a:gd name="T27" fmla="*/ 39 h 50"/>
                  <a:gd name="T28" fmla="*/ 33 w 47"/>
                  <a:gd name="T29" fmla="*/ 34 h 50"/>
                  <a:gd name="T30" fmla="*/ 34 w 47"/>
                  <a:gd name="T31" fmla="*/ 21 h 50"/>
                  <a:gd name="T32" fmla="*/ 31 w 47"/>
                  <a:gd name="T33" fmla="*/ 12 h 50"/>
                  <a:gd name="T34" fmla="*/ 24 w 47"/>
                  <a:gd name="T35" fmla="*/ 10 h 50"/>
                  <a:gd name="T36" fmla="*/ 17 w 47"/>
                  <a:gd name="T37" fmla="*/ 13 h 50"/>
                  <a:gd name="T38" fmla="*/ 14 w 47"/>
                  <a:gd name="T39" fmla="*/ 21 h 50"/>
                  <a:gd name="T40" fmla="*/ 34 w 47"/>
                  <a:gd name="T41" fmla="*/ 2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7" h="50">
                    <a:moveTo>
                      <a:pt x="33" y="34"/>
                    </a:moveTo>
                    <a:cubicBezTo>
                      <a:pt x="46" y="36"/>
                      <a:pt x="46" y="36"/>
                      <a:pt x="46" y="36"/>
                    </a:cubicBezTo>
                    <a:cubicBezTo>
                      <a:pt x="44" y="41"/>
                      <a:pt x="42" y="44"/>
                      <a:pt x="38" y="47"/>
                    </a:cubicBezTo>
                    <a:cubicBezTo>
                      <a:pt x="34" y="49"/>
                      <a:pt x="30" y="50"/>
                      <a:pt x="24" y="50"/>
                    </a:cubicBezTo>
                    <a:cubicBezTo>
                      <a:pt x="16" y="50"/>
                      <a:pt x="9" y="48"/>
                      <a:pt x="5" y="42"/>
                    </a:cubicBezTo>
                    <a:cubicBezTo>
                      <a:pt x="2" y="38"/>
                      <a:pt x="0" y="32"/>
                      <a:pt x="0" y="25"/>
                    </a:cubicBezTo>
                    <a:cubicBezTo>
                      <a:pt x="0" y="17"/>
                      <a:pt x="2" y="11"/>
                      <a:pt x="7" y="7"/>
                    </a:cubicBezTo>
                    <a:cubicBezTo>
                      <a:pt x="11" y="2"/>
                      <a:pt x="16" y="0"/>
                      <a:pt x="23" y="0"/>
                    </a:cubicBezTo>
                    <a:cubicBezTo>
                      <a:pt x="30" y="0"/>
                      <a:pt x="36" y="2"/>
                      <a:pt x="41" y="7"/>
                    </a:cubicBezTo>
                    <a:cubicBezTo>
                      <a:pt x="45" y="12"/>
                      <a:pt x="47" y="19"/>
                      <a:pt x="47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33"/>
                      <a:pt x="15" y="35"/>
                      <a:pt x="17" y="38"/>
                    </a:cubicBezTo>
                    <a:cubicBezTo>
                      <a:pt x="19" y="40"/>
                      <a:pt x="21" y="41"/>
                      <a:pt x="24" y="41"/>
                    </a:cubicBezTo>
                    <a:cubicBezTo>
                      <a:pt x="27" y="41"/>
                      <a:pt x="28" y="40"/>
                      <a:pt x="30" y="39"/>
                    </a:cubicBezTo>
                    <a:cubicBezTo>
                      <a:pt x="31" y="38"/>
                      <a:pt x="32" y="36"/>
                      <a:pt x="33" y="34"/>
                    </a:cubicBezTo>
                    <a:close/>
                    <a:moveTo>
                      <a:pt x="34" y="21"/>
                    </a:moveTo>
                    <a:cubicBezTo>
                      <a:pt x="34" y="17"/>
                      <a:pt x="33" y="14"/>
                      <a:pt x="31" y="12"/>
                    </a:cubicBezTo>
                    <a:cubicBezTo>
                      <a:pt x="29" y="11"/>
                      <a:pt x="27" y="10"/>
                      <a:pt x="24" y="10"/>
                    </a:cubicBezTo>
                    <a:cubicBezTo>
                      <a:pt x="21" y="10"/>
                      <a:pt x="19" y="11"/>
                      <a:pt x="17" y="13"/>
                    </a:cubicBezTo>
                    <a:cubicBezTo>
                      <a:pt x="15" y="15"/>
                      <a:pt x="14" y="17"/>
                      <a:pt x="14" y="21"/>
                    </a:cubicBezTo>
                    <a:lnTo>
                      <a:pt x="34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59" name="Group 65"/>
            <p:cNvGrpSpPr/>
            <p:nvPr/>
          </p:nvGrpSpPr>
          <p:grpSpPr>
            <a:xfrm>
              <a:off x="5181600" y="2620391"/>
              <a:ext cx="435880" cy="432744"/>
              <a:chOff x="7454900" y="1990725"/>
              <a:chExt cx="441325" cy="438150"/>
            </a:xfrm>
            <a:solidFill>
              <a:schemeClr val="bg1"/>
            </a:solidFill>
          </p:grpSpPr>
          <p:sp>
            <p:nvSpPr>
              <p:cNvPr id="60" name="Freeform 66"/>
              <p:cNvSpPr>
                <a:spLocks noEditPoints="1"/>
              </p:cNvSpPr>
              <p:nvPr/>
            </p:nvSpPr>
            <p:spPr bwMode="auto">
              <a:xfrm>
                <a:off x="7620000" y="2162175"/>
                <a:ext cx="276225" cy="266700"/>
              </a:xfrm>
              <a:custGeom>
                <a:avLst/>
                <a:gdLst>
                  <a:gd name="T0" fmla="*/ 68 w 74"/>
                  <a:gd name="T1" fmla="*/ 27 h 71"/>
                  <a:gd name="T2" fmla="*/ 68 w 74"/>
                  <a:gd name="T3" fmla="*/ 27 h 71"/>
                  <a:gd name="T4" fmla="*/ 74 w 74"/>
                  <a:gd name="T5" fmla="*/ 21 h 71"/>
                  <a:gd name="T6" fmla="*/ 68 w 74"/>
                  <a:gd name="T7" fmla="*/ 15 h 71"/>
                  <a:gd name="T8" fmla="*/ 50 w 74"/>
                  <a:gd name="T9" fmla="*/ 0 h 71"/>
                  <a:gd name="T10" fmla="*/ 24 w 74"/>
                  <a:gd name="T11" fmla="*/ 0 h 71"/>
                  <a:gd name="T12" fmla="*/ 6 w 74"/>
                  <a:gd name="T13" fmla="*/ 15 h 71"/>
                  <a:gd name="T14" fmla="*/ 0 w 74"/>
                  <a:gd name="T15" fmla="*/ 21 h 71"/>
                  <a:gd name="T16" fmla="*/ 6 w 74"/>
                  <a:gd name="T17" fmla="*/ 27 h 71"/>
                  <a:gd name="T18" fmla="*/ 6 w 74"/>
                  <a:gd name="T19" fmla="*/ 27 h 71"/>
                  <a:gd name="T20" fmla="*/ 0 w 74"/>
                  <a:gd name="T21" fmla="*/ 36 h 71"/>
                  <a:gd name="T22" fmla="*/ 0 w 74"/>
                  <a:gd name="T23" fmla="*/ 48 h 71"/>
                  <a:gd name="T24" fmla="*/ 6 w 74"/>
                  <a:gd name="T25" fmla="*/ 60 h 71"/>
                  <a:gd name="T26" fmla="*/ 6 w 74"/>
                  <a:gd name="T27" fmla="*/ 63 h 71"/>
                  <a:gd name="T28" fmla="*/ 14 w 74"/>
                  <a:gd name="T29" fmla="*/ 71 h 71"/>
                  <a:gd name="T30" fmla="*/ 17 w 74"/>
                  <a:gd name="T31" fmla="*/ 71 h 71"/>
                  <a:gd name="T32" fmla="*/ 26 w 74"/>
                  <a:gd name="T33" fmla="*/ 63 h 71"/>
                  <a:gd name="T34" fmla="*/ 26 w 74"/>
                  <a:gd name="T35" fmla="*/ 63 h 71"/>
                  <a:gd name="T36" fmla="*/ 48 w 74"/>
                  <a:gd name="T37" fmla="*/ 63 h 71"/>
                  <a:gd name="T38" fmla="*/ 48 w 74"/>
                  <a:gd name="T39" fmla="*/ 63 h 71"/>
                  <a:gd name="T40" fmla="*/ 57 w 74"/>
                  <a:gd name="T41" fmla="*/ 71 h 71"/>
                  <a:gd name="T42" fmla="*/ 60 w 74"/>
                  <a:gd name="T43" fmla="*/ 71 h 71"/>
                  <a:gd name="T44" fmla="*/ 68 w 74"/>
                  <a:gd name="T45" fmla="*/ 63 h 71"/>
                  <a:gd name="T46" fmla="*/ 68 w 74"/>
                  <a:gd name="T47" fmla="*/ 60 h 71"/>
                  <a:gd name="T48" fmla="*/ 74 w 74"/>
                  <a:gd name="T49" fmla="*/ 48 h 71"/>
                  <a:gd name="T50" fmla="*/ 74 w 74"/>
                  <a:gd name="T51" fmla="*/ 36 h 71"/>
                  <a:gd name="T52" fmla="*/ 68 w 74"/>
                  <a:gd name="T53" fmla="*/ 27 h 71"/>
                  <a:gd name="T54" fmla="*/ 16 w 74"/>
                  <a:gd name="T55" fmla="*/ 53 h 71"/>
                  <a:gd name="T56" fmla="*/ 9 w 74"/>
                  <a:gd name="T57" fmla="*/ 46 h 71"/>
                  <a:gd name="T58" fmla="*/ 16 w 74"/>
                  <a:gd name="T59" fmla="*/ 39 h 71"/>
                  <a:gd name="T60" fmla="*/ 23 w 74"/>
                  <a:gd name="T61" fmla="*/ 46 h 71"/>
                  <a:gd name="T62" fmla="*/ 16 w 74"/>
                  <a:gd name="T63" fmla="*/ 53 h 71"/>
                  <a:gd name="T64" fmla="*/ 21 w 74"/>
                  <a:gd name="T65" fmla="*/ 25 h 71"/>
                  <a:gd name="T66" fmla="*/ 16 w 74"/>
                  <a:gd name="T67" fmla="*/ 25 h 71"/>
                  <a:gd name="T68" fmla="*/ 12 w 74"/>
                  <a:gd name="T69" fmla="*/ 21 h 71"/>
                  <a:gd name="T70" fmla="*/ 12 w 74"/>
                  <a:gd name="T71" fmla="*/ 16 h 71"/>
                  <a:gd name="T72" fmla="*/ 21 w 74"/>
                  <a:gd name="T73" fmla="*/ 6 h 71"/>
                  <a:gd name="T74" fmla="*/ 53 w 74"/>
                  <a:gd name="T75" fmla="*/ 6 h 71"/>
                  <a:gd name="T76" fmla="*/ 62 w 74"/>
                  <a:gd name="T77" fmla="*/ 16 h 71"/>
                  <a:gd name="T78" fmla="*/ 62 w 74"/>
                  <a:gd name="T79" fmla="*/ 21 h 71"/>
                  <a:gd name="T80" fmla="*/ 58 w 74"/>
                  <a:gd name="T81" fmla="*/ 25 h 71"/>
                  <a:gd name="T82" fmla="*/ 53 w 74"/>
                  <a:gd name="T83" fmla="*/ 25 h 71"/>
                  <a:gd name="T84" fmla="*/ 21 w 74"/>
                  <a:gd name="T85" fmla="*/ 25 h 71"/>
                  <a:gd name="T86" fmla="*/ 58 w 74"/>
                  <a:gd name="T87" fmla="*/ 53 h 71"/>
                  <a:gd name="T88" fmla="*/ 51 w 74"/>
                  <a:gd name="T89" fmla="*/ 46 h 71"/>
                  <a:gd name="T90" fmla="*/ 58 w 74"/>
                  <a:gd name="T91" fmla="*/ 39 h 71"/>
                  <a:gd name="T92" fmla="*/ 65 w 74"/>
                  <a:gd name="T93" fmla="*/ 46 h 71"/>
                  <a:gd name="T94" fmla="*/ 58 w 74"/>
                  <a:gd name="T95" fmla="*/ 5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4" h="71">
                    <a:moveTo>
                      <a:pt x="68" y="27"/>
                    </a:moveTo>
                    <a:cubicBezTo>
                      <a:pt x="68" y="27"/>
                      <a:pt x="68" y="27"/>
                      <a:pt x="68" y="27"/>
                    </a:cubicBezTo>
                    <a:cubicBezTo>
                      <a:pt x="71" y="27"/>
                      <a:pt x="74" y="24"/>
                      <a:pt x="74" y="21"/>
                    </a:cubicBezTo>
                    <a:cubicBezTo>
                      <a:pt x="74" y="18"/>
                      <a:pt x="71" y="15"/>
                      <a:pt x="68" y="15"/>
                    </a:cubicBezTo>
                    <a:cubicBezTo>
                      <a:pt x="68" y="7"/>
                      <a:pt x="60" y="0"/>
                      <a:pt x="5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4" y="0"/>
                      <a:pt x="6" y="7"/>
                      <a:pt x="6" y="15"/>
                    </a:cubicBezTo>
                    <a:cubicBezTo>
                      <a:pt x="3" y="15"/>
                      <a:pt x="0" y="18"/>
                      <a:pt x="0" y="21"/>
                    </a:cubicBezTo>
                    <a:cubicBezTo>
                      <a:pt x="0" y="24"/>
                      <a:pt x="3" y="27"/>
                      <a:pt x="6" y="27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3" y="30"/>
                      <a:pt x="0" y="33"/>
                      <a:pt x="0" y="36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3"/>
                      <a:pt x="3" y="57"/>
                      <a:pt x="6" y="60"/>
                    </a:cubicBezTo>
                    <a:cubicBezTo>
                      <a:pt x="6" y="63"/>
                      <a:pt x="6" y="62"/>
                      <a:pt x="6" y="63"/>
                    </a:cubicBezTo>
                    <a:cubicBezTo>
                      <a:pt x="6" y="68"/>
                      <a:pt x="10" y="71"/>
                      <a:pt x="14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22" y="71"/>
                      <a:pt x="26" y="68"/>
                      <a:pt x="26" y="63"/>
                    </a:cubicBezTo>
                    <a:cubicBezTo>
                      <a:pt x="26" y="62"/>
                      <a:pt x="26" y="64"/>
                      <a:pt x="26" y="6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48" y="64"/>
                      <a:pt x="48" y="62"/>
                      <a:pt x="48" y="63"/>
                    </a:cubicBezTo>
                    <a:cubicBezTo>
                      <a:pt x="48" y="68"/>
                      <a:pt x="52" y="71"/>
                      <a:pt x="57" y="71"/>
                    </a:cubicBezTo>
                    <a:cubicBezTo>
                      <a:pt x="60" y="71"/>
                      <a:pt x="60" y="71"/>
                      <a:pt x="60" y="71"/>
                    </a:cubicBezTo>
                    <a:cubicBezTo>
                      <a:pt x="64" y="71"/>
                      <a:pt x="68" y="68"/>
                      <a:pt x="68" y="63"/>
                    </a:cubicBezTo>
                    <a:cubicBezTo>
                      <a:pt x="68" y="62"/>
                      <a:pt x="68" y="63"/>
                      <a:pt x="68" y="60"/>
                    </a:cubicBezTo>
                    <a:cubicBezTo>
                      <a:pt x="72" y="57"/>
                      <a:pt x="74" y="53"/>
                      <a:pt x="74" y="4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3"/>
                      <a:pt x="71" y="30"/>
                      <a:pt x="68" y="27"/>
                    </a:cubicBezTo>
                    <a:close/>
                    <a:moveTo>
                      <a:pt x="16" y="53"/>
                    </a:moveTo>
                    <a:cubicBezTo>
                      <a:pt x="13" y="53"/>
                      <a:pt x="9" y="50"/>
                      <a:pt x="9" y="46"/>
                    </a:cubicBezTo>
                    <a:cubicBezTo>
                      <a:pt x="9" y="42"/>
                      <a:pt x="13" y="39"/>
                      <a:pt x="16" y="39"/>
                    </a:cubicBezTo>
                    <a:cubicBezTo>
                      <a:pt x="20" y="39"/>
                      <a:pt x="23" y="42"/>
                      <a:pt x="23" y="46"/>
                    </a:cubicBezTo>
                    <a:cubicBezTo>
                      <a:pt x="23" y="50"/>
                      <a:pt x="20" y="53"/>
                      <a:pt x="16" y="53"/>
                    </a:cubicBezTo>
                    <a:close/>
                    <a:moveTo>
                      <a:pt x="21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4" y="25"/>
                      <a:pt x="12" y="23"/>
                      <a:pt x="12" y="21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0"/>
                      <a:pt x="16" y="6"/>
                      <a:pt x="21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8" y="6"/>
                      <a:pt x="62" y="10"/>
                      <a:pt x="62" y="16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62" y="23"/>
                      <a:pt x="60" y="25"/>
                      <a:pt x="58" y="25"/>
                    </a:cubicBezTo>
                    <a:cubicBezTo>
                      <a:pt x="53" y="25"/>
                      <a:pt x="53" y="25"/>
                      <a:pt x="53" y="25"/>
                    </a:cubicBezTo>
                    <a:lnTo>
                      <a:pt x="21" y="25"/>
                    </a:lnTo>
                    <a:close/>
                    <a:moveTo>
                      <a:pt x="58" y="53"/>
                    </a:moveTo>
                    <a:cubicBezTo>
                      <a:pt x="54" y="53"/>
                      <a:pt x="51" y="50"/>
                      <a:pt x="51" y="46"/>
                    </a:cubicBezTo>
                    <a:cubicBezTo>
                      <a:pt x="51" y="42"/>
                      <a:pt x="54" y="39"/>
                      <a:pt x="58" y="39"/>
                    </a:cubicBezTo>
                    <a:cubicBezTo>
                      <a:pt x="62" y="39"/>
                      <a:pt x="65" y="42"/>
                      <a:pt x="65" y="46"/>
                    </a:cubicBezTo>
                    <a:cubicBezTo>
                      <a:pt x="65" y="50"/>
                      <a:pt x="62" y="53"/>
                      <a:pt x="5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1" name="Rectangle 67"/>
              <p:cNvSpPr>
                <a:spLocks noChangeArrowheads="1"/>
              </p:cNvSpPr>
              <p:nvPr/>
            </p:nvSpPr>
            <p:spPr bwMode="auto">
              <a:xfrm>
                <a:off x="7454900" y="2263775"/>
                <a:ext cx="134938" cy="68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2" name="Freeform 68"/>
              <p:cNvSpPr/>
              <p:nvPr/>
            </p:nvSpPr>
            <p:spPr bwMode="auto">
              <a:xfrm>
                <a:off x="7454900" y="2365375"/>
                <a:ext cx="134938" cy="63500"/>
              </a:xfrm>
              <a:custGeom>
                <a:avLst/>
                <a:gdLst>
                  <a:gd name="T0" fmla="*/ 0 w 36"/>
                  <a:gd name="T1" fmla="*/ 5 h 17"/>
                  <a:gd name="T2" fmla="*/ 13 w 36"/>
                  <a:gd name="T3" fmla="*/ 17 h 17"/>
                  <a:gd name="T4" fmla="*/ 24 w 36"/>
                  <a:gd name="T5" fmla="*/ 17 h 17"/>
                  <a:gd name="T6" fmla="*/ 36 w 36"/>
                  <a:gd name="T7" fmla="*/ 5 h 17"/>
                  <a:gd name="T8" fmla="*/ 36 w 36"/>
                  <a:gd name="T9" fmla="*/ 0 h 17"/>
                  <a:gd name="T10" fmla="*/ 0 w 36"/>
                  <a:gd name="T11" fmla="*/ 0 h 17"/>
                  <a:gd name="T12" fmla="*/ 0 w 36"/>
                  <a:gd name="T13" fmla="*/ 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7">
                    <a:moveTo>
                      <a:pt x="0" y="5"/>
                    </a:moveTo>
                    <a:cubicBezTo>
                      <a:pt x="0" y="12"/>
                      <a:pt x="6" y="17"/>
                      <a:pt x="13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31" y="17"/>
                      <a:pt x="36" y="12"/>
                      <a:pt x="36" y="5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3" name="Freeform 69"/>
              <p:cNvSpPr/>
              <p:nvPr/>
            </p:nvSpPr>
            <p:spPr bwMode="auto">
              <a:xfrm>
                <a:off x="7454900" y="2128838"/>
                <a:ext cx="134938" cy="101600"/>
              </a:xfrm>
              <a:custGeom>
                <a:avLst/>
                <a:gdLst>
                  <a:gd name="T0" fmla="*/ 24 w 36"/>
                  <a:gd name="T1" fmla="*/ 9 h 27"/>
                  <a:gd name="T2" fmla="*/ 23 w 36"/>
                  <a:gd name="T3" fmla="*/ 9 h 27"/>
                  <a:gd name="T4" fmla="*/ 23 w 36"/>
                  <a:gd name="T5" fmla="*/ 4 h 27"/>
                  <a:gd name="T6" fmla="*/ 18 w 36"/>
                  <a:gd name="T7" fmla="*/ 0 h 27"/>
                  <a:gd name="T8" fmla="*/ 14 w 36"/>
                  <a:gd name="T9" fmla="*/ 4 h 27"/>
                  <a:gd name="T10" fmla="*/ 14 w 36"/>
                  <a:gd name="T11" fmla="*/ 9 h 27"/>
                  <a:gd name="T12" fmla="*/ 13 w 36"/>
                  <a:gd name="T13" fmla="*/ 9 h 27"/>
                  <a:gd name="T14" fmla="*/ 0 w 36"/>
                  <a:gd name="T15" fmla="*/ 21 h 27"/>
                  <a:gd name="T16" fmla="*/ 0 w 36"/>
                  <a:gd name="T17" fmla="*/ 27 h 27"/>
                  <a:gd name="T18" fmla="*/ 36 w 36"/>
                  <a:gd name="T19" fmla="*/ 27 h 27"/>
                  <a:gd name="T20" fmla="*/ 36 w 36"/>
                  <a:gd name="T21" fmla="*/ 21 h 27"/>
                  <a:gd name="T22" fmla="*/ 24 w 36"/>
                  <a:gd name="T23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27">
                    <a:moveTo>
                      <a:pt x="24" y="9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2"/>
                      <a:pt x="21" y="0"/>
                      <a:pt x="18" y="0"/>
                    </a:cubicBezTo>
                    <a:cubicBezTo>
                      <a:pt x="16" y="0"/>
                      <a:pt x="14" y="2"/>
                      <a:pt x="14" y="4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6" y="9"/>
                      <a:pt x="0" y="14"/>
                      <a:pt x="0" y="21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6" y="27"/>
                      <a:pt x="36" y="27"/>
                      <a:pt x="36" y="27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14"/>
                      <a:pt x="31" y="9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4" name="Rectangle 70"/>
              <p:cNvSpPr>
                <a:spLocks noChangeArrowheads="1"/>
              </p:cNvSpPr>
              <p:nvPr/>
            </p:nvSpPr>
            <p:spPr bwMode="auto">
              <a:xfrm>
                <a:off x="7691438" y="1990725"/>
                <a:ext cx="66675" cy="1381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5" name="Freeform 71"/>
              <p:cNvSpPr/>
              <p:nvPr/>
            </p:nvSpPr>
            <p:spPr bwMode="auto">
              <a:xfrm>
                <a:off x="7585075" y="1990725"/>
                <a:ext cx="68263" cy="138113"/>
              </a:xfrm>
              <a:custGeom>
                <a:avLst/>
                <a:gdLst>
                  <a:gd name="T0" fmla="*/ 13 w 18"/>
                  <a:gd name="T1" fmla="*/ 0 h 37"/>
                  <a:gd name="T2" fmla="*/ 0 w 18"/>
                  <a:gd name="T3" fmla="*/ 12 h 37"/>
                  <a:gd name="T4" fmla="*/ 0 w 18"/>
                  <a:gd name="T5" fmla="*/ 24 h 37"/>
                  <a:gd name="T6" fmla="*/ 13 w 18"/>
                  <a:gd name="T7" fmla="*/ 37 h 37"/>
                  <a:gd name="T8" fmla="*/ 18 w 18"/>
                  <a:gd name="T9" fmla="*/ 37 h 37"/>
                  <a:gd name="T10" fmla="*/ 18 w 18"/>
                  <a:gd name="T11" fmla="*/ 0 h 37"/>
                  <a:gd name="T12" fmla="*/ 13 w 18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37">
                    <a:moveTo>
                      <a:pt x="13" y="0"/>
                    </a:moveTo>
                    <a:cubicBezTo>
                      <a:pt x="6" y="0"/>
                      <a:pt x="0" y="5"/>
                      <a:pt x="0" y="1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1"/>
                      <a:pt x="6" y="37"/>
                      <a:pt x="13" y="37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6" name="Freeform 72"/>
              <p:cNvSpPr/>
              <p:nvPr/>
            </p:nvSpPr>
            <p:spPr bwMode="auto">
              <a:xfrm>
                <a:off x="7791450" y="1990725"/>
                <a:ext cx="104775" cy="138113"/>
              </a:xfrm>
              <a:custGeom>
                <a:avLst/>
                <a:gdLst>
                  <a:gd name="T0" fmla="*/ 19 w 28"/>
                  <a:gd name="T1" fmla="*/ 24 h 37"/>
                  <a:gd name="T2" fmla="*/ 19 w 28"/>
                  <a:gd name="T3" fmla="*/ 23 h 37"/>
                  <a:gd name="T4" fmla="*/ 23 w 28"/>
                  <a:gd name="T5" fmla="*/ 23 h 37"/>
                  <a:gd name="T6" fmla="*/ 28 w 28"/>
                  <a:gd name="T7" fmla="*/ 18 h 37"/>
                  <a:gd name="T8" fmla="*/ 23 w 28"/>
                  <a:gd name="T9" fmla="*/ 14 h 37"/>
                  <a:gd name="T10" fmla="*/ 19 w 28"/>
                  <a:gd name="T11" fmla="*/ 14 h 37"/>
                  <a:gd name="T12" fmla="*/ 19 w 28"/>
                  <a:gd name="T13" fmla="*/ 12 h 37"/>
                  <a:gd name="T14" fmla="*/ 6 w 28"/>
                  <a:gd name="T15" fmla="*/ 0 h 37"/>
                  <a:gd name="T16" fmla="*/ 0 w 28"/>
                  <a:gd name="T17" fmla="*/ 0 h 37"/>
                  <a:gd name="T18" fmla="*/ 0 w 28"/>
                  <a:gd name="T19" fmla="*/ 37 h 37"/>
                  <a:gd name="T20" fmla="*/ 6 w 28"/>
                  <a:gd name="T21" fmla="*/ 37 h 37"/>
                  <a:gd name="T22" fmla="*/ 19 w 28"/>
                  <a:gd name="T23" fmla="*/ 2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37">
                    <a:moveTo>
                      <a:pt x="19" y="24"/>
                    </a:moveTo>
                    <a:cubicBezTo>
                      <a:pt x="19" y="23"/>
                      <a:pt x="19" y="23"/>
                      <a:pt x="19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6" y="23"/>
                      <a:pt x="28" y="21"/>
                      <a:pt x="28" y="18"/>
                    </a:cubicBezTo>
                    <a:cubicBezTo>
                      <a:pt x="28" y="16"/>
                      <a:pt x="26" y="14"/>
                      <a:pt x="23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5"/>
                      <a:pt x="13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13" y="37"/>
                      <a:pt x="19" y="31"/>
                      <a:pt x="19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67" name="Text Placeholder 32"/>
          <p:cNvSpPr txBox="1"/>
          <p:nvPr/>
        </p:nvSpPr>
        <p:spPr>
          <a:xfrm>
            <a:off x="480695" y="2312035"/>
            <a:ext cx="3348990" cy="6330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和进程相比，它是一种非常“节俭”的多任务操作方式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，启动一个线程不需要分配内存资源。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8" name="Text Placeholder 32"/>
          <p:cNvSpPr txBox="1"/>
          <p:nvPr/>
        </p:nvSpPr>
        <p:spPr>
          <a:xfrm>
            <a:off x="480695" y="3602990"/>
            <a:ext cx="3348990" cy="6381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线程间彼此切换所需的时间也远远小于进程间切换所需要的时间。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Text Placeholder 32"/>
          <p:cNvSpPr txBox="1"/>
          <p:nvPr/>
        </p:nvSpPr>
        <p:spPr>
          <a:xfrm>
            <a:off x="480911" y="4874736"/>
            <a:ext cx="3349173" cy="455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线程有方便的通信机制。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Text Placeholder 32"/>
          <p:cNvSpPr txBox="1"/>
          <p:nvPr/>
        </p:nvSpPr>
        <p:spPr>
          <a:xfrm>
            <a:off x="8441047" y="3224970"/>
            <a:ext cx="3349173" cy="455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使多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系统更加有效，多个线程可以同时被调度到多个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Text Placeholder 32"/>
          <p:cNvSpPr txBox="1"/>
          <p:nvPr/>
        </p:nvSpPr>
        <p:spPr>
          <a:xfrm>
            <a:off x="8441047" y="4460063"/>
            <a:ext cx="3349173" cy="4559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改善程序结构。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多线程编程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多线程编程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495425"/>
            <a:ext cx="98501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系统下的多线程遵循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POSIX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线程接口，称为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。编写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下的多线程程序，需要使用头文件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pthread.h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，编译时需要链接多线程的库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libpthrea.so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gcc test.c -o test 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-lpthread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pthread_create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线程的创建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3540" y="1509395"/>
            <a:ext cx="1133030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 &lt;pthread.h&gt;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pthread_create(pthread_t *tid, const pthread_attr_t *attr, void *(*start_rtn)(void), void*arg)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tid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：线程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attr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 线程属性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通常为空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start_rtn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：线程要执行的函数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arg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start_rtn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的参数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pthread_exit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线程退出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3540" y="1297940"/>
            <a:ext cx="1087945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如果进程中任何一个线程中调用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_exit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，那么整个进程都会终止。线程的正常退出方式有：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线程从启动例程中返回；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、线程可以被另一个线程终止；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、线程自己调用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pthread_exit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 &lt;pthread.h&gt;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void pthread_exit(void * rval_ptr)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功能：终止调用线程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Rval_ptr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线程退出返回值的指针。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pthread_cancel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线程取消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5505" y="1297940"/>
            <a:ext cx="1039749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 &lt;pthread.h&gt;</a:t>
            </a:r>
            <a:endParaRPr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pthread_cancel(pthread_t thread);</a:t>
            </a:r>
            <a:endParaRPr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功能：取消指定的线程。可以在主线程中取消指定的线程，也可以在任意线程中取消指定的线程。</a:t>
            </a:r>
            <a:endParaRPr 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：要取消的线程的线程号。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pthread_join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线程等待</a:t>
              </a:r>
              <a:endParaRPr lang="zh-CN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297940"/>
            <a:ext cx="1039812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#include &lt;pthread.h&gt;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pthread_join(pthread_t tid,void **rval_ptr)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功能：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阻塞调用线程，直到指定的线程终止。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Tid :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等待退出的线程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Rval_ptr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：线程退出的返回值的指针。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线程同步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线程同步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678940"/>
            <a:ext cx="1042225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进行多线程编程，因为无法知道哪个线程会在哪个时候对共享资源进行操作，因此会让如何保护共享资源变得复杂，通过下面这些技术的使用，可以解决线程之间对资源的竞争：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信号灯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Semaphore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条件变量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Conditions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mutex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为什么需要互斥量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24940"/>
            <a:ext cx="106946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为什么需要互斥量：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item *p = queue_list;                          //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定义指针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指向队列某个结点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queue_list = queue_list-&gt;next;           //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队列指针向下移动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process_job(p);                                    //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处理队列结点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free(p);                                                //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释放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tem *p = queue_list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后，系统停止线程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的运行，开始运行线程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照样取出头节点，然后进行处理，最后释放了该节点。过了段时间，线程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重新得到运行。而这个时候，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所指向的节点已经被线程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释放掉，而线程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对此毫无知晓。他会接着运行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process_job(p)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。而这将导致无法预料的后果！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mutex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互斥量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692910"/>
            <a:ext cx="102025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对于这种情况，系统给我们提供了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互斥量。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线程在取出头节点前必须要等待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如果此时有其他线程已经获得该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那么该线程将会阻塞在这里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只有等到其他线程释放掉该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后，该线程才有可能得到该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。互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斥量从本质上说就是一把锁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提供对共享资源的保护访问。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mutex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互斥量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692910"/>
            <a:ext cx="102025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互斥量使用类型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表示。在使用前，要对它进行初始化：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静态初始化：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pthread_mutex_t mutex = PTHREAD_MUTEX_INITIALIZER;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动态初始化：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pthread_mutex_t mutex;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       pthread_mutex_init(&amp;mutex, NULL);   //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第二个参数是互斥量的属性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pthread_mutex_lock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互斥量加锁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424305"/>
            <a:ext cx="1020254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对共享资源的访问，要使用互斥量进行加锁，如果互斥量已经上了锁，调用线程会阻塞，直到互斥量被解锁。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pthread_mutex_lock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pthread_mutex_t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 strike="noStrike" noProof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pthread_mutex_trylock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pthread_mutex_t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2000" b="1" strike="noStrike" noProof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返回值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成功则返回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0,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出错则返回错误编号。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trylock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是非阻塞调用模式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如果互斥量没被锁住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trylock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函数将对互斥量加锁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并获得对共享资源的访问权限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如果互斥量被锁住了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trylock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函数将不会阻塞等待而直接返回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EBUSY,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表示共享资源处于忙状态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pthread_mutex_unlock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互斥量解锁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424305"/>
            <a:ext cx="102025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在操作完成后，必须给互斥量解锁，也就是前面所说的释放。这样其他等待该锁的线程才有机会获得该锁，否则其他线程将会永远阻塞。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pthread_mutex_unlock(pthread_mutex_t *mutex)</a:t>
            </a:r>
            <a:endParaRPr lang="en-US" altLang="zh-CN" sz="2000" b="1" strike="noStrike" noProof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pthread_mutex_unlock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互斥量和信号量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424305"/>
            <a:ext cx="1058354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lnSpc>
                <a:spcPct val="150000"/>
              </a:lnSpc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是一把钥匙，一个人拿了就可进入一个房间，出来的时候把钥匙交给队列的第一个。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semaphore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是一间可以容纳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人的房间，如果人不满就可以进去，如果人满了，就要等待有人出来。对于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N=1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的情况，称为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binary semaphore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（二值信号量）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Binary semaphore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的差异：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要由获得锁的线程来释放（谁获得，谁释放）。而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semaphore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可以由其它线程释放；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、初始状态可能不一样：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mutex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的初始值是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semaphore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的初始值可能是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（或者为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condition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条件变量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424305"/>
            <a:ext cx="105835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en-US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条件变量也可用于线程的同步，满足某个条件则线程开始运行，不满足某个条件则线程停止。</a:t>
            </a: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endParaRPr lang="zh-CN" altLang="en-US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en-US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条件变量初始胡：</a:t>
            </a:r>
            <a:r>
              <a:rPr lang="en-US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pthread_cond_init(&amp;cond, NULL);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条件变量销毁：   </a:t>
            </a:r>
            <a:r>
              <a:rPr lang="en-US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pthread_cond_destroy(&amp;cond);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线程睡眠：          </a:t>
            </a:r>
            <a:r>
              <a:rPr lang="en-US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pthread_cond_wait(&amp;cond, &amp;mutex);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defRPr/>
            </a:pPr>
            <a:r>
              <a:rPr lang="zh-CN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线程唤醒：          </a:t>
            </a:r>
            <a:r>
              <a:rPr lang="en-US" altLang="zh-CN" sz="2000" strike="noStrike" noProof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pthread_cond_signal(&amp;cond);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61460" y="2503805"/>
            <a:ext cx="409194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over</a:t>
            </a:r>
            <a:endParaRPr lang="en-US" altLang="zh-CN" sz="115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3738</Words>
  <Application>WPS 演示</Application>
  <PresentationFormat>宽屏</PresentationFormat>
  <Paragraphs>251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宋体</vt:lpstr>
      <vt:lpstr>Wingdings</vt:lpstr>
      <vt:lpstr>文鼎习字体</vt:lpstr>
      <vt:lpstr>Nexa Light</vt:lpstr>
      <vt:lpstr>Wide Latin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Neris Thin</vt:lpstr>
      <vt:lpstr>Segoe Print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38</cp:revision>
  <dcterms:created xsi:type="dcterms:W3CDTF">2017-11-17T09:39:00Z</dcterms:created>
  <dcterms:modified xsi:type="dcterms:W3CDTF">2022-07-29T12:42:20Z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2052-11.1.0.11579</vt:lpwstr>
  </property>
  <property fmtid="{D5CDD505-2E9C-101B-9397-08002B2CF9AE}" pid="3" name="ICV">
    <vt:lpwstr>54AD0BA82DB44D78AFCF617E698554BC</vt:lpwstr>
  </property>
</Properties>
</file>