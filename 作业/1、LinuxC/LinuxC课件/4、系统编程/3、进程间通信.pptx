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6" r:id="rId3"/>
    <p:sldId id="257" r:id="rId5"/>
    <p:sldId id="258" r:id="rId6"/>
    <p:sldId id="265" r:id="rId7"/>
    <p:sldId id="260" r:id="rId8"/>
    <p:sldId id="266" r:id="rId9"/>
    <p:sldId id="261" r:id="rId10"/>
    <p:sldId id="267" r:id="rId11"/>
    <p:sldId id="264" r:id="rId12"/>
    <p:sldId id="281" r:id="rId13"/>
    <p:sldId id="282" r:id="rId14"/>
    <p:sldId id="284" r:id="rId15"/>
    <p:sldId id="268" r:id="rId16"/>
    <p:sldId id="285" r:id="rId17"/>
    <p:sldId id="286" r:id="rId18"/>
    <p:sldId id="287" r:id="rId19"/>
    <p:sldId id="288" r:id="rId20"/>
    <p:sldId id="289" r:id="rId21"/>
    <p:sldId id="290" r:id="rId22"/>
    <p:sldId id="296" r:id="rId23"/>
    <p:sldId id="295" r:id="rId24"/>
    <p:sldId id="293" r:id="rId25"/>
    <p:sldId id="307" r:id="rId26"/>
    <p:sldId id="300" r:id="rId27"/>
    <p:sldId id="301" r:id="rId28"/>
    <p:sldId id="302" r:id="rId29"/>
    <p:sldId id="303" r:id="rId30"/>
    <p:sldId id="304" r:id="rId31"/>
    <p:sldId id="308" r:id="rId32"/>
    <p:sldId id="294" r:id="rId33"/>
    <p:sldId id="297" r:id="rId34"/>
    <p:sldId id="298" r:id="rId35"/>
    <p:sldId id="305" r:id="rId36"/>
    <p:sldId id="306" r:id="rId37"/>
    <p:sldId id="259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3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进程间通信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184" cy="2780664"/>
            <a:chOff x="3388622" y="2209939"/>
            <a:chExt cx="5040937" cy="2326461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939"/>
              <a:ext cx="3411079" cy="2326461"/>
              <a:chOff x="5018480" y="2209939"/>
              <a:chExt cx="3411079" cy="2326461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583445" cy="2218338"/>
                <a:chOff x="5421311" y="2621290"/>
                <a:chExt cx="583445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39987" y="4351384"/>
                  <a:ext cx="235780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847575" y="2246597"/>
                <a:ext cx="258198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进程间通信概述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2797531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管道和信号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3403187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消息队列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5848058" y="3996623"/>
                <a:ext cx="258150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16"/>
          <p:cNvSpPr txBox="1"/>
          <p:nvPr/>
        </p:nvSpPr>
        <p:spPr>
          <a:xfrm>
            <a:off x="5320235" y="4170768"/>
            <a:ext cx="359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5" name="文本框 48"/>
          <p:cNvSpPr txBox="1">
            <a:spLocks noChangeArrowheads="1"/>
          </p:cNvSpPr>
          <p:nvPr/>
        </p:nvSpPr>
        <p:spPr bwMode="auto">
          <a:xfrm>
            <a:off x="6015990" y="4237990"/>
            <a:ext cx="393065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共享内存和信号量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进程间通信概述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IPC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进程通信目的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24940"/>
            <a:ext cx="9398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一个进程需要将它的数据发送给另一个进程；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资源共享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多个进程之间共享同样的资源；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通知事件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一个进程需要向另一个或一组进程发送消息，通知它们发生了某种事件；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进程控制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有些进程希望完全控制另一个进程的执行（如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Debug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进程），此时控制进程希望能够拦截另一个进程的所有操作，并能够及时知道它的状态改变。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IPC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进程间通信的发展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86815"/>
            <a:ext cx="1006094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进程间通信（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IPC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）由以下几部分发展而来：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1.UNIX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进程间通信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System V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进程间通信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3.POSIX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进程间通信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POSIX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(Portable Operating System Interface)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可移植操作系统接口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电气和电子工程师协会（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IEEE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）最初开发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POSIX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标准，是为了提高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UNIX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环境下应用程序的可移植性。然而，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POSIX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并不局限于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，许多其它的操作系统，例如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 OpenVMS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Microsoft Windows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，都支持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POSIX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IPC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进程间通信分类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13840" y="1565275"/>
            <a:ext cx="870648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现在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使用的进程间通信方式包括：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、管道（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pipe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）和有名管道（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FIFO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、信号（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、消息队列（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message queue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、共享内存（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share memory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、信号量（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semphore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、套接字（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socket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管道和信号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pipe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管道通信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368425"/>
            <a:ext cx="106946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管道是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单向的、先进先出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的，它把一个进程的输出和另一个进程的输入连接在一起。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一个进程（写进程）在管道的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尾部写入数据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，另一个进程（读进程）从管道的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头部读出数据。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数据被一个进程读出后，将被从管道中删除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，其它读进程将不能再读到这些数据。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管道提供了简单的流控制机制，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进程试图读空管道时，进程将阻塞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同样，管道已经满时，进程再试图向管道写入数据，进程将阻塞。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管道包括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无名管道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有名管道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两种，前者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用于父进程和子进程间的通信，后者可用于运行于同一系统中的任意两个进程间的通信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pipe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无名管道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2045970"/>
            <a:ext cx="588454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无名管道创建：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pipe(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filedis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[2])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当一个管道建立时，它会创建两个文件描述符：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filedis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[0]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用于读管道，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filedis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[1]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用于写管道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305040" y="2045970"/>
            <a:ext cx="3413760" cy="762000"/>
            <a:chOff x="6912" y="6223"/>
            <a:chExt cx="5376" cy="1200"/>
          </a:xfrm>
        </p:grpSpPr>
        <p:sp>
          <p:nvSpPr>
            <p:cNvPr id="6" name="矩形 5"/>
            <p:cNvSpPr/>
            <p:nvPr/>
          </p:nvSpPr>
          <p:spPr>
            <a:xfrm>
              <a:off x="6912" y="6223"/>
              <a:ext cx="5377" cy="12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377" y="6533"/>
              <a:ext cx="226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/>
                <a:t>用户进程</a:t>
              </a: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44" y="6533"/>
              <a:ext cx="226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/>
                <a:t>用户进程</a:t>
              </a:r>
              <a:r>
                <a:rPr lang="en-US" altLang="zh-CN" b="1"/>
                <a:t>2</a:t>
              </a:r>
              <a:endParaRPr lang="en-US" altLang="zh-CN" b="1"/>
            </a:p>
          </p:txBody>
        </p:sp>
      </p:grpSp>
      <p:sp>
        <p:nvSpPr>
          <p:cNvPr id="9" name="矩形 8"/>
          <p:cNvSpPr/>
          <p:nvPr/>
        </p:nvSpPr>
        <p:spPr>
          <a:xfrm>
            <a:off x="7305040" y="4091940"/>
            <a:ext cx="3414395" cy="107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546465" y="5347970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内核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60995" y="4317365"/>
            <a:ext cx="2102485" cy="621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99450" y="4444365"/>
            <a:ext cx="1425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管道</a:t>
            </a:r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310880" y="2906395"/>
            <a:ext cx="0" cy="1397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9725025" y="2906395"/>
            <a:ext cx="0" cy="13690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600315" y="3406775"/>
            <a:ext cx="1394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写数据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27795" y="3406775"/>
            <a:ext cx="1394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读数据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pipe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无名管道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566545"/>
            <a:ext cx="95961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无名管道用于不同进程间通信。通常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先创建一个管道，再通过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函数创建一个子进程，该子进程会继承父进程所创建的管道。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必须在系统调用fork( )前调用pipe( )，否则子进程将不会继承文件描述符。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mkfifo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命名管道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566545"/>
            <a:ext cx="95961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命名管道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无名管道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基本相同，但也有不同点：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无名管道只能由父子进程使用；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但是通过命名管道，不相关的进程也能交换数据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mkfifo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命名管道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536700"/>
            <a:ext cx="95961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stat.h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mkfifo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(const char * pathname, 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mode_t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mode)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pathname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FIFO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文件名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mode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：属性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一旦创建了一个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FIFO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，就可用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open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打开它，一般的文件访问函数（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close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read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write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等）都可用于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FIFO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signal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56970" y="1297940"/>
            <a:ext cx="1072451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(signal)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机制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系统中最为古老的进程间通信机制，很多条件可以产生一个信号：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、当用户按某些按键时，产生信号；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、硬件异常产生信号：除数为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、无效的存储访问等等。这些情况通常由硬件检测到，将其通知内核，然后内核产生适当的信号通知进程，例如，内核对正访问一个无效存储区的进程产生一个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SIGSEGV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、进程用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函数将信号发送给另一个进程；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、用户可用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命令将信号发送给其他进程。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signal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Linux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信号类型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094105"/>
            <a:ext cx="1072451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root@turbo:~# </a:t>
            </a:r>
            <a:r>
              <a:rPr sz="1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 -l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1) SIGHUP	 2) SIGINT	 3) SIGQUIT	 4) SIGILL	</a:t>
            </a:r>
            <a:r>
              <a:rPr 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</a:t>
            </a: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5) SIGTRAP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6) SIGABRT	 7) SIGBUS	 8) SIGFPE	 9) SIGKILL	10) SIGUSR1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11) SIGSEGV	12) SIGUSR2	13) SIGPIPE	14) SIGALRM	15) SIGTERM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16) SIGSTKFLT	17) SIGCHLD	18) SIGCONT	19) SIGSTOP	20) SIGTSTP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21) SIGTTIN	22) SIGTTOU	23) SIGURG	24) SIGXCPU	25) SIGXFSZ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26) SIGVTALRM	27) SIGPROF	28) SIGWINCH	29) SIGIO	30) SIGPWR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31) SIGSYS	34) SIGRTMIN	35) SIGRTMIN+1	36) SIGRTMIN+2	37) SIGRTMIN+3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38) SIGRTMIN+4	39) SIGRTMIN+5	40) SIGRTMIN+6	41) SIGRTMIN+7	42) SIGRTMIN+8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43) SIGRTMIN+9	44) SIGRTMIN+10	45) SIGRTMIN+11	46) SIGRTMIN+12	47) SIGRTMIN+13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48) SIGRTMIN+14	49) SIGRTMIN+15	50) SIGRTMAX-14	51) SIGRTMAX-13	52) SIGRTMAX-12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53) SIGRTMAX-11	54) SIGRTMAX-10	55) SIGRTMAX-9	56) SIGRTMAX-8	57) SIGRTMAX-7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58) SIGRTMAX-6	59) SIGRTMAX-5	60) SIGRTMAX-4	61) SIGRTMAX-3	62) SIGRTMAX-2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63) SIGRTMAX-1	64) SIGRTMAX</a:t>
            </a:r>
            <a:endParaRPr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signal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几种常见的信号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517015"/>
            <a:ext cx="1072451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下面是几种常见的信号：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SIGHUP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 从终端上发出的结束信号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SIGINT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 来自键盘的中断信号（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Ctrl-C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SIGKILL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：该信号结束接收信号的进程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SIGTERM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命令发出的信号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SIGCHLD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：标识子进程停止或结束的信号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SIGSTOP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：来自键盘（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Ctrl-Z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）或调试程序的停止执行信号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4474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kill &amp; raise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发送信号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094105"/>
            <a:ext cx="107245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发送信号的主要函数有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raise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区别：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既可以向自身发送信号，也可以向其他进程发送信号。与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函数不同的是，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raise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函数是向进程自身发送信号。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kill(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signo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raise(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signo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kill &amp; raise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发送信号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094105"/>
            <a:ext cx="1072451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参数有四种不同的情况：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&gt;0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将信号发送给进程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== 0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将信号发送给同组的进程。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&lt; 0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将信号发送给其进程组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等于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绝对值的进程。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==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－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将信号发送给所有进程。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alarm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发送信号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319530"/>
            <a:ext cx="1072451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alarm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函数可以设置一个时间值（闹钟时间），当所设置的时间到了时，产生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SIGALRM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信号。如果不捕捉此信号，则默认动作是终止该进程。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unistd.h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unsigned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alarm(unsigned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seconds)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Seconds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经过了指定的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seconds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秒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后会产生信号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SIGALRM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alarm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发送信号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18590"/>
            <a:ext cx="107245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每个进程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只能有一个闹钟时间。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如果在调用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alarm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时，之前已为该进程设置过闹钟时间，而且它还没有超时，则之前登记的闹钟时间则被新值代换。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如果有以前登记的尚未超过的闹钟时间，而这次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seconds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值是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，则表示取消以前的闹钟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signal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信号处理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193165"/>
            <a:ext cx="109359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当某信号出现时，将按照下列三种方式中的一种进行处理：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、忽略此信号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大多数信号都可以按照这种方式进行处理，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但有两种信号决不能被忽略，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它们是：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SIGKILL\SIGSTOP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这两种信号不能被忽略的原因是：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它们向超级用户提供了一种终止或停止进程的方法。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、执行用户希望的动作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通知内核在某种信号发生时，调用一个用户函数。在用户函数中，执行用户希望的处理。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、执行系统默认动作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对大多数信号的系统默认动作是终止该进程。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signal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信号处理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18590"/>
            <a:ext cx="107245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信号处理的主要方法有两种：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、使用简单的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函数；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使用信号集函数组。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signal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信号处理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18590"/>
            <a:ext cx="107245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typedef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void (*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sighandler_t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);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sighandler_t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signal(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signum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sighandler_t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handler);     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如何理解？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handler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可能的值是：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SIG_IGN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：忽略此信号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SIG_DFL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按系统默认方式处理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信号处理函数名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：使用该函数处理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消息队列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message queue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消息队列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18590"/>
            <a:ext cx="1072451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早期通信机制之一的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信号能够传送的信息量有限；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管道则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只能传送无格式的字节流；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这无疑会给应用程序开发带来不便。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消息队列（也叫做报文队列）则克服了这些缺点。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就是一个消息的链表。可以把消息看作一个记录，具有特定的格式。进程可以向中按照一定的规则添加新消息，另一些进程则可以从消息队列中读走消息。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message queue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消息队列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03985"/>
            <a:ext cx="1072451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目前主要有两种类型的消息队列：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POSIX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以及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消息队列目前被大量使用。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消息队列是随内核持续的，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只有在内核重起或者人工删除时，该消息队列才会被删除。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消息队列的内核持续性要求每个消息队列都在系统范围内对应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唯一的键值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，所以，要获得一个消息队列的描述字，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必须提供该消息队列的键值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message queue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消息队列模型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1425" y="2059305"/>
            <a:ext cx="6519545" cy="14255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3256915" y="2202815"/>
            <a:ext cx="2397760" cy="944245"/>
            <a:chOff x="4596" y="6467"/>
            <a:chExt cx="3776" cy="1487"/>
          </a:xfrm>
        </p:grpSpPr>
        <p:grpSp>
          <p:nvGrpSpPr>
            <p:cNvPr id="11" name="组合 10"/>
            <p:cNvGrpSpPr/>
            <p:nvPr/>
          </p:nvGrpSpPr>
          <p:grpSpPr>
            <a:xfrm>
              <a:off x="4596" y="6467"/>
              <a:ext cx="3777" cy="1487"/>
              <a:chOff x="5222" y="3334"/>
              <a:chExt cx="3777" cy="1487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5555" y="3865"/>
                <a:ext cx="3444" cy="9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222" y="3334"/>
                <a:ext cx="166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600"/>
                  <a:t>消息类型</a:t>
                </a:r>
                <a:endParaRPr lang="zh-CN" altLang="en-US" sz="1600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6882" y="3334"/>
                <a:ext cx="166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600"/>
                  <a:t>消息</a:t>
                </a:r>
                <a:endParaRPr lang="zh-CN" altLang="en-US" sz="1600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555" y="4053"/>
                <a:ext cx="64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6360" y="4053"/>
                <a:ext cx="262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helloworld</a:t>
                </a:r>
                <a:endParaRPr lang="en-US" altLang="zh-CN"/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5734" y="6998"/>
              <a:ext cx="0" cy="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895975" y="2202815"/>
            <a:ext cx="2397760" cy="944245"/>
            <a:chOff x="4596" y="6467"/>
            <a:chExt cx="3776" cy="1487"/>
          </a:xfrm>
        </p:grpSpPr>
        <p:grpSp>
          <p:nvGrpSpPr>
            <p:cNvPr id="24" name="组合 23"/>
            <p:cNvGrpSpPr/>
            <p:nvPr/>
          </p:nvGrpSpPr>
          <p:grpSpPr>
            <a:xfrm>
              <a:off x="4596" y="6467"/>
              <a:ext cx="3777" cy="1487"/>
              <a:chOff x="5222" y="3334"/>
              <a:chExt cx="3777" cy="1487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5555" y="3865"/>
                <a:ext cx="3444" cy="95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222" y="3334"/>
                <a:ext cx="166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600"/>
                  <a:t>消息类型</a:t>
                </a:r>
                <a:endParaRPr lang="zh-CN" altLang="en-US" sz="16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882" y="3334"/>
                <a:ext cx="166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600"/>
                  <a:t>消息</a:t>
                </a:r>
                <a:endParaRPr lang="zh-CN" altLang="en-US" sz="160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5555" y="4053"/>
                <a:ext cx="64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6360" y="4053"/>
                <a:ext cx="262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helloworld</a:t>
                </a:r>
                <a:endParaRPr lang="en-US" altLang="zh-CN"/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5734" y="6998"/>
              <a:ext cx="0" cy="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4763770" y="1691005"/>
            <a:ext cx="201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消息队列</a:t>
            </a:r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2486660" y="4286250"/>
            <a:ext cx="2878455" cy="9309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551940" y="4571365"/>
            <a:ext cx="2384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进程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4" name="上箭头 33"/>
          <p:cNvSpPr/>
          <p:nvPr/>
        </p:nvSpPr>
        <p:spPr>
          <a:xfrm>
            <a:off x="3756660" y="3637280"/>
            <a:ext cx="281940" cy="64897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762885" y="3777615"/>
            <a:ext cx="3034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发送消息     类型指定为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6165215" y="4286250"/>
            <a:ext cx="2624455" cy="9302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下箭头 36"/>
          <p:cNvSpPr/>
          <p:nvPr/>
        </p:nvSpPr>
        <p:spPr>
          <a:xfrm>
            <a:off x="7280910" y="3569970"/>
            <a:ext cx="296545" cy="71945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306185" y="3777615"/>
            <a:ext cx="3034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接收消息     类型指定为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8945880" y="4472940"/>
            <a:ext cx="2385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进程</a:t>
            </a:r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message queue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消息队列步骤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9970" y="1565910"/>
            <a:ext cx="80429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消息队列使用步骤：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、创建（获取）消息队列，使用函数 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msgget();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、读写消息队列，使用函数 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msgrcv()/msgsnd();</a:t>
            </a:r>
            <a:endParaRPr lang="en-US" altLang="zh-CN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、删除消息队列，使用函数</a:t>
            </a:r>
            <a:r>
              <a:rPr lang="zh-CN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msgctl()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message queue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查看消息队列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56030" y="1551940"/>
            <a:ext cx="804291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如何查看内存中的消息队列？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ipcs</a:t>
            </a:r>
            <a:r>
              <a:rPr lang="zh-CN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：查看内核中所有的进程间通信方式；</a:t>
            </a:r>
            <a:endParaRPr lang="zh-CN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ipcs -m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：查看内核中的共享内存；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ipcs -q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：查看内核中的消息队列；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ipcs -s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：查看内核中的信号量；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ipcrm -s/-m/-q id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：删除指定的进程间通信方式。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共享内存和信号量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share memory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共享内存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04620"/>
            <a:ext cx="107245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共享内存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被多个进程共享的一部分物理内存。共享内存是进程间共享数据的一种最快的方法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，一个进程向共享内存区域写入了数据，共享这个内存区域的所有进程就可以立刻看到其中的内容。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share memory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共享内存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059940" y="1989455"/>
            <a:ext cx="1651000" cy="393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986395" y="1989455"/>
            <a:ext cx="1651000" cy="393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051425" y="2942590"/>
            <a:ext cx="1791970" cy="973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313940" y="1495425"/>
            <a:ext cx="114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进程</a:t>
            </a:r>
            <a:r>
              <a:rPr lang="en-US" altLang="zh-CN" b="1">
                <a:solidFill>
                  <a:schemeClr val="accent2"/>
                </a:solidFill>
              </a:rPr>
              <a:t>1</a:t>
            </a:r>
            <a:endParaRPr lang="en-US" altLang="zh-CN" b="1">
              <a:solidFill>
                <a:schemeClr val="accent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40395" y="1495425"/>
            <a:ext cx="114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进程</a:t>
            </a:r>
            <a:r>
              <a:rPr lang="en-US" altLang="zh-CN" b="1">
                <a:solidFill>
                  <a:schemeClr val="accent2"/>
                </a:solidFill>
              </a:rPr>
              <a:t>2</a:t>
            </a:r>
            <a:endParaRPr lang="en-US" altLang="zh-CN" b="1">
              <a:solidFill>
                <a:schemeClr val="accent2"/>
              </a:solidFill>
            </a:endParaRPr>
          </a:p>
        </p:txBody>
      </p:sp>
      <p:cxnSp>
        <p:nvCxnSpPr>
          <p:cNvPr id="9" name="直接连接符 8"/>
          <p:cNvCxnSpPr>
            <a:stCxn id="4" idx="1"/>
          </p:cNvCxnSpPr>
          <p:nvPr/>
        </p:nvCxnSpPr>
        <p:spPr>
          <a:xfrm>
            <a:off x="2059940" y="3957955"/>
            <a:ext cx="1622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59940" y="4635500"/>
            <a:ext cx="1622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375910" y="2483485"/>
            <a:ext cx="114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共享内存</a:t>
            </a:r>
            <a:endParaRPr lang="zh-CN" altLang="en-US" b="1">
              <a:solidFill>
                <a:schemeClr val="accent2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986395" y="3957955"/>
            <a:ext cx="1622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014970" y="4635500"/>
            <a:ext cx="1622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4" idx="3"/>
          </p:cNvCxnSpPr>
          <p:nvPr/>
        </p:nvCxnSpPr>
        <p:spPr>
          <a:xfrm flipV="1">
            <a:off x="3710940" y="2976880"/>
            <a:ext cx="1354455" cy="981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3710940" y="3908425"/>
            <a:ext cx="1326515" cy="727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843395" y="2976880"/>
            <a:ext cx="1143000" cy="974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843395" y="3908425"/>
            <a:ext cx="1156970" cy="734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922395" y="3589655"/>
            <a:ext cx="114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映射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71970" y="3589655"/>
            <a:ext cx="114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2"/>
                </a:solidFill>
              </a:rPr>
              <a:t>映射</a:t>
            </a:r>
            <a:endParaRPr lang="zh-CN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share memory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共享内存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777365"/>
            <a:ext cx="109918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共享内存实现分为两个步骤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创建共享内存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，使用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shmget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映射共享内存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，将这段创建的共享内存映射到具体的进程空间去，使用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shmat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三、读写共享内存（当做指针使用）；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四、解除映射，使用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shmdt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函数；</a:t>
            </a:r>
            <a:endParaRPr lang="zh-CN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五、删除共享内存，使用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shmctl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semphore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732280"/>
            <a:ext cx="1099185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信号量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又名：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与其他进程间通信方式不大相同，主要用途是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保护临界资源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进程可以根据它判定是否能够访问某些共享资源。除了用于访问控制外，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还可用于进程同步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信号量类型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二值信号灯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：信号灯的值只能取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，类似于互斥锁。 但两者有不同：信号灯强调共享资源，只要共享资源可用，其他进程同样可以修改信号灯的值；互斥锁更强调进程，占用资源的进程使用完资源后，必须由进程本身来解锁。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计数信号灯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：信号灯的值可以取任意非负值。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semphore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信号量使用步骤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86790" y="1732280"/>
            <a:ext cx="109918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、获取（创建）信号量，使用函数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semget();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、初始化信号量（二值信号量或者计数信号量），使用函数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semctl();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pv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操作，使用函数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semop();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、删除信号量，使用函数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semctl()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sp>
        <p:nvSpPr>
          <p:cNvPr id="12" name="原创设计师QQ598969553      _12"/>
          <p:cNvSpPr>
            <a:spLocks noChangeArrowheads="1"/>
          </p:cNvSpPr>
          <p:nvPr/>
        </p:nvSpPr>
        <p:spPr bwMode="auto">
          <a:xfrm>
            <a:off x="4635500" y="2543810"/>
            <a:ext cx="2921000" cy="176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over</a:t>
            </a:r>
            <a:endParaRPr lang="en-US" altLang="zh-CN" sz="11500" dirty="0">
              <a:solidFill>
                <a:schemeClr val="bg1"/>
              </a:solidFill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5463</Words>
  <Application>WPS 演示</Application>
  <PresentationFormat>宽屏</PresentationFormat>
  <Paragraphs>451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3" baseType="lpstr">
      <vt:lpstr>Arial</vt:lpstr>
      <vt:lpstr>宋体</vt:lpstr>
      <vt:lpstr>Wingdings</vt:lpstr>
      <vt:lpstr>文鼎习字体</vt:lpstr>
      <vt:lpstr>Nexa Light</vt:lpstr>
      <vt:lpstr>Wide Latin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Calibri</vt:lpstr>
      <vt:lpstr>Arial Unicode MS</vt:lpstr>
      <vt:lpstr>Calibri Light</vt:lpstr>
      <vt:lpstr>hakuyoxingshu7000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43</cp:revision>
  <dcterms:created xsi:type="dcterms:W3CDTF">2017-11-17T09:39:00Z</dcterms:created>
  <dcterms:modified xsi:type="dcterms:W3CDTF">2022-07-28T02:53:28Z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2052-11.1.0.11579</vt:lpwstr>
  </property>
  <property fmtid="{D5CDD505-2E9C-101B-9397-08002B2CF9AE}" pid="3" name="ICV">
    <vt:lpwstr>2B874515FE224F44A35094942B06C205</vt:lpwstr>
  </property>
</Properties>
</file>