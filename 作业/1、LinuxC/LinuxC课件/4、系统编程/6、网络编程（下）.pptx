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256" r:id="rId3"/>
    <p:sldId id="257" r:id="rId5"/>
    <p:sldId id="258" r:id="rId6"/>
    <p:sldId id="265" r:id="rId7"/>
    <p:sldId id="260" r:id="rId8"/>
    <p:sldId id="266" r:id="rId9"/>
    <p:sldId id="261" r:id="rId10"/>
    <p:sldId id="267" r:id="rId11"/>
    <p:sldId id="264" r:id="rId12"/>
    <p:sldId id="268" r:id="rId13"/>
    <p:sldId id="281" r:id="rId14"/>
    <p:sldId id="282" r:id="rId15"/>
    <p:sldId id="262" r:id="rId16"/>
    <p:sldId id="269" r:id="rId17"/>
    <p:sldId id="283" r:id="rId18"/>
    <p:sldId id="263" r:id="rId19"/>
    <p:sldId id="272" r:id="rId20"/>
    <p:sldId id="259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23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网络编程（下）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783454" y="2102679"/>
            <a:ext cx="6625184" cy="2716529"/>
            <a:chOff x="3388622" y="2209939"/>
            <a:chExt cx="5040937" cy="2272802"/>
          </a:xfrm>
        </p:grpSpPr>
        <p:grpSp>
          <p:nvGrpSpPr>
            <p:cNvPr id="7" name="组合 6"/>
            <p:cNvGrpSpPr/>
            <p:nvPr/>
          </p:nvGrpSpPr>
          <p:grpSpPr>
            <a:xfrm>
              <a:off x="5018480" y="2209939"/>
              <a:ext cx="3411079" cy="2272802"/>
              <a:chOff x="5018480" y="2209939"/>
              <a:chExt cx="3411079" cy="227280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5018480" y="2209939"/>
                <a:ext cx="583445" cy="2218338"/>
                <a:chOff x="5421311" y="2621290"/>
                <a:chExt cx="583445" cy="2218338"/>
              </a:xfrm>
            </p:grpSpPr>
            <p:sp>
              <p:nvSpPr>
                <p:cNvPr id="14" name="文本框 16"/>
                <p:cNvSpPr txBox="1"/>
                <p:nvPr/>
              </p:nvSpPr>
              <p:spPr>
                <a:xfrm>
                  <a:off x="5710997" y="2621290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1</a:t>
                  </a:r>
                  <a:endParaRPr kumimoji="0" lang="en-US" altLang="zh-CN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5" name="文本框 23"/>
                <p:cNvSpPr txBox="1"/>
                <p:nvPr/>
              </p:nvSpPr>
              <p:spPr>
                <a:xfrm>
                  <a:off x="5710997" y="320072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2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5787612" y="3773815"/>
                  <a:ext cx="140557" cy="48925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华康海报体W12(P)"/>
                    <a:ea typeface="微软雅黑" panose="020B0503020204020204" charset="-122"/>
                    <a:sym typeface="Arial" panose="020B0604020202020204"/>
                  </a:endParaRPr>
                </a:p>
              </p:txBody>
            </p:sp>
            <p:cxnSp>
              <p:nvCxnSpPr>
                <p:cNvPr id="17" name="直接连接符 16"/>
                <p:cNvCxnSpPr/>
                <p:nvPr/>
              </p:nvCxnSpPr>
              <p:spPr>
                <a:xfrm>
                  <a:off x="5421311" y="2764668"/>
                  <a:ext cx="0" cy="20416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文本框 16"/>
                <p:cNvSpPr txBox="1"/>
                <p:nvPr/>
              </p:nvSpPr>
              <p:spPr>
                <a:xfrm>
                  <a:off x="5710997" y="377194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en-US" altLang="zh-CN" sz="32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3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9" name="文本框 23"/>
                <p:cNvSpPr txBox="1"/>
                <p:nvPr/>
              </p:nvSpPr>
              <p:spPr>
                <a:xfrm>
                  <a:off x="5710997" y="4351384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en-US" altLang="zh-CN" sz="32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4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</p:grpSp>
          <p:sp>
            <p:nvSpPr>
              <p:cNvPr id="10" name="文本框 48"/>
              <p:cNvSpPr txBox="1">
                <a:spLocks noChangeArrowheads="1"/>
              </p:cNvSpPr>
              <p:nvPr/>
            </p:nvSpPr>
            <p:spPr bwMode="auto">
              <a:xfrm>
                <a:off x="5847575" y="2246597"/>
                <a:ext cx="2581984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服务器模型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1" name="文本框 48"/>
              <p:cNvSpPr txBox="1">
                <a:spLocks noChangeArrowheads="1"/>
              </p:cNvSpPr>
              <p:nvPr/>
            </p:nvSpPr>
            <p:spPr bwMode="auto">
              <a:xfrm>
                <a:off x="5847092" y="2797531"/>
                <a:ext cx="2582467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en-US" altLang="zh-CN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select</a:t>
                </a:r>
                <a:endPara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2" name="文本框 48"/>
              <p:cNvSpPr txBox="1">
                <a:spLocks noChangeArrowheads="1"/>
              </p:cNvSpPr>
              <p:nvPr/>
            </p:nvSpPr>
            <p:spPr bwMode="auto">
              <a:xfrm>
                <a:off x="5847092" y="3362810"/>
                <a:ext cx="2582467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en-US" altLang="zh-CN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epoll</a:t>
                </a:r>
                <a:endPara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3" name="文本框 48"/>
              <p:cNvSpPr txBox="1">
                <a:spLocks noChangeArrowheads="1"/>
              </p:cNvSpPr>
              <p:nvPr/>
            </p:nvSpPr>
            <p:spPr bwMode="auto">
              <a:xfrm>
                <a:off x="5848058" y="3942964"/>
                <a:ext cx="2581501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en-US" altLang="zh-CN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libevent</a:t>
                </a:r>
                <a:endPara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p:grpSp>
        <p:sp>
          <p:nvSpPr>
            <p:cNvPr id="8" name="文本框 16"/>
            <p:cNvSpPr txBox="1"/>
            <p:nvPr/>
          </p:nvSpPr>
          <p:spPr>
            <a:xfrm>
              <a:off x="3388622" y="2302014"/>
              <a:ext cx="1629858" cy="100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目录 </a:t>
              </a:r>
              <a:r>
                <a:rPr lang="en-US" altLang="zh-CN" sz="3600" dirty="0" smtClean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r>
                <a:rPr lang="en-US" altLang="zh-CN" sz="32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Contents</a:t>
              </a:r>
              <a:r>
                <a: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endPara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服务器模型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server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服务器模型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03910" y="1537970"/>
            <a:ext cx="100749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在网络程序里面，一般来说都是许多客户对应一个服务器，为了处理客户的请求，对服务端的程序就提出了特殊的要求。目前最常用的服务器模型有：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循环服务器：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服务器在同一个时刻只可以响应一个客户端的请求（比如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UDP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并发服务器：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服务器在同一个时刻可以响应多个客户端的请求（比如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多线程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server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循环服务器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3540" y="1200785"/>
            <a:ext cx="10682605" cy="4632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UDP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循环服务器的实现方法：</a:t>
            </a:r>
            <a:r>
              <a:rPr lang="en-US" altLang="zh-CN" sz="2000" b="1" kern="0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UDP</a:t>
            </a:r>
            <a:r>
              <a:rPr lang="zh-CN" altLang="en-US" sz="2000" b="1" kern="0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服务器每次从套接字上读取一个客户端的请求</a:t>
            </a:r>
            <a:r>
              <a:rPr lang="en-US" altLang="zh-CN" sz="2000" b="1" kern="0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-&gt;</a:t>
            </a:r>
            <a:r>
              <a:rPr lang="zh-CN" altLang="en-US" sz="2000" b="1" kern="0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处理</a:t>
            </a:r>
            <a:r>
              <a:rPr lang="en-US" altLang="zh-CN" sz="2000" b="1" kern="0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-&gt;</a:t>
            </a:r>
            <a:r>
              <a:rPr lang="zh-CN" altLang="en-US" sz="2000" b="1" kern="0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然后将结果返回给客户机</a:t>
            </a:r>
            <a:endParaRPr lang="zh-CN" altLang="en-US" sz="2000" b="1" kern="0" dirty="0" smtClean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 b="1" kern="0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socket(...);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bind(...);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while(1)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       {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       </a:t>
            </a:r>
            <a:r>
              <a:rPr lang="en-US" altLang="zh-CN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recvfrom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(...);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       process(...);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       </a:t>
            </a:r>
            <a:r>
              <a:rPr lang="en-US" altLang="zh-CN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sendto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(...);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       }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-342900" algn="l" defTabSz="9144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因为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UDP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是非面向连接的，没有一个客户端可以总是占用服务端，服务器对于每一个客户机的请求总是能够满足。</a:t>
            </a:r>
            <a:endParaRPr lang="zh-CN" altLang="en-US" sz="2000" kern="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server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并发服务器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226820"/>
            <a:ext cx="10695305" cy="50374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并发服务器的思想是每一个客户机的请求并不由服务器直接处理，而是由服务器创建一个子进程（线程）来处理。算法如下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endParaRPr lang="en-US" altLang="zh-CN" sz="2000" kern="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socket(...);</a:t>
            </a:r>
            <a:endParaRPr lang="en-US" altLang="zh-CN" kern="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bind(...);</a:t>
            </a:r>
            <a:endParaRPr lang="en-US" altLang="zh-CN" kern="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listen(...);</a:t>
            </a:r>
            <a:endParaRPr lang="en-US" altLang="zh-CN" kern="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while(1) {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	accept(...);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	if(fork(..)==0) {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  			process(...);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   			close(...);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			exit(...);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	}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	close(...);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}</a:t>
            </a:r>
            <a:endParaRPr lang="en-US" altLang="zh-CN" kern="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select</a:t>
                </a:r>
                <a:endParaRPr lang="en-US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select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多路复用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IO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411605"/>
            <a:ext cx="991997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阻塞函数在完成其指定的任务以前不允许程序继续向下执行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例如：当服务器运行到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accept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语句时，而没有客户请求连接，服务器就会停止在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accept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语句上等待连接请求的到来。这种情况称为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阻塞（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blocking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，而非阻塞操作则可以立即完成。例如，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如果你希望服务器仅仅检查是否有客户在等待连接，有就接受连接，否则就继续做其他事情，则可以通过使用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系统调用来实现。除此之外，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还可以同时监视多个套接字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有三个函数可以完成类似的功能：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 poll epoll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select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select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系统调用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509395"/>
            <a:ext cx="1056957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select(int maxfd, fd_set *readfds, fd_set *writefds, fe_set *exceptfds, const struct timeval *timeout)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maxfd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：文件描述符的范围，比待检的最大文件描述符大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readfds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被读监控的文件描述符集；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writefds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被写监控的文件描述符集；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exceptfds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被异常监控的文件描述符集；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timeout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定时器。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select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select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系统调用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467485"/>
            <a:ext cx="1121854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timeout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取不同的值，该调用有不同的表现：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timeout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值为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，不管是否有文件满足要求，都立刻返回，无文件满足要求返回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，有文件满足要求返回一个正值；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timeout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将阻塞进程，直到某个文件满足要求；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timeout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值为正整数，就是等待的最长时间，即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timeout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时间内阻塞进程。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 timeval {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long    tv_sec;         /* seconds */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long    tv_usec;        /* microseconds */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};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select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select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系统调用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735455"/>
            <a:ext cx="371157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使用步骤：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设置要监控的文件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调用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开始监控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判断文件是否发生变化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select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select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系统调用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3540" y="1178560"/>
            <a:ext cx="1097470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系统提供了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个宏对描述符集进行操作：</a:t>
            </a:r>
            <a:endParaRPr kumimoji="0" lang="zh-CN" altLang="en-US" sz="2000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 &lt;sys/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select.h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</a:t>
            </a:r>
            <a:endParaRPr kumimoji="0" lang="en-US" altLang="zh-CN" sz="2000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FD_SET(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fd_set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fdset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   //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宏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FD_SET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将文件描述符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添加到文件描述符集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fdset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中；</a:t>
            </a:r>
            <a:endParaRPr kumimoji="0" lang="en-US" altLang="zh-CN" sz="2000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FD_CLR(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fd_set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fdset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  //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宏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FD_CLR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从文件描述符集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fdset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中清除文件描述符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kumimoji="0" lang="en-US" altLang="zh-CN" sz="2000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FD_ZERO(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fd_set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fdset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          //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宏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FD_ZERO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清空文件描述符集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fdset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kumimoji="0" lang="en-US" altLang="zh-CN" sz="2000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FD_ISSET(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fd_set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fdset</a:t>
            </a:r>
            <a:r>
              <a:rPr lang="en-US" altLang="zh-CN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 //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检测文件描述符集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fdset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中的文件</a:t>
            </a:r>
            <a:r>
              <a:rPr lang="en-US" altLang="zh-CN" sz="2000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</a:t>
            </a: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发生了变化</a:t>
            </a:r>
            <a:endParaRPr kumimoji="0" lang="en-US" altLang="zh-CN" sz="2000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kumimoji="0" lang="zh-CN" altLang="en-US" sz="2000" b="0" i="0" u="none" strike="noStrike" kern="0" cap="none" spc="0" normalizeH="0" baseline="0" noProof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epoll</a:t>
                </a:r>
                <a:endParaRPr 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epoll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epoll</a:t>
              </a:r>
              <a:r>
                <a:rPr lang="zh-CN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系统调用</a:t>
              </a:r>
              <a:endParaRPr lang="zh-CN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0425" y="1452880"/>
            <a:ext cx="102031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select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系统调用的特点是：每当有文件描述符可读（可写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异常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），都会触发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select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select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的缺点在于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需要逐个检查集合中的文件描述符，所以如果集合中的文件描述符过多，会导致程序执行效率比较低。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epoll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解决了这个问题。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当有文件描述符可读（可写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异常）的时候，不再需要逐个遍历，而是通过信号的方式直接触发。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很多高并发的场景都用到了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epoll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epoll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epoll</a:t>
              </a:r>
              <a:r>
                <a:rPr lang="zh-CN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系统调用</a:t>
              </a:r>
              <a:endParaRPr lang="zh-CN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0425" y="1452880"/>
            <a:ext cx="102031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#include &lt;sys/epoll.h&gt;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int epoll_create(int size);   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//</a:t>
            </a:r>
            <a:r>
              <a:rPr lang="zh-CN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创建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epoll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int epoll_ctl(int epfd, int op, int fd, struct epoll_event *event); 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//</a:t>
            </a:r>
            <a:r>
              <a:rPr lang="zh-CN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epoll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int epoll_wait(int epfd, struct epoll_event *events,int maxevents, int timeout);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//</a:t>
            </a:r>
            <a:r>
              <a:rPr lang="zh-CN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监听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epoll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PART04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libevent</a:t>
                </a:r>
                <a:endParaRPr lang="en-US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libevent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libevent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概述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38600" y="2299335"/>
          <a:ext cx="2543810" cy="174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2" imgW="971550" imgH="666750" progId="Package">
                  <p:embed/>
                </p:oleObj>
              </mc:Choice>
              <mc:Fallback>
                <p:oleObj name="" showAsIcon="1" r:id="rId2" imgW="971550" imgH="66675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38600" y="2299335"/>
                        <a:ext cx="2543810" cy="1745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43940" y="1410970"/>
            <a:ext cx="493903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安装思维导图打开附件！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sp>
        <p:nvSpPr>
          <p:cNvPr id="12" name="原创设计师QQ598969553      _12"/>
          <p:cNvSpPr>
            <a:spLocks noChangeArrowheads="1"/>
          </p:cNvSpPr>
          <p:nvPr/>
        </p:nvSpPr>
        <p:spPr bwMode="auto">
          <a:xfrm>
            <a:off x="4635500" y="2549525"/>
            <a:ext cx="2921000" cy="1769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rPr>
              <a:t>OVER</a:t>
            </a:r>
            <a:endParaRPr lang="en-US" altLang="zh-CN" sz="11500" dirty="0">
              <a:solidFill>
                <a:schemeClr val="bg1"/>
              </a:solidFill>
              <a:latin typeface="hakuyoxingshu7000" panose="02000600000000000000" pitchFamily="2" charset="-122"/>
              <a:ea typeface="hakuyoxingshu7000" panose="02000600000000000000" pitchFamily="2" charset="-122"/>
              <a:cs typeface="hakuyoxingshu7000" panose="02000600000000000000" pitchFamily="2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2593</Words>
  <Application>WPS 演示</Application>
  <PresentationFormat>宽屏</PresentationFormat>
  <Paragraphs>195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7" baseType="lpstr">
      <vt:lpstr>Arial</vt:lpstr>
      <vt:lpstr>宋体</vt:lpstr>
      <vt:lpstr>Wingdings</vt:lpstr>
      <vt:lpstr>文鼎习字体</vt:lpstr>
      <vt:lpstr>Nexa Light</vt:lpstr>
      <vt:lpstr>Vrinda</vt:lpstr>
      <vt:lpstr>华康少女文字W5(P)</vt:lpstr>
      <vt:lpstr>方正清刻本悦宋简体</vt:lpstr>
      <vt:lpstr>Arial</vt:lpstr>
      <vt:lpstr>华康海报体W12(P)</vt:lpstr>
      <vt:lpstr>微软雅黑</vt:lpstr>
      <vt:lpstr>华文细黑</vt:lpstr>
      <vt:lpstr>hakuyoxingshu7000</vt:lpstr>
      <vt:lpstr>Calibri</vt:lpstr>
      <vt:lpstr>Arial Unicode MS</vt:lpstr>
      <vt:lpstr>Calibri Light</vt:lpstr>
      <vt:lpstr>Segoe Print</vt:lpstr>
      <vt:lpstr>Office 主题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X6</cp:lastModifiedBy>
  <cp:revision>36</cp:revision>
  <dcterms:created xsi:type="dcterms:W3CDTF">2017-11-17T09:39:00Z</dcterms:created>
  <dcterms:modified xsi:type="dcterms:W3CDTF">2022-02-17T03:58:29Z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EF2CEC995BAB4AE4AC783673D29481C9</vt:lpwstr>
  </property>
</Properties>
</file>