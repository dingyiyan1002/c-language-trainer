
<file path=[Content_Types].xml><?xml version="1.0" encoding="utf-8"?>
<Types xmlns="http://schemas.openxmlformats.org/package/2006/content-types">
  <Default Extension="jpeg" ContentType="image/jpeg"/>
  <Default Extension="JPG" ContentType="image/.jpg"/>
  <Default Extension="wav" ContentType="audio/x-wav"/>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8"/>
  </p:handoutMasterIdLst>
  <p:sldIdLst>
    <p:sldId id="256" r:id="rId3"/>
    <p:sldId id="257" r:id="rId5"/>
    <p:sldId id="258" r:id="rId6"/>
    <p:sldId id="265" r:id="rId7"/>
    <p:sldId id="260" r:id="rId8"/>
    <p:sldId id="266" r:id="rId9"/>
    <p:sldId id="310" r:id="rId10"/>
    <p:sldId id="311" r:id="rId11"/>
    <p:sldId id="261" r:id="rId12"/>
    <p:sldId id="267" r:id="rId13"/>
    <p:sldId id="264" r:id="rId14"/>
    <p:sldId id="268" r:id="rId15"/>
    <p:sldId id="283" r:id="rId16"/>
    <p:sldId id="312" r:id="rId17"/>
    <p:sldId id="313" r:id="rId18"/>
    <p:sldId id="314" r:id="rId19"/>
    <p:sldId id="262" r:id="rId20"/>
    <p:sldId id="269" r:id="rId21"/>
    <p:sldId id="271" r:id="rId22"/>
    <p:sldId id="270" r:id="rId23"/>
    <p:sldId id="263" r:id="rId24"/>
    <p:sldId id="272" r:id="rId25"/>
    <p:sldId id="327" r:id="rId26"/>
    <p:sldId id="259"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4242"/>
    <a:srgbClr val="F6F5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1" d="100"/>
          <a:sy n="71" d="100"/>
        </p:scale>
        <p:origin x="696" y="60"/>
      </p:cViewPr>
      <p:guideLst>
        <p:guide orient="horz" pos="216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南京学益得智能科技有限公司</a:t>
            </a: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南京学益得智能科技有限公司</a:t>
            </a: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脚占位符 3"/>
          <p:cNvSpPr>
            <a:spLocks noGrp="1"/>
          </p:cNvSpPr>
          <p:nvPr>
            <p:ph type="ftr" sz="quarter" idx="4"/>
          </p:nvPr>
        </p:nvSpPr>
        <p:spPr/>
        <p:txBody>
          <a:bodyPr/>
          <a:p>
            <a:r>
              <a:rPr lang="zh-CN" altLang="en-US"/>
              <a:t>南京学益得智能科技有限公司</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南京学益得智能科技有限公司</a:t>
            </a:r>
            <a:endParaRPr lang="zh-CN" altLang="en-US"/>
          </a:p>
        </p:txBody>
      </p:sp>
      <p:sp>
        <p:nvSpPr>
          <p:cNvPr id="6" name="灯片编号占位符 5"/>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南京学益得智能科技有限公司</a:t>
            </a:r>
            <a:endParaRPr lang="zh-CN" altLang="en-US"/>
          </a:p>
        </p:txBody>
      </p:sp>
      <p:sp>
        <p:nvSpPr>
          <p:cNvPr id="6" name="灯片编号占位符 5"/>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南京学益得智能科技有限公司</a:t>
            </a:r>
            <a:endParaRPr lang="zh-CN" altLang="en-US"/>
          </a:p>
        </p:txBody>
      </p:sp>
      <p:sp>
        <p:nvSpPr>
          <p:cNvPr id="6" name="灯片编号占位符 5"/>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南京学益得智能科技有限公司</a:t>
            </a:r>
            <a:endParaRPr lang="zh-CN" altLang="en-US"/>
          </a:p>
        </p:txBody>
      </p:sp>
      <p:sp>
        <p:nvSpPr>
          <p:cNvPr id="7" name="灯片编号占位符 6"/>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南京学益得智能科技有限公司</a:t>
            </a:r>
            <a:endParaRPr lang="zh-CN" altLang="en-US"/>
          </a:p>
        </p:txBody>
      </p:sp>
      <p:sp>
        <p:nvSpPr>
          <p:cNvPr id="9" name="灯片编号占位符 8"/>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南京学益得智能科技有限公司</a:t>
            </a:r>
            <a:endParaRPr lang="zh-CN" altLang="en-US"/>
          </a:p>
        </p:txBody>
      </p:sp>
      <p:sp>
        <p:nvSpPr>
          <p:cNvPr id="5" name="灯片编号占位符 4"/>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南京学益得智能科技有限公司</a:t>
            </a:r>
            <a:endParaRPr lang="zh-CN" altLang="en-US"/>
          </a:p>
        </p:txBody>
      </p:sp>
      <p:sp>
        <p:nvSpPr>
          <p:cNvPr id="4" name="灯片编号占位符 3"/>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南京学益得智能科技有限公司</a:t>
            </a:r>
            <a:endParaRPr lang="zh-CN" altLang="en-US"/>
          </a:p>
        </p:txBody>
      </p:sp>
      <p:sp>
        <p:nvSpPr>
          <p:cNvPr id="7" name="灯片编号占位符 6"/>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南京学益得智能科技有限公司</a:t>
            </a:r>
            <a:endParaRPr lang="zh-CN" altLang="en-US"/>
          </a:p>
        </p:txBody>
      </p:sp>
      <p:sp>
        <p:nvSpPr>
          <p:cNvPr id="7" name="灯片编号占位符 6"/>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南京学益得智能科技有限公司</a:t>
            </a:r>
            <a:endParaRPr lang="zh-CN" altLang="en-US"/>
          </a:p>
        </p:txBody>
      </p:sp>
      <p:sp>
        <p:nvSpPr>
          <p:cNvPr id="6" name="灯片编号占位符 5"/>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4B2C48-D1EF-4FAE-888B-7D1797A0BCEE}"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南京学益得智能科技有限公司</a:t>
            </a:r>
            <a:endParaRPr lang="zh-CN" altLang="en-US"/>
          </a:p>
        </p:txBody>
      </p:sp>
      <p:sp>
        <p:nvSpPr>
          <p:cNvPr id="6" name="灯片编号占位符 5"/>
          <p:cNvSpPr>
            <a:spLocks noGrp="1"/>
          </p:cNvSpPr>
          <p:nvPr>
            <p:ph type="sldNum" sz="quarter" idx="12"/>
          </p:nvPr>
        </p:nvSpPr>
        <p:spPr/>
        <p:txBody>
          <a:bodyPr/>
          <a:lstStyle/>
          <a:p>
            <a:fld id="{7621DB3D-0507-4988-B3B7-DA2DB48C2F2E}" type="slidenum">
              <a:rPr lang="zh-CN" altLang="en-US" smtClean="0"/>
            </a:fld>
            <a:endParaRPr lang="zh-CN" alt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4B2C48-D1EF-4FAE-888B-7D1797A0BCE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南京学益得智能科技有限公司</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1DB3D-0507-4988-B3B7-DA2DB48C2F2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emf"/></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2.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2.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文本框 3"/>
          <p:cNvSpPr txBox="1"/>
          <p:nvPr/>
        </p:nvSpPr>
        <p:spPr>
          <a:xfrm>
            <a:off x="2135407" y="2657915"/>
            <a:ext cx="8203140" cy="1106805"/>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zh-CN" altLang="en-US" sz="6600" spc="225" dirty="0">
                <a:ln>
                  <a:solidFill>
                    <a:schemeClr val="bg1"/>
                  </a:solidFill>
                </a:ln>
                <a:solidFill>
                  <a:srgbClr val="F6F5F6"/>
                </a:solidFill>
                <a:effectLst>
                  <a:outerShdw blurRad="38100" dist="38100" dir="2700000" algn="tl">
                    <a:srgbClr val="000000">
                      <a:alpha val="43137"/>
                    </a:srgbClr>
                  </a:outerShdw>
                </a:effectLst>
                <a:latin typeface="文鼎习字体" panose="020B0602010101010101" pitchFamily="33" charset="-122"/>
                <a:ea typeface="文鼎习字体" panose="020B0602010101010101" pitchFamily="33" charset="-122"/>
              </a:rPr>
              <a:t>高级指针</a:t>
            </a:r>
            <a:endParaRPr lang="zh-CN" altLang="en-US" sz="6600" spc="225" dirty="0">
              <a:ln>
                <a:solidFill>
                  <a:schemeClr val="bg1"/>
                </a:solidFill>
              </a:ln>
              <a:solidFill>
                <a:srgbClr val="F6F5F6"/>
              </a:solidFill>
              <a:effectLst>
                <a:outerShdw blurRad="38100" dist="38100" dir="2700000" algn="tl">
                  <a:srgbClr val="000000">
                    <a:alpha val="43137"/>
                  </a:srgbClr>
                </a:outerShdw>
              </a:effectLst>
              <a:latin typeface="文鼎习字体" panose="020B0602010101010101" pitchFamily="33" charset="-122"/>
              <a:ea typeface="文鼎习字体" panose="020B0602010101010101" pitchFamily="33" charset="-122"/>
            </a:endParaRPr>
          </a:p>
        </p:txBody>
      </p:sp>
      <p:sp>
        <p:nvSpPr>
          <p:cNvPr id="2" name="页脚占位符 1"/>
          <p:cNvSpPr>
            <a:spLocks noGrp="1"/>
          </p:cNvSpPr>
          <p:nvPr>
            <p:ph type="ftr" sz="quarter" idx="11"/>
          </p:nvPr>
        </p:nvSpPr>
        <p:spPr>
          <a:xfrm>
            <a:off x="4038600" y="6243320"/>
            <a:ext cx="4114800" cy="365125"/>
          </a:xfrm>
        </p:spPr>
        <p:txBody>
          <a:bodyPr/>
          <a:p>
            <a:r>
              <a:rPr lang="zh-CN" altLang="en-US"/>
              <a:t>南京学益得智能科技有限公司</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页脚占位符 1"/>
          <p:cNvSpPr>
            <a:spLocks noGrp="1"/>
          </p:cNvSpPr>
          <p:nvPr>
            <p:ph type="ftr" sz="quarter" idx="11"/>
          </p:nvPr>
        </p:nvSpPr>
        <p:spPr>
          <a:xfrm>
            <a:off x="4038600" y="6229350"/>
            <a:ext cx="4114800" cy="365125"/>
          </a:xfrm>
        </p:spPr>
        <p:txBody>
          <a:bodyPr/>
          <a:p>
            <a:r>
              <a:rPr lang="zh-CN" altLang="en-US"/>
              <a:t>南京学益得智能科技有限公司</a:t>
            </a:r>
            <a:endParaRPr lang="zh-CN" altLang="en-US"/>
          </a:p>
        </p:txBody>
      </p:sp>
      <p:sp>
        <p:nvSpPr>
          <p:cNvPr id="20" name="文本框 16"/>
          <p:cNvSpPr txBox="1"/>
          <p:nvPr/>
        </p:nvSpPr>
        <p:spPr>
          <a:xfrm>
            <a:off x="5306265" y="2102679"/>
            <a:ext cx="386080" cy="583566"/>
          </a:xfrm>
          <a:prstGeom prst="rect">
            <a:avLst/>
          </a:prstGeom>
          <a:noFill/>
        </p:spPr>
        <p:txBody>
          <a:bodyPr wrap="none">
            <a:spAutoFit/>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R="0" algn="ctr" defTabSz="685800" rtl="0" fontAlgn="auto">
              <a:spcBef>
                <a:spcPts val="0"/>
              </a:spcBef>
              <a:spcAft>
                <a:spcPts val="0"/>
              </a:spcAft>
              <a:buClrTx/>
              <a:buSzTx/>
              <a:buFontTx/>
              <a:defRPr/>
            </a:pPr>
            <a:r>
              <a:rPr kumimoji="0" lang="en-US" altLang="zh-CN"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rPr>
              <a:t>1</a:t>
            </a:r>
            <a:endParaRPr kumimoji="0" lang="en-US" altLang="zh-CN"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endParaRPr>
          </a:p>
        </p:txBody>
      </p:sp>
      <p:sp>
        <p:nvSpPr>
          <p:cNvPr id="21" name="文本框 23"/>
          <p:cNvSpPr txBox="1"/>
          <p:nvPr/>
        </p:nvSpPr>
        <p:spPr>
          <a:xfrm>
            <a:off x="5306265" y="2795241"/>
            <a:ext cx="386080" cy="583566"/>
          </a:xfrm>
          <a:prstGeom prst="rect">
            <a:avLst/>
          </a:prstGeom>
          <a:noFill/>
        </p:spPr>
        <p:txBody>
          <a:bodyPr wrap="none">
            <a:spAutoFit/>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R="0" algn="ctr" defTabSz="685800" rtl="0" fontAlgn="auto">
              <a:spcBef>
                <a:spcPts val="0"/>
              </a:spcBef>
              <a:spcAft>
                <a:spcPts val="0"/>
              </a:spcAft>
              <a:buClrTx/>
              <a:buSzTx/>
              <a:buFontTx/>
              <a:defRPr/>
            </a:pPr>
            <a:r>
              <a:rPr kumimoji="0" lang="en-US" altLang="zh-CN"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rPr>
              <a:t>2</a:t>
            </a:r>
            <a:endParaRPr kumimoji="0" lang="zh-CN" altLang="en-US"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endParaRPr>
          </a:p>
        </p:txBody>
      </p:sp>
      <p:sp>
        <p:nvSpPr>
          <p:cNvPr id="22" name="文本框 16"/>
          <p:cNvSpPr txBox="1"/>
          <p:nvPr/>
        </p:nvSpPr>
        <p:spPr>
          <a:xfrm>
            <a:off x="5306265" y="3477983"/>
            <a:ext cx="386080" cy="583566"/>
          </a:xfrm>
          <a:prstGeom prst="rect">
            <a:avLst/>
          </a:prstGeom>
          <a:noFill/>
        </p:spPr>
        <p:txBody>
          <a:bodyPr wrap="none">
            <a:spAutoFit/>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R="0" algn="ctr" defTabSz="685800" rtl="0" fontAlgn="auto">
              <a:spcBef>
                <a:spcPts val="0"/>
              </a:spcBef>
              <a:spcAft>
                <a:spcPts val="0"/>
              </a:spcAft>
              <a:buClrTx/>
              <a:buSzTx/>
              <a:buFontTx/>
              <a:defRPr/>
            </a:pPr>
            <a:r>
              <a:rPr lang="en-US" altLang="zh-CN" sz="320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rPr>
              <a:t>3</a:t>
            </a:r>
            <a:endParaRPr kumimoji="0" lang="zh-CN" altLang="en-US"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endParaRPr>
          </a:p>
        </p:txBody>
      </p:sp>
      <p:sp>
        <p:nvSpPr>
          <p:cNvPr id="23" name="文本框 23"/>
          <p:cNvSpPr txBox="1"/>
          <p:nvPr/>
        </p:nvSpPr>
        <p:spPr>
          <a:xfrm>
            <a:off x="5306265" y="4170545"/>
            <a:ext cx="386080" cy="583566"/>
          </a:xfrm>
          <a:prstGeom prst="rect">
            <a:avLst/>
          </a:prstGeom>
          <a:noFill/>
        </p:spPr>
        <p:txBody>
          <a:bodyPr wrap="none">
            <a:spAutoFit/>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R="0" algn="ctr" defTabSz="685800" rtl="0" fontAlgn="auto">
              <a:spcBef>
                <a:spcPts val="0"/>
              </a:spcBef>
              <a:spcAft>
                <a:spcPts val="0"/>
              </a:spcAft>
              <a:buClrTx/>
              <a:buSzTx/>
              <a:buFontTx/>
              <a:defRPr/>
            </a:pPr>
            <a:r>
              <a:rPr lang="en-US" altLang="zh-CN" sz="320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rPr>
              <a:t>4</a:t>
            </a:r>
            <a:endParaRPr kumimoji="0" lang="zh-CN" altLang="en-US" sz="3200" kern="1200" cap="none" spc="0" normalizeH="0" baseline="0" noProof="0" dirty="0">
              <a:solidFill>
                <a:srgbClr val="F6F5F6"/>
              </a:solidFill>
              <a:latin typeface="方正清刻本悦宋简体" panose="02000000000000000000" pitchFamily="2" charset="-122"/>
              <a:ea typeface="方正清刻本悦宋简体" panose="02000000000000000000" pitchFamily="2" charset="-122"/>
              <a:sym typeface="Arial" panose="020B0604020202020204"/>
            </a:endParaRPr>
          </a:p>
        </p:txBody>
      </p:sp>
      <p:cxnSp>
        <p:nvCxnSpPr>
          <p:cNvPr id="24" name="直接连接符 23"/>
          <p:cNvCxnSpPr/>
          <p:nvPr/>
        </p:nvCxnSpPr>
        <p:spPr>
          <a:xfrm>
            <a:off x="4924903" y="2209914"/>
            <a:ext cx="0" cy="24402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文本框 48"/>
          <p:cNvSpPr txBox="1">
            <a:spLocks noChangeArrowheads="1"/>
          </p:cNvSpPr>
          <p:nvPr/>
        </p:nvSpPr>
        <p:spPr bwMode="auto">
          <a:xfrm>
            <a:off x="6015198" y="2146494"/>
            <a:ext cx="3393440" cy="64516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l" defTabSz="685800" eaLnBrk="1" hangingPunct="1">
              <a:buClrTx/>
              <a:buSzTx/>
              <a:buFontTx/>
            </a:pPr>
            <a:r>
              <a:rPr lang="zh-CN" altLang="en-US" sz="3600" dirty="0">
                <a:solidFill>
                  <a:srgbClr val="F6F5F6"/>
                </a:solidFill>
                <a:latin typeface="方正清刻本悦宋简体" panose="02000000000000000000" pitchFamily="2" charset="-122"/>
                <a:ea typeface="方正清刻本悦宋简体" panose="02000000000000000000" pitchFamily="2" charset="-122"/>
              </a:rPr>
              <a:t>函数和指针</a:t>
            </a:r>
            <a:endParaRPr lang="zh-CN" altLang="en-US" sz="3600" dirty="0">
              <a:solidFill>
                <a:srgbClr val="F6F5F6"/>
              </a:solidFill>
              <a:latin typeface="方正清刻本悦宋简体" panose="02000000000000000000" pitchFamily="2" charset="-122"/>
              <a:ea typeface="方正清刻本悦宋简体" panose="02000000000000000000" pitchFamily="2" charset="-122"/>
            </a:endParaRPr>
          </a:p>
        </p:txBody>
      </p:sp>
      <p:sp>
        <p:nvSpPr>
          <p:cNvPr id="26" name="文本框 48"/>
          <p:cNvSpPr txBox="1">
            <a:spLocks noChangeArrowheads="1"/>
          </p:cNvSpPr>
          <p:nvPr/>
        </p:nvSpPr>
        <p:spPr bwMode="auto">
          <a:xfrm>
            <a:off x="6014563" y="2804989"/>
            <a:ext cx="3394075" cy="64516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l" defTabSz="685800" eaLnBrk="1" hangingPunct="1">
              <a:buClrTx/>
              <a:buSzTx/>
              <a:buFontTx/>
            </a:pPr>
            <a:r>
              <a:rPr lang="zh-CN" altLang="en-US" sz="3600" dirty="0">
                <a:solidFill>
                  <a:srgbClr val="F6F5F6"/>
                </a:solidFill>
                <a:latin typeface="方正清刻本悦宋简体" panose="02000000000000000000" pitchFamily="2" charset="-122"/>
                <a:ea typeface="方正清刻本悦宋简体" panose="02000000000000000000" pitchFamily="2" charset="-122"/>
              </a:rPr>
              <a:t>指针和数组</a:t>
            </a:r>
            <a:endParaRPr lang="zh-CN" altLang="en-US" sz="3600" dirty="0">
              <a:solidFill>
                <a:srgbClr val="F6F5F6"/>
              </a:solidFill>
              <a:latin typeface="方正清刻本悦宋简体" panose="02000000000000000000" pitchFamily="2" charset="-122"/>
              <a:ea typeface="方正清刻本悦宋简体" panose="02000000000000000000" pitchFamily="2" charset="-122"/>
            </a:endParaRPr>
          </a:p>
        </p:txBody>
      </p:sp>
      <p:sp>
        <p:nvSpPr>
          <p:cNvPr id="27" name="文本框 48"/>
          <p:cNvSpPr txBox="1">
            <a:spLocks noChangeArrowheads="1"/>
          </p:cNvSpPr>
          <p:nvPr/>
        </p:nvSpPr>
        <p:spPr bwMode="auto">
          <a:xfrm>
            <a:off x="6014563" y="3528889"/>
            <a:ext cx="3394075" cy="64516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l" defTabSz="685800" eaLnBrk="1" hangingPunct="1">
              <a:buClrTx/>
              <a:buSzTx/>
              <a:buFontTx/>
            </a:pPr>
            <a:r>
              <a:rPr lang="zh-CN" altLang="en-US" sz="3600" dirty="0">
                <a:solidFill>
                  <a:srgbClr val="F6F5F6"/>
                </a:solidFill>
                <a:latin typeface="方正清刻本悦宋简体" panose="02000000000000000000" pitchFamily="2" charset="-122"/>
                <a:ea typeface="方正清刻本悦宋简体" panose="02000000000000000000" pitchFamily="2" charset="-122"/>
              </a:rPr>
              <a:t>指针的指针</a:t>
            </a:r>
            <a:endParaRPr lang="zh-CN" altLang="en-US" sz="3600" dirty="0">
              <a:solidFill>
                <a:srgbClr val="F6F5F6"/>
              </a:solidFill>
              <a:latin typeface="方正清刻本悦宋简体" panose="02000000000000000000" pitchFamily="2" charset="-122"/>
              <a:ea typeface="方正清刻本悦宋简体" panose="02000000000000000000" pitchFamily="2" charset="-122"/>
            </a:endParaRPr>
          </a:p>
        </p:txBody>
      </p:sp>
      <p:sp>
        <p:nvSpPr>
          <p:cNvPr id="28" name="文本框 48"/>
          <p:cNvSpPr txBox="1">
            <a:spLocks noChangeArrowheads="1"/>
          </p:cNvSpPr>
          <p:nvPr/>
        </p:nvSpPr>
        <p:spPr bwMode="auto">
          <a:xfrm>
            <a:off x="6015832" y="4238183"/>
            <a:ext cx="3392806" cy="64516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l" defTabSz="685800" eaLnBrk="1" hangingPunct="1">
              <a:buClrTx/>
              <a:buSzTx/>
              <a:buFontTx/>
            </a:pPr>
            <a:r>
              <a:rPr lang="zh-CN" altLang="en-US" sz="3600" dirty="0">
                <a:solidFill>
                  <a:srgbClr val="F6F5F6"/>
                </a:solidFill>
                <a:latin typeface="方正清刻本悦宋简体" panose="02000000000000000000" pitchFamily="2" charset="-122"/>
                <a:ea typeface="方正清刻本悦宋简体" panose="02000000000000000000" pitchFamily="2" charset="-122"/>
              </a:rPr>
              <a:t>编程训练</a:t>
            </a:r>
            <a:endParaRPr lang="zh-CN" altLang="en-US" sz="3600" dirty="0">
              <a:solidFill>
                <a:srgbClr val="F6F5F6"/>
              </a:solidFill>
              <a:latin typeface="方正清刻本悦宋简体" panose="02000000000000000000" pitchFamily="2" charset="-122"/>
              <a:ea typeface="方正清刻本悦宋简体" panose="02000000000000000000" pitchFamily="2" charset="-122"/>
            </a:endParaRPr>
          </a:p>
        </p:txBody>
      </p:sp>
      <p:sp>
        <p:nvSpPr>
          <p:cNvPr id="30" name="文本框 16"/>
          <p:cNvSpPr txBox="1"/>
          <p:nvPr/>
        </p:nvSpPr>
        <p:spPr>
          <a:xfrm>
            <a:off x="2304029" y="2102240"/>
            <a:ext cx="2142084" cy="1200329"/>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zh-CN" altLang="en-US" sz="3600" dirty="0">
                <a:solidFill>
                  <a:srgbClr val="F6F5F6"/>
                </a:solidFill>
                <a:latin typeface="方正清刻本悦宋简体" panose="02000000000000000000" pitchFamily="2" charset="-122"/>
                <a:ea typeface="方正清刻本悦宋简体" panose="02000000000000000000" pitchFamily="2" charset="-122"/>
              </a:rPr>
              <a:t>目录 </a:t>
            </a:r>
            <a:r>
              <a:rPr lang="en-US" altLang="zh-CN" sz="3600" dirty="0" smtClean="0">
                <a:solidFill>
                  <a:srgbClr val="F6F5F6"/>
                </a:solidFill>
                <a:latin typeface="方正清刻本悦宋简体" panose="02000000000000000000" pitchFamily="2" charset="-122"/>
                <a:ea typeface="方正清刻本悦宋简体" panose="02000000000000000000" pitchFamily="2" charset="-122"/>
              </a:rPr>
              <a:t> </a:t>
            </a:r>
            <a:r>
              <a:rPr lang="en-US" altLang="zh-CN" sz="3200" dirty="0">
                <a:solidFill>
                  <a:srgbClr val="F6F5F6"/>
                </a:solidFill>
                <a:latin typeface="方正清刻本悦宋简体" panose="02000000000000000000" pitchFamily="2" charset="-122"/>
                <a:ea typeface="方正清刻本悦宋简体" panose="02000000000000000000" pitchFamily="2" charset="-122"/>
              </a:rPr>
              <a:t>Contents</a:t>
            </a:r>
            <a:r>
              <a:rPr lang="en-US" altLang="zh-CN" sz="3600" dirty="0">
                <a:solidFill>
                  <a:srgbClr val="F6F5F6"/>
                </a:solidFill>
                <a:latin typeface="方正清刻本悦宋简体" panose="02000000000000000000" pitchFamily="2" charset="-122"/>
                <a:ea typeface="方正清刻本悦宋简体" panose="02000000000000000000" pitchFamily="2" charset="-122"/>
              </a:rPr>
              <a:t> </a:t>
            </a:r>
            <a:endParaRPr lang="zh-CN" altLang="en-US" sz="3600" dirty="0">
              <a:solidFill>
                <a:srgbClr val="F6F5F6"/>
              </a:solidFill>
              <a:latin typeface="方正清刻本悦宋简体" panose="02000000000000000000" pitchFamily="2" charset="-122"/>
              <a:ea typeface="方正清刻本悦宋简体" panose="020000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325"/>
            <a:ext cx="12192000" cy="6858000"/>
          </a:xfrm>
          <a:prstGeom prst="rect">
            <a:avLst/>
          </a:prstGeom>
        </p:spPr>
      </p:pic>
      <p:grpSp>
        <p:nvGrpSpPr>
          <p:cNvPr id="35" name="组合 34"/>
          <p:cNvGrpSpPr/>
          <p:nvPr/>
        </p:nvGrpSpPr>
        <p:grpSpPr>
          <a:xfrm>
            <a:off x="3800395" y="2721403"/>
            <a:ext cx="5029913" cy="1351107"/>
            <a:chOff x="3800395" y="2721403"/>
            <a:chExt cx="5029913" cy="1351107"/>
          </a:xfrm>
        </p:grpSpPr>
        <p:grpSp>
          <p:nvGrpSpPr>
            <p:cNvPr id="27" name="组合 26"/>
            <p:cNvGrpSpPr/>
            <p:nvPr/>
          </p:nvGrpSpPr>
          <p:grpSpPr>
            <a:xfrm rot="21524908">
              <a:off x="3800395" y="2771316"/>
              <a:ext cx="1128713" cy="1128712"/>
              <a:chOff x="2558424" y="1401428"/>
              <a:chExt cx="1318727" cy="1318727"/>
            </a:xfrm>
          </p:grpSpPr>
          <p:sp>
            <p:nvSpPr>
              <p:cNvPr id="28" name="椭圆 27"/>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sym typeface="Arial" panose="020B0604020202020204"/>
                </a:endParaRPr>
              </a:p>
            </p:txBody>
          </p:sp>
          <p:sp>
            <p:nvSpPr>
              <p:cNvPr id="29"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sym typeface="Arial" panose="020B0604020202020204"/>
                </a:endParaRPr>
              </a:p>
            </p:txBody>
          </p:sp>
        </p:grpSp>
        <p:grpSp>
          <p:nvGrpSpPr>
            <p:cNvPr id="30" name="组合 29"/>
            <p:cNvGrpSpPr/>
            <p:nvPr/>
          </p:nvGrpSpPr>
          <p:grpSpPr>
            <a:xfrm rot="26108">
              <a:off x="4755150" y="2721403"/>
              <a:ext cx="4075158" cy="1351107"/>
              <a:chOff x="303880" y="2324855"/>
              <a:chExt cx="4075158" cy="1351107"/>
            </a:xfrm>
          </p:grpSpPr>
          <p:sp>
            <p:nvSpPr>
              <p:cNvPr id="31" name="文本框 30"/>
              <p:cNvSpPr txBox="1"/>
              <p:nvPr/>
            </p:nvSpPr>
            <p:spPr>
              <a:xfrm rot="21573892">
                <a:off x="907028" y="2324855"/>
                <a:ext cx="2858135" cy="830997"/>
              </a:xfrm>
              <a:prstGeom prst="rect">
                <a:avLst/>
              </a:prstGeom>
              <a:noFill/>
            </p:spPr>
            <p:txBody>
              <a:bodyPr wrap="square" rtlCol="0">
                <a:spAutoFit/>
              </a:bodyPr>
              <a:lstStyle/>
              <a:p>
                <a:pPr algn="dist"/>
                <a:r>
                  <a:rPr lang="en-US" altLang="zh-CN" sz="4800" dirty="0" smtClean="0">
                    <a:solidFill>
                      <a:schemeClr val="bg1"/>
                    </a:solidFill>
                    <a:latin typeface="微软雅黑" panose="020B0503020204020204" charset="-122"/>
                    <a:ea typeface="微软雅黑" panose="020B0503020204020204" charset="-122"/>
                  </a:rPr>
                  <a:t>PART01</a:t>
                </a:r>
                <a:endParaRPr lang="en-US" altLang="zh-CN" sz="4800" dirty="0">
                  <a:solidFill>
                    <a:schemeClr val="bg1"/>
                  </a:solidFill>
                  <a:latin typeface="微软雅黑" panose="020B0503020204020204" charset="-122"/>
                  <a:ea typeface="微软雅黑" panose="020B0503020204020204" charset="-122"/>
                </a:endParaRPr>
              </a:p>
            </p:txBody>
          </p:sp>
          <p:sp>
            <p:nvSpPr>
              <p:cNvPr id="32" name="文本框 48"/>
              <p:cNvSpPr txBox="1">
                <a:spLocks noChangeArrowheads="1"/>
              </p:cNvSpPr>
              <p:nvPr/>
            </p:nvSpPr>
            <p:spPr bwMode="auto">
              <a:xfrm>
                <a:off x="303880" y="3215587"/>
                <a:ext cx="407515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defRPr/>
                </a:pPr>
                <a:r>
                  <a:rPr lang="zh-CN" altLang="id-ID" sz="2400" dirty="0">
                    <a:solidFill>
                      <a:schemeClr val="bg1"/>
                    </a:solidFill>
                    <a:latin typeface="微软雅黑" panose="020B0503020204020204" charset="-122"/>
                    <a:ea typeface="微软雅黑" panose="020B0503020204020204" charset="-122"/>
                  </a:rPr>
                  <a:t>函数和指针</a:t>
                </a:r>
                <a:endParaRPr lang="zh-CN" altLang="id-ID" sz="2400" dirty="0">
                  <a:solidFill>
                    <a:schemeClr val="bg1"/>
                  </a:solidFill>
                  <a:latin typeface="微软雅黑" panose="020B0503020204020204" charset="-122"/>
                  <a:ea typeface="微软雅黑" panose="020B0503020204020204" charset="-122"/>
                </a:endParaRPr>
              </a:p>
            </p:txBody>
          </p:sp>
        </p:grpSp>
      </p:grpSp>
      <p:sp>
        <p:nvSpPr>
          <p:cNvPr id="2" name="页脚占位符 1"/>
          <p:cNvSpPr>
            <a:spLocks noGrp="1"/>
          </p:cNvSpPr>
          <p:nvPr>
            <p:ph type="ftr" sz="quarter" idx="11"/>
          </p:nvPr>
        </p:nvSpPr>
        <p:spPr>
          <a:xfrm>
            <a:off x="4038600" y="6243955"/>
            <a:ext cx="4114800" cy="365125"/>
          </a:xfrm>
        </p:spPr>
        <p:txBody>
          <a:bodyPr/>
          <a:p>
            <a:r>
              <a:rPr lang="zh-CN" altLang="en-US"/>
              <a:t>南京学益得智能科技有限公司</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38100">
              <a:noFill/>
            </a:ln>
          </p:spPr>
        </p:pic>
        <p:sp>
          <p:nvSpPr>
            <p:cNvPr id="17" name="文本框 16"/>
            <p:cNvSpPr txBox="1"/>
            <p:nvPr/>
          </p:nvSpPr>
          <p:spPr>
            <a:xfrm>
              <a:off x="864959" y="402014"/>
              <a:ext cx="3505200" cy="368300"/>
            </a:xfrm>
            <a:prstGeom prst="rect">
              <a:avLst/>
            </a:prstGeom>
            <a:noFill/>
            <a:ln w="38100">
              <a:noFill/>
            </a:ln>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cs typeface="+mn-ea"/>
                  <a:sym typeface="+mn-lt"/>
                </a:rPr>
                <a:t>函数指针</a:t>
              </a:r>
              <a:endParaRPr lang="zh-CN" altLang="en-US" dirty="0">
                <a:solidFill>
                  <a:schemeClr val="bg1"/>
                </a:solidFill>
                <a:latin typeface="微软雅黑" panose="020B0503020204020204" charset="-122"/>
                <a:ea typeface="微软雅黑" panose="020B0503020204020204" charset="-122"/>
                <a:cs typeface="+mn-ea"/>
                <a:sym typeface="+mn-lt"/>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3" name="文本框 2"/>
          <p:cNvSpPr txBox="1"/>
          <p:nvPr/>
        </p:nvSpPr>
        <p:spPr>
          <a:xfrm>
            <a:off x="684530" y="1305560"/>
            <a:ext cx="10822940" cy="4246245"/>
          </a:xfrm>
          <a:prstGeom prst="rect">
            <a:avLst/>
          </a:prstGeom>
          <a:noFill/>
        </p:spPr>
        <p:txBody>
          <a:bodyPr wrap="square" rtlCol="0">
            <a:spAutoFit/>
          </a:bodyPr>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在Ｃ语言中，一个函数总是占用一段连续的内存区，而</a:t>
            </a: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rPr>
              <a:t>函数名就是该函数所占内存区的首地址</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把函数的这个首地址（函数入口地址）赋予一个指针变量，使该指针变量指向该函数。然后通过指针变量就可以找到并调用这个函数。我们把这种指向函数的指针变量称为“函数指针变量”。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函数指针变量定义的一般形式为：</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类型说明符 (*指针变量名)();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例如：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int (*pf)();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表示pf是一个指向函数入口的指针变量，该函数的返回值（函数值）是整型。</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函数指针</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864870" y="1136650"/>
            <a:ext cx="10201275" cy="4707890"/>
          </a:xfrm>
          <a:prstGeom prst="rect">
            <a:avLst/>
          </a:prstGeom>
          <a:noFill/>
        </p:spPr>
        <p:txBody>
          <a:bodyPr wrap="square" rtlCol="0">
            <a:spAutoFit/>
          </a:bodyPr>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例如：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int func(int a, int b)</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return a + b ;</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00000"/>
              </a:lnSpc>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int main()</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int (*pf)(int, int);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pf = func;                           //</a:t>
            </a:r>
            <a:r>
              <a:rPr lang="zh-CN"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将函数名（函数入口地址）赋值给指针</a:t>
            </a:r>
            <a:endParaRPr lang="zh-CN"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pf();                                    //</a:t>
            </a:r>
            <a:r>
              <a:rPr lang="zh-CN"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等价于    </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func();</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return 0;</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0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cs typeface="+mn-ea"/>
                  <a:sym typeface="+mn-lt"/>
                </a:rPr>
                <a:t>指针函数</a:t>
              </a:r>
              <a:endParaRPr lang="zh-CN" altLang="en-US" dirty="0">
                <a:solidFill>
                  <a:schemeClr val="bg1"/>
                </a:solidFill>
                <a:latin typeface="微软雅黑" panose="020B0503020204020204" charset="-122"/>
                <a:ea typeface="微软雅黑" panose="020B0503020204020204" charset="-122"/>
                <a:cs typeface="+mn-ea"/>
                <a:sym typeface="+mn-lt"/>
              </a:endParaRPr>
            </a:p>
          </p:txBody>
        </p:sp>
      </p:grpSp>
      <p:sp>
        <p:nvSpPr>
          <p:cNvPr id="3" name="页脚占位符 2"/>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864870" y="1186815"/>
            <a:ext cx="10131425" cy="5169535"/>
          </a:xfrm>
          <a:prstGeom prst="rect">
            <a:avLst/>
          </a:prstGeom>
          <a:noFill/>
        </p:spPr>
        <p:txBody>
          <a:bodyPr wrap="square" rtlCol="0">
            <a:spAutoFit/>
          </a:bodyPr>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、指针函数是指</a:t>
            </a: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sym typeface="+mn-ea"/>
              </a:rPr>
              <a:t>返回值是指针的函数。</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在Ｃ语言中允许一个函数的返回值是一个指针（地址），这种返回指针值的函数称为指针型函数，简称指针函数。</a:t>
            </a: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rPr>
              <a:t>注意：不能返回局部变量的地址！！！</a:t>
            </a:r>
            <a:endParaRPr lang="zh-CN" altLang="en-US" sz="2000" dirty="0">
              <a:solidFill>
                <a:schemeClr val="accent2"/>
              </a:solidFill>
              <a:latin typeface="微软雅黑" panose="020B0503020204020204" charset="-122"/>
              <a:ea typeface="微软雅黑" panose="020B0503020204020204" charset="-122"/>
              <a:cs typeface="微软雅黑" panose="020B0503020204020204" charset="-122"/>
            </a:endParaRPr>
          </a:p>
          <a:p>
            <a:pPr>
              <a:lnSpc>
                <a:spcPct val="150000"/>
              </a:lnSpc>
              <a:buNone/>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、定义指针型函数的一般形式为：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类型说明符 *函数名(形参表)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/*函数体*/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其中函数名之前加了“*”号表明这是一个指针型函数，即返回值是一个指针。类型说明符表示了返回的指针值所指向的数据类型。</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cs typeface="+mn-ea"/>
                  <a:sym typeface="+mn-lt"/>
                </a:rPr>
                <a:t>经典笔试</a:t>
              </a:r>
              <a:endParaRPr lang="zh-CN" altLang="en-US" dirty="0">
                <a:solidFill>
                  <a:schemeClr val="bg1"/>
                </a:solidFill>
                <a:latin typeface="微软雅黑" panose="020B0503020204020204" charset="-122"/>
                <a:ea typeface="微软雅黑" panose="020B0503020204020204" charset="-122"/>
                <a:cs typeface="+mn-ea"/>
                <a:sym typeface="+mn-lt"/>
              </a:endParaRPr>
            </a:p>
          </p:txBody>
        </p:sp>
      </p:grpSp>
      <p:sp>
        <p:nvSpPr>
          <p:cNvPr id="3" name="页脚占位符 2"/>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864870" y="1186815"/>
            <a:ext cx="10131425" cy="4707890"/>
          </a:xfrm>
          <a:prstGeom prst="rect">
            <a:avLst/>
          </a:prstGeom>
          <a:noFill/>
        </p:spPr>
        <p:txBody>
          <a:bodyPr wrap="square" rtlCol="0">
            <a:spAutoFit/>
          </a:bodyPr>
          <a:p>
            <a:pPr>
              <a:lnSpc>
                <a:spcPct val="150000"/>
              </a:lnSpc>
            </a:pP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rPr>
              <a:t>int(*p)() 和 int *p()区别？</a:t>
            </a: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int (*p)()定义的是一个</a:t>
            </a: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sym typeface="+mn-ea"/>
              </a:rPr>
              <a:t>变量</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。表示p是一个指向函数入口的指针变量，该函数的返回值是整型，(*p)的两边的括号不能少。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int *p()则不是变量说明而是</a:t>
            </a: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sym typeface="+mn-ea"/>
              </a:rPr>
              <a:t>函数</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声明。说明p是一个指针型函数，其返回值是一个指向整型量的指针，*p两边没有括号。作为函数说明，在括号内最好写入形式参数，这样便于与变量说明区别。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对于指针型函数定义，int *p()只是函数头部分，一般还应该有函数体部分。</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cs typeface="+mn-ea"/>
                  <a:sym typeface="+mn-lt"/>
                </a:rPr>
                <a:t>经典笔试</a:t>
              </a:r>
              <a:endParaRPr lang="zh-CN" altLang="en-US" dirty="0">
                <a:solidFill>
                  <a:schemeClr val="bg1"/>
                </a:solidFill>
                <a:latin typeface="微软雅黑" panose="020B0503020204020204" charset="-122"/>
                <a:ea typeface="微软雅黑" panose="020B0503020204020204" charset="-122"/>
                <a:cs typeface="+mn-ea"/>
                <a:sym typeface="+mn-lt"/>
              </a:endParaRPr>
            </a:p>
          </p:txBody>
        </p:sp>
      </p:grpSp>
      <p:sp>
        <p:nvSpPr>
          <p:cNvPr id="3" name="页脚占位符 2"/>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864870" y="1186815"/>
            <a:ext cx="10131425" cy="1753235"/>
          </a:xfrm>
          <a:prstGeom prst="rect">
            <a:avLst/>
          </a:prstGeom>
          <a:noFill/>
        </p:spPr>
        <p:txBody>
          <a:bodyPr wrap="square" rtlCol="0">
            <a:spAutoFit/>
          </a:bodyPr>
          <a:p>
            <a:pPr>
              <a:lnSpc>
                <a:spcPct val="150000"/>
              </a:lnSpc>
            </a:pPr>
            <a:r>
              <a:rPr lang="zh-CN" altLang="en-US" sz="2400" dirty="0">
                <a:solidFill>
                  <a:schemeClr val="bg1"/>
                </a:solidFill>
                <a:latin typeface="微软雅黑" panose="020B0503020204020204" charset="-122"/>
                <a:ea typeface="微软雅黑" panose="020B0503020204020204" charset="-122"/>
                <a:cs typeface="微软雅黑" panose="020B0503020204020204" charset="-122"/>
                <a:sym typeface="+mn-ea"/>
              </a:rPr>
              <a:t>下面两个表达式什么意思？</a:t>
            </a: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zh-CN" altLang="en-US" sz="2400" dirty="0">
                <a:solidFill>
                  <a:schemeClr val="bg1"/>
                </a:solidFill>
                <a:latin typeface="微软雅黑" panose="020B0503020204020204" charset="-122"/>
                <a:ea typeface="微软雅黑" panose="020B0503020204020204" charset="-122"/>
                <a:cs typeface="微软雅黑" panose="020B0503020204020204" charset="-122"/>
                <a:sym typeface="+mn-ea"/>
              </a:rPr>
              <a:t>int *(*(*fp)(int))[10];</a:t>
            </a: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zh-CN" altLang="en-US" sz="2400" dirty="0">
                <a:solidFill>
                  <a:schemeClr val="bg1"/>
                </a:solidFill>
                <a:latin typeface="微软雅黑" panose="020B0503020204020204" charset="-122"/>
                <a:ea typeface="微软雅黑" panose="020B0503020204020204" charset="-122"/>
                <a:cs typeface="微软雅黑" panose="020B0503020204020204" charset="-122"/>
                <a:sym typeface="+mn-ea"/>
              </a:rPr>
              <a:t>int *(*(*array[5])())();</a:t>
            </a: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325"/>
            <a:ext cx="12192000" cy="6858000"/>
          </a:xfrm>
          <a:prstGeom prst="rect">
            <a:avLst/>
          </a:prstGeom>
        </p:spPr>
      </p:pic>
      <p:grpSp>
        <p:nvGrpSpPr>
          <p:cNvPr id="35" name="组合 34"/>
          <p:cNvGrpSpPr/>
          <p:nvPr/>
        </p:nvGrpSpPr>
        <p:grpSpPr>
          <a:xfrm>
            <a:off x="3800395" y="2721403"/>
            <a:ext cx="5029913" cy="1351107"/>
            <a:chOff x="3800395" y="2721403"/>
            <a:chExt cx="5029913" cy="1351107"/>
          </a:xfrm>
        </p:grpSpPr>
        <p:grpSp>
          <p:nvGrpSpPr>
            <p:cNvPr id="27" name="组合 26"/>
            <p:cNvGrpSpPr/>
            <p:nvPr/>
          </p:nvGrpSpPr>
          <p:grpSpPr>
            <a:xfrm rot="21524908">
              <a:off x="3800395" y="2771316"/>
              <a:ext cx="1128713" cy="1128712"/>
              <a:chOff x="2558424" y="1401428"/>
              <a:chExt cx="1318727" cy="1318727"/>
            </a:xfrm>
          </p:grpSpPr>
          <p:sp>
            <p:nvSpPr>
              <p:cNvPr id="28" name="椭圆 27"/>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sym typeface="Arial" panose="020B0604020202020204"/>
                </a:endParaRPr>
              </a:p>
            </p:txBody>
          </p:sp>
          <p:sp>
            <p:nvSpPr>
              <p:cNvPr id="29"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sym typeface="Arial" panose="020B0604020202020204"/>
                </a:endParaRPr>
              </a:p>
            </p:txBody>
          </p:sp>
        </p:grpSp>
        <p:grpSp>
          <p:nvGrpSpPr>
            <p:cNvPr id="30" name="组合 29"/>
            <p:cNvGrpSpPr/>
            <p:nvPr/>
          </p:nvGrpSpPr>
          <p:grpSpPr>
            <a:xfrm rot="26108">
              <a:off x="4755150" y="2721403"/>
              <a:ext cx="4075158" cy="1351107"/>
              <a:chOff x="303880" y="2324855"/>
              <a:chExt cx="4075158" cy="1351107"/>
            </a:xfrm>
          </p:grpSpPr>
          <p:sp>
            <p:nvSpPr>
              <p:cNvPr id="31" name="文本框 30"/>
              <p:cNvSpPr txBox="1"/>
              <p:nvPr/>
            </p:nvSpPr>
            <p:spPr>
              <a:xfrm rot="21573892">
                <a:off x="907028" y="2324855"/>
                <a:ext cx="2858135" cy="830997"/>
              </a:xfrm>
              <a:prstGeom prst="rect">
                <a:avLst/>
              </a:prstGeom>
              <a:noFill/>
            </p:spPr>
            <p:txBody>
              <a:bodyPr wrap="square" rtlCol="0">
                <a:spAutoFit/>
              </a:bodyPr>
              <a:lstStyle/>
              <a:p>
                <a:pPr algn="dist"/>
                <a:r>
                  <a:rPr lang="en-US" altLang="zh-CN" sz="4800" dirty="0" smtClean="0">
                    <a:solidFill>
                      <a:schemeClr val="bg1"/>
                    </a:solidFill>
                    <a:latin typeface="微软雅黑" panose="020B0503020204020204" charset="-122"/>
                    <a:ea typeface="微软雅黑" panose="020B0503020204020204" charset="-122"/>
                  </a:rPr>
                  <a:t>PART02</a:t>
                </a:r>
                <a:endParaRPr lang="en-US" altLang="zh-CN" sz="4800" dirty="0">
                  <a:solidFill>
                    <a:schemeClr val="bg1"/>
                  </a:solidFill>
                  <a:latin typeface="微软雅黑" panose="020B0503020204020204" charset="-122"/>
                  <a:ea typeface="微软雅黑" panose="020B0503020204020204" charset="-122"/>
                </a:endParaRPr>
              </a:p>
            </p:txBody>
          </p:sp>
          <p:sp>
            <p:nvSpPr>
              <p:cNvPr id="32" name="文本框 48"/>
              <p:cNvSpPr txBox="1">
                <a:spLocks noChangeArrowheads="1"/>
              </p:cNvSpPr>
              <p:nvPr/>
            </p:nvSpPr>
            <p:spPr bwMode="auto">
              <a:xfrm>
                <a:off x="303880" y="3215587"/>
                <a:ext cx="407515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defRPr/>
                </a:pPr>
                <a:r>
                  <a:rPr lang="zh-CN" altLang="id-ID" sz="2400" dirty="0">
                    <a:solidFill>
                      <a:schemeClr val="bg1"/>
                    </a:solidFill>
                    <a:latin typeface="微软雅黑" panose="020B0503020204020204" charset="-122"/>
                    <a:ea typeface="微软雅黑" panose="020B0503020204020204" charset="-122"/>
                  </a:rPr>
                  <a:t>指针和数组</a:t>
                </a:r>
                <a:endParaRPr lang="zh-CN" altLang="id-ID" sz="2400" dirty="0">
                  <a:solidFill>
                    <a:schemeClr val="bg1"/>
                  </a:solidFill>
                  <a:latin typeface="微软雅黑" panose="020B0503020204020204" charset="-122"/>
                  <a:ea typeface="微软雅黑" panose="020B0503020204020204" charset="-122"/>
                </a:endParaRPr>
              </a:p>
            </p:txBody>
          </p:sp>
        </p:grpSp>
      </p:grpSp>
      <p:sp>
        <p:nvSpPr>
          <p:cNvPr id="2" name="页脚占位符 1"/>
          <p:cNvSpPr>
            <a:spLocks noGrp="1"/>
          </p:cNvSpPr>
          <p:nvPr>
            <p:ph type="ftr" sz="quarter" idx="11"/>
          </p:nvPr>
        </p:nvSpPr>
        <p:spPr>
          <a:xfrm>
            <a:off x="4038600" y="6229350"/>
            <a:ext cx="4114800" cy="365125"/>
          </a:xfrm>
        </p:spPr>
        <p:txBody>
          <a:bodyPr/>
          <a:p>
            <a:r>
              <a:rPr lang="zh-CN" altLang="en-US"/>
              <a:t>南京学益得智能科技有限公司</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指针数组</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5" name="文本框 4"/>
          <p:cNvSpPr txBox="1"/>
          <p:nvPr/>
        </p:nvSpPr>
        <p:spPr>
          <a:xfrm>
            <a:off x="864870" y="1255395"/>
            <a:ext cx="8876030" cy="4707890"/>
          </a:xfrm>
          <a:prstGeom prst="rect">
            <a:avLst/>
          </a:prstGeom>
          <a:noFill/>
        </p:spPr>
        <p:txBody>
          <a:bodyPr wrap="square" rtlCol="0">
            <a:spAutoFit/>
          </a:bodyPr>
          <a:p>
            <a:pPr>
              <a:lnSpc>
                <a:spcPct val="150000"/>
              </a:lnSpc>
            </a:pP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rPr>
              <a:t>指针数组是数组！</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一个数组的元素值为指针，则该数组是指针数组。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指针数组的所有元素都必须是具有相同存储类型和指向相同数据类型的指针变量。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指针数组说明的一般形式为：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类型说明符 *数组名[数组长度]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其中类型说明符为指针所指向的变量的类型。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例如： int *pa[3]；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表示pa是一个指针数组，它有三个元素，每个元素值都是一个指针，指向整型变量。</a:t>
            </a:r>
            <a:r>
              <a:rPr lang="zh-CN" altLang="en-US" sz="2000" dirty="0" smtClean="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zh-CN" altLang="en-US" sz="2000" b="1"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36518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数组指针</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1122045" y="1389380"/>
            <a:ext cx="7719060" cy="398780"/>
          </a:xfrm>
          <a:prstGeom prst="rect">
            <a:avLst/>
          </a:prstGeom>
          <a:noFill/>
        </p:spPr>
        <p:txBody>
          <a:bodyPr wrap="square" rtlCol="0">
            <a:spAutoFit/>
          </a:bodyPr>
          <a:p>
            <a:pPr indent="0" eaLnBrk="1" hangingPunct="1">
              <a:spcBef>
                <a:spcPct val="20000"/>
              </a:spcBef>
              <a:buClr>
                <a:schemeClr val="accent1"/>
              </a:buClr>
              <a:buFont typeface="Wingdings" panose="05000000000000000000" pitchFamily="2" charset="2"/>
              <a:buNone/>
            </a:pPr>
            <a:r>
              <a:rPr lang="zh-CN" altLang="en-US" sz="2000" b="1" dirty="0">
                <a:solidFill>
                  <a:schemeClr val="accent2"/>
                </a:solidFill>
                <a:latin typeface="微软雅黑" panose="020B0503020204020204" charset="-122"/>
                <a:ea typeface="微软雅黑" panose="020B0503020204020204" charset="-122"/>
                <a:cs typeface="+mn-ea"/>
                <a:sym typeface="+mn-ea"/>
              </a:rPr>
              <a:t>数组指针是一个指针！</a:t>
            </a:r>
            <a:r>
              <a:rPr lang="zh-CN" altLang="en-US" sz="2000" dirty="0">
                <a:solidFill>
                  <a:schemeClr val="bg1"/>
                </a:solidFill>
                <a:latin typeface="微软雅黑" panose="020B0503020204020204" charset="-122"/>
                <a:ea typeface="微软雅黑" panose="020B0503020204020204" charset="-122"/>
                <a:cs typeface="+mn-ea"/>
                <a:sym typeface="+mn-ea"/>
              </a:rPr>
              <a:t>该指针指向数组（一维或二维都可以）。</a:t>
            </a:r>
            <a:endParaRPr lang="zh-CN" altLang="en-US" sz="2000" dirty="0">
              <a:solidFill>
                <a:schemeClr val="bg1"/>
              </a:solidFill>
              <a:latin typeface="微软雅黑" panose="020B0503020204020204" charset="-122"/>
              <a:ea typeface="微软雅黑" panose="020B0503020204020204" charset="-122"/>
              <a:cs typeface="+mn-ea"/>
              <a:sym typeface="+mn-ea"/>
            </a:endParaRPr>
          </a:p>
        </p:txBody>
      </p:sp>
      <p:graphicFrame>
        <p:nvGraphicFramePr>
          <p:cNvPr id="3" name="表格 2"/>
          <p:cNvGraphicFramePr/>
          <p:nvPr/>
        </p:nvGraphicFramePr>
        <p:xfrm>
          <a:off x="1291590" y="2011045"/>
          <a:ext cx="8533765" cy="381000"/>
        </p:xfrm>
        <a:graphic>
          <a:graphicData uri="http://schemas.openxmlformats.org/drawingml/2006/table">
            <a:tbl>
              <a:tblPr firstRow="1" bandRow="1">
                <a:tableStyleId>{5C22544A-7EE6-4342-B048-85BDC9FD1C3A}</a:tableStyleId>
              </a:tblPr>
              <a:tblGrid>
                <a:gridCol w="1706245"/>
                <a:gridCol w="1706245"/>
                <a:gridCol w="1706245"/>
                <a:gridCol w="1706245"/>
                <a:gridCol w="1706245"/>
              </a:tblGrid>
              <a:tr h="38100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bl>
          </a:graphicData>
        </a:graphic>
      </p:graphicFrame>
      <p:sp>
        <p:nvSpPr>
          <p:cNvPr id="6" name="文本框 5"/>
          <p:cNvSpPr txBox="1"/>
          <p:nvPr/>
        </p:nvSpPr>
        <p:spPr>
          <a:xfrm>
            <a:off x="1291590" y="4389755"/>
            <a:ext cx="9862820" cy="1137285"/>
          </a:xfrm>
          <a:prstGeom prst="rect">
            <a:avLst/>
          </a:prstGeom>
          <a:noFill/>
        </p:spPr>
        <p:txBody>
          <a:bodyPr wrap="square" rtlCol="0">
            <a:spAutoFit/>
          </a:bodyPr>
          <a:p>
            <a:pPr indent="0" eaLnBrk="1" hangingPunct="1">
              <a:spcBef>
                <a:spcPct val="20000"/>
              </a:spcBef>
              <a:buClr>
                <a:schemeClr val="accent1"/>
              </a:buClr>
              <a:buFont typeface="Wingdings" panose="05000000000000000000" pitchFamily="2" charset="2"/>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例如：</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eaLnBrk="1" hangingPunct="1">
              <a:spcBef>
                <a:spcPct val="20000"/>
              </a:spcBef>
              <a:buClr>
                <a:schemeClr val="accent1"/>
              </a:buClr>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int (*p)[5];</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eaLnBrk="1" hangingPunct="1">
              <a:spcBef>
                <a:spcPct val="20000"/>
              </a:spcBef>
              <a:buClr>
                <a:schemeClr val="accent1"/>
              </a:buClr>
              <a:buFont typeface="Wingdings" panose="05000000000000000000" pitchFamily="2" charset="2"/>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可以这么理解，</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p</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是一个指针，指向一个数组，该数组有</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5</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个元素，每个元素都是整型。</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868680" y="2023745"/>
            <a:ext cx="422910" cy="368300"/>
          </a:xfrm>
          <a:prstGeom prst="rect">
            <a:avLst/>
          </a:prstGeom>
          <a:noFill/>
        </p:spPr>
        <p:txBody>
          <a:bodyPr wrap="square" rtlCol="0">
            <a:spAutoFit/>
          </a:bodyPr>
          <a:p>
            <a:r>
              <a:rPr lang="en-US" altLang="zh-CN" b="1">
                <a:solidFill>
                  <a:schemeClr val="bg1"/>
                </a:solidFill>
                <a:latin typeface="微软雅黑" panose="020B0503020204020204" charset="-122"/>
                <a:ea typeface="微软雅黑" panose="020B0503020204020204" charset="-122"/>
              </a:rPr>
              <a:t>a</a:t>
            </a:r>
            <a:endParaRPr lang="en-US" altLang="zh-CN" b="1">
              <a:solidFill>
                <a:schemeClr val="bg1"/>
              </a:solidFill>
              <a:latin typeface="微软雅黑" panose="020B0503020204020204" charset="-122"/>
              <a:ea typeface="微软雅黑" panose="020B0503020204020204" charset="-122"/>
            </a:endParaRPr>
          </a:p>
        </p:txBody>
      </p:sp>
      <p:sp>
        <p:nvSpPr>
          <p:cNvPr id="10" name="右大括号 9"/>
          <p:cNvSpPr/>
          <p:nvPr/>
        </p:nvSpPr>
        <p:spPr>
          <a:xfrm rot="5400000">
            <a:off x="5374640" y="-1330325"/>
            <a:ext cx="365760" cy="8532495"/>
          </a:xfrm>
          <a:prstGeom prst="righ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1" name="文本框 10"/>
          <p:cNvSpPr txBox="1"/>
          <p:nvPr/>
        </p:nvSpPr>
        <p:spPr>
          <a:xfrm>
            <a:off x="1291590" y="2392045"/>
            <a:ext cx="8530590" cy="368300"/>
          </a:xfrm>
          <a:prstGeom prst="rect">
            <a:avLst/>
          </a:prstGeom>
          <a:noFill/>
        </p:spPr>
        <p:txBody>
          <a:bodyPr wrap="square" rtlCol="0">
            <a:spAutoFit/>
          </a:bodyPr>
          <a:p>
            <a:r>
              <a:rPr lang="en-US" altLang="zh-CN" b="1">
                <a:solidFill>
                  <a:schemeClr val="bg1"/>
                </a:solidFill>
                <a:latin typeface="微软雅黑" panose="020B0503020204020204" charset="-122"/>
                <a:ea typeface="微软雅黑" panose="020B0503020204020204" charset="-122"/>
              </a:rPr>
              <a:t>0x100              0x104                0x108               0x10C               0x110     </a:t>
            </a:r>
            <a:endParaRPr lang="en-US" altLang="zh-CN" b="1">
              <a:solidFill>
                <a:schemeClr val="bg1"/>
              </a:solidFill>
              <a:latin typeface="微软雅黑" panose="020B0503020204020204" charset="-122"/>
              <a:ea typeface="微软雅黑" panose="020B0503020204020204" charset="-122"/>
            </a:endParaRPr>
          </a:p>
        </p:txBody>
      </p:sp>
      <p:graphicFrame>
        <p:nvGraphicFramePr>
          <p:cNvPr id="13" name="表格 12"/>
          <p:cNvGraphicFramePr/>
          <p:nvPr/>
        </p:nvGraphicFramePr>
        <p:xfrm>
          <a:off x="4543425" y="3743960"/>
          <a:ext cx="2028825" cy="381000"/>
        </p:xfrm>
        <a:graphic>
          <a:graphicData uri="http://schemas.openxmlformats.org/drawingml/2006/table">
            <a:tbl>
              <a:tblPr firstRow="1" bandRow="1">
                <a:tableStyleId>{5C22544A-7EE6-4342-B048-85BDC9FD1C3A}</a:tableStyleId>
              </a:tblPr>
              <a:tblGrid>
                <a:gridCol w="2028825"/>
              </a:tblGrid>
              <a:tr h="381000">
                <a:tc>
                  <a:txBody>
                    <a:bodyPr/>
                    <a:p>
                      <a:pPr>
                        <a:buNone/>
                      </a:pPr>
                      <a:endParaRPr lang="zh-CN" altLang="en-US"/>
                    </a:p>
                  </a:txBody>
                  <a:tcPr>
                    <a:solidFill>
                      <a:srgbClr val="6AAFE6"/>
                    </a:solidFill>
                  </a:tcPr>
                </a:tc>
              </a:tr>
            </a:tbl>
          </a:graphicData>
        </a:graphic>
      </p:graphicFrame>
      <p:sp>
        <p:nvSpPr>
          <p:cNvPr id="8" name="上箭头 7"/>
          <p:cNvSpPr/>
          <p:nvPr/>
        </p:nvSpPr>
        <p:spPr>
          <a:xfrm>
            <a:off x="5402580" y="3249930"/>
            <a:ext cx="310515" cy="494030"/>
          </a:xfrm>
          <a:prstGeom prst="up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4173220" y="3756660"/>
            <a:ext cx="370205" cy="368300"/>
          </a:xfrm>
          <a:prstGeom prst="rect">
            <a:avLst/>
          </a:prstGeom>
          <a:noFill/>
        </p:spPr>
        <p:txBody>
          <a:bodyPr wrap="square" rtlCol="0">
            <a:spAutoFit/>
          </a:bodyPr>
          <a:p>
            <a:r>
              <a:rPr lang="en-US" altLang="zh-CN" b="1">
                <a:solidFill>
                  <a:schemeClr val="bg1"/>
                </a:solidFill>
                <a:latin typeface="微软雅黑" panose="020B0503020204020204" charset="-122"/>
                <a:ea typeface="微软雅黑" panose="020B0503020204020204" charset="-122"/>
              </a:rPr>
              <a:t>p</a:t>
            </a:r>
            <a:endParaRPr lang="en-US" altLang="zh-CN" b="1">
              <a:solidFill>
                <a:schemeClr val="bg1"/>
              </a:solidFill>
              <a:latin typeface="微软雅黑" panose="020B0503020204020204" charset="-122"/>
              <a:ea typeface="微软雅黑" panose="020B0503020204020204" charset="-122"/>
            </a:endParaRPr>
          </a:p>
        </p:txBody>
      </p:sp>
      <p:sp>
        <p:nvSpPr>
          <p:cNvPr id="16" name="文本框 15"/>
          <p:cNvSpPr txBox="1"/>
          <p:nvPr/>
        </p:nvSpPr>
        <p:spPr>
          <a:xfrm>
            <a:off x="4724400" y="3756660"/>
            <a:ext cx="1664970" cy="368300"/>
          </a:xfrm>
          <a:prstGeom prst="rect">
            <a:avLst/>
          </a:prstGeom>
          <a:noFill/>
        </p:spPr>
        <p:txBody>
          <a:bodyPr wrap="square" rtlCol="0">
            <a:spAutoFit/>
          </a:bodyPr>
          <a:p>
            <a:pPr algn="ctr"/>
            <a:r>
              <a:rPr lang="en-US" altLang="zh-CN" b="1">
                <a:solidFill>
                  <a:schemeClr val="bg1"/>
                </a:solidFill>
              </a:rPr>
              <a:t>0x100</a:t>
            </a:r>
            <a:endParaRPr lang="en-US" altLang="zh-CN" b="1">
              <a:solidFill>
                <a:schemeClr val="bg1"/>
              </a:solidFill>
            </a:endParaRPr>
          </a:p>
        </p:txBody>
      </p:sp>
      <p:sp>
        <p:nvSpPr>
          <p:cNvPr id="12" name="文本框 11"/>
          <p:cNvSpPr txBox="1"/>
          <p:nvPr/>
        </p:nvSpPr>
        <p:spPr>
          <a:xfrm>
            <a:off x="5713095" y="3312795"/>
            <a:ext cx="5559425" cy="368300"/>
          </a:xfrm>
          <a:prstGeom prst="rect">
            <a:avLst/>
          </a:prstGeom>
          <a:noFill/>
        </p:spPr>
        <p:txBody>
          <a:bodyPr wrap="square" rtlCol="0">
            <a:spAutoFit/>
          </a:bodyPr>
          <a:p>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指针p指向数组a（注意是整个数组，不是数组第一个元素</a:t>
            </a:r>
            <a:r>
              <a:rPr lang="zh-CN" altLang="en-US">
                <a:solidFill>
                  <a:schemeClr val="bg1"/>
                </a:solidFill>
                <a:latin typeface="微软雅黑" panose="020B0503020204020204" charset="-122"/>
                <a:ea typeface="微软雅黑" panose="020B0503020204020204" charset="-122"/>
                <a:cs typeface="微软雅黑" panose="020B0503020204020204" charset="-122"/>
              </a:rPr>
              <a:t>）</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指针和二维数组</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graphicFrame>
        <p:nvGraphicFramePr>
          <p:cNvPr id="3" name="表格 2"/>
          <p:cNvGraphicFramePr/>
          <p:nvPr>
            <p:custDataLst>
              <p:tags r:id="rId2"/>
            </p:custDataLst>
          </p:nvPr>
        </p:nvGraphicFramePr>
        <p:xfrm>
          <a:off x="2069465" y="1939290"/>
          <a:ext cx="8531860" cy="1737360"/>
        </p:xfrm>
        <a:graphic>
          <a:graphicData uri="http://schemas.openxmlformats.org/drawingml/2006/table">
            <a:tbl>
              <a:tblPr firstRow="1" bandRow="1">
                <a:tableStyleId>{5C22544A-7EE6-4342-B048-85BDC9FD1C3A}</a:tableStyleId>
              </a:tblPr>
              <a:tblGrid>
                <a:gridCol w="2132965"/>
                <a:gridCol w="2132965"/>
                <a:gridCol w="2132965"/>
                <a:gridCol w="2132965"/>
              </a:tblGrid>
              <a:tr h="57912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r h="57912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r h="57912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bl>
          </a:graphicData>
        </a:graphic>
      </p:graphicFrame>
      <p:sp>
        <p:nvSpPr>
          <p:cNvPr id="5" name="文本框 4"/>
          <p:cNvSpPr txBox="1"/>
          <p:nvPr/>
        </p:nvSpPr>
        <p:spPr>
          <a:xfrm>
            <a:off x="2012950" y="1515110"/>
            <a:ext cx="2272030" cy="368300"/>
          </a:xfrm>
          <a:prstGeom prst="rect">
            <a:avLst/>
          </a:prstGeom>
          <a:noFill/>
        </p:spPr>
        <p:txBody>
          <a:bodyPr wrap="square" rtlCol="0">
            <a:spAutoFit/>
          </a:bodyPr>
          <a:p>
            <a:r>
              <a:rPr lang="en-US" altLang="zh-CN" b="1">
                <a:solidFill>
                  <a:schemeClr val="bg1"/>
                </a:solidFill>
                <a:latin typeface="微软雅黑" panose="020B0503020204020204" charset="-122"/>
                <a:ea typeface="微软雅黑" panose="020B0503020204020204" charset="-122"/>
              </a:rPr>
              <a:t>int a[3][4];</a:t>
            </a:r>
            <a:endParaRPr lang="en-US" altLang="zh-CN" b="1">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2252980" y="2045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0x100</a:t>
            </a:r>
            <a:endParaRPr lang="en-US" altLang="zh-CN" b="1">
              <a:solidFill>
                <a:schemeClr val="bg1"/>
              </a:solidFill>
            </a:endParaRPr>
          </a:p>
        </p:txBody>
      </p:sp>
      <p:sp>
        <p:nvSpPr>
          <p:cNvPr id="10" name="文本框 9"/>
          <p:cNvSpPr txBox="1"/>
          <p:nvPr/>
        </p:nvSpPr>
        <p:spPr>
          <a:xfrm>
            <a:off x="4397375" y="2045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0x104</a:t>
            </a:r>
            <a:endParaRPr lang="en-US" altLang="zh-CN" b="1">
              <a:solidFill>
                <a:schemeClr val="bg1"/>
              </a:solidFill>
            </a:endParaRPr>
          </a:p>
        </p:txBody>
      </p:sp>
      <p:sp>
        <p:nvSpPr>
          <p:cNvPr id="11" name="文本框 10"/>
          <p:cNvSpPr txBox="1"/>
          <p:nvPr/>
        </p:nvSpPr>
        <p:spPr>
          <a:xfrm>
            <a:off x="6516370" y="2045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0x108</a:t>
            </a:r>
            <a:endParaRPr lang="en-US" altLang="zh-CN" b="1">
              <a:solidFill>
                <a:schemeClr val="bg1"/>
              </a:solidFill>
            </a:endParaRPr>
          </a:p>
        </p:txBody>
      </p:sp>
      <p:sp>
        <p:nvSpPr>
          <p:cNvPr id="12" name="文本框 11"/>
          <p:cNvSpPr txBox="1"/>
          <p:nvPr/>
        </p:nvSpPr>
        <p:spPr>
          <a:xfrm>
            <a:off x="8659495" y="2045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0x10C</a:t>
            </a:r>
            <a:endParaRPr lang="en-US" altLang="zh-CN" b="1">
              <a:solidFill>
                <a:schemeClr val="bg1"/>
              </a:solidFill>
            </a:endParaRPr>
          </a:p>
        </p:txBody>
      </p:sp>
      <p:sp>
        <p:nvSpPr>
          <p:cNvPr id="13" name="文本框 12"/>
          <p:cNvSpPr txBox="1"/>
          <p:nvPr/>
        </p:nvSpPr>
        <p:spPr>
          <a:xfrm>
            <a:off x="2252980" y="262382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0x110</a:t>
            </a:r>
            <a:endParaRPr lang="en-US" altLang="zh-CN" b="1">
              <a:solidFill>
                <a:schemeClr val="bg1"/>
              </a:solidFill>
            </a:endParaRPr>
          </a:p>
        </p:txBody>
      </p:sp>
      <p:sp>
        <p:nvSpPr>
          <p:cNvPr id="7" name="文本框 6"/>
          <p:cNvSpPr txBox="1"/>
          <p:nvPr/>
        </p:nvSpPr>
        <p:spPr>
          <a:xfrm>
            <a:off x="4397375" y="262382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0x114</a:t>
            </a:r>
            <a:endParaRPr lang="en-US" altLang="zh-CN" b="1">
              <a:solidFill>
                <a:schemeClr val="bg1"/>
              </a:solidFill>
            </a:endParaRPr>
          </a:p>
        </p:txBody>
      </p:sp>
      <p:sp>
        <p:nvSpPr>
          <p:cNvPr id="8" name="文本框 7"/>
          <p:cNvSpPr txBox="1"/>
          <p:nvPr/>
        </p:nvSpPr>
        <p:spPr>
          <a:xfrm>
            <a:off x="6516370" y="262382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0x118</a:t>
            </a:r>
            <a:endParaRPr lang="en-US" altLang="zh-CN" b="1">
              <a:solidFill>
                <a:schemeClr val="bg1"/>
              </a:solidFill>
            </a:endParaRPr>
          </a:p>
        </p:txBody>
      </p:sp>
      <p:sp>
        <p:nvSpPr>
          <p:cNvPr id="16" name="文本框 15"/>
          <p:cNvSpPr txBox="1"/>
          <p:nvPr/>
        </p:nvSpPr>
        <p:spPr>
          <a:xfrm>
            <a:off x="8659495" y="262382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0x11C</a:t>
            </a:r>
            <a:endParaRPr lang="en-US" altLang="zh-CN" b="1">
              <a:solidFill>
                <a:schemeClr val="bg1"/>
              </a:solidFill>
            </a:endParaRPr>
          </a:p>
        </p:txBody>
      </p:sp>
      <p:sp>
        <p:nvSpPr>
          <p:cNvPr id="9" name="文本框 8"/>
          <p:cNvSpPr txBox="1"/>
          <p:nvPr/>
        </p:nvSpPr>
        <p:spPr>
          <a:xfrm>
            <a:off x="2252980" y="3188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0x120</a:t>
            </a:r>
            <a:endParaRPr lang="en-US" altLang="zh-CN" b="1">
              <a:solidFill>
                <a:schemeClr val="bg1"/>
              </a:solidFill>
            </a:endParaRPr>
          </a:p>
        </p:txBody>
      </p:sp>
      <p:sp>
        <p:nvSpPr>
          <p:cNvPr id="18" name="文本框 17"/>
          <p:cNvSpPr txBox="1"/>
          <p:nvPr/>
        </p:nvSpPr>
        <p:spPr>
          <a:xfrm>
            <a:off x="4397375" y="3188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0x124</a:t>
            </a:r>
            <a:endParaRPr lang="en-US" altLang="zh-CN" b="1">
              <a:solidFill>
                <a:schemeClr val="bg1"/>
              </a:solidFill>
            </a:endParaRPr>
          </a:p>
        </p:txBody>
      </p:sp>
      <p:sp>
        <p:nvSpPr>
          <p:cNvPr id="19" name="文本框 18"/>
          <p:cNvSpPr txBox="1"/>
          <p:nvPr/>
        </p:nvSpPr>
        <p:spPr>
          <a:xfrm>
            <a:off x="6516370" y="3188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0x128</a:t>
            </a:r>
            <a:endParaRPr lang="en-US" altLang="zh-CN" b="1">
              <a:solidFill>
                <a:schemeClr val="bg1"/>
              </a:solidFill>
            </a:endParaRPr>
          </a:p>
        </p:txBody>
      </p:sp>
      <p:sp>
        <p:nvSpPr>
          <p:cNvPr id="20" name="文本框 19"/>
          <p:cNvSpPr txBox="1"/>
          <p:nvPr/>
        </p:nvSpPr>
        <p:spPr>
          <a:xfrm>
            <a:off x="8659495" y="3188970"/>
            <a:ext cx="1792605" cy="368300"/>
          </a:xfrm>
          <a:prstGeom prst="rect">
            <a:avLst/>
          </a:prstGeom>
          <a:noFill/>
        </p:spPr>
        <p:txBody>
          <a:bodyPr wrap="square" rtlCol="0">
            <a:spAutoFit/>
          </a:bodyPr>
          <a:p>
            <a:pPr algn="ctr"/>
            <a:r>
              <a:rPr lang="zh-CN" altLang="en-US" b="1">
                <a:solidFill>
                  <a:schemeClr val="bg1"/>
                </a:solidFill>
              </a:rPr>
              <a:t>地址 </a:t>
            </a:r>
            <a:r>
              <a:rPr lang="en-US" altLang="zh-CN" b="1">
                <a:solidFill>
                  <a:schemeClr val="bg1"/>
                </a:solidFill>
              </a:rPr>
              <a:t>0x12C</a:t>
            </a:r>
            <a:endParaRPr lang="en-US" altLang="zh-CN" b="1">
              <a:solidFill>
                <a:schemeClr val="bg1"/>
              </a:solidFill>
            </a:endParaRPr>
          </a:p>
        </p:txBody>
      </p:sp>
      <p:sp>
        <p:nvSpPr>
          <p:cNvPr id="22" name="文本框 21"/>
          <p:cNvSpPr txBox="1"/>
          <p:nvPr/>
        </p:nvSpPr>
        <p:spPr>
          <a:xfrm>
            <a:off x="2116455" y="4148455"/>
            <a:ext cx="5488940" cy="368300"/>
          </a:xfrm>
          <a:prstGeom prst="rect">
            <a:avLst/>
          </a:prstGeom>
          <a:noFill/>
        </p:spPr>
        <p:txBody>
          <a:bodyPr wrap="square" rtlCol="0">
            <a:spAutoFit/>
          </a:bodyPr>
          <a:p>
            <a:r>
              <a:rPr lang="en-US" altLang="zh-CN" b="1">
                <a:solidFill>
                  <a:schemeClr val="bg1"/>
                </a:solidFill>
                <a:latin typeface="微软雅黑" panose="020B0503020204020204" charset="-122"/>
                <a:ea typeface="微软雅黑" panose="020B0503020204020204" charset="-122"/>
              </a:rPr>
              <a:t>int (*p)[4]; p = a;</a:t>
            </a:r>
            <a:endParaRPr lang="en-US" altLang="zh-CN" b="1">
              <a:solidFill>
                <a:schemeClr val="bg1"/>
              </a:solidFill>
              <a:latin typeface="微软雅黑" panose="020B0503020204020204" charset="-122"/>
              <a:ea typeface="微软雅黑" panose="020B0503020204020204" charset="-122"/>
            </a:endParaRPr>
          </a:p>
        </p:txBody>
      </p:sp>
      <p:graphicFrame>
        <p:nvGraphicFramePr>
          <p:cNvPr id="23" name="表格 22"/>
          <p:cNvGraphicFramePr/>
          <p:nvPr/>
        </p:nvGraphicFramePr>
        <p:xfrm>
          <a:off x="2067560" y="4620895"/>
          <a:ext cx="2125980" cy="381000"/>
        </p:xfrm>
        <a:graphic>
          <a:graphicData uri="http://schemas.openxmlformats.org/drawingml/2006/table">
            <a:tbl>
              <a:tblPr firstRow="1" bandRow="1">
                <a:tableStyleId>{5C22544A-7EE6-4342-B048-85BDC9FD1C3A}</a:tableStyleId>
              </a:tblPr>
              <a:tblGrid>
                <a:gridCol w="2125980"/>
              </a:tblGrid>
              <a:tr h="381000">
                <a:tc>
                  <a:txBody>
                    <a:bodyPr/>
                    <a:p>
                      <a:pPr>
                        <a:buNone/>
                      </a:pPr>
                      <a:endParaRPr lang="zh-CN" altLang="en-US"/>
                    </a:p>
                  </a:txBody>
                  <a:tcPr>
                    <a:solidFill>
                      <a:srgbClr val="6AAFE6"/>
                    </a:solidFill>
                  </a:tcPr>
                </a:tc>
              </a:tr>
            </a:tbl>
          </a:graphicData>
        </a:graphic>
      </p:graphicFrame>
      <p:cxnSp>
        <p:nvCxnSpPr>
          <p:cNvPr id="25" name="直接连接符 24"/>
          <p:cNvCxnSpPr>
            <a:stCxn id="23" idx="1"/>
          </p:cNvCxnSpPr>
          <p:nvPr/>
        </p:nvCxnSpPr>
        <p:spPr>
          <a:xfrm flipH="1">
            <a:off x="1481455" y="4811395"/>
            <a:ext cx="586105" cy="0"/>
          </a:xfrm>
          <a:prstGeom prst="line">
            <a:avLst/>
          </a:prstGeom>
          <a:ln w="28575">
            <a:solidFill>
              <a:srgbClr val="6AAFE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481455" y="2186940"/>
            <a:ext cx="0" cy="2625090"/>
          </a:xfrm>
          <a:prstGeom prst="line">
            <a:avLst/>
          </a:prstGeom>
          <a:ln w="28575">
            <a:solidFill>
              <a:srgbClr val="6AAFE6"/>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467485" y="2200910"/>
            <a:ext cx="6203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559935" y="3727450"/>
            <a:ext cx="4402455" cy="2168525"/>
          </a:xfrm>
          <a:prstGeom prst="rect">
            <a:avLst/>
          </a:prstGeom>
          <a:noFill/>
        </p:spPr>
        <p:txBody>
          <a:bodyPr wrap="square" rtlCol="0">
            <a:spAutoFit/>
          </a:bodyPr>
          <a:p>
            <a:pPr>
              <a:lnSpc>
                <a:spcPct val="150000"/>
              </a:lnSpc>
            </a:pPr>
            <a:r>
              <a:rPr lang="zh-CN" altLang="en-US" b="1">
                <a:solidFill>
                  <a:schemeClr val="bg1"/>
                </a:solidFill>
                <a:latin typeface="微软雅黑" panose="020B0503020204020204" charset="-122"/>
                <a:ea typeface="微软雅黑" panose="020B0503020204020204" charset="-122"/>
                <a:cs typeface="微软雅黑" panose="020B0503020204020204" charset="-122"/>
              </a:rPr>
              <a:t>二维数组名</a:t>
            </a:r>
            <a:r>
              <a:rPr lang="en-US" altLang="zh-CN" b="1">
                <a:solidFill>
                  <a:schemeClr val="bg1"/>
                </a:solidFill>
                <a:latin typeface="微软雅黑" panose="020B0503020204020204" charset="-122"/>
                <a:ea typeface="微软雅黑" panose="020B0503020204020204" charset="-122"/>
                <a:cs typeface="微软雅黑" panose="020B0503020204020204" charset="-122"/>
              </a:rPr>
              <a:t>a</a:t>
            </a:r>
            <a:r>
              <a:rPr lang="zh-CN" altLang="en-US" b="1">
                <a:solidFill>
                  <a:schemeClr val="bg1"/>
                </a:solidFill>
                <a:latin typeface="微软雅黑" panose="020B0503020204020204" charset="-122"/>
                <a:ea typeface="微软雅黑" panose="020B0503020204020204" charset="-122"/>
                <a:cs typeface="微软雅黑" panose="020B0503020204020204" charset="-122"/>
              </a:rPr>
              <a:t>，表示数组首行地址；</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b="1">
                <a:solidFill>
                  <a:schemeClr val="bg1"/>
                </a:solidFill>
                <a:latin typeface="微软雅黑" panose="020B0503020204020204" charset="-122"/>
                <a:ea typeface="微软雅黑" panose="020B0503020204020204" charset="-122"/>
                <a:cs typeface="微软雅黑" panose="020B0503020204020204" charset="-122"/>
              </a:rPr>
              <a:t>p</a:t>
            </a:r>
            <a:r>
              <a:rPr lang="zh-CN" altLang="en-US" b="1">
                <a:solidFill>
                  <a:schemeClr val="bg1"/>
                </a:solidFill>
                <a:latin typeface="微软雅黑" panose="020B0503020204020204" charset="-122"/>
                <a:ea typeface="微软雅黑" panose="020B0503020204020204" charset="-122"/>
                <a:cs typeface="微软雅黑" panose="020B0503020204020204" charset="-122"/>
              </a:rPr>
              <a:t>是指针，指向有</a:t>
            </a:r>
            <a:r>
              <a:rPr lang="en-US" altLang="zh-CN" b="1">
                <a:solidFill>
                  <a:schemeClr val="bg1"/>
                </a:solidFill>
                <a:latin typeface="微软雅黑" panose="020B0503020204020204" charset="-122"/>
                <a:ea typeface="微软雅黑" panose="020B0503020204020204" charset="-122"/>
                <a:cs typeface="微软雅黑" panose="020B0503020204020204" charset="-122"/>
              </a:rPr>
              <a:t>4</a:t>
            </a:r>
            <a:r>
              <a:rPr lang="zh-CN" altLang="en-US" b="1">
                <a:solidFill>
                  <a:schemeClr val="bg1"/>
                </a:solidFill>
                <a:latin typeface="微软雅黑" panose="020B0503020204020204" charset="-122"/>
                <a:ea typeface="微软雅黑" panose="020B0503020204020204" charset="-122"/>
                <a:cs typeface="微软雅黑" panose="020B0503020204020204" charset="-122"/>
              </a:rPr>
              <a:t>个元素的数组；</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b="1">
                <a:solidFill>
                  <a:schemeClr val="bg1"/>
                </a:solidFill>
                <a:latin typeface="微软雅黑" panose="020B0503020204020204" charset="-122"/>
                <a:ea typeface="微软雅黑" panose="020B0503020204020204" charset="-122"/>
                <a:cs typeface="微软雅黑" panose="020B0503020204020204" charset="-122"/>
              </a:rPr>
              <a:t>p</a:t>
            </a:r>
            <a:r>
              <a:rPr lang="zh-CN" altLang="en-US" b="1">
                <a:solidFill>
                  <a:schemeClr val="bg1"/>
                </a:solidFill>
                <a:latin typeface="微软雅黑" panose="020B0503020204020204" charset="-122"/>
                <a:ea typeface="微软雅黑" panose="020B0503020204020204" charset="-122"/>
                <a:cs typeface="微软雅黑" panose="020B0503020204020204" charset="-122"/>
              </a:rPr>
              <a:t>指向二维数组第一行；</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b="1">
                <a:solidFill>
                  <a:schemeClr val="bg1"/>
                </a:solidFill>
                <a:latin typeface="微软雅黑" panose="020B0503020204020204" charset="-122"/>
                <a:ea typeface="微软雅黑" panose="020B0503020204020204" charset="-122"/>
                <a:cs typeface="微软雅黑" panose="020B0503020204020204" charset="-122"/>
              </a:rPr>
              <a:t>p + 1</a:t>
            </a:r>
            <a:r>
              <a:rPr lang="zh-CN" altLang="en-US" b="1">
                <a:solidFill>
                  <a:schemeClr val="bg1"/>
                </a:solidFill>
                <a:latin typeface="微软雅黑" panose="020B0503020204020204" charset="-122"/>
                <a:ea typeface="微软雅黑" panose="020B0503020204020204" charset="-122"/>
                <a:cs typeface="微软雅黑" panose="020B0503020204020204" charset="-122"/>
              </a:rPr>
              <a:t>则变成第二行地址。</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b="1" dirty="0">
                <a:solidFill>
                  <a:schemeClr val="accent2"/>
                </a:solidFill>
                <a:latin typeface="微软雅黑" panose="020B0503020204020204" charset="-122"/>
                <a:ea typeface="微软雅黑" panose="020B0503020204020204" charset="-122"/>
                <a:cs typeface="微软雅黑" panose="020B0503020204020204" charset="-122"/>
                <a:sym typeface="+mn-ea"/>
              </a:rPr>
              <a:t>*(*(p+i)+j) </a:t>
            </a:r>
            <a:r>
              <a:rPr lang="zh-CN" altLang="en-US" b="1" dirty="0">
                <a:solidFill>
                  <a:schemeClr val="accent2"/>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 </a:t>
            </a:r>
            <a:r>
              <a:rPr lang="zh-CN" altLang="en-US" b="1" dirty="0">
                <a:solidFill>
                  <a:schemeClr val="accent2"/>
                </a:solidFill>
                <a:latin typeface="微软雅黑" panose="020B0503020204020204" charset="-122"/>
                <a:ea typeface="微软雅黑" panose="020B0503020204020204" charset="-122"/>
                <a:cs typeface="微软雅黑" panose="020B0503020204020204" charset="-122"/>
                <a:sym typeface="+mn-ea"/>
              </a:rPr>
              <a:t>a[i][j]         ？</a:t>
            </a:r>
            <a:endParaRPr lang="zh-CN" altLang="en-US" b="1"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2307590" y="4988560"/>
            <a:ext cx="1682115" cy="368300"/>
          </a:xfrm>
          <a:prstGeom prst="rect">
            <a:avLst/>
          </a:prstGeom>
          <a:noFill/>
        </p:spPr>
        <p:txBody>
          <a:bodyPr wrap="square" rtlCol="0">
            <a:spAutoFit/>
          </a:bodyPr>
          <a:p>
            <a:pPr algn="ctr"/>
            <a:r>
              <a:rPr lang="zh-CN" altLang="en-US" b="1">
                <a:solidFill>
                  <a:schemeClr val="bg1"/>
                </a:solidFill>
                <a:latin typeface="微软雅黑" panose="020B0503020204020204" charset="-122"/>
                <a:ea typeface="微软雅黑" panose="020B0503020204020204" charset="-122"/>
              </a:rPr>
              <a:t>指针</a:t>
            </a:r>
            <a:r>
              <a:rPr lang="en-US" altLang="zh-CN" b="1">
                <a:solidFill>
                  <a:schemeClr val="bg1"/>
                </a:solidFill>
                <a:latin typeface="微软雅黑" panose="020B0503020204020204" charset="-122"/>
                <a:ea typeface="微软雅黑" panose="020B0503020204020204" charset="-122"/>
              </a:rPr>
              <a:t>p</a:t>
            </a:r>
            <a:endParaRPr lang="en-US" altLang="zh-CN" b="1">
              <a:solidFill>
                <a:schemeClr val="bg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365184"/>
              <a:ext cx="3505200" cy="368300"/>
            </a:xfrm>
            <a:prstGeom prst="rect">
              <a:avLst/>
            </a:prstGeom>
            <a:noFill/>
          </p:spPr>
          <p:txBody>
            <a:bodyPr wrap="square" rtlCol="0">
              <a:spAutoFit/>
            </a:bodyPr>
            <a:lstStyle/>
            <a:p>
              <a:r>
                <a:rPr lang="zh-CN" altLang="zh-CN" dirty="0">
                  <a:solidFill>
                    <a:schemeClr val="bg1"/>
                  </a:solidFill>
                  <a:latin typeface="微软雅黑" panose="020B0503020204020204" charset="-122"/>
                  <a:ea typeface="微软雅黑" panose="020B0503020204020204" charset="-122"/>
                </a:rPr>
                <a:t>指针和二维数组</a:t>
              </a:r>
              <a:endParaRPr lang="zh-CN" altLang="zh-CN"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1811655" y="1498600"/>
            <a:ext cx="2808605" cy="398780"/>
          </a:xfrm>
          <a:prstGeom prst="rect">
            <a:avLst/>
          </a:prstGeom>
          <a:noFill/>
        </p:spPr>
        <p:txBody>
          <a:bodyPr wrap="square" rtlCol="0">
            <a:spAutoFit/>
          </a:bodyPr>
          <a:p>
            <a:pPr indent="0" eaLnBrk="1" hangingPunct="1">
              <a:spcBef>
                <a:spcPct val="20000"/>
              </a:spcBef>
              <a:buClr>
                <a:schemeClr val="accent1"/>
              </a:buClr>
              <a:buFont typeface="Wingdings" panose="05000000000000000000" pitchFamily="2" charset="2"/>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对于二维数组</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a[3][4]:</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282791" name="Group 167"/>
          <p:cNvGraphicFramePr>
            <a:graphicFrameLocks noGrp="1"/>
          </p:cNvGraphicFramePr>
          <p:nvPr>
            <p:custDataLst>
              <p:tags r:id="rId2"/>
            </p:custDataLst>
          </p:nvPr>
        </p:nvGraphicFramePr>
        <p:xfrm>
          <a:off x="1811655" y="2123440"/>
          <a:ext cx="8737600" cy="3514090"/>
        </p:xfrm>
        <a:graphic>
          <a:graphicData uri="http://schemas.openxmlformats.org/drawingml/2006/table">
            <a:tbl>
              <a:tblPr/>
              <a:tblGrid>
                <a:gridCol w="3700463"/>
                <a:gridCol w="3578225"/>
                <a:gridCol w="1458912"/>
              </a:tblGrid>
              <a:tr h="396240">
                <a:tc>
                  <a:txBody>
                    <a:bodyPr/>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表示形式</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含义</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地址值</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7813">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&amp;a </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指向二维数组的指针</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1000</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9263">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二维数组名，指向一维数组</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a[0]</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，即第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0</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行首地址</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1000</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a[0] , *(a+0) , *a</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0</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0</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列元素地址</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1000</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5610">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a+1 , &amp;a[1]</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行首地址</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1006</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a[1] , *(a+1)</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0</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列元素地址</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1006</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a[1]+2 , *(a+1)+2 , &amp;a[1][2]</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2</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列元素地址</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1010</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7813">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*(a[1]+2) , *(*(a+1)+2) , a[1][2]</a:t>
                      </a:r>
                      <a:endPar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行第</a:t>
                      </a:r>
                      <a:r>
                        <a:rPr kumimoji="1" lang="en-US" altLang="zh-CN"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2</a:t>
                      </a:r>
                      <a:r>
                        <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列元素的值</a:t>
                      </a:r>
                      <a:endParaRPr kumimoji="1" lang="zh-CN" altLang="en-US" sz="20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元素值为</a:t>
                      </a:r>
                      <a:r>
                        <a:rPr kumimoji="1" lang="en-US" altLang="zh-CN"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rPr>
                        <a:t>11</a:t>
                      </a:r>
                      <a:endParaRPr kumimoji="1" lang="en-US" altLang="zh-CN" sz="1800" b="1"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365184"/>
              <a:ext cx="3505200" cy="368300"/>
            </a:xfrm>
            <a:prstGeom prst="rect">
              <a:avLst/>
            </a:prstGeom>
            <a:noFill/>
          </p:spPr>
          <p:txBody>
            <a:bodyPr wrap="square" rtlCol="0">
              <a:spAutoFit/>
            </a:bodyPr>
            <a:lstStyle/>
            <a:p>
              <a:r>
                <a:rPr lang="zh-CN" altLang="zh-CN" dirty="0">
                  <a:solidFill>
                    <a:schemeClr val="bg1"/>
                  </a:solidFill>
                  <a:latin typeface="微软雅黑" panose="020B0503020204020204" charset="-122"/>
                  <a:ea typeface="微软雅黑" panose="020B0503020204020204" charset="-122"/>
                </a:rPr>
                <a:t>指针和二维数组</a:t>
              </a:r>
              <a:endParaRPr lang="zh-CN" altLang="zh-CN"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1014730" y="1413510"/>
            <a:ext cx="9680575" cy="4030980"/>
          </a:xfrm>
          <a:prstGeom prst="rect">
            <a:avLst/>
          </a:prstGeom>
          <a:noFill/>
        </p:spPr>
        <p:txBody>
          <a:bodyPr wrap="square" rtlCol="0">
            <a:spAutoFit/>
          </a:bodyPr>
          <a:p>
            <a:pPr indent="0" eaLnBrk="1" hangingPunct="1">
              <a:lnSpc>
                <a:spcPct val="150000"/>
              </a:lnSpc>
              <a:spcBef>
                <a:spcPct val="20000"/>
              </a:spcBef>
              <a:buClr>
                <a:schemeClr val="accent1"/>
              </a:buClr>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不要把&amp;a[i]简单的理解为a[i]的物理地址，因为并不存在a[i]这个变量。它只是一种地址的计算方法，能得到第i行的地址。</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eaLnBrk="1" hangingPunct="1">
              <a:lnSpc>
                <a:spcPct val="150000"/>
              </a:lnSpc>
              <a:spcBef>
                <a:spcPct val="20000"/>
              </a:spcBef>
              <a:buClr>
                <a:schemeClr val="accent1"/>
              </a:buClr>
              <a:buFont typeface="Wingdings" panose="05000000000000000000" pitchFamily="2" charset="2"/>
              <a:buNone/>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indent="0" eaLnBrk="1" hangingPunct="1">
              <a:lnSpc>
                <a:spcPct val="150000"/>
              </a:lnSpc>
              <a:spcBef>
                <a:spcPct val="20000"/>
              </a:spcBef>
              <a:buClr>
                <a:schemeClr val="accent1"/>
              </a:buClr>
              <a:buFont typeface="Wingdings" panose="05000000000000000000" pitchFamily="2" charset="2"/>
              <a:buNone/>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、&amp;a[i]和a[i]的值是一样的，但它的含义却不同。 &amp;a[i]或a+i指向行，而a[i]或*(a+i)指向列。当下标j=0时，&amp;a[i]和a[i]+j的值相等。*(a+i)只是a[i]的另一种表示形式。在二维数组中，a+i=a[i]=*(a+i)=&amp;a[i]=&amp;a[i][0]即它们的地址值是相等的。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eaLnBrk="1" hangingPunct="1">
              <a:lnSpc>
                <a:spcPct val="150000"/>
              </a:lnSpc>
              <a:spcBef>
                <a:spcPct val="20000"/>
              </a:spcBef>
              <a:buClr>
                <a:schemeClr val="accent1"/>
              </a:buClr>
              <a:buFont typeface="Wingdings" panose="05000000000000000000" pitchFamily="2" charset="2"/>
              <a:buNone/>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eaLnBrk="1" hangingPunct="1">
              <a:lnSpc>
                <a:spcPct val="150000"/>
              </a:lnSpc>
              <a:spcBef>
                <a:spcPct val="20000"/>
              </a:spcBef>
              <a:buClr>
                <a:schemeClr val="accent1"/>
              </a:buClr>
              <a:buFont typeface="Wingdings" panose="05000000000000000000" pitchFamily="2" charset="2"/>
              <a:buNone/>
            </a:pPr>
            <a:r>
              <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rPr>
              <a:t>用指针数组、数组指针来表示二维数组？</a:t>
            </a:r>
            <a:endParaRPr lang="zh-CN" altLang="en-US" sz="2000" b="1"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365184"/>
              <a:ext cx="3505200" cy="368300"/>
            </a:xfrm>
            <a:prstGeom prst="rect">
              <a:avLst/>
            </a:prstGeom>
            <a:noFill/>
          </p:spPr>
          <p:txBody>
            <a:bodyPr wrap="square" rtlCol="0">
              <a:spAutoFit/>
            </a:bodyPr>
            <a:lstStyle/>
            <a:p>
              <a:r>
                <a:rPr lang="zh-CN" altLang="zh-CN" dirty="0">
                  <a:solidFill>
                    <a:schemeClr val="bg1"/>
                  </a:solidFill>
                  <a:latin typeface="微软雅黑" panose="020B0503020204020204" charset="-122"/>
                  <a:ea typeface="微软雅黑" panose="020B0503020204020204" charset="-122"/>
                </a:rPr>
                <a:t>笔试题</a:t>
              </a:r>
              <a:endParaRPr lang="zh-CN" altLang="zh-CN"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273412" name="Rectangle 4"/>
          <p:cNvSpPr>
            <a:spLocks noChangeArrowheads="1"/>
          </p:cNvSpPr>
          <p:nvPr/>
        </p:nvSpPr>
        <p:spPr bwMode="auto">
          <a:xfrm>
            <a:off x="1382395" y="1234440"/>
            <a:ext cx="4652645" cy="4799965"/>
          </a:xfrm>
          <a:prstGeom prst="rect">
            <a:avLst/>
          </a:prstGeom>
          <a:solidFill>
            <a:srgbClr val="E1FFF7"/>
          </a:solidFill>
          <a:ln w="38100">
            <a:solidFill>
              <a:srgbClr val="008000"/>
            </a:solidFill>
            <a:miter lim="800000"/>
          </a:ln>
          <a:effectLst/>
        </p:spPr>
        <p:txBody>
          <a:bodyPr wrap="square">
            <a:spAutoFit/>
          </a:bodyPr>
          <a:p>
            <a:r>
              <a:rPr lang="en-US" altLang="zh-CN"/>
              <a:t>main()</a:t>
            </a:r>
            <a:endParaRPr lang="en-US" altLang="zh-CN"/>
          </a:p>
          <a:p>
            <a:r>
              <a:rPr lang="en-US" altLang="zh-CN"/>
              <a:t>{   int a[3][4]={{1,2,3,4},{3,4,5,6},{5,6,7,8}};</a:t>
            </a:r>
            <a:endParaRPr lang="en-US" altLang="zh-CN"/>
          </a:p>
          <a:p>
            <a:r>
              <a:rPr lang="en-US" altLang="zh-CN"/>
              <a:t>    int i;</a:t>
            </a:r>
            <a:endParaRPr lang="en-US" altLang="zh-CN"/>
          </a:p>
          <a:p>
            <a:r>
              <a:rPr lang="en-US" altLang="zh-CN"/>
              <a:t>    int </a:t>
            </a:r>
            <a:r>
              <a:rPr lang="en-US" altLang="zh-CN">
                <a:solidFill>
                  <a:schemeClr val="accent2"/>
                </a:solidFill>
              </a:rPr>
              <a:t>(*p)[4]=a</a:t>
            </a:r>
            <a:r>
              <a:rPr lang="en-US" altLang="zh-CN">
                <a:solidFill>
                  <a:srgbClr val="0000FF"/>
                </a:solidFill>
              </a:rPr>
              <a:t>,*q=a[0];</a:t>
            </a:r>
            <a:endParaRPr lang="en-US" altLang="zh-CN">
              <a:solidFill>
                <a:srgbClr val="0000FF"/>
              </a:solidFill>
            </a:endParaRPr>
          </a:p>
          <a:p>
            <a:r>
              <a:rPr lang="en-US" altLang="zh-CN"/>
              <a:t>    for(i=0;i&lt;3;i++)</a:t>
            </a:r>
            <a:endParaRPr lang="en-US" altLang="zh-CN"/>
          </a:p>
          <a:p>
            <a:r>
              <a:rPr lang="en-US" altLang="zh-CN"/>
              <a:t>    {   </a:t>
            </a:r>
            <a:endParaRPr lang="en-US" altLang="zh-CN"/>
          </a:p>
          <a:p>
            <a:r>
              <a:rPr lang="en-US" altLang="zh-CN"/>
              <a:t>        if(i==0)</a:t>
            </a:r>
            <a:endParaRPr lang="en-US" altLang="zh-CN"/>
          </a:p>
          <a:p>
            <a:r>
              <a:rPr lang="en-US" altLang="zh-CN"/>
              <a:t>            (*p)[i+i/2]=*q+1;</a:t>
            </a:r>
            <a:endParaRPr lang="en-US" altLang="zh-CN"/>
          </a:p>
          <a:p>
            <a:r>
              <a:rPr lang="en-US" altLang="zh-CN"/>
              <a:t>        else</a:t>
            </a:r>
            <a:endParaRPr lang="en-US" altLang="zh-CN"/>
          </a:p>
          <a:p>
            <a:r>
              <a:rPr lang="en-US" altLang="zh-CN"/>
              <a:t>            p++,++q;</a:t>
            </a:r>
            <a:endParaRPr lang="en-US" altLang="zh-CN"/>
          </a:p>
          <a:p>
            <a:r>
              <a:rPr lang="en-US" altLang="zh-CN"/>
              <a:t>    }</a:t>
            </a:r>
            <a:endParaRPr lang="en-US" altLang="zh-CN"/>
          </a:p>
          <a:p>
            <a:r>
              <a:rPr lang="en-US" altLang="zh-CN"/>
              <a:t>    for(i=0;i&lt;3;i++)</a:t>
            </a:r>
            <a:endParaRPr lang="en-US" altLang="zh-CN"/>
          </a:p>
          <a:p>
            <a:r>
              <a:rPr lang="en-US" altLang="zh-CN"/>
              <a:t>    {</a:t>
            </a:r>
            <a:endParaRPr lang="en-US" altLang="zh-CN"/>
          </a:p>
          <a:p>
            <a:r>
              <a:rPr lang="en-US" altLang="zh-CN"/>
              <a:t>        printf("%d,",a[i][i]);</a:t>
            </a:r>
            <a:endParaRPr lang="en-US" altLang="zh-CN"/>
          </a:p>
          <a:p>
            <a:r>
              <a:rPr lang="en-US" altLang="zh-CN"/>
              <a:t>    }</a:t>
            </a:r>
            <a:endParaRPr lang="en-US" altLang="zh-CN"/>
          </a:p>
          <a:p>
            <a:r>
              <a:rPr lang="en-US" altLang="zh-CN"/>
              <a:t>    printf("%d,%d\n",*((int *)p),*q);</a:t>
            </a:r>
            <a:endParaRPr lang="en-US" altLang="zh-CN"/>
          </a:p>
          <a:p>
            <a:r>
              <a:rPr lang="en-US" altLang="zh-CN"/>
              <a:t>}</a:t>
            </a:r>
            <a:endParaRPr lang="en-US" altLang="zh-CN"/>
          </a:p>
        </p:txBody>
      </p:sp>
      <p:grpSp>
        <p:nvGrpSpPr>
          <p:cNvPr id="3" name="Group 47"/>
          <p:cNvGrpSpPr/>
          <p:nvPr/>
        </p:nvGrpSpPr>
        <p:grpSpPr bwMode="auto">
          <a:xfrm>
            <a:off x="7490460" y="1234440"/>
            <a:ext cx="2890838" cy="2325688"/>
            <a:chOff x="3939" y="780"/>
            <a:chExt cx="1821" cy="1465"/>
          </a:xfrm>
        </p:grpSpPr>
        <p:grpSp>
          <p:nvGrpSpPr>
            <p:cNvPr id="5" name="Group 6"/>
            <p:cNvGrpSpPr/>
            <p:nvPr/>
          </p:nvGrpSpPr>
          <p:grpSpPr bwMode="auto">
            <a:xfrm>
              <a:off x="4338" y="1201"/>
              <a:ext cx="1422" cy="1044"/>
              <a:chOff x="4338" y="1223"/>
              <a:chExt cx="1723" cy="1044"/>
            </a:xfrm>
          </p:grpSpPr>
          <p:sp>
            <p:nvSpPr>
              <p:cNvPr id="273415" name="Rectangle 7"/>
              <p:cNvSpPr>
                <a:spLocks noChangeArrowheads="1"/>
              </p:cNvSpPr>
              <p:nvPr/>
            </p:nvSpPr>
            <p:spPr bwMode="auto">
              <a:xfrm>
                <a:off x="4338" y="1223"/>
                <a:ext cx="1712" cy="1044"/>
              </a:xfrm>
              <a:prstGeom prst="rect">
                <a:avLst/>
              </a:prstGeom>
              <a:solidFill>
                <a:srgbClr val="FFFFFF"/>
              </a:solidFill>
              <a:ln w="9525">
                <a:solidFill>
                  <a:srgbClr val="000000"/>
                </a:solidFill>
                <a:miter lim="800000"/>
              </a:ln>
              <a:effectLst/>
            </p:spPr>
            <p:txBody>
              <a:bodyPr wrap="none" anchor="ctr"/>
              <a:p>
                <a:pPr algn="ctr"/>
                <a:endParaRPr lang="zh-CN" altLang="zh-CN" sz="2000"/>
              </a:p>
            </p:txBody>
          </p:sp>
          <p:sp>
            <p:nvSpPr>
              <p:cNvPr id="273416" name="Line 8"/>
              <p:cNvSpPr>
                <a:spLocks noChangeShapeType="1"/>
              </p:cNvSpPr>
              <p:nvPr/>
            </p:nvSpPr>
            <p:spPr bwMode="auto">
              <a:xfrm>
                <a:off x="4349" y="1601"/>
                <a:ext cx="1712" cy="0"/>
              </a:xfrm>
              <a:prstGeom prst="line">
                <a:avLst/>
              </a:prstGeom>
              <a:noFill/>
              <a:ln w="9525">
                <a:solidFill>
                  <a:srgbClr val="000000"/>
                </a:solidFill>
                <a:round/>
              </a:ln>
              <a:effectLst/>
            </p:spPr>
            <p:txBody>
              <a:bodyPr wrap="none" anchor="ctr"/>
              <a:p>
                <a:endParaRPr lang="zh-CN" altLang="en-US"/>
              </a:p>
            </p:txBody>
          </p:sp>
          <p:sp>
            <p:nvSpPr>
              <p:cNvPr id="273417" name="Line 9"/>
              <p:cNvSpPr>
                <a:spLocks noChangeShapeType="1"/>
              </p:cNvSpPr>
              <p:nvPr/>
            </p:nvSpPr>
            <p:spPr bwMode="auto">
              <a:xfrm>
                <a:off x="4338" y="1934"/>
                <a:ext cx="1712" cy="0"/>
              </a:xfrm>
              <a:prstGeom prst="line">
                <a:avLst/>
              </a:prstGeom>
              <a:noFill/>
              <a:ln w="9525">
                <a:solidFill>
                  <a:srgbClr val="000000"/>
                </a:solidFill>
                <a:round/>
              </a:ln>
              <a:effectLst/>
            </p:spPr>
            <p:txBody>
              <a:bodyPr wrap="none" anchor="ctr"/>
              <a:p>
                <a:endParaRPr lang="zh-CN" altLang="en-US"/>
              </a:p>
            </p:txBody>
          </p:sp>
          <p:sp>
            <p:nvSpPr>
              <p:cNvPr id="273418" name="Line 10"/>
              <p:cNvSpPr>
                <a:spLocks noChangeShapeType="1"/>
              </p:cNvSpPr>
              <p:nvPr/>
            </p:nvSpPr>
            <p:spPr bwMode="auto">
              <a:xfrm>
                <a:off x="5194" y="1223"/>
                <a:ext cx="0" cy="1044"/>
              </a:xfrm>
              <a:prstGeom prst="line">
                <a:avLst/>
              </a:prstGeom>
              <a:noFill/>
              <a:ln w="9525">
                <a:solidFill>
                  <a:srgbClr val="000000"/>
                </a:solidFill>
                <a:round/>
              </a:ln>
              <a:effectLst/>
            </p:spPr>
            <p:txBody>
              <a:bodyPr wrap="none" anchor="ctr"/>
              <a:p>
                <a:endParaRPr lang="zh-CN" altLang="en-US"/>
              </a:p>
            </p:txBody>
          </p:sp>
          <p:sp>
            <p:nvSpPr>
              <p:cNvPr id="273419" name="Line 11"/>
              <p:cNvSpPr>
                <a:spLocks noChangeShapeType="1"/>
              </p:cNvSpPr>
              <p:nvPr/>
            </p:nvSpPr>
            <p:spPr bwMode="auto">
              <a:xfrm>
                <a:off x="4749" y="1223"/>
                <a:ext cx="0" cy="1044"/>
              </a:xfrm>
              <a:prstGeom prst="line">
                <a:avLst/>
              </a:prstGeom>
              <a:noFill/>
              <a:ln w="9525">
                <a:solidFill>
                  <a:srgbClr val="000000"/>
                </a:solidFill>
                <a:round/>
              </a:ln>
              <a:effectLst/>
            </p:spPr>
            <p:txBody>
              <a:bodyPr wrap="none" anchor="ctr"/>
              <a:p>
                <a:endParaRPr lang="zh-CN" altLang="en-US"/>
              </a:p>
            </p:txBody>
          </p:sp>
          <p:sp>
            <p:nvSpPr>
              <p:cNvPr id="273420" name="Line 12"/>
              <p:cNvSpPr>
                <a:spLocks noChangeShapeType="1"/>
              </p:cNvSpPr>
              <p:nvPr/>
            </p:nvSpPr>
            <p:spPr bwMode="auto">
              <a:xfrm>
                <a:off x="5627" y="1223"/>
                <a:ext cx="0" cy="1044"/>
              </a:xfrm>
              <a:prstGeom prst="line">
                <a:avLst/>
              </a:prstGeom>
              <a:noFill/>
              <a:ln w="9525">
                <a:solidFill>
                  <a:srgbClr val="000000"/>
                </a:solidFill>
                <a:round/>
              </a:ln>
              <a:effectLst/>
            </p:spPr>
            <p:txBody>
              <a:bodyPr wrap="none" anchor="ctr"/>
              <a:p>
                <a:endParaRPr lang="zh-CN" altLang="en-US"/>
              </a:p>
            </p:txBody>
          </p:sp>
          <p:sp>
            <p:nvSpPr>
              <p:cNvPr id="273421" name="Text Box 13"/>
              <p:cNvSpPr txBox="1">
                <a:spLocks noChangeArrowheads="1"/>
              </p:cNvSpPr>
              <p:nvPr/>
            </p:nvSpPr>
            <p:spPr bwMode="auto">
              <a:xfrm>
                <a:off x="4420" y="1309"/>
                <a:ext cx="238" cy="250"/>
              </a:xfrm>
              <a:prstGeom prst="rect">
                <a:avLst/>
              </a:prstGeom>
              <a:noFill/>
              <a:ln w="9525">
                <a:noFill/>
                <a:miter lim="800000"/>
              </a:ln>
              <a:effectLst/>
            </p:spPr>
            <p:txBody>
              <a:bodyPr wrap="none" anchor="ctr">
                <a:spAutoFit/>
              </a:bodyPr>
              <a:p>
                <a:pPr algn="ctr"/>
                <a:r>
                  <a:rPr lang="en-US" altLang="zh-CN" sz="2000"/>
                  <a:t>1</a:t>
                </a:r>
                <a:endParaRPr lang="en-US" altLang="zh-CN" sz="2000"/>
              </a:p>
            </p:txBody>
          </p:sp>
          <p:sp>
            <p:nvSpPr>
              <p:cNvPr id="273422" name="Text Box 14"/>
              <p:cNvSpPr txBox="1">
                <a:spLocks noChangeArrowheads="1"/>
              </p:cNvSpPr>
              <p:nvPr/>
            </p:nvSpPr>
            <p:spPr bwMode="auto">
              <a:xfrm>
                <a:off x="4860" y="1305"/>
                <a:ext cx="238" cy="250"/>
              </a:xfrm>
              <a:prstGeom prst="rect">
                <a:avLst/>
              </a:prstGeom>
              <a:noFill/>
              <a:ln w="9525">
                <a:noFill/>
                <a:miter lim="800000"/>
              </a:ln>
              <a:effectLst/>
            </p:spPr>
            <p:txBody>
              <a:bodyPr wrap="none" anchor="ctr">
                <a:spAutoFit/>
              </a:bodyPr>
              <a:p>
                <a:pPr algn="ctr"/>
                <a:r>
                  <a:rPr lang="en-US" altLang="zh-CN" sz="2000"/>
                  <a:t>2</a:t>
                </a:r>
                <a:endParaRPr lang="en-US" altLang="zh-CN" sz="2000"/>
              </a:p>
            </p:txBody>
          </p:sp>
          <p:sp>
            <p:nvSpPr>
              <p:cNvPr id="273423" name="Text Box 15"/>
              <p:cNvSpPr txBox="1">
                <a:spLocks noChangeArrowheads="1"/>
              </p:cNvSpPr>
              <p:nvPr/>
            </p:nvSpPr>
            <p:spPr bwMode="auto">
              <a:xfrm>
                <a:off x="5271" y="1294"/>
                <a:ext cx="237" cy="250"/>
              </a:xfrm>
              <a:prstGeom prst="rect">
                <a:avLst/>
              </a:prstGeom>
              <a:noFill/>
              <a:ln w="9525">
                <a:noFill/>
                <a:miter lim="800000"/>
              </a:ln>
              <a:effectLst/>
            </p:spPr>
            <p:txBody>
              <a:bodyPr wrap="none" anchor="ctr">
                <a:spAutoFit/>
              </a:bodyPr>
              <a:p>
                <a:pPr algn="ctr"/>
                <a:r>
                  <a:rPr lang="en-US" altLang="zh-CN" sz="2000"/>
                  <a:t>3</a:t>
                </a:r>
                <a:endParaRPr lang="en-US" altLang="zh-CN" sz="2000"/>
              </a:p>
            </p:txBody>
          </p:sp>
          <p:sp>
            <p:nvSpPr>
              <p:cNvPr id="273424" name="Text Box 16"/>
              <p:cNvSpPr txBox="1">
                <a:spLocks noChangeArrowheads="1"/>
              </p:cNvSpPr>
              <p:nvPr/>
            </p:nvSpPr>
            <p:spPr bwMode="auto">
              <a:xfrm>
                <a:off x="5717" y="1294"/>
                <a:ext cx="237" cy="250"/>
              </a:xfrm>
              <a:prstGeom prst="rect">
                <a:avLst/>
              </a:prstGeom>
              <a:noFill/>
              <a:ln w="9525">
                <a:noFill/>
                <a:miter lim="800000"/>
              </a:ln>
              <a:effectLst/>
            </p:spPr>
            <p:txBody>
              <a:bodyPr wrap="none" anchor="ctr">
                <a:spAutoFit/>
              </a:bodyPr>
              <a:p>
                <a:pPr algn="ctr"/>
                <a:r>
                  <a:rPr lang="en-US" altLang="zh-CN" sz="2000"/>
                  <a:t>4</a:t>
                </a:r>
                <a:endParaRPr lang="en-US" altLang="zh-CN" sz="2000"/>
              </a:p>
            </p:txBody>
          </p:sp>
          <p:sp>
            <p:nvSpPr>
              <p:cNvPr id="273425" name="Text Box 17"/>
              <p:cNvSpPr txBox="1">
                <a:spLocks noChangeArrowheads="1"/>
              </p:cNvSpPr>
              <p:nvPr/>
            </p:nvSpPr>
            <p:spPr bwMode="auto">
              <a:xfrm>
                <a:off x="4417" y="1650"/>
                <a:ext cx="237" cy="250"/>
              </a:xfrm>
              <a:prstGeom prst="rect">
                <a:avLst/>
              </a:prstGeom>
              <a:noFill/>
              <a:ln w="9525">
                <a:noFill/>
                <a:miter lim="800000"/>
              </a:ln>
              <a:effectLst/>
            </p:spPr>
            <p:txBody>
              <a:bodyPr wrap="none" anchor="ctr">
                <a:spAutoFit/>
              </a:bodyPr>
              <a:p>
                <a:pPr algn="ctr"/>
                <a:r>
                  <a:rPr lang="en-US" altLang="zh-CN" sz="2000"/>
                  <a:t>3</a:t>
                </a:r>
                <a:endParaRPr lang="en-US" altLang="zh-CN" sz="2000"/>
              </a:p>
            </p:txBody>
          </p:sp>
          <p:sp>
            <p:nvSpPr>
              <p:cNvPr id="273426" name="Text Box 18"/>
              <p:cNvSpPr txBox="1">
                <a:spLocks noChangeArrowheads="1"/>
              </p:cNvSpPr>
              <p:nvPr/>
            </p:nvSpPr>
            <p:spPr bwMode="auto">
              <a:xfrm>
                <a:off x="4849" y="1660"/>
                <a:ext cx="238" cy="250"/>
              </a:xfrm>
              <a:prstGeom prst="rect">
                <a:avLst/>
              </a:prstGeom>
              <a:noFill/>
              <a:ln w="9525">
                <a:noFill/>
                <a:miter lim="800000"/>
              </a:ln>
              <a:effectLst/>
            </p:spPr>
            <p:txBody>
              <a:bodyPr wrap="none" anchor="ctr">
                <a:spAutoFit/>
              </a:bodyPr>
              <a:p>
                <a:pPr algn="ctr"/>
                <a:r>
                  <a:rPr lang="en-US" altLang="zh-CN" sz="2000"/>
                  <a:t>4</a:t>
                </a:r>
                <a:endParaRPr lang="en-US" altLang="zh-CN" sz="2000"/>
              </a:p>
            </p:txBody>
          </p:sp>
          <p:sp>
            <p:nvSpPr>
              <p:cNvPr id="273427" name="Text Box 19"/>
              <p:cNvSpPr txBox="1">
                <a:spLocks noChangeArrowheads="1"/>
              </p:cNvSpPr>
              <p:nvPr/>
            </p:nvSpPr>
            <p:spPr bwMode="auto">
              <a:xfrm>
                <a:off x="5283" y="1660"/>
                <a:ext cx="238" cy="250"/>
              </a:xfrm>
              <a:prstGeom prst="rect">
                <a:avLst/>
              </a:prstGeom>
              <a:noFill/>
              <a:ln w="9525">
                <a:noFill/>
                <a:miter lim="800000"/>
              </a:ln>
              <a:effectLst/>
            </p:spPr>
            <p:txBody>
              <a:bodyPr wrap="none" anchor="ctr">
                <a:spAutoFit/>
              </a:bodyPr>
              <a:p>
                <a:pPr algn="ctr"/>
                <a:r>
                  <a:rPr lang="en-US" altLang="zh-CN" sz="2000"/>
                  <a:t>5</a:t>
                </a:r>
                <a:endParaRPr lang="en-US" altLang="zh-CN" sz="2000"/>
              </a:p>
            </p:txBody>
          </p:sp>
          <p:sp>
            <p:nvSpPr>
              <p:cNvPr id="273428" name="Text Box 20"/>
              <p:cNvSpPr txBox="1">
                <a:spLocks noChangeArrowheads="1"/>
              </p:cNvSpPr>
              <p:nvPr/>
            </p:nvSpPr>
            <p:spPr bwMode="auto">
              <a:xfrm>
                <a:off x="5728" y="1671"/>
                <a:ext cx="237" cy="250"/>
              </a:xfrm>
              <a:prstGeom prst="rect">
                <a:avLst/>
              </a:prstGeom>
              <a:noFill/>
              <a:ln w="9525">
                <a:noFill/>
                <a:miter lim="800000"/>
              </a:ln>
              <a:effectLst/>
            </p:spPr>
            <p:txBody>
              <a:bodyPr wrap="none" anchor="ctr">
                <a:spAutoFit/>
              </a:bodyPr>
              <a:p>
                <a:pPr algn="ctr"/>
                <a:r>
                  <a:rPr lang="en-US" altLang="zh-CN" sz="2000"/>
                  <a:t>6</a:t>
                </a:r>
                <a:endParaRPr lang="en-US" altLang="zh-CN" sz="2000"/>
              </a:p>
            </p:txBody>
          </p:sp>
          <p:sp>
            <p:nvSpPr>
              <p:cNvPr id="273429" name="Text Box 21"/>
              <p:cNvSpPr txBox="1">
                <a:spLocks noChangeArrowheads="1"/>
              </p:cNvSpPr>
              <p:nvPr/>
            </p:nvSpPr>
            <p:spPr bwMode="auto">
              <a:xfrm>
                <a:off x="4439" y="1982"/>
                <a:ext cx="237" cy="250"/>
              </a:xfrm>
              <a:prstGeom prst="rect">
                <a:avLst/>
              </a:prstGeom>
              <a:noFill/>
              <a:ln w="9525">
                <a:noFill/>
                <a:miter lim="800000"/>
              </a:ln>
              <a:effectLst/>
            </p:spPr>
            <p:txBody>
              <a:bodyPr wrap="none" anchor="ctr">
                <a:spAutoFit/>
              </a:bodyPr>
              <a:p>
                <a:pPr algn="ctr"/>
                <a:r>
                  <a:rPr lang="en-US" altLang="zh-CN" sz="2000"/>
                  <a:t>5</a:t>
                </a:r>
                <a:endParaRPr lang="en-US" altLang="zh-CN" sz="2000"/>
              </a:p>
            </p:txBody>
          </p:sp>
          <p:sp>
            <p:nvSpPr>
              <p:cNvPr id="273430" name="Text Box 22"/>
              <p:cNvSpPr txBox="1">
                <a:spLocks noChangeArrowheads="1"/>
              </p:cNvSpPr>
              <p:nvPr/>
            </p:nvSpPr>
            <p:spPr bwMode="auto">
              <a:xfrm>
                <a:off x="4817" y="1982"/>
                <a:ext cx="237" cy="250"/>
              </a:xfrm>
              <a:prstGeom prst="rect">
                <a:avLst/>
              </a:prstGeom>
              <a:noFill/>
              <a:ln w="9525">
                <a:noFill/>
                <a:miter lim="800000"/>
              </a:ln>
              <a:effectLst/>
            </p:spPr>
            <p:txBody>
              <a:bodyPr wrap="none" anchor="ctr">
                <a:spAutoFit/>
              </a:bodyPr>
              <a:p>
                <a:pPr algn="ctr"/>
                <a:r>
                  <a:rPr lang="en-US" altLang="zh-CN" sz="2000"/>
                  <a:t>6</a:t>
                </a:r>
                <a:endParaRPr lang="en-US" altLang="zh-CN" sz="2000"/>
              </a:p>
            </p:txBody>
          </p:sp>
          <p:sp>
            <p:nvSpPr>
              <p:cNvPr id="273431" name="Text Box 23"/>
              <p:cNvSpPr txBox="1">
                <a:spLocks noChangeArrowheads="1"/>
              </p:cNvSpPr>
              <p:nvPr/>
            </p:nvSpPr>
            <p:spPr bwMode="auto">
              <a:xfrm>
                <a:off x="5282" y="1983"/>
                <a:ext cx="237" cy="250"/>
              </a:xfrm>
              <a:prstGeom prst="rect">
                <a:avLst/>
              </a:prstGeom>
              <a:noFill/>
              <a:ln w="9525">
                <a:noFill/>
                <a:miter lim="800000"/>
              </a:ln>
              <a:effectLst/>
            </p:spPr>
            <p:txBody>
              <a:bodyPr wrap="none" anchor="ctr">
                <a:spAutoFit/>
              </a:bodyPr>
              <a:p>
                <a:pPr algn="ctr"/>
                <a:r>
                  <a:rPr lang="en-US" altLang="zh-CN" sz="2000"/>
                  <a:t>7</a:t>
                </a:r>
                <a:endParaRPr lang="en-US" altLang="zh-CN" sz="2000"/>
              </a:p>
            </p:txBody>
          </p:sp>
          <p:sp>
            <p:nvSpPr>
              <p:cNvPr id="273432" name="Text Box 24"/>
              <p:cNvSpPr txBox="1">
                <a:spLocks noChangeArrowheads="1"/>
              </p:cNvSpPr>
              <p:nvPr/>
            </p:nvSpPr>
            <p:spPr bwMode="auto">
              <a:xfrm>
                <a:off x="5728" y="1993"/>
                <a:ext cx="237" cy="250"/>
              </a:xfrm>
              <a:prstGeom prst="rect">
                <a:avLst/>
              </a:prstGeom>
              <a:noFill/>
              <a:ln w="9525">
                <a:noFill/>
                <a:miter lim="800000"/>
              </a:ln>
              <a:effectLst/>
            </p:spPr>
            <p:txBody>
              <a:bodyPr wrap="none" anchor="ctr">
                <a:spAutoFit/>
              </a:bodyPr>
              <a:p>
                <a:pPr algn="ctr"/>
                <a:r>
                  <a:rPr lang="en-US" altLang="zh-CN" sz="2000"/>
                  <a:t>8</a:t>
                </a:r>
                <a:endParaRPr lang="en-US" altLang="zh-CN" sz="2000"/>
              </a:p>
            </p:txBody>
          </p:sp>
        </p:grpSp>
        <p:grpSp>
          <p:nvGrpSpPr>
            <p:cNvPr id="6" name="Group 25"/>
            <p:cNvGrpSpPr/>
            <p:nvPr/>
          </p:nvGrpSpPr>
          <p:grpSpPr bwMode="auto">
            <a:xfrm>
              <a:off x="3943" y="784"/>
              <a:ext cx="573" cy="527"/>
              <a:chOff x="3943" y="806"/>
              <a:chExt cx="573" cy="527"/>
            </a:xfrm>
          </p:grpSpPr>
          <p:grpSp>
            <p:nvGrpSpPr>
              <p:cNvPr id="10" name="Group 26"/>
              <p:cNvGrpSpPr/>
              <p:nvPr/>
            </p:nvGrpSpPr>
            <p:grpSpPr bwMode="auto">
              <a:xfrm>
                <a:off x="3943" y="1083"/>
                <a:ext cx="391" cy="250"/>
                <a:chOff x="3943" y="1083"/>
                <a:chExt cx="391" cy="250"/>
              </a:xfrm>
            </p:grpSpPr>
            <p:sp>
              <p:nvSpPr>
                <p:cNvPr id="273435" name="Line 27"/>
                <p:cNvSpPr>
                  <a:spLocks noChangeShapeType="1"/>
                </p:cNvSpPr>
                <p:nvPr/>
              </p:nvSpPr>
              <p:spPr bwMode="auto">
                <a:xfrm>
                  <a:off x="4112" y="1233"/>
                  <a:ext cx="222" cy="0"/>
                </a:xfrm>
                <a:prstGeom prst="line">
                  <a:avLst/>
                </a:prstGeom>
                <a:noFill/>
                <a:ln w="9525">
                  <a:solidFill>
                    <a:schemeClr val="tx1"/>
                  </a:solidFill>
                  <a:round/>
                  <a:tailEnd type="triangle" w="med" len="med"/>
                </a:ln>
                <a:effectLst/>
              </p:spPr>
              <p:txBody>
                <a:bodyPr wrap="none" anchor="ctr"/>
                <a:p>
                  <a:endParaRPr lang="zh-CN" altLang="en-US"/>
                </a:p>
              </p:txBody>
            </p:sp>
            <p:sp>
              <p:nvSpPr>
                <p:cNvPr id="273436" name="Text Box 28"/>
                <p:cNvSpPr txBox="1">
                  <a:spLocks noChangeArrowheads="1"/>
                </p:cNvSpPr>
                <p:nvPr/>
              </p:nvSpPr>
              <p:spPr bwMode="auto">
                <a:xfrm>
                  <a:off x="3943" y="1083"/>
                  <a:ext cx="196" cy="250"/>
                </a:xfrm>
                <a:prstGeom prst="rect">
                  <a:avLst/>
                </a:prstGeom>
                <a:noFill/>
                <a:ln w="9525">
                  <a:noFill/>
                  <a:miter lim="800000"/>
                </a:ln>
                <a:effectLst/>
              </p:spPr>
              <p:txBody>
                <a:bodyPr wrap="none">
                  <a:spAutoFit/>
                </a:bodyPr>
                <a:p>
                  <a:pPr eaLnBrk="1" hangingPunct="1"/>
                  <a:r>
                    <a:rPr lang="en-US" altLang="zh-CN" sz="2000"/>
                    <a:t>p</a:t>
                  </a:r>
                  <a:endParaRPr lang="en-US" altLang="zh-CN" sz="2000"/>
                </a:p>
              </p:txBody>
            </p:sp>
          </p:grpSp>
          <p:grpSp>
            <p:nvGrpSpPr>
              <p:cNvPr id="11" name="Group 29"/>
              <p:cNvGrpSpPr/>
              <p:nvPr/>
            </p:nvGrpSpPr>
            <p:grpSpPr bwMode="auto">
              <a:xfrm>
                <a:off x="4320" y="806"/>
                <a:ext cx="196" cy="427"/>
                <a:chOff x="4320" y="806"/>
                <a:chExt cx="196" cy="427"/>
              </a:xfrm>
            </p:grpSpPr>
            <p:sp>
              <p:nvSpPr>
                <p:cNvPr id="273438" name="Line 30"/>
                <p:cNvSpPr>
                  <a:spLocks noChangeShapeType="1"/>
                </p:cNvSpPr>
                <p:nvPr/>
              </p:nvSpPr>
              <p:spPr bwMode="auto">
                <a:xfrm>
                  <a:off x="4323" y="933"/>
                  <a:ext cx="0" cy="300"/>
                </a:xfrm>
                <a:prstGeom prst="line">
                  <a:avLst/>
                </a:prstGeom>
                <a:noFill/>
                <a:ln w="9525">
                  <a:solidFill>
                    <a:schemeClr val="tx1"/>
                  </a:solidFill>
                  <a:round/>
                  <a:tailEnd type="triangle" w="med" len="med"/>
                </a:ln>
                <a:effectLst/>
              </p:spPr>
              <p:txBody>
                <a:bodyPr wrap="none" anchor="ctr"/>
                <a:p>
                  <a:endParaRPr lang="zh-CN" altLang="en-US"/>
                </a:p>
              </p:txBody>
            </p:sp>
            <p:sp>
              <p:nvSpPr>
                <p:cNvPr id="273439" name="Text Box 31"/>
                <p:cNvSpPr txBox="1">
                  <a:spLocks noChangeArrowheads="1"/>
                </p:cNvSpPr>
                <p:nvPr/>
              </p:nvSpPr>
              <p:spPr bwMode="auto">
                <a:xfrm>
                  <a:off x="4320" y="806"/>
                  <a:ext cx="196" cy="250"/>
                </a:xfrm>
                <a:prstGeom prst="rect">
                  <a:avLst/>
                </a:prstGeom>
                <a:noFill/>
                <a:ln w="9525">
                  <a:noFill/>
                  <a:miter lim="800000"/>
                </a:ln>
                <a:effectLst/>
              </p:spPr>
              <p:txBody>
                <a:bodyPr wrap="none">
                  <a:spAutoFit/>
                </a:bodyPr>
                <a:p>
                  <a:pPr eaLnBrk="1" hangingPunct="1"/>
                  <a:r>
                    <a:rPr lang="en-US" altLang="zh-CN" sz="2000"/>
                    <a:t>q</a:t>
                  </a:r>
                  <a:endParaRPr lang="en-US" altLang="zh-CN" sz="2000"/>
                </a:p>
              </p:txBody>
            </p:sp>
          </p:grpSp>
        </p:grpSp>
        <p:sp>
          <p:nvSpPr>
            <p:cNvPr id="273440" name="Text Box 32"/>
            <p:cNvSpPr txBox="1">
              <a:spLocks noChangeArrowheads="1"/>
            </p:cNvSpPr>
            <p:nvPr/>
          </p:nvSpPr>
          <p:spPr bwMode="auto">
            <a:xfrm>
              <a:off x="4409" y="1285"/>
              <a:ext cx="196" cy="250"/>
            </a:xfrm>
            <a:prstGeom prst="rect">
              <a:avLst/>
            </a:prstGeom>
            <a:solidFill>
              <a:schemeClr val="bg1"/>
            </a:solidFill>
            <a:ln w="9525">
              <a:noFill/>
              <a:miter lim="800000"/>
            </a:ln>
            <a:effectLst/>
          </p:spPr>
          <p:txBody>
            <a:bodyPr wrap="none">
              <a:spAutoFit/>
            </a:bodyPr>
            <a:p>
              <a:pPr eaLnBrk="1" hangingPunct="1"/>
              <a:r>
                <a:rPr lang="en-US" altLang="zh-CN" sz="2000">
                  <a:solidFill>
                    <a:schemeClr val="accent2"/>
                  </a:solidFill>
                </a:rPr>
                <a:t>2</a:t>
              </a:r>
              <a:endParaRPr lang="en-US" altLang="zh-CN" sz="2000"/>
            </a:p>
          </p:txBody>
        </p:sp>
        <p:grpSp>
          <p:nvGrpSpPr>
            <p:cNvPr id="12" name="Group 33"/>
            <p:cNvGrpSpPr/>
            <p:nvPr/>
          </p:nvGrpSpPr>
          <p:grpSpPr bwMode="auto">
            <a:xfrm>
              <a:off x="3950" y="803"/>
              <a:ext cx="984" cy="871"/>
              <a:chOff x="3950" y="825"/>
              <a:chExt cx="984" cy="871"/>
            </a:xfrm>
          </p:grpSpPr>
          <p:grpSp>
            <p:nvGrpSpPr>
              <p:cNvPr id="13" name="Group 34"/>
              <p:cNvGrpSpPr/>
              <p:nvPr/>
            </p:nvGrpSpPr>
            <p:grpSpPr bwMode="auto">
              <a:xfrm>
                <a:off x="3950" y="1446"/>
                <a:ext cx="391" cy="250"/>
                <a:chOff x="3943" y="1083"/>
                <a:chExt cx="391" cy="250"/>
              </a:xfrm>
            </p:grpSpPr>
            <p:sp>
              <p:nvSpPr>
                <p:cNvPr id="273443" name="Line 35"/>
                <p:cNvSpPr>
                  <a:spLocks noChangeShapeType="1"/>
                </p:cNvSpPr>
                <p:nvPr/>
              </p:nvSpPr>
              <p:spPr bwMode="auto">
                <a:xfrm>
                  <a:off x="4112" y="1233"/>
                  <a:ext cx="222" cy="0"/>
                </a:xfrm>
                <a:prstGeom prst="line">
                  <a:avLst/>
                </a:prstGeom>
                <a:noFill/>
                <a:ln w="9525">
                  <a:solidFill>
                    <a:schemeClr val="tx1"/>
                  </a:solidFill>
                  <a:round/>
                  <a:tailEnd type="triangle" w="med" len="med"/>
                </a:ln>
                <a:effectLst/>
              </p:spPr>
              <p:txBody>
                <a:bodyPr wrap="none" anchor="ctr"/>
                <a:p>
                  <a:endParaRPr lang="zh-CN" altLang="en-US"/>
                </a:p>
              </p:txBody>
            </p:sp>
            <p:sp>
              <p:nvSpPr>
                <p:cNvPr id="273444" name="Text Box 36"/>
                <p:cNvSpPr txBox="1">
                  <a:spLocks noChangeArrowheads="1"/>
                </p:cNvSpPr>
                <p:nvPr/>
              </p:nvSpPr>
              <p:spPr bwMode="auto">
                <a:xfrm>
                  <a:off x="3943" y="1083"/>
                  <a:ext cx="196" cy="250"/>
                </a:xfrm>
                <a:prstGeom prst="rect">
                  <a:avLst/>
                </a:prstGeom>
                <a:noFill/>
                <a:ln w="9525">
                  <a:noFill/>
                  <a:miter lim="800000"/>
                </a:ln>
                <a:effectLst/>
              </p:spPr>
              <p:txBody>
                <a:bodyPr wrap="none">
                  <a:spAutoFit/>
                </a:bodyPr>
                <a:p>
                  <a:pPr eaLnBrk="1" hangingPunct="1"/>
                  <a:r>
                    <a:rPr lang="en-US" altLang="zh-CN" sz="2000"/>
                    <a:t>p</a:t>
                  </a:r>
                  <a:endParaRPr lang="en-US" altLang="zh-CN" sz="2000"/>
                </a:p>
              </p:txBody>
            </p:sp>
          </p:grpSp>
          <p:grpSp>
            <p:nvGrpSpPr>
              <p:cNvPr id="7" name="Group 37"/>
              <p:cNvGrpSpPr/>
              <p:nvPr/>
            </p:nvGrpSpPr>
            <p:grpSpPr bwMode="auto">
              <a:xfrm>
                <a:off x="4738" y="825"/>
                <a:ext cx="196" cy="427"/>
                <a:chOff x="4320" y="806"/>
                <a:chExt cx="196" cy="427"/>
              </a:xfrm>
            </p:grpSpPr>
            <p:sp>
              <p:nvSpPr>
                <p:cNvPr id="273446" name="Line 38"/>
                <p:cNvSpPr>
                  <a:spLocks noChangeShapeType="1"/>
                </p:cNvSpPr>
                <p:nvPr/>
              </p:nvSpPr>
              <p:spPr bwMode="auto">
                <a:xfrm>
                  <a:off x="4323" y="933"/>
                  <a:ext cx="0" cy="300"/>
                </a:xfrm>
                <a:prstGeom prst="line">
                  <a:avLst/>
                </a:prstGeom>
                <a:noFill/>
                <a:ln w="9525">
                  <a:solidFill>
                    <a:schemeClr val="tx1"/>
                  </a:solidFill>
                  <a:round/>
                  <a:tailEnd type="triangle" w="med" len="med"/>
                </a:ln>
                <a:effectLst/>
              </p:spPr>
              <p:txBody>
                <a:bodyPr wrap="none" anchor="ctr"/>
                <a:p>
                  <a:endParaRPr lang="zh-CN" altLang="en-US"/>
                </a:p>
              </p:txBody>
            </p:sp>
            <p:sp>
              <p:nvSpPr>
                <p:cNvPr id="273447" name="Text Box 39"/>
                <p:cNvSpPr txBox="1">
                  <a:spLocks noChangeArrowheads="1"/>
                </p:cNvSpPr>
                <p:nvPr/>
              </p:nvSpPr>
              <p:spPr bwMode="auto">
                <a:xfrm>
                  <a:off x="4320" y="806"/>
                  <a:ext cx="196" cy="250"/>
                </a:xfrm>
                <a:prstGeom prst="rect">
                  <a:avLst/>
                </a:prstGeom>
                <a:noFill/>
                <a:ln w="9525">
                  <a:noFill/>
                  <a:miter lim="800000"/>
                </a:ln>
                <a:effectLst/>
              </p:spPr>
              <p:txBody>
                <a:bodyPr wrap="none">
                  <a:spAutoFit/>
                </a:bodyPr>
                <a:p>
                  <a:pPr eaLnBrk="1" hangingPunct="1"/>
                  <a:r>
                    <a:rPr lang="en-US" altLang="zh-CN" sz="2000"/>
                    <a:t>q</a:t>
                  </a:r>
                  <a:endParaRPr lang="en-US" altLang="zh-CN" sz="2000"/>
                </a:p>
              </p:txBody>
            </p:sp>
          </p:grpSp>
        </p:grpSp>
        <p:grpSp>
          <p:nvGrpSpPr>
            <p:cNvPr id="8" name="Group 40"/>
            <p:cNvGrpSpPr/>
            <p:nvPr/>
          </p:nvGrpSpPr>
          <p:grpSpPr bwMode="auto">
            <a:xfrm>
              <a:off x="3939" y="780"/>
              <a:ext cx="1440" cy="1238"/>
              <a:chOff x="3939" y="802"/>
              <a:chExt cx="1440" cy="1238"/>
            </a:xfrm>
          </p:grpSpPr>
          <p:grpSp>
            <p:nvGrpSpPr>
              <p:cNvPr id="16" name="Group 41"/>
              <p:cNvGrpSpPr/>
              <p:nvPr/>
            </p:nvGrpSpPr>
            <p:grpSpPr bwMode="auto">
              <a:xfrm>
                <a:off x="3939" y="1790"/>
                <a:ext cx="391" cy="250"/>
                <a:chOff x="3943" y="1083"/>
                <a:chExt cx="391" cy="250"/>
              </a:xfrm>
            </p:grpSpPr>
            <p:sp>
              <p:nvSpPr>
                <p:cNvPr id="273450" name="Line 42"/>
                <p:cNvSpPr>
                  <a:spLocks noChangeShapeType="1"/>
                </p:cNvSpPr>
                <p:nvPr/>
              </p:nvSpPr>
              <p:spPr bwMode="auto">
                <a:xfrm>
                  <a:off x="4112" y="1233"/>
                  <a:ext cx="222" cy="0"/>
                </a:xfrm>
                <a:prstGeom prst="line">
                  <a:avLst/>
                </a:prstGeom>
                <a:noFill/>
                <a:ln w="9525">
                  <a:solidFill>
                    <a:schemeClr val="tx1"/>
                  </a:solidFill>
                  <a:round/>
                  <a:tailEnd type="triangle" w="med" len="med"/>
                </a:ln>
                <a:effectLst/>
              </p:spPr>
              <p:txBody>
                <a:bodyPr wrap="none" anchor="ctr"/>
                <a:p>
                  <a:endParaRPr lang="zh-CN" altLang="en-US"/>
                </a:p>
              </p:txBody>
            </p:sp>
            <p:sp>
              <p:nvSpPr>
                <p:cNvPr id="273451" name="Text Box 43"/>
                <p:cNvSpPr txBox="1">
                  <a:spLocks noChangeArrowheads="1"/>
                </p:cNvSpPr>
                <p:nvPr/>
              </p:nvSpPr>
              <p:spPr bwMode="auto">
                <a:xfrm>
                  <a:off x="3943" y="1083"/>
                  <a:ext cx="196" cy="250"/>
                </a:xfrm>
                <a:prstGeom prst="rect">
                  <a:avLst/>
                </a:prstGeom>
                <a:noFill/>
                <a:ln w="9525">
                  <a:noFill/>
                  <a:miter lim="800000"/>
                </a:ln>
                <a:effectLst/>
              </p:spPr>
              <p:txBody>
                <a:bodyPr wrap="none">
                  <a:spAutoFit/>
                </a:bodyPr>
                <a:p>
                  <a:pPr eaLnBrk="1" hangingPunct="1"/>
                  <a:r>
                    <a:rPr lang="en-US" altLang="zh-CN" sz="2000"/>
                    <a:t>p</a:t>
                  </a:r>
                  <a:endParaRPr lang="en-US" altLang="zh-CN" sz="2000"/>
                </a:p>
              </p:txBody>
            </p:sp>
          </p:grpSp>
          <p:grpSp>
            <p:nvGrpSpPr>
              <p:cNvPr id="9" name="Group 44"/>
              <p:cNvGrpSpPr/>
              <p:nvPr/>
            </p:nvGrpSpPr>
            <p:grpSpPr bwMode="auto">
              <a:xfrm>
                <a:off x="5183" y="802"/>
                <a:ext cx="196" cy="427"/>
                <a:chOff x="4320" y="806"/>
                <a:chExt cx="196" cy="427"/>
              </a:xfrm>
            </p:grpSpPr>
            <p:sp>
              <p:nvSpPr>
                <p:cNvPr id="273453" name="Line 45"/>
                <p:cNvSpPr>
                  <a:spLocks noChangeShapeType="1"/>
                </p:cNvSpPr>
                <p:nvPr/>
              </p:nvSpPr>
              <p:spPr bwMode="auto">
                <a:xfrm>
                  <a:off x="4323" y="933"/>
                  <a:ext cx="0" cy="300"/>
                </a:xfrm>
                <a:prstGeom prst="line">
                  <a:avLst/>
                </a:prstGeom>
                <a:noFill/>
                <a:ln w="9525">
                  <a:solidFill>
                    <a:schemeClr val="tx1"/>
                  </a:solidFill>
                  <a:round/>
                  <a:tailEnd type="triangle" w="med" len="med"/>
                </a:ln>
                <a:effectLst/>
              </p:spPr>
              <p:txBody>
                <a:bodyPr wrap="none" anchor="ctr"/>
                <a:p>
                  <a:endParaRPr lang="zh-CN" altLang="en-US"/>
                </a:p>
              </p:txBody>
            </p:sp>
            <p:sp>
              <p:nvSpPr>
                <p:cNvPr id="273454" name="Text Box 46"/>
                <p:cNvSpPr txBox="1">
                  <a:spLocks noChangeArrowheads="1"/>
                </p:cNvSpPr>
                <p:nvPr/>
              </p:nvSpPr>
              <p:spPr bwMode="auto">
                <a:xfrm>
                  <a:off x="4320" y="806"/>
                  <a:ext cx="196" cy="250"/>
                </a:xfrm>
                <a:prstGeom prst="rect">
                  <a:avLst/>
                </a:prstGeom>
                <a:noFill/>
                <a:ln w="9525">
                  <a:noFill/>
                  <a:miter lim="800000"/>
                </a:ln>
                <a:effectLst/>
              </p:spPr>
              <p:txBody>
                <a:bodyPr wrap="none">
                  <a:spAutoFit/>
                </a:bodyPr>
                <a:p>
                  <a:pPr eaLnBrk="1" hangingPunct="1"/>
                  <a:r>
                    <a:rPr lang="en-US" altLang="zh-CN" sz="2000"/>
                    <a:t>q</a:t>
                  </a:r>
                  <a:endParaRPr lang="en-US" altLang="zh-CN" sz="2000"/>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73412"/>
                                        </p:tgtEl>
                                        <p:attrNameLst>
                                          <p:attrName>style.visibility</p:attrName>
                                        </p:attrNameLst>
                                      </p:cBhvr>
                                      <p:to>
                                        <p:strVal val="visible"/>
                                      </p:to>
                                    </p:set>
                                    <p:animEffect transition="in" filter="box(out)">
                                      <p:cBhvr>
                                        <p:cTn id="7" dur="500"/>
                                        <p:tgtEl>
                                          <p:spTgt spid="27341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365184"/>
              <a:ext cx="3505200" cy="368300"/>
            </a:xfrm>
            <a:prstGeom prst="rect">
              <a:avLst/>
            </a:prstGeom>
            <a:noFill/>
          </p:spPr>
          <p:txBody>
            <a:bodyPr wrap="square" rtlCol="0">
              <a:spAutoFit/>
            </a:bodyPr>
            <a:lstStyle/>
            <a:p>
              <a:r>
                <a:rPr lang="zh-CN" altLang="zh-CN" dirty="0">
                  <a:solidFill>
                    <a:schemeClr val="bg1"/>
                  </a:solidFill>
                  <a:latin typeface="微软雅黑" panose="020B0503020204020204" charset="-122"/>
                  <a:ea typeface="微软雅黑" panose="020B0503020204020204" charset="-122"/>
                </a:rPr>
                <a:t>笔试题</a:t>
              </a:r>
              <a:endParaRPr lang="zh-CN" altLang="zh-CN"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1014730" y="1162685"/>
            <a:ext cx="7874000" cy="5077460"/>
          </a:xfrm>
          <a:prstGeom prst="rect">
            <a:avLst/>
          </a:prstGeom>
          <a:noFill/>
        </p:spPr>
        <p:txBody>
          <a:bodyPr wrap="square" rtlCol="0">
            <a:spAutoFit/>
          </a:bodyPr>
          <a:p>
            <a:r>
              <a:rPr lang="zh-CN" altLang="en-US" dirty="0">
                <a:solidFill>
                  <a:schemeClr val="bg1"/>
                </a:solidFill>
                <a:latin typeface="微软雅黑" panose="020B0503020204020204" charset="-122"/>
                <a:ea typeface="微软雅黑" panose="020B0503020204020204" charset="-122"/>
                <a:cs typeface="+mn-ea"/>
                <a:sym typeface="+mn-ea"/>
              </a:rPr>
              <a:t>#include &lt;stdio.h&gt;</a:t>
            </a:r>
            <a:endParaRPr lang="zh-CN" altLang="en-US" dirty="0">
              <a:solidFill>
                <a:schemeClr val="bg1"/>
              </a:solidFill>
              <a:latin typeface="微软雅黑" panose="020B0503020204020204" charset="-122"/>
              <a:ea typeface="微软雅黑" panose="020B0503020204020204" charset="-122"/>
              <a:cs typeface="+mn-ea"/>
            </a:endParaRPr>
          </a:p>
          <a:p>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int main()</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const char *ptr[] = {"Welcome", "to", "Beautiful", "Nanjing"};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const char **p = ptr + 1;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ptr[0] = (*p++) + 2;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ptr[1] = *(p + 1);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ptr[2] = p[1] + 3;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ptr[3] = p[0] + (ptr[2] - ptr[1]);</a:t>
            </a:r>
            <a:endParaRPr lang="zh-CN" altLang="en-US" dirty="0">
              <a:solidFill>
                <a:schemeClr val="bg1"/>
              </a:solidFill>
              <a:latin typeface="微软雅黑" panose="020B0503020204020204" charset="-122"/>
              <a:ea typeface="微软雅黑" panose="020B0503020204020204" charset="-122"/>
              <a:cs typeface="+mn-ea"/>
            </a:endParaRPr>
          </a:p>
          <a:p>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printf("%s\n", ptr[0]);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printf("%s\n", ptr[1]);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printf("%s\n", ptr[2]);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printf("%s\n", ptr[3]);</a:t>
            </a:r>
            <a:endParaRPr lang="zh-CN" altLang="en-US" dirty="0">
              <a:solidFill>
                <a:schemeClr val="bg1"/>
              </a:solidFill>
              <a:latin typeface="微软雅黑" panose="020B0503020204020204" charset="-122"/>
              <a:ea typeface="微软雅黑" panose="020B0503020204020204" charset="-122"/>
              <a:cs typeface="+mn-ea"/>
            </a:endParaRPr>
          </a:p>
          <a:p>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    return 0;  </a:t>
            </a:r>
            <a:endParaRPr lang="zh-CN" altLang="en-US" dirty="0">
              <a:solidFill>
                <a:schemeClr val="bg1"/>
              </a:solidFill>
              <a:latin typeface="微软雅黑" panose="020B0503020204020204" charset="-122"/>
              <a:ea typeface="微软雅黑" panose="020B0503020204020204" charset="-122"/>
              <a:cs typeface="+mn-ea"/>
            </a:endParaRPr>
          </a:p>
          <a:p>
            <a:r>
              <a:rPr lang="zh-CN" altLang="en-US" dirty="0">
                <a:solidFill>
                  <a:schemeClr val="bg1"/>
                </a:solidFill>
                <a:latin typeface="微软雅黑" panose="020B0503020204020204" charset="-122"/>
                <a:ea typeface="微软雅黑" panose="020B0503020204020204" charset="-122"/>
                <a:cs typeface="+mn-ea"/>
                <a:sym typeface="+mn-ea"/>
              </a:rPr>
              <a:t>}</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325"/>
            <a:ext cx="12192000" cy="6858000"/>
          </a:xfrm>
          <a:prstGeom prst="rect">
            <a:avLst/>
          </a:prstGeom>
        </p:spPr>
      </p:pic>
      <p:grpSp>
        <p:nvGrpSpPr>
          <p:cNvPr id="35" name="组合 34"/>
          <p:cNvGrpSpPr/>
          <p:nvPr/>
        </p:nvGrpSpPr>
        <p:grpSpPr>
          <a:xfrm>
            <a:off x="3800395" y="2721403"/>
            <a:ext cx="5029913" cy="1351107"/>
            <a:chOff x="3800395" y="2721403"/>
            <a:chExt cx="5029913" cy="1351107"/>
          </a:xfrm>
        </p:grpSpPr>
        <p:grpSp>
          <p:nvGrpSpPr>
            <p:cNvPr id="27" name="组合 26"/>
            <p:cNvGrpSpPr/>
            <p:nvPr/>
          </p:nvGrpSpPr>
          <p:grpSpPr>
            <a:xfrm rot="21524908">
              <a:off x="3800395" y="2771316"/>
              <a:ext cx="1128713" cy="1128712"/>
              <a:chOff x="2558424" y="1401428"/>
              <a:chExt cx="1318727" cy="1318727"/>
            </a:xfrm>
          </p:grpSpPr>
          <p:sp>
            <p:nvSpPr>
              <p:cNvPr id="28" name="椭圆 27"/>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sym typeface="Arial" panose="020B0604020202020204"/>
                </a:endParaRPr>
              </a:p>
            </p:txBody>
          </p:sp>
          <p:sp>
            <p:nvSpPr>
              <p:cNvPr id="29"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sym typeface="Arial" panose="020B0604020202020204"/>
                </a:endParaRPr>
              </a:p>
            </p:txBody>
          </p:sp>
        </p:grpSp>
        <p:grpSp>
          <p:nvGrpSpPr>
            <p:cNvPr id="30" name="组合 29"/>
            <p:cNvGrpSpPr/>
            <p:nvPr/>
          </p:nvGrpSpPr>
          <p:grpSpPr>
            <a:xfrm rot="26108">
              <a:off x="4755150" y="2721403"/>
              <a:ext cx="4075158" cy="1351107"/>
              <a:chOff x="303880" y="2324855"/>
              <a:chExt cx="4075158" cy="1351107"/>
            </a:xfrm>
          </p:grpSpPr>
          <p:sp>
            <p:nvSpPr>
              <p:cNvPr id="31" name="文本框 30"/>
              <p:cNvSpPr txBox="1"/>
              <p:nvPr/>
            </p:nvSpPr>
            <p:spPr>
              <a:xfrm rot="21573892">
                <a:off x="907028" y="2324855"/>
                <a:ext cx="2858135" cy="830997"/>
              </a:xfrm>
              <a:prstGeom prst="rect">
                <a:avLst/>
              </a:prstGeom>
              <a:noFill/>
            </p:spPr>
            <p:txBody>
              <a:bodyPr wrap="square" rtlCol="0">
                <a:spAutoFit/>
              </a:bodyPr>
              <a:lstStyle/>
              <a:p>
                <a:pPr algn="dist"/>
                <a:r>
                  <a:rPr lang="en-US" altLang="zh-CN" sz="4800" dirty="0" smtClean="0">
                    <a:solidFill>
                      <a:schemeClr val="bg1"/>
                    </a:solidFill>
                    <a:latin typeface="微软雅黑" panose="020B0503020204020204" charset="-122"/>
                    <a:ea typeface="微软雅黑" panose="020B0503020204020204" charset="-122"/>
                  </a:rPr>
                  <a:t>PART03</a:t>
                </a:r>
                <a:endParaRPr lang="en-US" altLang="zh-CN" sz="4800" dirty="0">
                  <a:solidFill>
                    <a:schemeClr val="bg1"/>
                  </a:solidFill>
                  <a:latin typeface="微软雅黑" panose="020B0503020204020204" charset="-122"/>
                  <a:ea typeface="微软雅黑" panose="020B0503020204020204" charset="-122"/>
                </a:endParaRPr>
              </a:p>
            </p:txBody>
          </p:sp>
          <p:sp>
            <p:nvSpPr>
              <p:cNvPr id="32" name="文本框 48"/>
              <p:cNvSpPr txBox="1">
                <a:spLocks noChangeArrowheads="1"/>
              </p:cNvSpPr>
              <p:nvPr/>
            </p:nvSpPr>
            <p:spPr bwMode="auto">
              <a:xfrm>
                <a:off x="303880" y="3215587"/>
                <a:ext cx="407515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defRPr/>
                </a:pPr>
                <a:r>
                  <a:rPr lang="zh-CN" altLang="id-ID" sz="2400" dirty="0">
                    <a:solidFill>
                      <a:schemeClr val="bg1"/>
                    </a:solidFill>
                    <a:latin typeface="微软雅黑" panose="020B0503020204020204" charset="-122"/>
                    <a:ea typeface="微软雅黑" panose="020B0503020204020204" charset="-122"/>
                  </a:rPr>
                  <a:t>指针的指针</a:t>
                </a:r>
                <a:endParaRPr lang="zh-CN" altLang="id-ID" sz="2400" dirty="0">
                  <a:solidFill>
                    <a:schemeClr val="bg1"/>
                  </a:solidFill>
                  <a:latin typeface="微软雅黑" panose="020B0503020204020204" charset="-122"/>
                  <a:ea typeface="微软雅黑" panose="020B0503020204020204" charset="-122"/>
                </a:endParaRPr>
              </a:p>
            </p:txBody>
          </p:sp>
        </p:grpSp>
      </p:grpSp>
      <p:sp>
        <p:nvSpPr>
          <p:cNvPr id="2" name="页脚占位符 1"/>
          <p:cNvSpPr>
            <a:spLocks noGrp="1"/>
          </p:cNvSpPr>
          <p:nvPr>
            <p:ph type="ftr" sz="quarter" idx="11"/>
          </p:nvPr>
        </p:nvSpPr>
        <p:spPr>
          <a:xfrm>
            <a:off x="4038600" y="6243320"/>
            <a:ext cx="4114800" cy="365125"/>
          </a:xfrm>
        </p:spPr>
        <p:txBody>
          <a:bodyPr/>
          <a:p>
            <a:r>
              <a:rPr lang="zh-CN" altLang="en-US"/>
              <a:t>南京学益得智能科技有限公司</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指针和数组</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graphicFrame>
        <p:nvGraphicFramePr>
          <p:cNvPr id="30" name="表格 29"/>
          <p:cNvGraphicFramePr/>
          <p:nvPr/>
        </p:nvGraphicFramePr>
        <p:xfrm>
          <a:off x="1830070" y="1841500"/>
          <a:ext cx="8533765" cy="381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bl>
          </a:graphicData>
        </a:graphic>
      </p:graphicFrame>
      <p:sp>
        <p:nvSpPr>
          <p:cNvPr id="31" name="文本框 30"/>
          <p:cNvSpPr txBox="1"/>
          <p:nvPr/>
        </p:nvSpPr>
        <p:spPr>
          <a:xfrm>
            <a:off x="1830070" y="1367790"/>
            <a:ext cx="2638425" cy="368300"/>
          </a:xfrm>
          <a:prstGeom prst="rect">
            <a:avLst/>
          </a:prstGeom>
          <a:noFill/>
        </p:spPr>
        <p:txBody>
          <a:bodyPr wrap="square" rtlCol="0">
            <a:spAutoFit/>
          </a:bodyPr>
          <a:p>
            <a:r>
              <a:rPr lang="zh-CN" altLang="en-US" dirty="0">
                <a:solidFill>
                  <a:schemeClr val="bg1"/>
                </a:solidFill>
                <a:latin typeface="微软雅黑" panose="020B0503020204020204" charset="-122"/>
                <a:ea typeface="微软雅黑" panose="020B0503020204020204" charset="-122"/>
                <a:cs typeface="+mn-ea"/>
              </a:rPr>
              <a:t>int a;</a:t>
            </a:r>
            <a:endParaRPr lang="zh-CN" altLang="en-US" dirty="0">
              <a:solidFill>
                <a:schemeClr val="bg1"/>
              </a:solidFill>
              <a:latin typeface="微软雅黑" panose="020B0503020204020204" charset="-122"/>
              <a:ea typeface="微软雅黑" panose="020B0503020204020204" charset="-122"/>
              <a:cs typeface="+mn-ea"/>
            </a:endParaRPr>
          </a:p>
        </p:txBody>
      </p:sp>
      <p:sp>
        <p:nvSpPr>
          <p:cNvPr id="32" name="文本框 31"/>
          <p:cNvSpPr txBox="1"/>
          <p:nvPr/>
        </p:nvSpPr>
        <p:spPr>
          <a:xfrm>
            <a:off x="1847850" y="2356485"/>
            <a:ext cx="8466455" cy="368300"/>
          </a:xfrm>
          <a:prstGeom prst="rect">
            <a:avLst/>
          </a:prstGeom>
          <a:noFill/>
        </p:spPr>
        <p:txBody>
          <a:bodyPr wrap="square" rtlCol="0">
            <a:spAutoFit/>
          </a:bodyPr>
          <a:p>
            <a:pPr algn="l">
              <a:buClrTx/>
              <a:buSzTx/>
              <a:buFontTx/>
            </a:pPr>
            <a:r>
              <a:rPr lang="zh-CN" altLang="en-US" dirty="0">
                <a:solidFill>
                  <a:schemeClr val="bg1"/>
                </a:solidFill>
                <a:latin typeface="微软雅黑" panose="020B0503020204020204" charset="-122"/>
                <a:ea typeface="微软雅黑" panose="020B0503020204020204" charset="-122"/>
                <a:cs typeface="+mn-ea"/>
              </a:rPr>
              <a:t>0x100                     0x101                      0x102                      0x103</a:t>
            </a:r>
            <a:endParaRPr lang="zh-CN" altLang="en-US" dirty="0">
              <a:solidFill>
                <a:schemeClr val="bg1"/>
              </a:solidFill>
              <a:latin typeface="微软雅黑" panose="020B0503020204020204" charset="-122"/>
              <a:ea typeface="微软雅黑" panose="020B0503020204020204" charset="-122"/>
              <a:cs typeface="+mn-ea"/>
            </a:endParaRPr>
          </a:p>
        </p:txBody>
      </p:sp>
      <p:graphicFrame>
        <p:nvGraphicFramePr>
          <p:cNvPr id="33" name="表格 32"/>
          <p:cNvGraphicFramePr/>
          <p:nvPr/>
        </p:nvGraphicFramePr>
        <p:xfrm>
          <a:off x="1830070" y="3238500"/>
          <a:ext cx="8533765" cy="381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bl>
          </a:graphicData>
        </a:graphic>
      </p:graphicFrame>
      <p:sp>
        <p:nvSpPr>
          <p:cNvPr id="34" name="文本框 33"/>
          <p:cNvSpPr txBox="1"/>
          <p:nvPr/>
        </p:nvSpPr>
        <p:spPr>
          <a:xfrm>
            <a:off x="1871980" y="2870200"/>
            <a:ext cx="2596515" cy="368300"/>
          </a:xfrm>
          <a:prstGeom prst="rect">
            <a:avLst/>
          </a:prstGeom>
          <a:noFill/>
        </p:spPr>
        <p:txBody>
          <a:bodyPr wrap="square" rtlCol="0">
            <a:spAutoFit/>
          </a:bodyPr>
          <a:p>
            <a:pPr algn="l">
              <a:buClrTx/>
              <a:buSzTx/>
              <a:buFontTx/>
            </a:pPr>
            <a:r>
              <a:rPr lang="zh-CN" altLang="en-US" dirty="0">
                <a:solidFill>
                  <a:schemeClr val="bg1"/>
                </a:solidFill>
                <a:latin typeface="微软雅黑" panose="020B0503020204020204" charset="-122"/>
                <a:ea typeface="微软雅黑" panose="020B0503020204020204" charset="-122"/>
                <a:cs typeface="+mn-ea"/>
              </a:rPr>
              <a:t>int *p = &amp;a;</a:t>
            </a:r>
            <a:endParaRPr lang="zh-CN" altLang="en-US" dirty="0">
              <a:solidFill>
                <a:schemeClr val="bg1"/>
              </a:solidFill>
              <a:latin typeface="微软雅黑" panose="020B0503020204020204" charset="-122"/>
              <a:ea typeface="微软雅黑" panose="020B0503020204020204" charset="-122"/>
              <a:cs typeface="+mn-ea"/>
            </a:endParaRPr>
          </a:p>
        </p:txBody>
      </p:sp>
      <p:sp>
        <p:nvSpPr>
          <p:cNvPr id="35" name="文本框 34"/>
          <p:cNvSpPr txBox="1"/>
          <p:nvPr/>
        </p:nvSpPr>
        <p:spPr>
          <a:xfrm>
            <a:off x="1830070" y="3710940"/>
            <a:ext cx="8466455" cy="368300"/>
          </a:xfrm>
          <a:prstGeom prst="rect">
            <a:avLst/>
          </a:prstGeom>
          <a:noFill/>
        </p:spPr>
        <p:txBody>
          <a:bodyPr wrap="square" rtlCol="0">
            <a:spAutoFit/>
          </a:bodyPr>
          <a:p>
            <a:pPr algn="l">
              <a:buClrTx/>
              <a:buSzTx/>
              <a:buFontTx/>
            </a:pPr>
            <a:r>
              <a:rPr lang="zh-CN" altLang="en-US" dirty="0">
                <a:solidFill>
                  <a:schemeClr val="bg1"/>
                </a:solidFill>
                <a:latin typeface="微软雅黑" panose="020B0503020204020204" charset="-122"/>
                <a:ea typeface="微软雅黑" panose="020B0503020204020204" charset="-122"/>
                <a:cs typeface="+mn-ea"/>
              </a:rPr>
              <a:t>0x100</a:t>
            </a:r>
            <a:r>
              <a:rPr lang="en-US" altLang="zh-CN" dirty="0">
                <a:solidFill>
                  <a:schemeClr val="bg1"/>
                </a:solidFill>
                <a:latin typeface="微软雅黑" panose="020B0503020204020204" charset="-122"/>
                <a:ea typeface="微软雅黑" panose="020B0503020204020204" charset="-122"/>
                <a:cs typeface="+mn-ea"/>
              </a:rPr>
              <a:t>0</a:t>
            </a:r>
            <a:r>
              <a:rPr lang="zh-CN" altLang="en-US" dirty="0">
                <a:solidFill>
                  <a:schemeClr val="bg1"/>
                </a:solidFill>
                <a:latin typeface="微软雅黑" panose="020B0503020204020204" charset="-122"/>
                <a:ea typeface="微软雅黑" panose="020B0503020204020204" charset="-122"/>
                <a:cs typeface="+mn-ea"/>
              </a:rPr>
              <a:t>                    0x10</a:t>
            </a:r>
            <a:r>
              <a:rPr lang="en-US" altLang="zh-CN" dirty="0">
                <a:solidFill>
                  <a:schemeClr val="bg1"/>
                </a:solidFill>
                <a:latin typeface="微软雅黑" panose="020B0503020204020204" charset="-122"/>
                <a:ea typeface="微软雅黑" panose="020B0503020204020204" charset="-122"/>
                <a:cs typeface="+mn-ea"/>
              </a:rPr>
              <a:t>0</a:t>
            </a:r>
            <a:r>
              <a:rPr lang="zh-CN" altLang="en-US" dirty="0">
                <a:solidFill>
                  <a:schemeClr val="bg1"/>
                </a:solidFill>
                <a:latin typeface="微软雅黑" panose="020B0503020204020204" charset="-122"/>
                <a:ea typeface="微软雅黑" panose="020B0503020204020204" charset="-122"/>
                <a:cs typeface="+mn-ea"/>
              </a:rPr>
              <a:t>1                   0x1</a:t>
            </a:r>
            <a:r>
              <a:rPr lang="en-US" altLang="zh-CN" dirty="0">
                <a:solidFill>
                  <a:schemeClr val="bg1"/>
                </a:solidFill>
                <a:latin typeface="微软雅黑" panose="020B0503020204020204" charset="-122"/>
                <a:ea typeface="微软雅黑" panose="020B0503020204020204" charset="-122"/>
                <a:cs typeface="+mn-ea"/>
              </a:rPr>
              <a:t>0</a:t>
            </a:r>
            <a:r>
              <a:rPr lang="zh-CN" altLang="en-US" dirty="0">
                <a:solidFill>
                  <a:schemeClr val="bg1"/>
                </a:solidFill>
                <a:latin typeface="微软雅黑" panose="020B0503020204020204" charset="-122"/>
                <a:ea typeface="微软雅黑" panose="020B0503020204020204" charset="-122"/>
                <a:cs typeface="+mn-ea"/>
              </a:rPr>
              <a:t>02                   0x10</a:t>
            </a:r>
            <a:r>
              <a:rPr lang="en-US" altLang="zh-CN" dirty="0">
                <a:solidFill>
                  <a:schemeClr val="bg1"/>
                </a:solidFill>
                <a:latin typeface="微软雅黑" panose="020B0503020204020204" charset="-122"/>
                <a:ea typeface="微软雅黑" panose="020B0503020204020204" charset="-122"/>
                <a:cs typeface="+mn-ea"/>
              </a:rPr>
              <a:t>0</a:t>
            </a:r>
            <a:r>
              <a:rPr lang="zh-CN" altLang="en-US" dirty="0">
                <a:solidFill>
                  <a:schemeClr val="bg1"/>
                </a:solidFill>
                <a:latin typeface="微软雅黑" panose="020B0503020204020204" charset="-122"/>
                <a:ea typeface="微软雅黑" panose="020B0503020204020204" charset="-122"/>
                <a:cs typeface="+mn-ea"/>
              </a:rPr>
              <a:t>3</a:t>
            </a:r>
            <a:endParaRPr lang="zh-CN" altLang="en-US" dirty="0">
              <a:solidFill>
                <a:schemeClr val="bg1"/>
              </a:solidFill>
              <a:latin typeface="微软雅黑" panose="020B0503020204020204" charset="-122"/>
              <a:ea typeface="微软雅黑" panose="020B0503020204020204" charset="-122"/>
              <a:cs typeface="+mn-ea"/>
            </a:endParaRPr>
          </a:p>
        </p:txBody>
      </p:sp>
      <p:sp>
        <p:nvSpPr>
          <p:cNvPr id="36" name="文本框 35"/>
          <p:cNvSpPr txBox="1"/>
          <p:nvPr/>
        </p:nvSpPr>
        <p:spPr>
          <a:xfrm>
            <a:off x="1847850" y="3238500"/>
            <a:ext cx="8466455" cy="368300"/>
          </a:xfrm>
          <a:prstGeom prst="rect">
            <a:avLst/>
          </a:prstGeom>
          <a:noFill/>
        </p:spPr>
        <p:txBody>
          <a:bodyPr wrap="square" rtlCol="0">
            <a:spAutoFit/>
          </a:bodyPr>
          <a:p>
            <a:pPr algn="dist">
              <a:buClrTx/>
              <a:buSzTx/>
              <a:buFontTx/>
            </a:pPr>
            <a:r>
              <a:rPr lang="zh-CN" altLang="en-US" b="1" dirty="0">
                <a:solidFill>
                  <a:schemeClr val="bg1"/>
                </a:solidFill>
                <a:latin typeface="微软雅黑" panose="020B0503020204020204" charset="-122"/>
                <a:ea typeface="微软雅黑" panose="020B0503020204020204" charset="-122"/>
                <a:cs typeface="+mn-ea"/>
              </a:rPr>
              <a:t>0x100</a:t>
            </a:r>
            <a:endParaRPr lang="zh-CN" altLang="en-US" b="1" dirty="0">
              <a:solidFill>
                <a:schemeClr val="bg1"/>
              </a:solidFill>
              <a:latin typeface="微软雅黑" panose="020B0503020204020204" charset="-122"/>
              <a:ea typeface="微软雅黑" panose="020B0503020204020204" charset="-122"/>
              <a:cs typeface="+mn-ea"/>
            </a:endParaRPr>
          </a:p>
        </p:txBody>
      </p:sp>
      <p:sp>
        <p:nvSpPr>
          <p:cNvPr id="37" name="上箭头 36"/>
          <p:cNvSpPr/>
          <p:nvPr/>
        </p:nvSpPr>
        <p:spPr>
          <a:xfrm>
            <a:off x="5671820" y="2292985"/>
            <a:ext cx="254000" cy="875030"/>
          </a:xfrm>
          <a:prstGeom prst="up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 37"/>
          <p:cNvSpPr txBox="1"/>
          <p:nvPr/>
        </p:nvSpPr>
        <p:spPr>
          <a:xfrm>
            <a:off x="5925820" y="2724785"/>
            <a:ext cx="2015490" cy="368300"/>
          </a:xfrm>
          <a:prstGeom prst="rect">
            <a:avLst/>
          </a:prstGeom>
          <a:noFill/>
        </p:spPr>
        <p:txBody>
          <a:bodyPr wrap="square" rtlCol="0">
            <a:spAutoFit/>
          </a:bodyPr>
          <a:p>
            <a:pPr algn="ctr">
              <a:buClrTx/>
              <a:buSzTx/>
              <a:buFontTx/>
            </a:pPr>
            <a:r>
              <a:rPr lang="zh-CN" altLang="zh-CN" dirty="0">
                <a:solidFill>
                  <a:schemeClr val="bg1"/>
                </a:solidFill>
                <a:latin typeface="微软雅黑" panose="020B0503020204020204" charset="-122"/>
                <a:ea typeface="微软雅黑" panose="020B0503020204020204" charset="-122"/>
                <a:cs typeface="微软雅黑" panose="020B0503020204020204" charset="-122"/>
              </a:rPr>
              <a:t>指针</a:t>
            </a:r>
            <a:r>
              <a:rPr lang="en-US" altLang="zh-CN" dirty="0">
                <a:solidFill>
                  <a:schemeClr val="bg1"/>
                </a:solidFill>
                <a:latin typeface="微软雅黑" panose="020B0503020204020204" charset="-122"/>
                <a:ea typeface="微软雅黑" panose="020B0503020204020204" charset="-122"/>
                <a:cs typeface="微软雅黑" panose="020B0503020204020204" charset="-122"/>
              </a:rPr>
              <a:t>p</a:t>
            </a:r>
            <a:r>
              <a:rPr lang="zh-CN" altLang="en-US" dirty="0">
                <a:solidFill>
                  <a:schemeClr val="bg1"/>
                </a:solidFill>
                <a:latin typeface="微软雅黑" panose="020B0503020204020204" charset="-122"/>
                <a:ea typeface="微软雅黑" panose="020B0503020204020204" charset="-122"/>
                <a:cs typeface="微软雅黑" panose="020B0503020204020204" charset="-122"/>
              </a:rPr>
              <a:t>指向变量</a:t>
            </a:r>
            <a:r>
              <a:rPr lang="en-US" altLang="zh-CN" dirty="0">
                <a:solidFill>
                  <a:schemeClr val="bg1"/>
                </a:solidFill>
                <a:latin typeface="微软雅黑" panose="020B0503020204020204" charset="-122"/>
                <a:ea typeface="微软雅黑" panose="020B0503020204020204" charset="-122"/>
                <a:cs typeface="微软雅黑" panose="020B0503020204020204" charset="-122"/>
              </a:rPr>
              <a:t>a</a:t>
            </a:r>
            <a:endParaRPr lang="en-US" altLang="zh-CN"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1830070" y="4201795"/>
            <a:ext cx="2596515" cy="368300"/>
          </a:xfrm>
          <a:prstGeom prst="rect">
            <a:avLst/>
          </a:prstGeom>
          <a:noFill/>
        </p:spPr>
        <p:txBody>
          <a:bodyPr wrap="square" rtlCol="0">
            <a:spAutoFit/>
          </a:bodyPr>
          <a:p>
            <a:pPr algn="l">
              <a:buClrTx/>
              <a:buSzTx/>
              <a:buFontTx/>
            </a:pPr>
            <a:r>
              <a:rPr lang="zh-CN" altLang="en-US" dirty="0">
                <a:solidFill>
                  <a:schemeClr val="bg1"/>
                </a:solidFill>
                <a:latin typeface="微软雅黑" panose="020B0503020204020204" charset="-122"/>
                <a:ea typeface="微软雅黑" panose="020B0503020204020204" charset="-122"/>
                <a:cs typeface="+mn-ea"/>
              </a:rPr>
              <a:t>int *</a:t>
            </a:r>
            <a:r>
              <a:rPr lang="en-US" altLang="zh-CN" dirty="0">
                <a:solidFill>
                  <a:schemeClr val="bg1"/>
                </a:solidFill>
                <a:latin typeface="微软雅黑" panose="020B0503020204020204" charset="-122"/>
                <a:ea typeface="微软雅黑" panose="020B0503020204020204" charset="-122"/>
                <a:cs typeface="+mn-ea"/>
              </a:rPr>
              <a:t>*q</a:t>
            </a:r>
            <a:r>
              <a:rPr lang="zh-CN" altLang="en-US" dirty="0">
                <a:solidFill>
                  <a:schemeClr val="bg1"/>
                </a:solidFill>
                <a:latin typeface="微软雅黑" panose="020B0503020204020204" charset="-122"/>
                <a:ea typeface="微软雅黑" panose="020B0503020204020204" charset="-122"/>
                <a:cs typeface="+mn-ea"/>
              </a:rPr>
              <a:t> = &amp;</a:t>
            </a:r>
            <a:r>
              <a:rPr lang="en-US" altLang="zh-CN" dirty="0">
                <a:solidFill>
                  <a:schemeClr val="bg1"/>
                </a:solidFill>
                <a:latin typeface="微软雅黑" panose="020B0503020204020204" charset="-122"/>
                <a:ea typeface="微软雅黑" panose="020B0503020204020204" charset="-122"/>
                <a:cs typeface="+mn-ea"/>
              </a:rPr>
              <a:t>p</a:t>
            </a:r>
            <a:r>
              <a:rPr lang="zh-CN" altLang="en-US" dirty="0">
                <a:solidFill>
                  <a:schemeClr val="bg1"/>
                </a:solidFill>
                <a:latin typeface="微软雅黑" panose="020B0503020204020204" charset="-122"/>
                <a:ea typeface="微软雅黑" panose="020B0503020204020204" charset="-122"/>
                <a:cs typeface="+mn-ea"/>
              </a:rPr>
              <a:t>;</a:t>
            </a:r>
            <a:endParaRPr lang="zh-CN" altLang="en-US" dirty="0">
              <a:solidFill>
                <a:schemeClr val="bg1"/>
              </a:solidFill>
              <a:latin typeface="微软雅黑" panose="020B0503020204020204" charset="-122"/>
              <a:ea typeface="微软雅黑" panose="020B0503020204020204" charset="-122"/>
              <a:cs typeface="+mn-ea"/>
            </a:endParaRPr>
          </a:p>
        </p:txBody>
      </p:sp>
      <p:graphicFrame>
        <p:nvGraphicFramePr>
          <p:cNvPr id="40" name="表格 39"/>
          <p:cNvGraphicFramePr/>
          <p:nvPr/>
        </p:nvGraphicFramePr>
        <p:xfrm>
          <a:off x="1871980" y="4720590"/>
          <a:ext cx="8533765" cy="381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c>
                  <a:txBody>
                    <a:bodyPr/>
                    <a:p>
                      <a:pPr>
                        <a:buNone/>
                      </a:pPr>
                      <a:endParaRPr lang="zh-CN" altLang="en-US"/>
                    </a:p>
                  </a:txBody>
                  <a:tcPr>
                    <a:solidFill>
                      <a:srgbClr val="6AAFE6"/>
                    </a:solidFill>
                  </a:tcPr>
                </a:tc>
              </a:tr>
            </a:tbl>
          </a:graphicData>
        </a:graphic>
      </p:graphicFrame>
      <p:sp>
        <p:nvSpPr>
          <p:cNvPr id="41" name="文本框 40"/>
          <p:cNvSpPr txBox="1"/>
          <p:nvPr/>
        </p:nvSpPr>
        <p:spPr>
          <a:xfrm>
            <a:off x="1871980" y="4733290"/>
            <a:ext cx="8532495" cy="368300"/>
          </a:xfrm>
          <a:prstGeom prst="rect">
            <a:avLst/>
          </a:prstGeom>
          <a:noFill/>
        </p:spPr>
        <p:txBody>
          <a:bodyPr wrap="square" rtlCol="0">
            <a:spAutoFit/>
          </a:bodyPr>
          <a:p>
            <a:pPr algn="dist">
              <a:buClrTx/>
              <a:buSzTx/>
              <a:buFontTx/>
            </a:pPr>
            <a:r>
              <a:rPr lang="zh-CN" altLang="en-US" b="1" dirty="0">
                <a:solidFill>
                  <a:schemeClr val="bg1"/>
                </a:solidFill>
                <a:latin typeface="微软雅黑" panose="020B0503020204020204" charset="-122"/>
                <a:ea typeface="微软雅黑" panose="020B0503020204020204" charset="-122"/>
                <a:cs typeface="+mn-ea"/>
              </a:rPr>
              <a:t>0x1000</a:t>
            </a:r>
            <a:endParaRPr lang="zh-CN" altLang="en-US" b="1" dirty="0">
              <a:solidFill>
                <a:schemeClr val="bg1"/>
              </a:solidFill>
              <a:latin typeface="微软雅黑" panose="020B0503020204020204" charset="-122"/>
              <a:ea typeface="微软雅黑" panose="020B0503020204020204" charset="-122"/>
              <a:cs typeface="+mn-ea"/>
            </a:endParaRPr>
          </a:p>
        </p:txBody>
      </p:sp>
      <p:sp>
        <p:nvSpPr>
          <p:cNvPr id="42" name="上箭头 41"/>
          <p:cNvSpPr/>
          <p:nvPr/>
        </p:nvSpPr>
        <p:spPr>
          <a:xfrm>
            <a:off x="5714365" y="3823970"/>
            <a:ext cx="281940" cy="874395"/>
          </a:xfrm>
          <a:prstGeom prst="up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文本框 42"/>
          <p:cNvSpPr txBox="1"/>
          <p:nvPr/>
        </p:nvSpPr>
        <p:spPr>
          <a:xfrm>
            <a:off x="5996305" y="4201795"/>
            <a:ext cx="2015490" cy="368300"/>
          </a:xfrm>
          <a:prstGeom prst="rect">
            <a:avLst/>
          </a:prstGeom>
          <a:noFill/>
        </p:spPr>
        <p:txBody>
          <a:bodyPr wrap="square" rtlCol="0">
            <a:spAutoFit/>
          </a:bodyPr>
          <a:p>
            <a:pPr algn="ctr">
              <a:buClrTx/>
              <a:buSzTx/>
              <a:buFontTx/>
            </a:pPr>
            <a:r>
              <a:rPr lang="zh-CN" altLang="zh-CN" dirty="0">
                <a:solidFill>
                  <a:schemeClr val="bg1"/>
                </a:solidFill>
                <a:latin typeface="微软雅黑" panose="020B0503020204020204" charset="-122"/>
                <a:ea typeface="微软雅黑" panose="020B0503020204020204" charset="-122"/>
                <a:cs typeface="微软雅黑" panose="020B0503020204020204" charset="-122"/>
              </a:rPr>
              <a:t>指针</a:t>
            </a:r>
            <a:r>
              <a:rPr lang="en-US" altLang="zh-CN" dirty="0">
                <a:solidFill>
                  <a:schemeClr val="bg1"/>
                </a:solidFill>
                <a:latin typeface="微软雅黑" panose="020B0503020204020204" charset="-122"/>
                <a:ea typeface="微软雅黑" panose="020B0503020204020204" charset="-122"/>
                <a:cs typeface="微软雅黑" panose="020B0503020204020204" charset="-122"/>
              </a:rPr>
              <a:t>q</a:t>
            </a:r>
            <a:r>
              <a:rPr lang="zh-CN" altLang="en-US" dirty="0">
                <a:solidFill>
                  <a:schemeClr val="bg1"/>
                </a:solidFill>
                <a:latin typeface="微软雅黑" panose="020B0503020204020204" charset="-122"/>
                <a:ea typeface="微软雅黑" panose="020B0503020204020204" charset="-122"/>
                <a:cs typeface="微软雅黑" panose="020B0503020204020204" charset="-122"/>
              </a:rPr>
              <a:t>指向变量</a:t>
            </a:r>
            <a:r>
              <a:rPr lang="en-US" altLang="zh-CN" dirty="0">
                <a:solidFill>
                  <a:schemeClr val="bg1"/>
                </a:solidFill>
                <a:latin typeface="微软雅黑" panose="020B0503020204020204" charset="-122"/>
                <a:ea typeface="微软雅黑" panose="020B0503020204020204" charset="-122"/>
                <a:cs typeface="微软雅黑" panose="020B0503020204020204" charset="-122"/>
              </a:rPr>
              <a:t>p</a:t>
            </a:r>
            <a:endParaRPr lang="en-US" altLang="zh-CN"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1871980" y="5422900"/>
            <a:ext cx="3880485" cy="368300"/>
          </a:xfrm>
          <a:prstGeom prst="rect">
            <a:avLst/>
          </a:prstGeom>
          <a:noFill/>
        </p:spPr>
        <p:txBody>
          <a:bodyPr wrap="square" rtlCol="0">
            <a:spAutoFit/>
          </a:bodyPr>
          <a:p>
            <a:pPr algn="l">
              <a:buClrTx/>
              <a:buSzTx/>
              <a:buFontTx/>
            </a:pPr>
            <a:r>
              <a:rPr lang="zh-CN" altLang="en-US" b="1" dirty="0">
                <a:solidFill>
                  <a:schemeClr val="accent2"/>
                </a:solidFill>
                <a:latin typeface="微软雅黑" panose="020B0503020204020204" charset="-122"/>
                <a:ea typeface="微软雅黑" panose="020B0503020204020204" charset="-122"/>
                <a:cs typeface="微软雅黑" panose="020B0503020204020204" charset="-122"/>
              </a:rPr>
              <a:t>q就是二级指针</a:t>
            </a:r>
            <a:endParaRPr lang="zh-CN" altLang="en-US" b="1" dirty="0">
              <a:solidFill>
                <a:schemeClr val="accent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指针的指针</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10" name="文本框 9"/>
          <p:cNvSpPr txBox="1"/>
          <p:nvPr/>
        </p:nvSpPr>
        <p:spPr>
          <a:xfrm>
            <a:off x="864715" y="1141839"/>
            <a:ext cx="7968290" cy="3969385"/>
          </a:xfrm>
          <a:prstGeom prst="rect">
            <a:avLst/>
          </a:prstGeom>
          <a:noFill/>
          <a:ln>
            <a:noFill/>
          </a:ln>
        </p:spPr>
        <p:txBody>
          <a:bodyPr wrap="square" rtlCol="0">
            <a:spAutoFit/>
          </a:bodyPr>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下面这段代码存在什么问题？</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void init_s(char *s</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s</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 malloc(1024);</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int main()</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char *s;</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init_s(s);</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strcpy(s, “helloworld”);</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	return 0;</a:t>
            </a:r>
            <a:endParaRPr lang="zh-CN" altLang="en-US" dirty="0">
              <a:solidFill>
                <a:schemeClr val="bg1"/>
              </a:solidFill>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命令行参数</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4" name="文本框 3"/>
          <p:cNvSpPr txBox="1"/>
          <p:nvPr/>
        </p:nvSpPr>
        <p:spPr>
          <a:xfrm>
            <a:off x="864870" y="1348105"/>
            <a:ext cx="10368915" cy="3322955"/>
          </a:xfrm>
          <a:prstGeom prst="rect">
            <a:avLst/>
          </a:prstGeom>
          <a:noFill/>
        </p:spPr>
        <p:txBody>
          <a:bodyPr wrap="square" rtlCol="0">
            <a:spAutoFit/>
          </a:bodyPr>
          <a:p>
            <a:pPr indent="0">
              <a:lnSpc>
                <a:spcPct val="150000"/>
              </a:lnSpc>
              <a:buFont typeface="Wingdings" panose="05000000000000000000" pitchFamily="2" charset="2"/>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main (int argc,char *argv[])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argc(第一个形参)必须是整型变量,</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argv( 第二个形参)必须是指向字符串的指针数组。</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argc参数表示了命令行中参数的个数(注意：文件名本身也算一个参数)；</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argv参数是字符串指针数组，其各元素值为命令行中各字符串(参数均按字符串处理)的首地址。 针数组的长度即为参数个数。</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325"/>
            <a:ext cx="12192000" cy="6858000"/>
          </a:xfrm>
          <a:prstGeom prst="rect">
            <a:avLst/>
          </a:prstGeom>
        </p:spPr>
      </p:pic>
      <p:grpSp>
        <p:nvGrpSpPr>
          <p:cNvPr id="35" name="组合 34"/>
          <p:cNvGrpSpPr/>
          <p:nvPr/>
        </p:nvGrpSpPr>
        <p:grpSpPr>
          <a:xfrm>
            <a:off x="3800395" y="2721403"/>
            <a:ext cx="5029913" cy="1351107"/>
            <a:chOff x="3800395" y="2721403"/>
            <a:chExt cx="5029913" cy="1351107"/>
          </a:xfrm>
        </p:grpSpPr>
        <p:grpSp>
          <p:nvGrpSpPr>
            <p:cNvPr id="27" name="组合 26"/>
            <p:cNvGrpSpPr/>
            <p:nvPr/>
          </p:nvGrpSpPr>
          <p:grpSpPr>
            <a:xfrm rot="21524908">
              <a:off x="3800395" y="2771316"/>
              <a:ext cx="1128713" cy="1128712"/>
              <a:chOff x="2558424" y="1401428"/>
              <a:chExt cx="1318727" cy="1318727"/>
            </a:xfrm>
          </p:grpSpPr>
          <p:sp>
            <p:nvSpPr>
              <p:cNvPr id="28" name="椭圆 27"/>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sym typeface="Arial" panose="020B0604020202020204"/>
                </a:endParaRPr>
              </a:p>
            </p:txBody>
          </p:sp>
          <p:sp>
            <p:nvSpPr>
              <p:cNvPr id="29"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Nexa Light" panose="02000000000000000000" pitchFamily="50" charset="0"/>
                    <a:ea typeface="华康少女文字W5(P)" panose="040F0500000000000000" pitchFamily="82" charset="-122"/>
                  </a:defRPr>
                </a:lvl9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sym typeface="Arial" panose="020B0604020202020204"/>
                </a:endParaRPr>
              </a:p>
            </p:txBody>
          </p:sp>
        </p:grpSp>
        <p:grpSp>
          <p:nvGrpSpPr>
            <p:cNvPr id="30" name="组合 29"/>
            <p:cNvGrpSpPr/>
            <p:nvPr/>
          </p:nvGrpSpPr>
          <p:grpSpPr>
            <a:xfrm rot="26108">
              <a:off x="4755150" y="2721403"/>
              <a:ext cx="4075158" cy="1351107"/>
              <a:chOff x="303880" y="2324855"/>
              <a:chExt cx="4075158" cy="1351107"/>
            </a:xfrm>
          </p:grpSpPr>
          <p:sp>
            <p:nvSpPr>
              <p:cNvPr id="31" name="文本框 30"/>
              <p:cNvSpPr txBox="1"/>
              <p:nvPr/>
            </p:nvSpPr>
            <p:spPr>
              <a:xfrm rot="21573892">
                <a:off x="907028" y="2324855"/>
                <a:ext cx="2858135" cy="830997"/>
              </a:xfrm>
              <a:prstGeom prst="rect">
                <a:avLst/>
              </a:prstGeom>
              <a:noFill/>
            </p:spPr>
            <p:txBody>
              <a:bodyPr wrap="square" rtlCol="0">
                <a:spAutoFit/>
              </a:bodyPr>
              <a:lstStyle/>
              <a:p>
                <a:pPr algn="dist"/>
                <a:r>
                  <a:rPr lang="en-US" altLang="zh-CN" sz="4800" dirty="0" smtClean="0">
                    <a:solidFill>
                      <a:schemeClr val="bg1"/>
                    </a:solidFill>
                    <a:latin typeface="微软雅黑" panose="020B0503020204020204" charset="-122"/>
                    <a:ea typeface="微软雅黑" panose="020B0503020204020204" charset="-122"/>
                  </a:rPr>
                  <a:t>PART04</a:t>
                </a:r>
                <a:endParaRPr lang="en-US" altLang="zh-CN" sz="4800" dirty="0">
                  <a:solidFill>
                    <a:schemeClr val="bg1"/>
                  </a:solidFill>
                  <a:latin typeface="微软雅黑" panose="020B0503020204020204" charset="-122"/>
                  <a:ea typeface="微软雅黑" panose="020B0503020204020204" charset="-122"/>
                </a:endParaRPr>
              </a:p>
            </p:txBody>
          </p:sp>
          <p:sp>
            <p:nvSpPr>
              <p:cNvPr id="32" name="文本框 48"/>
              <p:cNvSpPr txBox="1">
                <a:spLocks noChangeArrowheads="1"/>
              </p:cNvSpPr>
              <p:nvPr/>
            </p:nvSpPr>
            <p:spPr bwMode="auto">
              <a:xfrm>
                <a:off x="303880" y="3215587"/>
                <a:ext cx="407515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defRPr/>
                </a:pPr>
                <a:r>
                  <a:rPr lang="zh-CN" altLang="id-ID" sz="2400" dirty="0">
                    <a:solidFill>
                      <a:schemeClr val="bg1"/>
                    </a:solidFill>
                    <a:latin typeface="微软雅黑" panose="020B0503020204020204" charset="-122"/>
                    <a:ea typeface="微软雅黑" panose="020B0503020204020204" charset="-122"/>
                  </a:rPr>
                  <a:t>编程训练</a:t>
                </a:r>
                <a:endParaRPr lang="zh-CN" altLang="id-ID" sz="2400" dirty="0">
                  <a:solidFill>
                    <a:schemeClr val="bg1"/>
                  </a:solidFill>
                  <a:latin typeface="微软雅黑" panose="020B0503020204020204" charset="-122"/>
                  <a:ea typeface="微软雅黑" panose="020B0503020204020204" charset="-122"/>
                </a:endParaRPr>
              </a:p>
            </p:txBody>
          </p:sp>
        </p:grpSp>
      </p:grpSp>
      <p:sp>
        <p:nvSpPr>
          <p:cNvPr id="2" name="页脚占位符 1"/>
          <p:cNvSpPr>
            <a:spLocks noGrp="1"/>
          </p:cNvSpPr>
          <p:nvPr>
            <p:ph type="ftr" sz="quarter" idx="11"/>
          </p:nvPr>
        </p:nvSpPr>
        <p:spPr>
          <a:xfrm>
            <a:off x="4038600" y="6200775"/>
            <a:ext cx="4114800" cy="365125"/>
          </a:xfrm>
        </p:spPr>
        <p:txBody>
          <a:bodyPr/>
          <a:p>
            <a:r>
              <a:rPr lang="zh-CN" altLang="en-US"/>
              <a:t>南京学益得智能科技有限公司</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编程训练</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3" name="文本框 2"/>
          <p:cNvSpPr txBox="1"/>
          <p:nvPr/>
        </p:nvSpPr>
        <p:spPr>
          <a:xfrm>
            <a:off x="713740" y="1046480"/>
            <a:ext cx="10765155" cy="5015865"/>
          </a:xfrm>
          <a:prstGeom prst="rect">
            <a:avLst/>
          </a:prstGeom>
          <a:noFill/>
        </p:spPr>
        <p:txBody>
          <a:bodyPr wrap="square" rtlCol="0">
            <a:spAutoFit/>
          </a:bodyPr>
          <a:p>
            <a:pPr algn="l">
              <a:lnSpc>
                <a:spcPct val="100000"/>
              </a:lnSpc>
              <a:buClrTx/>
              <a:buSzTx/>
              <a:buFontTx/>
            </a:pP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1、实现字符串的排序。（输入hello world good，输出good hello world，其中字符串个数任意）</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、输入两个有序的字符串（从小到大），合并成一个有序的字符串。（输入</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cdhxyz fjln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输出</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cdfhjlnxyz</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3</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、命令行参数实现字符串排序。</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4</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、一个整型数组里除了两个数字之外，其他的数字都出现了两次。请写程序（异或）找出这两个只出现一次的数字。</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5</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、编写一个函数来查找字符串数组中的最长公共前缀。（输入abca  abc  abca  abc  abcc 输出 </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abc</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6</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、给定一个字符串，字符串是有序的整数（位数不限）集合，逗号相连，移除相同的数字，使每个数字只出现一次，输出最终的数字个数。例如输入：0,0,1,1,1,2,2,3</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,3</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,4</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44   </a:t>
            </a:r>
            <a:r>
              <a:rPr lang="zh-CN" altLang="en-US" sz="2000" dirty="0">
                <a:solidFill>
                  <a:schemeClr val="bg1"/>
                </a:solidFill>
                <a:latin typeface="微软雅黑" panose="020B0503020204020204" charset="-122"/>
                <a:ea typeface="微软雅黑" panose="020B0503020204020204" charset="-122"/>
                <a:cs typeface="微软雅黑" panose="020B0503020204020204" charset="-122"/>
                <a:sym typeface="+mn-ea"/>
              </a:rPr>
              <a:t>输出</a:t>
            </a: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5</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44242"/>
        </a:solidFill>
        <a:effectLst/>
      </p:bgPr>
    </p:bg>
    <p:spTree>
      <p:nvGrpSpPr>
        <p:cNvPr id="1" name=""/>
        <p:cNvGrpSpPr/>
        <p:nvPr/>
      </p:nvGrpSpPr>
      <p:grpSpPr>
        <a:xfrm>
          <a:off x="0" y="0"/>
          <a:ext cx="0" cy="0"/>
          <a:chOff x="0" y="0"/>
          <a:chExt cx="0" cy="0"/>
        </a:xfrm>
      </p:grpSpPr>
      <p:grpSp>
        <p:nvGrpSpPr>
          <p:cNvPr id="14" name="组合 13"/>
          <p:cNvGrpSpPr/>
          <p:nvPr/>
        </p:nvGrpSpPr>
        <p:grpSpPr>
          <a:xfrm>
            <a:off x="383556" y="258714"/>
            <a:ext cx="3986603" cy="788014"/>
            <a:chOff x="383556" y="258714"/>
            <a:chExt cx="3986603" cy="788014"/>
          </a:xfrm>
        </p:grpSpPr>
        <p:pic>
          <p:nvPicPr>
            <p:cNvPr id="15" name="图片 14"/>
            <p:cNvPicPr>
              <a:picLocks noChangeAspect="1"/>
            </p:cNvPicPr>
            <p:nvPr/>
          </p:nvPicPr>
          <p:blipFill>
            <a:blip r:embed="rId1" cstate="print"/>
            <a:stretch>
              <a:fillRect/>
            </a:stretch>
          </p:blipFill>
          <p:spPr>
            <a:xfrm>
              <a:off x="383556" y="258714"/>
              <a:ext cx="631018" cy="788014"/>
            </a:xfrm>
            <a:prstGeom prst="rect">
              <a:avLst/>
            </a:prstGeom>
            <a:noFill/>
            <a:ln w="9525">
              <a:noFill/>
            </a:ln>
          </p:spPr>
        </p:pic>
        <p:sp>
          <p:nvSpPr>
            <p:cNvPr id="17" name="文本框 16"/>
            <p:cNvSpPr txBox="1"/>
            <p:nvPr/>
          </p:nvSpPr>
          <p:spPr>
            <a:xfrm>
              <a:off x="864959" y="402014"/>
              <a:ext cx="3505200" cy="368300"/>
            </a:xfrm>
            <a:prstGeom prst="rect">
              <a:avLst/>
            </a:prstGeom>
            <a:noFill/>
          </p:spPr>
          <p:txBody>
            <a:bodyPr wrap="square" rtlCol="0">
              <a:spAutoFit/>
            </a:bodyPr>
            <a:lstStyle/>
            <a:p>
              <a:r>
                <a:rPr lang="zh-CN" altLang="en-US" dirty="0">
                  <a:solidFill>
                    <a:schemeClr val="bg1"/>
                  </a:solidFill>
                  <a:latin typeface="微软雅黑" panose="020B0503020204020204" charset="-122"/>
                  <a:ea typeface="微软雅黑" panose="020B0503020204020204" charset="-122"/>
                </a:rPr>
                <a:t>编程训练</a:t>
              </a:r>
              <a:endParaRPr lang="zh-CN" altLang="en-US" dirty="0">
                <a:solidFill>
                  <a:schemeClr val="bg1"/>
                </a:solidFill>
                <a:latin typeface="微软雅黑" panose="020B0503020204020204" charset="-122"/>
                <a:ea typeface="微软雅黑" panose="020B0503020204020204" charset="-122"/>
              </a:endParaRPr>
            </a:p>
          </p:txBody>
        </p:sp>
      </p:grpSp>
      <p:sp>
        <p:nvSpPr>
          <p:cNvPr id="2" name="页脚占位符 1"/>
          <p:cNvSpPr>
            <a:spLocks noGrp="1"/>
          </p:cNvSpPr>
          <p:nvPr>
            <p:ph type="ftr" sz="quarter" idx="11"/>
          </p:nvPr>
        </p:nvSpPr>
        <p:spPr/>
        <p:txBody>
          <a:bodyPr/>
          <a:p>
            <a:r>
              <a:rPr lang="zh-CN" altLang="en-US"/>
              <a:t>南京学益得智能科技有限公司</a:t>
            </a:r>
            <a:endParaRPr lang="zh-CN" altLang="en-US"/>
          </a:p>
        </p:txBody>
      </p:sp>
      <p:sp>
        <p:nvSpPr>
          <p:cNvPr id="3" name="文本框 2"/>
          <p:cNvSpPr txBox="1"/>
          <p:nvPr/>
        </p:nvSpPr>
        <p:spPr>
          <a:xfrm>
            <a:off x="713740" y="1046480"/>
            <a:ext cx="10765155" cy="4707890"/>
          </a:xfrm>
          <a:prstGeom prst="rect">
            <a:avLst/>
          </a:prstGeom>
          <a:noFill/>
        </p:spPr>
        <p:txBody>
          <a:bodyPr wrap="square" rtlCol="0">
            <a:spAutoFit/>
          </a:bodyPr>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#include &lt;stdio.h&gt;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int main()</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char *c[] = {“ENTNG”, “NST”, “AMAZI”, “FIRBE”};</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char **cp[] = {c + 3, c + 2, c + 1, c};</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char ***cpp = cp;</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printf(“%s”, **++cpp);</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printf(“%s ”, *--*++cpp + 3);</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printf(“%s”, *cpp[-2] + 3);</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printf(“%s”, cpp[-1][-1] + 1);</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printf(“\n”);</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	return 0;</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buClrTx/>
              <a:buSzTx/>
              <a:buFontTx/>
            </a:pPr>
            <a:r>
              <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2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325"/>
            <a:ext cx="12192000" cy="6858000"/>
          </a:xfrm>
          <a:prstGeom prst="rect">
            <a:avLst/>
          </a:prstGeom>
        </p:spPr>
      </p:pic>
      <p:grpSp>
        <p:nvGrpSpPr>
          <p:cNvPr id="10" name="组合 9"/>
          <p:cNvGrpSpPr/>
          <p:nvPr/>
        </p:nvGrpSpPr>
        <p:grpSpPr>
          <a:xfrm>
            <a:off x="1809350" y="1642712"/>
            <a:ext cx="8848576" cy="3231651"/>
            <a:chOff x="2360893" y="1845912"/>
            <a:chExt cx="8848576" cy="3231651"/>
          </a:xfrm>
        </p:grpSpPr>
        <p:sp>
          <p:nvSpPr>
            <p:cNvPr id="11" name="原创设计师QQ598969553      _5"/>
            <p:cNvSpPr>
              <a:spLocks noChangeArrowheads="1"/>
            </p:cNvSpPr>
            <p:nvPr/>
          </p:nvSpPr>
          <p:spPr bwMode="auto">
            <a:xfrm>
              <a:off x="2360893" y="3307848"/>
              <a:ext cx="8848576" cy="176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11500" dirty="0">
                  <a:solidFill>
                    <a:schemeClr val="bg1"/>
                  </a:solidFill>
                  <a:latin typeface="hakuyoxingshu7000" panose="02000600000000000000" pitchFamily="2" charset="-122"/>
                  <a:ea typeface="hakuyoxingshu7000" panose="02000600000000000000" pitchFamily="2" charset="-122"/>
                  <a:cs typeface="hakuyoxingshu7000" panose="02000600000000000000" pitchFamily="2" charset="-122"/>
                </a:rPr>
                <a:t>感谢各位观看</a:t>
              </a:r>
              <a:endParaRPr lang="en-US" altLang="zh-CN" sz="11500" dirty="0">
                <a:solidFill>
                  <a:schemeClr val="bg1"/>
                </a:solidFill>
                <a:latin typeface="hakuyoxingshu7000" panose="02000600000000000000" pitchFamily="2" charset="-122"/>
                <a:ea typeface="hakuyoxingshu7000" panose="02000600000000000000" pitchFamily="2" charset="-122"/>
                <a:cs typeface="hakuyoxingshu7000" panose="02000600000000000000" pitchFamily="2" charset="-122"/>
              </a:endParaRPr>
            </a:p>
          </p:txBody>
        </p:sp>
        <p:sp>
          <p:nvSpPr>
            <p:cNvPr id="12" name="原创设计师QQ598969553      _12"/>
            <p:cNvSpPr>
              <a:spLocks noChangeArrowheads="1"/>
            </p:cNvSpPr>
            <p:nvPr/>
          </p:nvSpPr>
          <p:spPr bwMode="auto">
            <a:xfrm>
              <a:off x="3278279" y="1845912"/>
              <a:ext cx="6636432" cy="176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500" dirty="0">
                  <a:solidFill>
                    <a:schemeClr val="bg1"/>
                  </a:solidFill>
                  <a:latin typeface="hakuyoxingshu7000" panose="02000600000000000000" pitchFamily="2" charset="-122"/>
                  <a:ea typeface="hakuyoxingshu7000" panose="02000600000000000000" pitchFamily="2" charset="-122"/>
                  <a:cs typeface="hakuyoxingshu7000" panose="02000600000000000000" pitchFamily="2" charset="-122"/>
                </a:rPr>
                <a:t>THANK YOU</a:t>
              </a:r>
              <a:endParaRPr lang="en-US" altLang="zh-CN" sz="11500" dirty="0">
                <a:solidFill>
                  <a:schemeClr val="bg1"/>
                </a:solidFill>
                <a:latin typeface="hakuyoxingshu7000" panose="02000600000000000000" pitchFamily="2" charset="-122"/>
                <a:ea typeface="hakuyoxingshu7000" panose="02000600000000000000" pitchFamily="2" charset="-122"/>
                <a:cs typeface="hakuyoxingshu7000" panose="02000600000000000000" pitchFamily="2" charset="-122"/>
              </a:endParaRPr>
            </a:p>
          </p:txBody>
        </p:sp>
      </p:grpSp>
      <p:sp>
        <p:nvSpPr>
          <p:cNvPr id="2" name="页脚占位符 1"/>
          <p:cNvSpPr>
            <a:spLocks noGrp="1"/>
          </p:cNvSpPr>
          <p:nvPr>
            <p:ph type="ftr" sz="quarter" idx="11"/>
          </p:nvPr>
        </p:nvSpPr>
        <p:spPr>
          <a:xfrm>
            <a:off x="4038600" y="6229350"/>
            <a:ext cx="4114800" cy="365125"/>
          </a:xfrm>
        </p:spPr>
        <p:txBody>
          <a:bodyPr/>
          <a:p>
            <a:r>
              <a:rPr lang="zh-CN" altLang="en-US"/>
              <a:t>南京学益得智能科技有限公司</a:t>
            </a:r>
            <a:endParaRPr lang="zh-CN" altLang="en-US"/>
          </a:p>
        </p:txBody>
      </p:sp>
    </p:spTree>
  </p:cSld>
  <p:clrMapOvr>
    <a:masterClrMapping/>
  </p:clrMapOvr>
</p:sld>
</file>

<file path=ppt/tags/tag1.xml><?xml version="1.0" encoding="utf-8"?>
<p:tagLst xmlns:p="http://schemas.openxmlformats.org/presentationml/2006/main">
  <p:tag name="KSO_WM_UNIT_TABLE_BEAUTIFY" val="smartTable{559f60f2-72f6-4b33-aa35-cc03d4b42778}"/>
  <p:tag name="TABLE_ENDDRAG_ORIGIN_RECT" val="671*136"/>
  <p:tag name="TABLE_ENDDRAG_RECT" val="146*124*671*136"/>
</p:tagLst>
</file>

<file path=ppt/tags/tag2.xml><?xml version="1.0" encoding="utf-8"?>
<p:tagLst xmlns:p="http://schemas.openxmlformats.org/presentationml/2006/main">
  <p:tag name="KSO_WM_UNIT_TABLE_BEAUTIFY" val="smartTable{968a040a-5d36-4431-acd2-4d69730b643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4288</Words>
  <Application>WPS 演示</Application>
  <PresentationFormat>宽屏</PresentationFormat>
  <Paragraphs>429</Paragraphs>
  <Slides>24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24</vt:i4>
      </vt:variant>
    </vt:vector>
  </HeadingPairs>
  <TitlesOfParts>
    <vt:vector size="42" baseType="lpstr">
      <vt:lpstr>Arial</vt:lpstr>
      <vt:lpstr>宋体</vt:lpstr>
      <vt:lpstr>Wingdings</vt:lpstr>
      <vt:lpstr>文鼎习字体</vt:lpstr>
      <vt:lpstr>Nexa Light</vt:lpstr>
      <vt:lpstr>Vrinda</vt:lpstr>
      <vt:lpstr>华康少女文字W5(P)</vt:lpstr>
      <vt:lpstr>方正清刻本悦宋简体</vt:lpstr>
      <vt:lpstr>Arial</vt:lpstr>
      <vt:lpstr>华文细黑</vt:lpstr>
      <vt:lpstr>微软雅黑</vt:lpstr>
      <vt:lpstr>Calibri</vt:lpstr>
      <vt:lpstr>Arial Unicode MS</vt:lpstr>
      <vt:lpstr>Calibri Light</vt:lpstr>
      <vt:lpstr>Symbol</vt:lpstr>
      <vt:lpstr>Times New Roman</vt:lpstr>
      <vt:lpstr>hakuyoxingshu7000</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X6</cp:lastModifiedBy>
  <cp:revision>129</cp:revision>
  <dcterms:created xsi:type="dcterms:W3CDTF">2017-11-17T09:39:00Z</dcterms:created>
  <dcterms:modified xsi:type="dcterms:W3CDTF">2022-01-15T08:33:41Z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ICV">
    <vt:lpwstr>7F0A95E0E4234C7C884C4861B4637DE5</vt:lpwstr>
  </property>
</Properties>
</file>