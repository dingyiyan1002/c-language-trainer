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8"/>
  </p:handoutMasterIdLst>
  <p:sldIdLst>
    <p:sldId id="256" r:id="rId3"/>
    <p:sldId id="257" r:id="rId5"/>
    <p:sldId id="258" r:id="rId6"/>
    <p:sldId id="265" r:id="rId7"/>
    <p:sldId id="260" r:id="rId8"/>
    <p:sldId id="266" r:id="rId9"/>
    <p:sldId id="281" r:id="rId10"/>
    <p:sldId id="282" r:id="rId11"/>
    <p:sldId id="261" r:id="rId12"/>
    <p:sldId id="267" r:id="rId13"/>
    <p:sldId id="264" r:id="rId14"/>
    <p:sldId id="268" r:id="rId15"/>
    <p:sldId id="283" r:id="rId16"/>
    <p:sldId id="262" r:id="rId17"/>
    <p:sldId id="269" r:id="rId18"/>
    <p:sldId id="271" r:id="rId19"/>
    <p:sldId id="270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263" r:id="rId28"/>
    <p:sldId id="272" r:id="rId29"/>
    <p:sldId id="273" r:id="rId30"/>
    <p:sldId id="274" r:id="rId31"/>
    <p:sldId id="304" r:id="rId32"/>
    <p:sldId id="305" r:id="rId33"/>
    <p:sldId id="306" r:id="rId34"/>
    <p:sldId id="307" r:id="rId35"/>
    <p:sldId id="308" r:id="rId36"/>
    <p:sldId id="259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数组和函数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0" name="文本框 16"/>
          <p:cNvSpPr txBox="1"/>
          <p:nvPr/>
        </p:nvSpPr>
        <p:spPr>
          <a:xfrm>
            <a:off x="5306265" y="2102679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1</a:t>
            </a:r>
            <a:endParaRPr kumimoji="0" lang="en-US" altLang="zh-CN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1" name="文本框 23"/>
          <p:cNvSpPr txBox="1"/>
          <p:nvPr/>
        </p:nvSpPr>
        <p:spPr>
          <a:xfrm>
            <a:off x="5306265" y="2795241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2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2" name="文本框 16"/>
          <p:cNvSpPr txBox="1"/>
          <p:nvPr/>
        </p:nvSpPr>
        <p:spPr>
          <a:xfrm>
            <a:off x="5306265" y="3477983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3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3" name="文本框 23"/>
          <p:cNvSpPr txBox="1"/>
          <p:nvPr/>
        </p:nvSpPr>
        <p:spPr>
          <a:xfrm>
            <a:off x="5306265" y="4170545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4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924903" y="2209914"/>
            <a:ext cx="0" cy="244026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48"/>
          <p:cNvSpPr txBox="1">
            <a:spLocks noChangeArrowheads="1"/>
          </p:cNvSpPr>
          <p:nvPr/>
        </p:nvSpPr>
        <p:spPr bwMode="auto">
          <a:xfrm>
            <a:off x="6015198" y="2146494"/>
            <a:ext cx="3393440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一维数组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6" name="文本框 48"/>
          <p:cNvSpPr txBox="1">
            <a:spLocks noChangeArrowheads="1"/>
          </p:cNvSpPr>
          <p:nvPr/>
        </p:nvSpPr>
        <p:spPr bwMode="auto">
          <a:xfrm>
            <a:off x="6014563" y="28049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二维数组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7" name="文本框 48"/>
          <p:cNvSpPr txBox="1">
            <a:spLocks noChangeArrowheads="1"/>
          </p:cNvSpPr>
          <p:nvPr/>
        </p:nvSpPr>
        <p:spPr bwMode="auto">
          <a:xfrm>
            <a:off x="6014563" y="35288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字符数组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8" name="文本框 48"/>
          <p:cNvSpPr txBox="1">
            <a:spLocks noChangeArrowheads="1"/>
          </p:cNvSpPr>
          <p:nvPr/>
        </p:nvSpPr>
        <p:spPr bwMode="auto">
          <a:xfrm>
            <a:off x="6015832" y="4238183"/>
            <a:ext cx="3392806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函数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0" name="文本框 16"/>
          <p:cNvSpPr txBox="1"/>
          <p:nvPr/>
        </p:nvSpPr>
        <p:spPr>
          <a:xfrm>
            <a:off x="2304029" y="2102240"/>
            <a:ext cx="2142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 </a:t>
            </a:r>
            <a:r>
              <a:rPr lang="en-US" altLang="zh-CN" sz="3600" dirty="0" smtClean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Contents</a:t>
            </a:r>
            <a:r>
              <a:rPr lang="en-US" altLang="zh-CN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一维数组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一维数组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83540" y="1151890"/>
            <a:ext cx="11388090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1、一维数组的定义格式为：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类型说明符  数组名［常量表达式］； 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例如：  int a[10]; 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它表示定义了一个整形数组，数组名为a，有10个元素。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2、在定义数组时，需要指定数组中元素的个数，方括号中的常量表达式用来表示元素的个数，即数组长度。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3、常量表达式中可以包括常量和符号常量，但不能包含变量。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注意：C语言不允许对数组的大小作动态定义，即数组的大小不依赖于程序运行过程中变量的值。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一维数组的初始化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3540" y="1046480"/>
            <a:ext cx="11513185" cy="5213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、在定义数组时对数组元素赋以初值。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例如：int a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 {0, 1, 2, 3, 4, 5, 6, 7, 8, 9};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 可以只给一部分元素赋值。例如: 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a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 {0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4};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定义a数组有10个元素，但花括弧内只提供5个初值，这表示只给前面5个元素赋初值，后5个元素值为0。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如果想使一个数组中全部元素值为0，可以写成: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 a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 {0, 0, 0, 0, 0, 0, 0, 0, 0, 0};   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或int a［10］={0};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不能写成：int a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 {0 * 10};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20000"/>
              </a:spcBef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4、在对全部数组元素赋初值时，由于数据的个数已经确定，因此可以不指定数组长度。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20000"/>
              </a:spcBef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例如：int a[5] = {1，2，3，4，5};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也可以写成  int a[]={1，2，3，4，5};  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数组在内存中的存储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3540" y="1480820"/>
            <a:ext cx="650494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一维数组： float mark[100];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数组的长度就是数组所有元素占的字节数，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即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* 100 = 400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字节。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mark[0]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存放在低地址；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mark[99]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存放在高地址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" name="Group 7"/>
          <p:cNvGrpSpPr/>
          <p:nvPr/>
        </p:nvGrpSpPr>
        <p:grpSpPr bwMode="auto">
          <a:xfrm>
            <a:off x="6620511" y="1480819"/>
            <a:ext cx="4956175" cy="4132263"/>
            <a:chOff x="2209" y="1477"/>
            <a:chExt cx="3122" cy="2603"/>
          </a:xfrm>
        </p:grpSpPr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2976" y="1488"/>
              <a:ext cx="1440" cy="2592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</a:ln>
          </p:spPr>
          <p:txBody>
            <a:bodyPr anchor="ctr">
              <a:spAutoFit/>
            </a:bodyPr>
            <a:p>
              <a:endParaRPr lang="zh-CN" altLang="en-US"/>
            </a:p>
          </p:txBody>
        </p:sp>
        <p:sp>
          <p:nvSpPr>
            <p:cNvPr id="23" name="Line 9"/>
            <p:cNvSpPr>
              <a:spLocks noChangeShapeType="1"/>
            </p:cNvSpPr>
            <p:nvPr/>
          </p:nvSpPr>
          <p:spPr bwMode="auto">
            <a:xfrm>
              <a:off x="2976" y="2832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</p:spPr>
          <p:txBody>
            <a:bodyPr anchor="ctr">
              <a:spAutoFit/>
            </a:bodyPr>
            <a:p>
              <a:endParaRPr lang="zh-CN" altLang="en-US"/>
            </a:p>
          </p:txBody>
        </p:sp>
        <p:sp>
          <p:nvSpPr>
            <p:cNvPr id="24" name="Line 10"/>
            <p:cNvSpPr>
              <a:spLocks noChangeShapeType="1"/>
            </p:cNvSpPr>
            <p:nvPr/>
          </p:nvSpPr>
          <p:spPr bwMode="auto">
            <a:xfrm>
              <a:off x="2976" y="1824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</p:spPr>
          <p:txBody>
            <a:bodyPr anchor="ctr">
              <a:spAutoFit/>
            </a:bodyPr>
            <a:p>
              <a:endParaRPr lang="zh-CN" alt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>
              <a:off x="2976" y="2160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</p:spPr>
          <p:txBody>
            <a:bodyPr anchor="ctr">
              <a:spAutoFit/>
            </a:bodyPr>
            <a:p>
              <a:endParaRPr lang="zh-CN" alt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>
              <a:off x="2976" y="2496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</p:spPr>
          <p:txBody>
            <a:bodyPr anchor="ctr">
              <a:spAutoFit/>
            </a:bodyPr>
            <a:p>
              <a:endParaRPr lang="zh-CN" alt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2976" y="3744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</p:spPr>
          <p:txBody>
            <a:bodyPr anchor="ctr">
              <a:spAutoFit/>
            </a:bodyPr>
            <a:p>
              <a:endParaRPr lang="zh-CN" alt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>
              <a:off x="2976" y="3120"/>
              <a:ext cx="0" cy="33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</a:ln>
          </p:spPr>
          <p:txBody>
            <a:bodyPr wrap="none" anchor="ctr">
              <a:spAutoFit/>
            </a:bodyPr>
            <a:p>
              <a:endParaRPr lang="zh-CN" alt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>
              <a:off x="4416" y="3120"/>
              <a:ext cx="0" cy="33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</a:ln>
          </p:spPr>
          <p:txBody>
            <a:bodyPr wrap="none" anchor="ctr">
              <a:spAutoFit/>
            </a:bodyPr>
            <a:p>
              <a:endParaRPr lang="zh-CN" altLang="en-US"/>
            </a:p>
          </p:txBody>
        </p:sp>
        <p:sp>
          <p:nvSpPr>
            <p:cNvPr id="30" name="Text Box 16"/>
            <p:cNvSpPr txBox="1">
              <a:spLocks noChangeArrowheads="1"/>
            </p:cNvSpPr>
            <p:nvPr/>
          </p:nvSpPr>
          <p:spPr bwMode="auto">
            <a:xfrm>
              <a:off x="4514" y="1592"/>
              <a:ext cx="817" cy="2171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</a:ln>
          </p:spPr>
          <p:txBody>
            <a:bodyPr wrap="square" anchor="ctr">
              <a:spAutoFit/>
            </a:bodyPr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Monotype Sorts" pitchFamily="2" charset="2"/>
                </a:rPr>
                <a:t>mark[0]</a:t>
              </a:r>
              <a:endParaRPr kumimoji="1" lang="en-US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Monotype Sorts" pitchFamily="2" charset="2"/>
                </a:rPr>
                <a:t>mark[1]</a:t>
              </a:r>
              <a:endParaRPr kumimoji="1" lang="en-US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Monotype Sorts" pitchFamily="2" charset="2"/>
                </a:rPr>
                <a:t>mark[2]</a:t>
              </a:r>
              <a:endParaRPr kumimoji="1" lang="en-US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Monotype Sorts" pitchFamily="2" charset="2"/>
                </a:rPr>
                <a:t>mark[3]</a:t>
              </a:r>
              <a:endParaRPr kumimoji="1" lang="en-US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Monotype Sorts" pitchFamily="2" charset="2"/>
                </a:rPr>
                <a:t>.</a:t>
              </a:r>
              <a:endParaRPr kumimoji="1" lang="en-US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Monotype Sorts" pitchFamily="2" charset="2"/>
                </a:rPr>
                <a:t>.</a:t>
              </a:r>
              <a:endParaRPr kumimoji="1" lang="en-US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Monotype Sorts" pitchFamily="2" charset="2"/>
                </a:rPr>
                <a:t>.</a:t>
              </a:r>
              <a:endParaRPr kumimoji="1" lang="en-US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en-US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Monotype Sorts" pitchFamily="2" charset="2"/>
                </a:rPr>
                <a:t>mark[99</a:t>
              </a:r>
              <a:r>
                <a:rPr kumimoji="1" lang="en-US" altLang="en-US" sz="2500" b="1" dirty="0">
                  <a:solidFill>
                    <a:schemeClr val="bg1"/>
                  </a:solidFill>
                  <a:latin typeface="Times New Roman" panose="02020603050405020304" pitchFamily="18" charset="0"/>
                  <a:sym typeface="Monotype Sorts" pitchFamily="2" charset="2"/>
                </a:rPr>
                <a:t>]</a:t>
              </a:r>
              <a:endParaRPr kumimoji="1" lang="en-US" altLang="en-US" sz="2500" b="1" dirty="0">
                <a:solidFill>
                  <a:schemeClr val="bg1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  <p:sp>
          <p:nvSpPr>
            <p:cNvPr id="31" name="Text Box 17"/>
            <p:cNvSpPr txBox="1">
              <a:spLocks noChangeArrowheads="1"/>
            </p:cNvSpPr>
            <p:nvPr/>
          </p:nvSpPr>
          <p:spPr bwMode="auto">
            <a:xfrm>
              <a:off x="3506" y="1477"/>
              <a:ext cx="613" cy="2585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</a:ln>
          </p:spPr>
          <p:txBody>
            <a:bodyPr wrap="none" anchor="ctr">
              <a:spAutoFit/>
            </a:bodyPr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  <a:sym typeface="Monotype Sorts" pitchFamily="2" charset="2"/>
                </a:rPr>
                <a:t>1000</a:t>
              </a:r>
              <a:endPara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  <a:sym typeface="Monotype Sorts" pitchFamily="2" charset="2"/>
                </a:rPr>
                <a:t>1004</a:t>
              </a:r>
              <a:endPara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  <a:sym typeface="Monotype Sorts" pitchFamily="2" charset="2"/>
                </a:rPr>
                <a:t>1008</a:t>
              </a:r>
              <a:endPara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chemeClr val="bg1"/>
                  </a:solidFill>
                  <a:latin typeface="Times New Roman" panose="02020603050405020304" pitchFamily="18" charset="0"/>
                  <a:sym typeface="Monotype Sorts" pitchFamily="2" charset="2"/>
                </a:rPr>
                <a:t>100C</a:t>
              </a:r>
              <a:endPara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sz="2500" b="1">
                  <a:solidFill>
                    <a:schemeClr val="bg1"/>
                  </a:solidFill>
                  <a:latin typeface="Arial Black" panose="020B0A04020102020204" pitchFamily="34" charset="0"/>
                  <a:sym typeface="Monotype Sorts" pitchFamily="2" charset="2"/>
                </a:rPr>
                <a:t>.</a:t>
              </a:r>
              <a:endParaRPr kumimoji="1" lang="en-US" altLang="zh-CN" sz="2500" b="1">
                <a:solidFill>
                  <a:schemeClr val="bg1"/>
                </a:solidFill>
                <a:latin typeface="Arial Black" panose="020B0A04020102020204" pitchFamily="34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sz="2500" b="1">
                  <a:solidFill>
                    <a:schemeClr val="bg1"/>
                  </a:solidFill>
                  <a:latin typeface="Arial Black" panose="020B0A04020102020204" pitchFamily="34" charset="0"/>
                  <a:sym typeface="Monotype Sorts" pitchFamily="2" charset="2"/>
                </a:rPr>
                <a:t>.</a:t>
              </a:r>
              <a:endParaRPr kumimoji="1" lang="en-US" altLang="zh-CN" sz="2500" b="1">
                <a:solidFill>
                  <a:schemeClr val="bg1"/>
                </a:solidFill>
                <a:latin typeface="Arial Black" panose="020B0A04020102020204" pitchFamily="34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en-US" altLang="zh-CN" sz="2500" b="1">
                  <a:solidFill>
                    <a:schemeClr val="bg1"/>
                  </a:solidFill>
                  <a:latin typeface="Arial Black" panose="020B0A04020102020204" pitchFamily="34" charset="0"/>
                  <a:sym typeface="Monotype Sorts" pitchFamily="2" charset="2"/>
                </a:rPr>
                <a:t>.</a:t>
              </a:r>
              <a:endParaRPr kumimoji="1" lang="en-US" altLang="zh-CN" sz="2500" b="1">
                <a:solidFill>
                  <a:schemeClr val="bg1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en-US" altLang="zh-CN" sz="1000" b="1">
                <a:solidFill>
                  <a:schemeClr val="bg1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en-US" altLang="zh-CN" sz="1000" b="1">
                <a:solidFill>
                  <a:schemeClr val="bg1"/>
                </a:solidFill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  <p:sp>
          <p:nvSpPr>
            <p:cNvPr id="32" name="Text Box 18"/>
            <p:cNvSpPr txBox="1">
              <a:spLocks noChangeArrowheads="1"/>
            </p:cNvSpPr>
            <p:nvPr/>
          </p:nvSpPr>
          <p:spPr bwMode="auto">
            <a:xfrm>
              <a:off x="2209" y="1713"/>
              <a:ext cx="601" cy="2113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</a:ln>
          </p:spPr>
          <p:txBody>
            <a:bodyPr wrap="none" anchor="ctr">
              <a:spAutoFit/>
            </a:bodyPr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Monotype Sorts" pitchFamily="2" charset="2"/>
                </a:rPr>
                <a:t>低地址</a:t>
              </a:r>
              <a:endPara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Monotype Sorts" pitchFamily="2" charset="2"/>
                </a:rPr>
                <a:t> </a:t>
              </a:r>
              <a:endPara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endPara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  <a:p>
              <a:pPr algn="ctr">
                <a:spcBef>
                  <a:spcPct val="2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zh-CN" altLang="zh-CN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Monotype Sorts" pitchFamily="2" charset="2"/>
                </a:rPr>
                <a:t>高地址</a:t>
              </a:r>
              <a:endParaRPr kumimoji="1"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Monotype Sorts" pitchFamily="2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数组名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30070" y="1060450"/>
            <a:ext cx="4500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ct val="20000"/>
              </a:spcBef>
              <a:buClr>
                <a:srgbClr val="CC99FF"/>
              </a:buClr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int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a[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]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= {1, 2, 3, 4}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1830070" y="1691005"/>
          <a:ext cx="8531860" cy="705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705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575560" y="1859280"/>
            <a:ext cx="756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a[0]                         a[1]                         a[2]                           a[3]    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4870" y="2627630"/>
            <a:ext cx="8988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   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0x100                     0x104                   0x108                  0x10C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90395" y="3527425"/>
            <a:ext cx="83820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笔试重点：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、数组名a就是数组首元素地址，即0x100；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2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、数组名a是地址常量，不能被修改；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3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、a + 1 = 0x104；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4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、&amp;a表示整个数组的地址；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5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、&amp;a + 1 = 0x110；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一维数组的使用</a:t>
              </a:r>
              <a:endPara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399540"/>
            <a:ext cx="943927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1、用一维数组实现冒泡排序；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输入：4 8 6 2 1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输出：1 2 4 6 8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2、实现一维数组的逆序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输入：2 4 8 0 6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输出：6 0 8 4 2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二维数组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二维数组定义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608455"/>
            <a:ext cx="8876030" cy="1983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二维数组定义的一般形式为：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"/>
              </a:spcBef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类型说明符  数组名[常量表达式][常量表达式]；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"/>
              </a:spcBef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例如：float  a[3][4]，b[5][10]；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"/>
              </a:spcBef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定义a为3×4（3行4列）的数组，b为5×10（5行10列）的数组。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36518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二维数组的初始化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47775"/>
            <a:ext cx="10540365" cy="4574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１、分行给二维数组赋初值。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例如： int a[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][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]={{1，2，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}，{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6}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};   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最正规的写法 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２、可以将所有数据写在一个花括号内，按数组排列的顺序对各元素赋初值。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例如：int a[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][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]={1，2，3，4，5，6};        </a:t>
            </a:r>
            <a:r>
              <a:rPr lang="zh-CN" altLang="en-US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编译会报警告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  <a:buNone/>
            </a:pPr>
            <a:endParaRPr lang="zh-CN" altLang="en-US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３、可以对部分元素赋初值。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例如： int a[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][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]={{1}, {5}, {9}};                    </a:t>
            </a:r>
            <a:r>
              <a:rPr lang="zh-CN" altLang="en-US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没有赋值的为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endParaRPr lang="en-US" altLang="zh-CN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int a[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][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]={{1},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{2, 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}}; 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４、如果对全部元素都赋初值，则定义数组时对第一维的长度可以不指定，但第二维的长度不能省。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例如：int a[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][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]={1, 2, 3, 4, 5, 6};     等价于：int a[ ][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]={1, 2, 3, 4, 5, 6};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关于地址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1885315" y="1741805"/>
          <a:ext cx="8531860" cy="2046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69151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7754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7754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885315" y="1056640"/>
            <a:ext cx="45294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int a[3][4];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3395" y="1833880"/>
            <a:ext cx="1392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0x100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3395" y="2580640"/>
            <a:ext cx="1392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0x110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3395" y="3243580"/>
            <a:ext cx="1392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0x120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18970" y="4176395"/>
            <a:ext cx="905827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几句话：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1、数组名a表示首行地址，即0x100，a + 1 = 0x110；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2、a[0]表示首行首元素地址，即0x100，a[0] + 1 = 0x114；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3、&amp;a表示数组地址，即0x100，&amp;a + 1 = 0x12C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36518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思考</a:t>
              </a:r>
              <a:endParaRPr lang="zh-CN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47775"/>
            <a:ext cx="815594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经典笔试题：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数组a[3][4]，哪个不能表示a[1][1]的地址？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A、a[1] + 1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B、&amp;a[1][1]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C、(*(a + 1)) +1  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D、a+5 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字符数组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字符数组初始化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87425" y="1622425"/>
            <a:ext cx="846645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字符数组的初始化有两种方法，一种是逐个赋值，一种是用字符串赋值。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char ch[5] = {'h', 'e', 'l', 'l', 'o'};  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//</a:t>
            </a:r>
            <a:r>
              <a:rPr lang="zh-CN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麻烦，一般不用</a:t>
            </a:r>
            <a:endParaRPr lang="zh-CN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char ch[10] = “helloworld”;  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方便实用，但是存在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bug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两者有什么区别？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字符串结束标志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01395" y="1481455"/>
            <a:ext cx="94119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C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语言规定，字符串以字符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'\0'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结束，定义字符串的时候，要给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'\0'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预留空间。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endParaRPr lang="en-US" altLang="zh-CN" sz="2000" dirty="0">
              <a:solidFill>
                <a:schemeClr val="bg2">
                  <a:lumMod val="50000"/>
                </a:schemeClr>
              </a:solidFill>
              <a:cs typeface="+mn-ea"/>
              <a:sym typeface="+mn-ea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char ch[5] =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{'h', 'e', 'l', 'l', 'o'}; 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1263015" y="264160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45"/>
                <a:gridCol w="1706245"/>
                <a:gridCol w="1706245"/>
                <a:gridCol w="1706245"/>
                <a:gridCol w="17062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36600" y="2654300"/>
            <a:ext cx="526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ch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8105" y="2641600"/>
            <a:ext cx="1553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h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41650" y="2641600"/>
            <a:ext cx="1553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e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52340" y="2654300"/>
            <a:ext cx="1553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l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50330" y="2654300"/>
            <a:ext cx="1553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l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124825" y="2654300"/>
            <a:ext cx="1553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o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63015" y="3194050"/>
            <a:ext cx="7345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数组ch占5个字节，正好存放了5个字符，只能以字符的形式逐个输出</a:t>
            </a:r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63015" y="3991610"/>
            <a:ext cx="685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char ch[6] =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“hello”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; 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263015" y="5237480"/>
            <a:ext cx="8942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完整的字符串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“hello”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在内存中占了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个字节，可以使用字符串形式输出：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printf(“%s\n”, ch);</a:t>
            </a:r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0" name="表格 29"/>
          <p:cNvGraphicFramePr/>
          <p:nvPr/>
        </p:nvGraphicFramePr>
        <p:xfrm>
          <a:off x="1348105" y="4608195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765"/>
                <a:gridCol w="1421765"/>
                <a:gridCol w="1421765"/>
                <a:gridCol w="1421765"/>
                <a:gridCol w="1421765"/>
                <a:gridCol w="1421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737235" y="4608195"/>
            <a:ext cx="610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ch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697990" y="4620895"/>
            <a:ext cx="853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h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041650" y="4608195"/>
            <a:ext cx="853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e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08500" y="4620895"/>
            <a:ext cx="853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l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924550" y="4608195"/>
            <a:ext cx="853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l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372350" y="4608195"/>
            <a:ext cx="853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o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728710" y="4620895"/>
            <a:ext cx="853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'\0'</a:t>
            </a:r>
            <a:endParaRPr lang="en-US" altLang="zh-CN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字符串的输入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3540" y="1193165"/>
            <a:ext cx="1162494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、获取单个字符串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ch[32] = {0};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scanf(“%s”, ch);                 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数组名本身就是地址，不需要再取地址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、获取多个字符串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 ch1[32] = {0};  char ch2[32] = {0};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scanf(“%s%s”, ch1, ch2);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两个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%s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之间不需要空格 但是输入的时候需要空格隔开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、获取字符串和字符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ch1[32] = {0}, ch;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scanf(“%s %c”, ch1, &amp;ch);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//%s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%c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之间需要空格，输入的时候字符串和字符也需要空格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、获取字符串和数字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ch1[32] = {0}; int n;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scanf(“%s %d”, ch1, &amp;n);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同上，都需要空格隔开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字符串处理函数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193800"/>
            <a:ext cx="1077912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函数原型：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puts(const char *s);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作用：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其作用是将一个字符串（以′＼0′结束的字符序列）输出到终端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用法：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ch[32] = “helloworld”;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puts(ch);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类似的函数：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putchar(int c);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字符串处理函数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193800"/>
            <a:ext cx="10779125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函数原型：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*gets(char *s);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作用：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其作用是从终端输入一个字符串到字符数组，并且得到一个函数值。该函数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返回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值是字符数组的起始地址。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它和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scanf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的区别是，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scanf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遇到空格结束，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gets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遇到换行才结束。（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Linux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下编译会出现警告，可用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getchar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代替）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用法：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ch[32];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gets(ch);         //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可以输入带有空格的字符串，比如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hello world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类似的函数：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getchar(void);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字符串处理函数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193800"/>
            <a:ext cx="1077912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函数原型：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size_t strlen(const char *s);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作用：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获取字符串的长度，遇到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'\0'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结束。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用法：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str1[32] = “helloworld”; char str2[32] = “welcome\0tonanjing”;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printf(“%lu %lu\n”, strlen(str1), strlen(str2));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size_t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就是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unsigned long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类型。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字符串处理函数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6755" y="1046480"/>
            <a:ext cx="10779125" cy="5492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函数原型：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*strcpy(char *dest, const char *src);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*strncpy(char *dest, const char *src, size_t n);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作用：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把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src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指向的字符串拷贝到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dest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指向的内存中，包括字符串结尾的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'\0'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strncpy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可以指定拷贝固定的字节。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用法：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str1[32] = “helloworld”; char str2[32] = “welcome”;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strcpy(str1, str2);         //str1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变成了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welcome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strncpy(str1, str2, 2);   //str1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变成了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welloworld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size_t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就是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unsigned long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类型。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注：数组的赋值，要么在定义的时候初始化，要么逐个元素赋值，要么拷贝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 str[32] = {0}; str = “helloworld”;       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错误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字符串处理函数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88060" y="1098550"/>
            <a:ext cx="10215245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函数原型：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strcmp(const char *s1, const char *s2);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strncmp(const char *s1, const char *s2, size_t n);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作用：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比较s1指向的字符串和s2指向的字符串；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（按字符的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ASC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码比较，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abcd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acde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strncmp指定比较固定的长度。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用法：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str1[32] = “helloworld”; char str2[32] = “welcome”;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strcmp(str1, str2);    //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结果小于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返回值：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、小于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、等于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字符串处理函数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88060" y="1098550"/>
            <a:ext cx="1021524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函数原型：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*strcat(char *dest, const char *src);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	char *strncat(char *dest, const char *src, size_t n);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作用：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把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src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指向的字符串接在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dest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指向的字符串后面（要求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dest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指向的内存空间足够大）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strncat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连接指定长度的字符串。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用法：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str1[32] = “helloworld”; char str2[32] = “welcome”;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strcat(str1, str2);         //str1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变成了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helloworldwelcome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strncat(str1, str2, 2);   //str1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变成了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helloworldwe</a:t>
            </a:r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字符串处理函数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88060" y="1098550"/>
            <a:ext cx="1021524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函数原型：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*strchr(const char *s, int c);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*strrchr(const char *s, int c);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作用：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查找字符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在字符串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中的位置；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strrchr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反向查找字符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在字符串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中的位置。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用法：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str1[32] = “helloworld”; char ch = 'o';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strchr(str1, ch);                //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结果是第一个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的位置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strrchr(str1, ch) - str1;     //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结果是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函数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函数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3740" y="1397000"/>
            <a:ext cx="1076515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函数是一组一起执行一个任务的语句。每个 C 程序都至少有一个函数，即主函数 main() ，所有简单的程序都可以定义其他额外的函数。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库函数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别人已经实现好的函数，我们只要安装了对应的库可以直接拿过来用，比如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printf strlen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等等。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自定义函数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很多时候我们需要实现的功能并没有对应的函数，于是需要自己来实现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宏函数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可以把函数定义为宏，在编译的预处理阶段对函数直接展开。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函数的格式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046480"/>
            <a:ext cx="1028636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函数的格式：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函数类型     函数名（形式参数类型说明表）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声明部分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执行部分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0" hangingPunc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返回部分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0" hangingPunc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0" hangingPunct="0"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func(int a, int b)                 //int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是函数的类型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func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是函数名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b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是形式参数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{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int sum;                      //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声明部分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sum = a + b;              //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执行部分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return sum;                //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返回部分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}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参数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98575"/>
            <a:ext cx="879157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形参：即形式参数，定义函数时函数名后面括号中的变量；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实参：即实际参数，调用函数时函数名后面括号中的表达式。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实参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传递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形参（值传递和地址传递）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函数调用过程？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关键字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pSp>
        <p:nvGrpSpPr>
          <p:cNvPr id="3" name="Group 90"/>
          <p:cNvGrpSpPr/>
          <p:nvPr/>
        </p:nvGrpSpPr>
        <p:grpSpPr bwMode="auto">
          <a:xfrm>
            <a:off x="1974850" y="1499553"/>
            <a:ext cx="8667750" cy="3759200"/>
            <a:chOff x="129" y="1234"/>
            <a:chExt cx="5460" cy="2368"/>
          </a:xfrm>
        </p:grpSpPr>
        <p:grpSp>
          <p:nvGrpSpPr>
            <p:cNvPr id="2" name="Group 91"/>
            <p:cNvGrpSpPr/>
            <p:nvPr/>
          </p:nvGrpSpPr>
          <p:grpSpPr bwMode="auto">
            <a:xfrm>
              <a:off x="152" y="1254"/>
              <a:ext cx="5424" cy="2340"/>
              <a:chOff x="179" y="660"/>
              <a:chExt cx="5424" cy="2340"/>
            </a:xfrm>
          </p:grpSpPr>
          <p:grpSp>
            <p:nvGrpSpPr>
              <p:cNvPr id="6" name="Group 92"/>
              <p:cNvGrpSpPr/>
              <p:nvPr/>
            </p:nvGrpSpPr>
            <p:grpSpPr bwMode="auto">
              <a:xfrm>
                <a:off x="192" y="660"/>
                <a:ext cx="5400" cy="2340"/>
                <a:chOff x="180" y="396"/>
                <a:chExt cx="5400" cy="3672"/>
              </a:xfrm>
            </p:grpSpPr>
            <p:sp>
              <p:nvSpPr>
                <p:cNvPr id="410717" name="Rectangle 93"/>
                <p:cNvSpPr>
                  <a:spLocks noChangeArrowheads="1"/>
                </p:cNvSpPr>
                <p:nvPr/>
              </p:nvSpPr>
              <p:spPr bwMode="auto">
                <a:xfrm>
                  <a:off x="180" y="408"/>
                  <a:ext cx="5400" cy="3660"/>
                </a:xfrm>
                <a:prstGeom prst="rect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p>
                  <a:endParaRPr lang="zh-CN" altLang="en-US"/>
                </a:p>
              </p:txBody>
            </p:sp>
            <p:sp>
              <p:nvSpPr>
                <p:cNvPr id="410718" name="Line 94"/>
                <p:cNvSpPr>
                  <a:spLocks noChangeShapeType="1"/>
                </p:cNvSpPr>
                <p:nvPr/>
              </p:nvSpPr>
              <p:spPr bwMode="auto">
                <a:xfrm>
                  <a:off x="1008" y="396"/>
                  <a:ext cx="0" cy="366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p>
                  <a:endParaRPr lang="zh-CN" altLang="en-US"/>
                </a:p>
              </p:txBody>
            </p:sp>
          </p:grpSp>
          <p:sp>
            <p:nvSpPr>
              <p:cNvPr id="410719" name="Line 95"/>
              <p:cNvSpPr>
                <a:spLocks noChangeShapeType="1"/>
              </p:cNvSpPr>
              <p:nvPr/>
            </p:nvSpPr>
            <p:spPr bwMode="auto">
              <a:xfrm flipV="1">
                <a:off x="179" y="948"/>
                <a:ext cx="5400" cy="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20" name="Line 96"/>
              <p:cNvSpPr>
                <a:spLocks noChangeShapeType="1"/>
              </p:cNvSpPr>
              <p:nvPr/>
            </p:nvSpPr>
            <p:spPr bwMode="auto">
              <a:xfrm flipV="1">
                <a:off x="191" y="1236"/>
                <a:ext cx="5400" cy="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21" name="Line 97"/>
              <p:cNvSpPr>
                <a:spLocks noChangeShapeType="1"/>
              </p:cNvSpPr>
              <p:nvPr/>
            </p:nvSpPr>
            <p:spPr bwMode="auto">
              <a:xfrm flipV="1">
                <a:off x="191" y="1524"/>
                <a:ext cx="5400" cy="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22" name="Line 98"/>
              <p:cNvSpPr>
                <a:spLocks noChangeShapeType="1"/>
              </p:cNvSpPr>
              <p:nvPr/>
            </p:nvSpPr>
            <p:spPr bwMode="auto">
              <a:xfrm flipV="1">
                <a:off x="191" y="1812"/>
                <a:ext cx="5400" cy="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23" name="Line 99"/>
              <p:cNvSpPr>
                <a:spLocks noChangeShapeType="1"/>
              </p:cNvSpPr>
              <p:nvPr/>
            </p:nvSpPr>
            <p:spPr bwMode="auto">
              <a:xfrm>
                <a:off x="3696" y="660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24" name="Line 100"/>
              <p:cNvSpPr>
                <a:spLocks noChangeShapeType="1"/>
              </p:cNvSpPr>
              <p:nvPr/>
            </p:nvSpPr>
            <p:spPr bwMode="auto">
              <a:xfrm>
                <a:off x="1788" y="948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25" name="Line 101"/>
              <p:cNvSpPr>
                <a:spLocks noChangeShapeType="1"/>
              </p:cNvSpPr>
              <p:nvPr/>
            </p:nvSpPr>
            <p:spPr bwMode="auto">
              <a:xfrm>
                <a:off x="2752" y="960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26" name="Line 102"/>
              <p:cNvSpPr>
                <a:spLocks noChangeShapeType="1"/>
              </p:cNvSpPr>
              <p:nvPr/>
            </p:nvSpPr>
            <p:spPr bwMode="auto">
              <a:xfrm>
                <a:off x="3692" y="960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27" name="Line 103"/>
              <p:cNvSpPr>
                <a:spLocks noChangeShapeType="1"/>
              </p:cNvSpPr>
              <p:nvPr/>
            </p:nvSpPr>
            <p:spPr bwMode="auto">
              <a:xfrm>
                <a:off x="4704" y="960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28" name="Line 104"/>
              <p:cNvSpPr>
                <a:spLocks noChangeShapeType="1"/>
              </p:cNvSpPr>
              <p:nvPr/>
            </p:nvSpPr>
            <p:spPr bwMode="auto">
              <a:xfrm>
                <a:off x="2752" y="1248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29" name="Line 105"/>
              <p:cNvSpPr>
                <a:spLocks noChangeShapeType="1"/>
              </p:cNvSpPr>
              <p:nvPr/>
            </p:nvSpPr>
            <p:spPr bwMode="auto">
              <a:xfrm>
                <a:off x="2752" y="1548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30" name="Line 106"/>
              <p:cNvSpPr>
                <a:spLocks noChangeShapeType="1"/>
              </p:cNvSpPr>
              <p:nvPr/>
            </p:nvSpPr>
            <p:spPr bwMode="auto">
              <a:xfrm>
                <a:off x="1788" y="1536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31" name="Line 107"/>
              <p:cNvSpPr>
                <a:spLocks noChangeShapeType="1"/>
              </p:cNvSpPr>
              <p:nvPr/>
            </p:nvSpPr>
            <p:spPr bwMode="auto">
              <a:xfrm flipV="1">
                <a:off x="191" y="2100"/>
                <a:ext cx="5400" cy="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32" name="Line 108"/>
              <p:cNvSpPr>
                <a:spLocks noChangeShapeType="1"/>
              </p:cNvSpPr>
              <p:nvPr/>
            </p:nvSpPr>
            <p:spPr bwMode="auto">
              <a:xfrm>
                <a:off x="2752" y="1824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33" name="Line 109"/>
              <p:cNvSpPr>
                <a:spLocks noChangeShapeType="1"/>
              </p:cNvSpPr>
              <p:nvPr/>
            </p:nvSpPr>
            <p:spPr bwMode="auto">
              <a:xfrm flipV="1">
                <a:off x="203" y="2388"/>
                <a:ext cx="5400" cy="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34" name="Line 110"/>
              <p:cNvSpPr>
                <a:spLocks noChangeShapeType="1"/>
              </p:cNvSpPr>
              <p:nvPr/>
            </p:nvSpPr>
            <p:spPr bwMode="auto">
              <a:xfrm>
                <a:off x="3692" y="2112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35" name="Line 111"/>
              <p:cNvSpPr>
                <a:spLocks noChangeShapeType="1"/>
              </p:cNvSpPr>
              <p:nvPr/>
            </p:nvSpPr>
            <p:spPr bwMode="auto">
              <a:xfrm>
                <a:off x="4704" y="2100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36" name="Line 112"/>
              <p:cNvSpPr>
                <a:spLocks noChangeShapeType="1"/>
              </p:cNvSpPr>
              <p:nvPr/>
            </p:nvSpPr>
            <p:spPr bwMode="auto">
              <a:xfrm>
                <a:off x="2752" y="2388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37" name="Line 113"/>
              <p:cNvSpPr>
                <a:spLocks noChangeShapeType="1"/>
              </p:cNvSpPr>
              <p:nvPr/>
            </p:nvSpPr>
            <p:spPr bwMode="auto">
              <a:xfrm flipV="1">
                <a:off x="191" y="2676"/>
                <a:ext cx="5400" cy="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410738" name="Line 114"/>
              <p:cNvSpPr>
                <a:spLocks noChangeShapeType="1"/>
              </p:cNvSpPr>
              <p:nvPr/>
            </p:nvSpPr>
            <p:spPr bwMode="auto">
              <a:xfrm>
                <a:off x="2753" y="2688"/>
                <a:ext cx="0" cy="3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</p:grpSp>
        <p:grpSp>
          <p:nvGrpSpPr>
            <p:cNvPr id="7" name="Group 115"/>
            <p:cNvGrpSpPr/>
            <p:nvPr/>
          </p:nvGrpSpPr>
          <p:grpSpPr bwMode="auto">
            <a:xfrm>
              <a:off x="141" y="1815"/>
              <a:ext cx="4269" cy="312"/>
              <a:chOff x="168" y="1221"/>
              <a:chExt cx="4269" cy="312"/>
            </a:xfrm>
          </p:grpSpPr>
          <p:sp>
            <p:nvSpPr>
              <p:cNvPr id="410740" name="Text Box 116"/>
              <p:cNvSpPr txBox="1">
                <a:spLocks noChangeArrowheads="1"/>
              </p:cNvSpPr>
              <p:nvPr/>
            </p:nvSpPr>
            <p:spPr bwMode="auto">
              <a:xfrm>
                <a:off x="3937" y="1221"/>
                <a:ext cx="50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solidFill>
                      <a:srgbClr val="00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静态</a:t>
                </a:r>
                <a:endParaRPr kumimoji="1" lang="zh-CN" altLang="en-US" sz="2000">
                  <a:solidFill>
                    <a:srgbClr val="0099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41" name="Text Box 117"/>
              <p:cNvSpPr txBox="1">
                <a:spLocks noChangeArrowheads="1"/>
              </p:cNvSpPr>
              <p:nvPr/>
            </p:nvSpPr>
            <p:spPr bwMode="auto">
              <a:xfrm>
                <a:off x="1510" y="1221"/>
                <a:ext cx="50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solidFill>
                      <a:srgbClr val="FF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动态</a:t>
                </a:r>
                <a:endParaRPr kumimoji="1" lang="zh-CN" altLang="en-US" sz="2000">
                  <a:solidFill>
                    <a:srgbClr val="339933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42" name="Text Box 118"/>
              <p:cNvSpPr txBox="1">
                <a:spLocks noChangeArrowheads="1"/>
              </p:cNvSpPr>
              <p:nvPr/>
            </p:nvSpPr>
            <p:spPr bwMode="auto">
              <a:xfrm>
                <a:off x="168" y="1245"/>
                <a:ext cx="88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latin typeface="Times New Roman" panose="02020603050405020304" pitchFamily="18" charset="0"/>
                    <a:ea typeface="隶书" panose="02010509060101010101" pitchFamily="49" charset="-122"/>
                  </a:rPr>
                  <a:t>存储方式</a:t>
                </a:r>
                <a:endParaRPr kumimoji="1"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Group 119"/>
            <p:cNvGrpSpPr/>
            <p:nvPr/>
          </p:nvGrpSpPr>
          <p:grpSpPr bwMode="auto">
            <a:xfrm>
              <a:off x="182" y="2383"/>
              <a:ext cx="4716" cy="302"/>
              <a:chOff x="209" y="1789"/>
              <a:chExt cx="4716" cy="302"/>
            </a:xfrm>
          </p:grpSpPr>
          <p:sp>
            <p:nvSpPr>
              <p:cNvPr id="410744" name="Text Box 120"/>
              <p:cNvSpPr txBox="1">
                <a:spLocks noChangeArrowheads="1"/>
              </p:cNvSpPr>
              <p:nvPr/>
            </p:nvSpPr>
            <p:spPr bwMode="auto">
              <a:xfrm>
                <a:off x="3273" y="1803"/>
                <a:ext cx="165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eaLnBrk="0" hangingPunct="0"/>
                <a:r>
                  <a:rPr kumimoji="1" lang="zh-CN" altLang="en-US" sz="2400">
                    <a:solidFill>
                      <a:srgbClr val="00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程序整个运行期间</a:t>
                </a:r>
                <a:endParaRPr kumimoji="1" lang="zh-CN" altLang="en-US" sz="200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45" name="Text Box 121"/>
              <p:cNvSpPr txBox="1">
                <a:spLocks noChangeArrowheads="1"/>
              </p:cNvSpPr>
              <p:nvPr/>
            </p:nvSpPr>
            <p:spPr bwMode="auto">
              <a:xfrm>
                <a:off x="970" y="1789"/>
                <a:ext cx="184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solidFill>
                      <a:srgbClr val="FF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函数调用开始至结束</a:t>
                </a:r>
                <a:endParaRPr kumimoji="1" lang="zh-CN" altLang="en-US" sz="2000">
                  <a:solidFill>
                    <a:srgbClr val="339933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46" name="Text Box 122"/>
              <p:cNvSpPr txBox="1">
                <a:spLocks noChangeArrowheads="1"/>
              </p:cNvSpPr>
              <p:nvPr/>
            </p:nvSpPr>
            <p:spPr bwMode="auto">
              <a:xfrm>
                <a:off x="209" y="1789"/>
                <a:ext cx="69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latin typeface="Times New Roman" panose="02020603050405020304" pitchFamily="18" charset="0"/>
                    <a:ea typeface="隶书" panose="02010509060101010101" pitchFamily="49" charset="-122"/>
                  </a:rPr>
                  <a:t>生存期</a:t>
                </a:r>
                <a:endParaRPr kumimoji="1"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" name="Group 123"/>
            <p:cNvGrpSpPr/>
            <p:nvPr/>
          </p:nvGrpSpPr>
          <p:grpSpPr bwMode="auto">
            <a:xfrm>
              <a:off x="198" y="2971"/>
              <a:ext cx="5144" cy="341"/>
              <a:chOff x="225" y="2377"/>
              <a:chExt cx="5144" cy="341"/>
            </a:xfrm>
          </p:grpSpPr>
          <p:sp>
            <p:nvSpPr>
              <p:cNvPr id="410748" name="Text Box 124"/>
              <p:cNvSpPr txBox="1">
                <a:spLocks noChangeArrowheads="1"/>
              </p:cNvSpPr>
              <p:nvPr/>
            </p:nvSpPr>
            <p:spPr bwMode="auto">
              <a:xfrm>
                <a:off x="3141" y="2430"/>
                <a:ext cx="222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eaLnBrk="0" hangingPunct="0"/>
                <a:r>
                  <a:rPr kumimoji="1" lang="zh-CN" altLang="en-US" sz="2400">
                    <a:solidFill>
                      <a:srgbClr val="00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编译时赋初值，</a:t>
                </a:r>
                <a:r>
                  <a:rPr kumimoji="1" lang="zh-CN" altLang="en-US" sz="2400">
                    <a:solidFill>
                      <a:schemeClr val="accent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只赋一次</a:t>
                </a:r>
                <a:endParaRPr kumimoji="1" lang="zh-CN" altLang="en-US" sz="200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49" name="Text Box 125"/>
              <p:cNvSpPr txBox="1">
                <a:spLocks noChangeArrowheads="1"/>
              </p:cNvSpPr>
              <p:nvPr/>
            </p:nvSpPr>
            <p:spPr bwMode="auto">
              <a:xfrm>
                <a:off x="990" y="2406"/>
                <a:ext cx="146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eaLnBrk="0" hangingPunct="0"/>
                <a:r>
                  <a:rPr kumimoji="1" lang="zh-CN" altLang="en-US" sz="2400">
                    <a:solidFill>
                      <a:srgbClr val="FF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每次函数调用时</a:t>
                </a:r>
                <a:endParaRPr kumimoji="1" lang="zh-CN" altLang="en-US" sz="2000">
                  <a:solidFill>
                    <a:srgbClr val="339933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50" name="Text Box 126"/>
              <p:cNvSpPr txBox="1">
                <a:spLocks noChangeArrowheads="1"/>
              </p:cNvSpPr>
              <p:nvPr/>
            </p:nvSpPr>
            <p:spPr bwMode="auto">
              <a:xfrm>
                <a:off x="225" y="2377"/>
                <a:ext cx="69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latin typeface="Times New Roman" panose="02020603050405020304" pitchFamily="18" charset="0"/>
                    <a:ea typeface="隶书" panose="02010509060101010101" pitchFamily="49" charset="-122"/>
                  </a:rPr>
                  <a:t>赋初值</a:t>
                </a:r>
                <a:endParaRPr kumimoji="1"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127"/>
            <p:cNvGrpSpPr/>
            <p:nvPr/>
          </p:nvGrpSpPr>
          <p:grpSpPr bwMode="auto">
            <a:xfrm>
              <a:off x="141" y="3266"/>
              <a:ext cx="5129" cy="336"/>
              <a:chOff x="168" y="2672"/>
              <a:chExt cx="5129" cy="336"/>
            </a:xfrm>
          </p:grpSpPr>
          <p:sp>
            <p:nvSpPr>
              <p:cNvPr id="410752" name="Text Box 128"/>
              <p:cNvSpPr txBox="1">
                <a:spLocks noChangeArrowheads="1"/>
              </p:cNvSpPr>
              <p:nvPr/>
            </p:nvSpPr>
            <p:spPr bwMode="auto">
              <a:xfrm>
                <a:off x="3357" y="2720"/>
                <a:ext cx="194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eaLnBrk="0" hangingPunct="0"/>
                <a:r>
                  <a:rPr kumimoji="1" lang="zh-CN" altLang="en-US" sz="2400">
                    <a:solidFill>
                      <a:srgbClr val="00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自动赋初值</a:t>
                </a:r>
                <a:r>
                  <a:rPr kumimoji="1" lang="en-US" altLang="zh-CN" sz="2400">
                    <a:solidFill>
                      <a:srgbClr val="00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0</a:t>
                </a:r>
                <a:r>
                  <a:rPr kumimoji="1" lang="zh-CN" altLang="en-US" sz="2400">
                    <a:solidFill>
                      <a:srgbClr val="00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或空字符</a:t>
                </a:r>
                <a:endParaRPr kumimoji="1" lang="zh-CN" altLang="en-US" sz="200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53" name="Text Box 129"/>
              <p:cNvSpPr txBox="1">
                <a:spLocks noChangeArrowheads="1"/>
              </p:cNvSpPr>
              <p:nvPr/>
            </p:nvSpPr>
            <p:spPr bwMode="auto">
              <a:xfrm>
                <a:off x="1446" y="2672"/>
                <a:ext cx="69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eaLnBrk="0" hangingPunct="0"/>
                <a:r>
                  <a:rPr kumimoji="1" lang="zh-CN" altLang="en-US" sz="2400">
                    <a:solidFill>
                      <a:srgbClr val="FF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不确定</a:t>
                </a:r>
                <a:endParaRPr kumimoji="1" lang="zh-CN" altLang="en-US" sz="2000">
                  <a:solidFill>
                    <a:srgbClr val="339933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54" name="Text Box 130"/>
              <p:cNvSpPr txBox="1">
                <a:spLocks noChangeArrowheads="1"/>
              </p:cNvSpPr>
              <p:nvPr/>
            </p:nvSpPr>
            <p:spPr bwMode="auto">
              <a:xfrm>
                <a:off x="168" y="2688"/>
                <a:ext cx="88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latin typeface="Times New Roman" panose="02020603050405020304" pitchFamily="18" charset="0"/>
                    <a:ea typeface="隶书" panose="02010509060101010101" pitchFamily="49" charset="-122"/>
                  </a:rPr>
                  <a:t>未赋初值</a:t>
                </a:r>
                <a:endParaRPr kumimoji="1"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roup 131"/>
            <p:cNvGrpSpPr/>
            <p:nvPr/>
          </p:nvGrpSpPr>
          <p:grpSpPr bwMode="auto">
            <a:xfrm>
              <a:off x="210" y="2093"/>
              <a:ext cx="4512" cy="332"/>
              <a:chOff x="237" y="1499"/>
              <a:chExt cx="4512" cy="332"/>
            </a:xfrm>
          </p:grpSpPr>
          <p:sp>
            <p:nvSpPr>
              <p:cNvPr id="410756" name="Text Box 132"/>
              <p:cNvSpPr txBox="1">
                <a:spLocks noChangeArrowheads="1"/>
              </p:cNvSpPr>
              <p:nvPr/>
            </p:nvSpPr>
            <p:spPr bwMode="auto">
              <a:xfrm>
                <a:off x="3673" y="1499"/>
                <a:ext cx="107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solidFill>
                      <a:srgbClr val="00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静态存储区</a:t>
                </a:r>
                <a:endParaRPr kumimoji="1" lang="zh-CN" altLang="en-US" sz="200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57" name="Text Box 133"/>
              <p:cNvSpPr txBox="1">
                <a:spLocks noChangeArrowheads="1"/>
              </p:cNvSpPr>
              <p:nvPr/>
            </p:nvSpPr>
            <p:spPr bwMode="auto">
              <a:xfrm>
                <a:off x="1042" y="1529"/>
                <a:ext cx="69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solidFill>
                      <a:srgbClr val="FF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动态区</a:t>
                </a:r>
                <a:endParaRPr kumimoji="1" lang="zh-CN" altLang="en-US" sz="2000">
                  <a:solidFill>
                    <a:srgbClr val="339933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58" name="Text Box 134"/>
              <p:cNvSpPr txBox="1">
                <a:spLocks noChangeArrowheads="1"/>
              </p:cNvSpPr>
              <p:nvPr/>
            </p:nvSpPr>
            <p:spPr bwMode="auto">
              <a:xfrm>
                <a:off x="237" y="1543"/>
                <a:ext cx="69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latin typeface="Times New Roman" panose="02020603050405020304" pitchFamily="18" charset="0"/>
                    <a:ea typeface="隶书" panose="02010509060101010101" pitchFamily="49" charset="-122"/>
                  </a:rPr>
                  <a:t>存储区</a:t>
                </a:r>
                <a:endParaRPr kumimoji="1"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59" name="Text Box 135"/>
              <p:cNvSpPr txBox="1">
                <a:spLocks noChangeArrowheads="1"/>
              </p:cNvSpPr>
              <p:nvPr/>
            </p:nvSpPr>
            <p:spPr bwMode="auto">
              <a:xfrm>
                <a:off x="1966" y="1529"/>
                <a:ext cx="69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solidFill>
                      <a:srgbClr val="FF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寄存器</a:t>
                </a:r>
                <a:endParaRPr kumimoji="1" lang="zh-CN" altLang="en-US" sz="2000">
                  <a:solidFill>
                    <a:srgbClr val="339933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" name="Group 136"/>
            <p:cNvGrpSpPr/>
            <p:nvPr/>
          </p:nvGrpSpPr>
          <p:grpSpPr bwMode="auto">
            <a:xfrm>
              <a:off x="1816" y="1234"/>
              <a:ext cx="3224" cy="288"/>
              <a:chOff x="1843" y="640"/>
              <a:chExt cx="3224" cy="288"/>
            </a:xfrm>
          </p:grpSpPr>
          <p:sp>
            <p:nvSpPr>
              <p:cNvPr id="410761" name="Text Box 137"/>
              <p:cNvSpPr txBox="1">
                <a:spLocks noChangeArrowheads="1"/>
              </p:cNvSpPr>
              <p:nvPr/>
            </p:nvSpPr>
            <p:spPr bwMode="auto">
              <a:xfrm>
                <a:off x="1843" y="640"/>
                <a:ext cx="88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zh-CN" sz="2400">
                    <a:solidFill>
                      <a:srgbClr val="FF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局部变量</a:t>
                </a:r>
                <a:endParaRPr kumimoji="1" lang="zh-CN" altLang="en-US" sz="240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62" name="Text Box 138"/>
              <p:cNvSpPr txBox="1">
                <a:spLocks noChangeArrowheads="1"/>
              </p:cNvSpPr>
              <p:nvPr/>
            </p:nvSpPr>
            <p:spPr bwMode="auto">
              <a:xfrm>
                <a:off x="4183" y="640"/>
                <a:ext cx="88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zh-CN" sz="2400">
                    <a:solidFill>
                      <a:srgbClr val="0080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外部变量</a:t>
                </a:r>
                <a:endParaRPr kumimoji="1" lang="zh-CN" altLang="en-US" sz="240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139"/>
            <p:cNvGrpSpPr/>
            <p:nvPr/>
          </p:nvGrpSpPr>
          <p:grpSpPr bwMode="auto">
            <a:xfrm>
              <a:off x="207" y="2673"/>
              <a:ext cx="5382" cy="305"/>
              <a:chOff x="234" y="2079"/>
              <a:chExt cx="5382" cy="305"/>
            </a:xfrm>
          </p:grpSpPr>
          <p:sp>
            <p:nvSpPr>
              <p:cNvPr id="410764" name="Text Box 140"/>
              <p:cNvSpPr txBox="1">
                <a:spLocks noChangeArrowheads="1"/>
              </p:cNvSpPr>
              <p:nvPr/>
            </p:nvSpPr>
            <p:spPr bwMode="auto">
              <a:xfrm>
                <a:off x="234" y="2079"/>
                <a:ext cx="69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eaLnBrk="0" hangingPunct="0"/>
                <a:r>
                  <a:rPr kumimoji="1" lang="zh-CN" altLang="en-US" sz="2400">
                    <a:latin typeface="Times New Roman" panose="02020603050405020304" pitchFamily="18" charset="0"/>
                    <a:ea typeface="隶书" panose="02010509060101010101" pitchFamily="49" charset="-122"/>
                  </a:rPr>
                  <a:t>作用域</a:t>
                </a:r>
                <a:endParaRPr kumimoji="1"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65" name="Text Box 141"/>
              <p:cNvSpPr txBox="1">
                <a:spLocks noChangeArrowheads="1"/>
              </p:cNvSpPr>
              <p:nvPr/>
            </p:nvSpPr>
            <p:spPr bwMode="auto">
              <a:xfrm>
                <a:off x="990" y="2096"/>
                <a:ext cx="261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eaLnBrk="0" hangingPunct="0"/>
                <a:r>
                  <a:rPr kumimoji="1" lang="zh-CN" altLang="en-US" sz="2400">
                    <a:solidFill>
                      <a:srgbClr val="FF99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定义变量的函数或复合语句内</a:t>
                </a:r>
                <a:endParaRPr kumimoji="1" lang="zh-CN" altLang="en-US" sz="24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410766" name="Text Box 142"/>
              <p:cNvSpPr txBox="1">
                <a:spLocks noChangeArrowheads="1"/>
              </p:cNvSpPr>
              <p:nvPr/>
            </p:nvSpPr>
            <p:spPr bwMode="auto">
              <a:xfrm>
                <a:off x="3784" y="2096"/>
                <a:ext cx="69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eaLnBrk="0" hangingPunct="0"/>
                <a:r>
                  <a: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本文件</a:t>
                </a:r>
                <a:endPara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67" name="Text Box 143"/>
              <p:cNvSpPr txBox="1">
                <a:spLocks noChangeArrowheads="1"/>
              </p:cNvSpPr>
              <p:nvPr/>
            </p:nvSpPr>
            <p:spPr bwMode="auto">
              <a:xfrm>
                <a:off x="4732" y="2096"/>
                <a:ext cx="88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eaLnBrk="0" hangingPunct="0"/>
                <a:r>
                  <a:rPr kumimoji="1" lang="zh-CN" altLang="en-US" sz="2400">
                    <a:solidFill>
                      <a:srgbClr val="FF00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其它文件</a:t>
                </a:r>
                <a:endParaRPr kumimoji="1"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144"/>
            <p:cNvGrpSpPr/>
            <p:nvPr/>
          </p:nvGrpSpPr>
          <p:grpSpPr bwMode="auto">
            <a:xfrm>
              <a:off x="129" y="1534"/>
              <a:ext cx="5348" cy="305"/>
              <a:chOff x="156" y="940"/>
              <a:chExt cx="5348" cy="305"/>
            </a:xfrm>
          </p:grpSpPr>
          <p:sp>
            <p:nvSpPr>
              <p:cNvPr id="410769" name="Text Box 145"/>
              <p:cNvSpPr txBox="1">
                <a:spLocks noChangeArrowheads="1"/>
              </p:cNvSpPr>
              <p:nvPr/>
            </p:nvSpPr>
            <p:spPr bwMode="auto">
              <a:xfrm>
                <a:off x="1797" y="940"/>
                <a:ext cx="691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en-US" altLang="zh-CN" sz="240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register</a:t>
                </a:r>
                <a:endParaRPr kumimoji="1" lang="en-US" altLang="zh-CN" sz="24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70" name="Text Box 146"/>
              <p:cNvSpPr txBox="1">
                <a:spLocks noChangeArrowheads="1"/>
              </p:cNvSpPr>
              <p:nvPr/>
            </p:nvSpPr>
            <p:spPr bwMode="auto">
              <a:xfrm>
                <a:off x="2708" y="940"/>
                <a:ext cx="90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局部</a:t>
                </a:r>
                <a:r>
                  <a:rPr kumimoji="1"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static</a:t>
                </a:r>
                <a:endPara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71" name="Text Box 147"/>
              <p:cNvSpPr txBox="1">
                <a:spLocks noChangeArrowheads="1"/>
              </p:cNvSpPr>
              <p:nvPr/>
            </p:nvSpPr>
            <p:spPr bwMode="auto">
              <a:xfrm>
                <a:off x="1131" y="940"/>
                <a:ext cx="44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en-US" altLang="zh-CN" sz="24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auto</a:t>
                </a:r>
                <a:endParaRPr kumimoji="1" lang="en-US" altLang="zh-CN" sz="240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72" name="Text Box 148"/>
              <p:cNvSpPr txBox="1">
                <a:spLocks noChangeArrowheads="1"/>
              </p:cNvSpPr>
              <p:nvPr/>
            </p:nvSpPr>
            <p:spPr bwMode="auto">
              <a:xfrm>
                <a:off x="3784" y="940"/>
                <a:ext cx="90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solidFill>
                      <a:srgbClr val="9966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外部</a:t>
                </a:r>
                <a:r>
                  <a:rPr kumimoji="1" lang="en-US" altLang="zh-CN" sz="2400">
                    <a:solidFill>
                      <a:srgbClr val="996600"/>
                    </a:solidFill>
                    <a:latin typeface="Times New Roman" panose="02020603050405020304" pitchFamily="18" charset="0"/>
                  </a:rPr>
                  <a:t>static</a:t>
                </a:r>
                <a:endParaRPr kumimoji="1" lang="en-US" altLang="zh-CN" sz="240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73" name="Text Box 149"/>
              <p:cNvSpPr txBox="1">
                <a:spLocks noChangeArrowheads="1"/>
              </p:cNvSpPr>
              <p:nvPr/>
            </p:nvSpPr>
            <p:spPr bwMode="auto">
              <a:xfrm>
                <a:off x="4909" y="940"/>
                <a:ext cx="595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en-US" altLang="zh-CN" sz="2400">
                    <a:solidFill>
                      <a:srgbClr val="660033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extern</a:t>
                </a:r>
                <a:endParaRPr kumimoji="1" lang="en-US" altLang="zh-CN" sz="240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774" name="Text Box 150"/>
              <p:cNvSpPr txBox="1">
                <a:spLocks noChangeArrowheads="1"/>
              </p:cNvSpPr>
              <p:nvPr/>
            </p:nvSpPr>
            <p:spPr bwMode="auto">
              <a:xfrm>
                <a:off x="156" y="957"/>
                <a:ext cx="88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kumimoji="1" lang="zh-CN" altLang="en-US" sz="2400">
                    <a:latin typeface="Times New Roman" panose="02020603050405020304" pitchFamily="18" charset="0"/>
                    <a:ea typeface="隶书" panose="02010509060101010101" pitchFamily="49" charset="-122"/>
                  </a:rPr>
                  <a:t>存储类别</a:t>
                </a:r>
                <a:endParaRPr kumimoji="1"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1608455" y="5516880"/>
            <a:ext cx="89179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static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const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extern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做重点！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宏函数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046480"/>
            <a:ext cx="9679940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#define PRINT      printf(“helloworld\n”)   //无参宏函数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#define PRINT(S)  printf(“%s\n”, S)            //有参宏函数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宏函数和普通函数的优缺点：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宏函数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优点：节省空间、执行效率高；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缺点：编译时间长、没有语法检查、不安全。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普通函数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优点：节省编译时间、有语法检查、执行更安全；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缺点：需要更多的空间、执行效率不高。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宏函数经典笔试题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1690370"/>
            <a:ext cx="678815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经典笔试题：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#define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SQR(X)     X * X    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main()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m = 1, n = 2;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printf(“%d\n”, SQR(m + n));    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return 0;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PART05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作业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编程训练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5335" y="1046480"/>
            <a:ext cx="1064069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查找字符数组中字符位置（输入hello e    输出2）；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查找字符数组中字符串的位置（输入hello ll 输出3）；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字符数组中在指定位置插入字符；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（输入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hello 3 a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heallo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在字符数组中指定开始位置插入字符串；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（输入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hello 3 aa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heaallo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有n个人围成一圈,顺序排号,从第一个开始报数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从1到3报数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凡报到3的人退出圈子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问最后留下的是原来第几号的那位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输入一个字符串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计算字符串中子串出现的次数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编写一个C函数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将”I am from shanghai ”倒置为”shanghai from am I”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即将句子中的单词位置倒置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而不改变单词内部结构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输入一个字符串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同时输入帧头和帧尾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可以是多个字符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将该字符串中合法的帧识别出来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提示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帧头和帧尾分别是head和tail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字符串”asdheadhauboisoktail”中headhauboisoktail是合法帧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809350" y="1642712"/>
            <a:ext cx="8848576" cy="3231651"/>
            <a:chOff x="2360893" y="1845912"/>
            <a:chExt cx="8848576" cy="3231651"/>
          </a:xfrm>
        </p:grpSpPr>
        <p:sp>
          <p:nvSpPr>
            <p:cNvPr id="11" name="原创设计师QQ598969553      _5"/>
            <p:cNvSpPr>
              <a:spLocks noChangeArrowheads="1"/>
            </p:cNvSpPr>
            <p:nvPr/>
          </p:nvSpPr>
          <p:spPr bwMode="auto">
            <a:xfrm>
              <a:off x="2360893" y="3307848"/>
              <a:ext cx="8848576" cy="1769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11500" dirty="0">
                  <a:solidFill>
                    <a:schemeClr val="bg1"/>
                  </a:solidFill>
                  <a:latin typeface="hakuyoxingshu7000" panose="02000600000000000000" pitchFamily="2" charset="-122"/>
                  <a:ea typeface="hakuyoxingshu7000" panose="02000600000000000000" pitchFamily="2" charset="-122"/>
                  <a:cs typeface="hakuyoxingshu7000" panose="02000600000000000000" pitchFamily="2" charset="-122"/>
                </a:rPr>
                <a:t>感谢各位观看</a:t>
              </a:r>
              <a:endPara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endParaRPr>
            </a:p>
          </p:txBody>
        </p:sp>
        <p:sp>
          <p:nvSpPr>
            <p:cNvPr id="12" name="原创设计师QQ598969553      _12"/>
            <p:cNvSpPr>
              <a:spLocks noChangeArrowheads="1"/>
            </p:cNvSpPr>
            <p:nvPr/>
          </p:nvSpPr>
          <p:spPr bwMode="auto">
            <a:xfrm>
              <a:off x="3278279" y="1845912"/>
              <a:ext cx="6636432" cy="1769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500" dirty="0">
                  <a:solidFill>
                    <a:schemeClr val="bg1"/>
                  </a:solidFill>
                  <a:latin typeface="hakuyoxingshu7000" panose="02000600000000000000" pitchFamily="2" charset="-122"/>
                  <a:ea typeface="hakuyoxingshu7000" panose="02000600000000000000" pitchFamily="2" charset="-122"/>
                  <a:cs typeface="hakuyoxingshu7000" panose="02000600000000000000" pitchFamily="2" charset="-122"/>
                </a:rPr>
                <a:t>THANK YOU</a:t>
              </a:r>
              <a:endPara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1*55"/>
  <p:tag name="TABLE_ENDDRAG_RECT" val="144*229*671*55"/>
</p:tagLst>
</file>

<file path=ppt/tags/tag2.xml><?xml version="1.0" encoding="utf-8"?>
<p:tagLst xmlns:p="http://schemas.openxmlformats.org/presentationml/2006/main">
  <p:tag name="KSO_WM_UNIT_TABLE_BEAUTIFY" val="smartTable{869e764c-028c-4a62-afbb-1083b9eec32d}"/>
  <p:tag name="TABLE_ENDDRAG_ORIGIN_RECT" val="671*160"/>
  <p:tag name="TABLE_ENDDRAG_RECT" val="144*155*671*16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6471</Words>
  <Application>WPS 演示</Application>
  <PresentationFormat>宽屏</PresentationFormat>
  <Paragraphs>555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5" baseType="lpstr">
      <vt:lpstr>Arial</vt:lpstr>
      <vt:lpstr>宋体</vt:lpstr>
      <vt:lpstr>Wingdings</vt:lpstr>
      <vt:lpstr>文鼎习字体</vt:lpstr>
      <vt:lpstr>Nexa Light</vt:lpstr>
      <vt:lpstr>Wide Latin</vt:lpstr>
      <vt:lpstr>华康少女文字W5(P)</vt:lpstr>
      <vt:lpstr>方正清刻本悦宋简体</vt:lpstr>
      <vt:lpstr>Arial</vt:lpstr>
      <vt:lpstr>华文细黑</vt:lpstr>
      <vt:lpstr>微软雅黑</vt:lpstr>
      <vt:lpstr>Monotype Sorts</vt:lpstr>
      <vt:lpstr>Wingdings</vt:lpstr>
      <vt:lpstr>Times New Roman</vt:lpstr>
      <vt:lpstr>Arial Black</vt:lpstr>
      <vt:lpstr>Calibri</vt:lpstr>
      <vt:lpstr>Arial Unicode MS</vt:lpstr>
      <vt:lpstr>Calibri Light</vt:lpstr>
      <vt:lpstr>隶书</vt:lpstr>
      <vt:lpstr>hakuyoxingshu7000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lpp_p</cp:lastModifiedBy>
  <cp:revision>70</cp:revision>
  <dcterms:created xsi:type="dcterms:W3CDTF">2017-11-17T09:39:00Z</dcterms:created>
  <dcterms:modified xsi:type="dcterms:W3CDTF">2022-05-24T04:54:28Z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2052-11.1.0.11579</vt:lpwstr>
  </property>
  <property fmtid="{D5CDD505-2E9C-101B-9397-08002B2CF9AE}" pid="3" name="ICV">
    <vt:lpwstr>7F0A95E0E4234C7C884C4861B4637DE5</vt:lpwstr>
  </property>
</Properties>
</file>