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1"/>
  </p:handoutMasterIdLst>
  <p:sldIdLst>
    <p:sldId id="256" r:id="rId3"/>
    <p:sldId id="257" r:id="rId5"/>
    <p:sldId id="258" r:id="rId6"/>
    <p:sldId id="265" r:id="rId7"/>
    <p:sldId id="260" r:id="rId8"/>
    <p:sldId id="266" r:id="rId9"/>
    <p:sldId id="287" r:id="rId10"/>
    <p:sldId id="282" r:id="rId11"/>
    <p:sldId id="283" r:id="rId12"/>
    <p:sldId id="284" r:id="rId13"/>
    <p:sldId id="285" r:id="rId14"/>
    <p:sldId id="286" r:id="rId15"/>
    <p:sldId id="288" r:id="rId16"/>
    <p:sldId id="289" r:id="rId17"/>
    <p:sldId id="290" r:id="rId18"/>
    <p:sldId id="291" r:id="rId19"/>
    <p:sldId id="292" r:id="rId20"/>
    <p:sldId id="293" r:id="rId21"/>
    <p:sldId id="261" r:id="rId22"/>
    <p:sldId id="267" r:id="rId23"/>
    <p:sldId id="264" r:id="rId24"/>
    <p:sldId id="268" r:id="rId25"/>
    <p:sldId id="294" r:id="rId26"/>
    <p:sldId id="262" r:id="rId27"/>
    <p:sldId id="269" r:id="rId28"/>
    <p:sldId id="271" r:id="rId29"/>
    <p:sldId id="295" r:id="rId30"/>
    <p:sldId id="270" r:id="rId31"/>
    <p:sldId id="263" r:id="rId32"/>
    <p:sldId id="272" r:id="rId33"/>
    <p:sldId id="273" r:id="rId34"/>
    <p:sldId id="274" r:id="rId35"/>
    <p:sldId id="296" r:id="rId36"/>
    <p:sldId id="297" r:id="rId37"/>
    <p:sldId id="316" r:id="rId38"/>
    <p:sldId id="317" r:id="rId39"/>
    <p:sldId id="259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4242"/>
    <a:srgbClr val="F6F5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96" y="60"/>
      </p:cViewPr>
      <p:guideLst>
        <p:guide orient="horz" pos="222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handoutMaster" Target="handoutMasters/handoutMaster1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wmf"/><Relationship Id="rId1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框 3"/>
          <p:cNvSpPr txBox="1"/>
          <p:nvPr/>
        </p:nvSpPr>
        <p:spPr>
          <a:xfrm>
            <a:off x="2135407" y="2657915"/>
            <a:ext cx="82031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5400" spc="225" dirty="0">
                <a:ln>
                  <a:solidFill>
                    <a:schemeClr val="bg1"/>
                  </a:solidFill>
                </a:ln>
                <a:solidFill>
                  <a:srgbClr val="F6F5F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习字体" panose="020B0602010101010101" pitchFamily="33" charset="-122"/>
                <a:ea typeface="文鼎习字体" panose="020B0602010101010101" pitchFamily="33" charset="-122"/>
              </a:rPr>
              <a:t>基本数据类型和控制结构</a:t>
            </a:r>
            <a:endParaRPr lang="zh-CN" altLang="en-US" sz="5400" spc="225" dirty="0">
              <a:ln>
                <a:solidFill>
                  <a:schemeClr val="bg1"/>
                </a:solidFill>
              </a:ln>
              <a:solidFill>
                <a:srgbClr val="F6F5F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32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20" name="文本框 16"/>
          <p:cNvSpPr txBox="1"/>
          <p:nvPr/>
        </p:nvSpPr>
        <p:spPr>
          <a:xfrm>
            <a:off x="5306265" y="2102679"/>
            <a:ext cx="386080" cy="58356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lvl="0" indent="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1pPr>
            <a:lvl2pPr marL="342900" lvl="1" indent="1143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2pPr>
            <a:lvl3pPr marL="685800" lvl="2" indent="2286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3pPr>
            <a:lvl4pPr marL="1028700" lvl="3" indent="3429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4pPr>
            <a:lvl5pPr marL="1371600" lvl="4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5pPr>
            <a:lvl6pPr marL="2286000" lvl="5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6pPr>
            <a:lvl7pPr marL="2743200" lvl="6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7pPr>
            <a:lvl8pPr marL="3200400" lvl="7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8pPr>
            <a:lvl9pPr marL="3657600" lvl="8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9pPr>
          </a:lstStyle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en-US" altLang="zh-CN" sz="3200" kern="1200" cap="none" spc="0" normalizeH="0" baseline="0" noProof="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sym typeface="Arial" panose="020B0604020202020204"/>
              </a:rPr>
              <a:t>1</a:t>
            </a:r>
            <a:endParaRPr kumimoji="0" lang="en-US" altLang="zh-CN" sz="3200" kern="1200" cap="none" spc="0" normalizeH="0" baseline="0" noProof="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  <a:sym typeface="Arial" panose="020B0604020202020204"/>
            </a:endParaRPr>
          </a:p>
        </p:txBody>
      </p:sp>
      <p:sp>
        <p:nvSpPr>
          <p:cNvPr id="21" name="文本框 23"/>
          <p:cNvSpPr txBox="1"/>
          <p:nvPr/>
        </p:nvSpPr>
        <p:spPr>
          <a:xfrm>
            <a:off x="5306265" y="2795241"/>
            <a:ext cx="386080" cy="58356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lvl="0" indent="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1pPr>
            <a:lvl2pPr marL="342900" lvl="1" indent="1143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2pPr>
            <a:lvl3pPr marL="685800" lvl="2" indent="2286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3pPr>
            <a:lvl4pPr marL="1028700" lvl="3" indent="3429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4pPr>
            <a:lvl5pPr marL="1371600" lvl="4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5pPr>
            <a:lvl6pPr marL="2286000" lvl="5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6pPr>
            <a:lvl7pPr marL="2743200" lvl="6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7pPr>
            <a:lvl8pPr marL="3200400" lvl="7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8pPr>
            <a:lvl9pPr marL="3657600" lvl="8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9pPr>
          </a:lstStyle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en-US" altLang="zh-CN" sz="3200" kern="1200" cap="none" spc="0" normalizeH="0" baseline="0" noProof="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sym typeface="Arial" panose="020B0604020202020204"/>
              </a:rPr>
              <a:t>2</a:t>
            </a:r>
            <a:endParaRPr kumimoji="0" lang="zh-CN" altLang="en-US" sz="3200" kern="1200" cap="none" spc="0" normalizeH="0" baseline="0" noProof="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  <a:sym typeface="Arial" panose="020B0604020202020204"/>
            </a:endParaRPr>
          </a:p>
        </p:txBody>
      </p:sp>
      <p:sp>
        <p:nvSpPr>
          <p:cNvPr id="22" name="文本框 16"/>
          <p:cNvSpPr txBox="1"/>
          <p:nvPr/>
        </p:nvSpPr>
        <p:spPr>
          <a:xfrm>
            <a:off x="5306265" y="3477983"/>
            <a:ext cx="386080" cy="58356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lvl="0" indent="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1pPr>
            <a:lvl2pPr marL="342900" lvl="1" indent="1143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2pPr>
            <a:lvl3pPr marL="685800" lvl="2" indent="2286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3pPr>
            <a:lvl4pPr marL="1028700" lvl="3" indent="3429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4pPr>
            <a:lvl5pPr marL="1371600" lvl="4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5pPr>
            <a:lvl6pPr marL="2286000" lvl="5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6pPr>
            <a:lvl7pPr marL="2743200" lvl="6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7pPr>
            <a:lvl8pPr marL="3200400" lvl="7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8pPr>
            <a:lvl9pPr marL="3657600" lvl="8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9pPr>
          </a:lstStyle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32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sym typeface="Arial" panose="020B0604020202020204"/>
              </a:rPr>
              <a:t>3</a:t>
            </a:r>
            <a:endParaRPr kumimoji="0" lang="zh-CN" altLang="en-US" sz="3200" kern="1200" cap="none" spc="0" normalizeH="0" baseline="0" noProof="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  <a:sym typeface="Arial" panose="020B0604020202020204"/>
            </a:endParaRPr>
          </a:p>
        </p:txBody>
      </p:sp>
      <p:sp>
        <p:nvSpPr>
          <p:cNvPr id="23" name="文本框 23"/>
          <p:cNvSpPr txBox="1"/>
          <p:nvPr/>
        </p:nvSpPr>
        <p:spPr>
          <a:xfrm>
            <a:off x="5306265" y="4170545"/>
            <a:ext cx="386080" cy="58356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lvl="0" indent="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1pPr>
            <a:lvl2pPr marL="342900" lvl="1" indent="1143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2pPr>
            <a:lvl3pPr marL="685800" lvl="2" indent="2286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3pPr>
            <a:lvl4pPr marL="1028700" lvl="3" indent="3429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4pPr>
            <a:lvl5pPr marL="1371600" lvl="4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5pPr>
            <a:lvl6pPr marL="2286000" lvl="5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6pPr>
            <a:lvl7pPr marL="2743200" lvl="6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7pPr>
            <a:lvl8pPr marL="3200400" lvl="7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8pPr>
            <a:lvl9pPr marL="3657600" lvl="8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9pPr>
          </a:lstStyle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32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sym typeface="Arial" panose="020B0604020202020204"/>
              </a:rPr>
              <a:t>4</a:t>
            </a:r>
            <a:endParaRPr kumimoji="0" lang="zh-CN" altLang="en-US" sz="3200" kern="1200" cap="none" spc="0" normalizeH="0" baseline="0" noProof="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  <a:sym typeface="Arial" panose="020B0604020202020204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4924903" y="2209914"/>
            <a:ext cx="0" cy="244026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48"/>
          <p:cNvSpPr txBox="1">
            <a:spLocks noChangeArrowheads="1"/>
          </p:cNvSpPr>
          <p:nvPr/>
        </p:nvSpPr>
        <p:spPr bwMode="auto">
          <a:xfrm>
            <a:off x="6015198" y="2146494"/>
            <a:ext cx="3393440" cy="64516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l" defTabSz="685800" eaLnBrk="1" hangingPunct="1">
              <a:buClrTx/>
              <a:buSzTx/>
              <a:buFontTx/>
            </a:pPr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基本数据类型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26" name="文本框 48"/>
          <p:cNvSpPr txBox="1">
            <a:spLocks noChangeArrowheads="1"/>
          </p:cNvSpPr>
          <p:nvPr/>
        </p:nvSpPr>
        <p:spPr bwMode="auto">
          <a:xfrm>
            <a:off x="6014563" y="2804989"/>
            <a:ext cx="3394075" cy="64516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l" defTabSz="685800" eaLnBrk="1" hangingPunct="1">
              <a:buClrTx/>
              <a:buSzTx/>
              <a:buFontTx/>
            </a:pPr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运算符和表达式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27" name="文本框 48"/>
          <p:cNvSpPr txBox="1">
            <a:spLocks noChangeArrowheads="1"/>
          </p:cNvSpPr>
          <p:nvPr/>
        </p:nvSpPr>
        <p:spPr bwMode="auto">
          <a:xfrm>
            <a:off x="6014563" y="3528889"/>
            <a:ext cx="3394075" cy="64516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l" defTabSz="685800" eaLnBrk="1" hangingPunct="1">
              <a:buClrTx/>
              <a:buSzTx/>
              <a:buFontTx/>
            </a:pPr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控制结构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28" name="文本框 48"/>
          <p:cNvSpPr txBox="1">
            <a:spLocks noChangeArrowheads="1"/>
          </p:cNvSpPr>
          <p:nvPr/>
        </p:nvSpPr>
        <p:spPr bwMode="auto">
          <a:xfrm>
            <a:off x="6015832" y="4238183"/>
            <a:ext cx="3392806" cy="64516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l" defTabSz="685800" eaLnBrk="1" hangingPunct="1">
              <a:buClrTx/>
              <a:buSzTx/>
              <a:buFontTx/>
            </a:pPr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循环语句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30" name="文本框 16"/>
          <p:cNvSpPr txBox="1"/>
          <p:nvPr/>
        </p:nvSpPr>
        <p:spPr>
          <a:xfrm>
            <a:off x="2304029" y="2102240"/>
            <a:ext cx="21420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目录 </a:t>
            </a:r>
            <a:r>
              <a:rPr lang="en-US" altLang="zh-CN" sz="3600" dirty="0" smtClean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 </a:t>
            </a:r>
            <a:r>
              <a:rPr lang="en-US" altLang="zh-CN" sz="32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Contents</a:t>
            </a:r>
            <a:r>
              <a:rPr lang="en-US" altLang="zh-CN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 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PART01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基本数据类型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95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C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语言有哪些数据类型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grpSp>
        <p:nvGrpSpPr>
          <p:cNvPr id="29699" name="Group 62"/>
          <p:cNvGrpSpPr>
            <a:grpSpLocks noGrp="1"/>
          </p:cNvGrpSpPr>
          <p:nvPr/>
        </p:nvGrpSpPr>
        <p:grpSpPr bwMode="auto">
          <a:xfrm>
            <a:off x="1981200" y="1387158"/>
            <a:ext cx="7665726" cy="4967164"/>
            <a:chOff x="384" y="816"/>
            <a:chExt cx="4663" cy="2903"/>
          </a:xfrm>
        </p:grpSpPr>
        <p:sp>
          <p:nvSpPr>
            <p:cNvPr id="6" name="AutoShape 6"/>
            <p:cNvSpPr/>
            <p:nvPr/>
          </p:nvSpPr>
          <p:spPr bwMode="auto">
            <a:xfrm>
              <a:off x="672" y="1584"/>
              <a:ext cx="144" cy="1392"/>
            </a:xfrm>
            <a:prstGeom prst="leftBrace">
              <a:avLst>
                <a:gd name="adj1" fmla="val 80556"/>
                <a:gd name="adj2" fmla="val 50000"/>
              </a:avLst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wrap="none" anchor="ctr"/>
            <a:p>
              <a:pPr eaLnBrk="0" hangingPunct="0">
                <a:defRPr/>
              </a:pPr>
              <a:endParaRPr lang="zh-CN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29701" name="Group 53"/>
            <p:cNvGrpSpPr/>
            <p:nvPr/>
          </p:nvGrpSpPr>
          <p:grpSpPr bwMode="auto">
            <a:xfrm>
              <a:off x="816" y="990"/>
              <a:ext cx="1222" cy="1002"/>
              <a:chOff x="864" y="1278"/>
              <a:chExt cx="1222" cy="1002"/>
            </a:xfrm>
          </p:grpSpPr>
          <p:sp>
            <p:nvSpPr>
              <p:cNvPr id="42" name="Text Box 7"/>
              <p:cNvSpPr txBox="1">
                <a:spLocks noChangeArrowheads="1"/>
              </p:cNvSpPr>
              <p:nvPr/>
            </p:nvSpPr>
            <p:spPr bwMode="auto">
              <a:xfrm>
                <a:off x="864" y="1488"/>
                <a:ext cx="540" cy="379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p>
                <a:pPr algn="just" eaLnBrk="0" hangingPunct="0">
                  <a:defRPr/>
                </a:pPr>
                <a:r>
                  <a:rPr lang="zh-CN" altLang="en-US" b="1" dirty="0">
                    <a:solidFill>
                      <a:srgbClr val="24424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基本数据类型</a:t>
                </a:r>
                <a:endParaRPr lang="zh-CN" altLang="en-US" b="1" dirty="0">
                  <a:solidFill>
                    <a:srgbClr val="244242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3" name="Text Box 10"/>
              <p:cNvSpPr txBox="1">
                <a:spLocks noChangeArrowheads="1"/>
              </p:cNvSpPr>
              <p:nvPr/>
            </p:nvSpPr>
            <p:spPr bwMode="auto">
              <a:xfrm>
                <a:off x="1543" y="1680"/>
                <a:ext cx="535" cy="216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p>
                <a:pPr algn="just" eaLnBrk="0" hangingPunct="0">
                  <a:defRPr/>
                </a:pPr>
                <a:r>
                  <a:rPr lang="zh-CN" altLang="en-US" b="1" dirty="0">
                    <a:solidFill>
                      <a:srgbClr val="24424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字符型</a:t>
                </a:r>
                <a:endParaRPr lang="zh-CN" altLang="en-US" b="1" dirty="0">
                  <a:solidFill>
                    <a:srgbClr val="244242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4" name="AutoShape 12"/>
              <p:cNvSpPr/>
              <p:nvPr/>
            </p:nvSpPr>
            <p:spPr bwMode="auto">
              <a:xfrm>
                <a:off x="1392" y="1441"/>
                <a:ext cx="144" cy="767"/>
              </a:xfrm>
              <a:prstGeom prst="leftBrace">
                <a:avLst>
                  <a:gd name="adj1" fmla="val 44444"/>
                  <a:gd name="adj2" fmla="val 50000"/>
                </a:avLst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 wrap="none" anchor="ctr"/>
              <a:p>
                <a:pPr eaLnBrk="0" hangingPunct="0">
                  <a:defRPr/>
                </a:pPr>
                <a:endParaRPr lang="zh-CN" altLang="en-US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5" name="Text Box 14"/>
              <p:cNvSpPr txBox="1">
                <a:spLocks noChangeArrowheads="1"/>
              </p:cNvSpPr>
              <p:nvPr/>
            </p:nvSpPr>
            <p:spPr bwMode="auto">
              <a:xfrm>
                <a:off x="1543" y="2064"/>
                <a:ext cx="535" cy="216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p>
                <a:pPr algn="just" eaLnBrk="0" hangingPunct="0">
                  <a:defRPr/>
                </a:pPr>
                <a:r>
                  <a:rPr lang="zh-CN" altLang="en-US" b="1" dirty="0">
                    <a:solidFill>
                      <a:srgbClr val="24424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数值型</a:t>
                </a:r>
                <a:endParaRPr lang="zh-CN" altLang="en-US" b="1" dirty="0">
                  <a:solidFill>
                    <a:srgbClr val="244242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6" name="Text Box 15"/>
              <p:cNvSpPr txBox="1">
                <a:spLocks noChangeArrowheads="1"/>
              </p:cNvSpPr>
              <p:nvPr/>
            </p:nvSpPr>
            <p:spPr bwMode="auto">
              <a:xfrm>
                <a:off x="1552" y="1278"/>
                <a:ext cx="534" cy="216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p>
                <a:pPr algn="just" eaLnBrk="0" hangingPunct="0">
                  <a:defRPr/>
                </a:pPr>
                <a:r>
                  <a:rPr lang="zh-CN" altLang="en-US" b="1" dirty="0">
                    <a:solidFill>
                      <a:srgbClr val="24424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空类型</a:t>
                </a:r>
                <a:endParaRPr lang="zh-CN" altLang="en-US" b="1" dirty="0">
                  <a:solidFill>
                    <a:srgbClr val="244242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3" name="AutoShape 16"/>
            <p:cNvSpPr/>
            <p:nvPr/>
          </p:nvSpPr>
          <p:spPr bwMode="auto">
            <a:xfrm>
              <a:off x="2256" y="1200"/>
              <a:ext cx="191" cy="1596"/>
            </a:xfrm>
            <a:prstGeom prst="leftBrace">
              <a:avLst>
                <a:gd name="adj1" fmla="val 133770"/>
                <a:gd name="adj2" fmla="val 50000"/>
              </a:avLst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wrap="none" anchor="ctr"/>
            <a:p>
              <a:pPr eaLnBrk="0" hangingPunct="0">
                <a:defRPr/>
              </a:pPr>
              <a:endParaRPr lang="zh-CN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29703" name="Group 54"/>
            <p:cNvGrpSpPr/>
            <p:nvPr/>
          </p:nvGrpSpPr>
          <p:grpSpPr bwMode="auto">
            <a:xfrm>
              <a:off x="816" y="2256"/>
              <a:ext cx="1296" cy="1308"/>
              <a:chOff x="864" y="2544"/>
              <a:chExt cx="1296" cy="1308"/>
            </a:xfrm>
          </p:grpSpPr>
          <p:sp>
            <p:nvSpPr>
              <p:cNvPr id="34" name="Text Box 8"/>
              <p:cNvSpPr txBox="1">
                <a:spLocks noChangeArrowheads="1"/>
              </p:cNvSpPr>
              <p:nvPr/>
            </p:nvSpPr>
            <p:spPr bwMode="auto">
              <a:xfrm>
                <a:off x="864" y="2832"/>
                <a:ext cx="550" cy="379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p>
                <a:pPr algn="just" eaLnBrk="0" hangingPunct="0">
                  <a:defRPr/>
                </a:pPr>
                <a:r>
                  <a:rPr lang="zh-CN" altLang="en-US" b="1" dirty="0">
                    <a:solidFill>
                      <a:srgbClr val="24424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复合数据类型</a:t>
                </a:r>
                <a:endParaRPr lang="zh-CN" altLang="en-US" b="1" dirty="0">
                  <a:solidFill>
                    <a:srgbClr val="244242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5" name="AutoShape 37"/>
              <p:cNvSpPr/>
              <p:nvPr/>
            </p:nvSpPr>
            <p:spPr bwMode="auto">
              <a:xfrm>
                <a:off x="1406" y="2688"/>
                <a:ext cx="225" cy="1057"/>
              </a:xfrm>
              <a:prstGeom prst="leftBrace">
                <a:avLst>
                  <a:gd name="adj1" fmla="val 39111"/>
                  <a:gd name="adj2" fmla="val 50000"/>
                </a:avLst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 wrap="none" anchor="ctr"/>
              <a:p>
                <a:pPr eaLnBrk="0" hangingPunct="0">
                  <a:defRPr/>
                </a:pPr>
                <a:endParaRPr lang="zh-CN" altLang="en-US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29730" name="Group 51"/>
              <p:cNvGrpSpPr/>
              <p:nvPr/>
            </p:nvGrpSpPr>
            <p:grpSpPr bwMode="auto">
              <a:xfrm>
                <a:off x="1632" y="2544"/>
                <a:ext cx="528" cy="1308"/>
                <a:chOff x="1536" y="2496"/>
                <a:chExt cx="528" cy="1308"/>
              </a:xfrm>
            </p:grpSpPr>
            <p:sp>
              <p:nvSpPr>
                <p:cNvPr id="37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1535" y="2766"/>
                  <a:ext cx="528" cy="232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>
                  <a:spAutoFit/>
                </a:bodyPr>
                <a:p>
                  <a:pPr algn="just" eaLnBrk="0" hangingPunct="0">
                    <a:defRPr/>
                  </a:pPr>
                  <a:r>
                    <a:rPr lang="zh-CN" altLang="en-US" sz="2000" b="1" dirty="0">
                      <a:solidFill>
                        <a:srgbClr val="244242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结构</a:t>
                  </a:r>
                  <a:endParaRPr lang="zh-CN" altLang="en-US" sz="2000" b="1" dirty="0">
                    <a:solidFill>
                      <a:srgbClr val="244242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38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1535" y="3040"/>
                  <a:ext cx="528" cy="233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>
                  <a:spAutoFit/>
                </a:bodyPr>
                <a:p>
                  <a:pPr algn="just" eaLnBrk="0" hangingPunct="0">
                    <a:defRPr/>
                  </a:pPr>
                  <a:r>
                    <a:rPr lang="zh-CN" altLang="en-US" sz="2000" b="1" dirty="0">
                      <a:solidFill>
                        <a:srgbClr val="244242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联合</a:t>
                  </a:r>
                  <a:endParaRPr lang="zh-CN" altLang="en-US" sz="2000" b="1" dirty="0">
                    <a:solidFill>
                      <a:srgbClr val="244242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39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1535" y="2496"/>
                  <a:ext cx="528" cy="232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>
                  <a:spAutoFit/>
                </a:bodyPr>
                <a:p>
                  <a:pPr algn="just" eaLnBrk="0" hangingPunct="0">
                    <a:defRPr/>
                  </a:pPr>
                  <a:r>
                    <a:rPr lang="zh-CN" altLang="en-US" sz="2000" b="1" dirty="0">
                      <a:solidFill>
                        <a:srgbClr val="244242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数组</a:t>
                  </a:r>
                  <a:endParaRPr lang="zh-CN" altLang="en-US" sz="2000" b="1" dirty="0">
                    <a:solidFill>
                      <a:srgbClr val="244242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40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1535" y="3306"/>
                  <a:ext cx="528" cy="232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>
                  <a:spAutoFit/>
                </a:bodyPr>
                <a:p>
                  <a:pPr algn="just" eaLnBrk="0" hangingPunct="0">
                    <a:defRPr/>
                  </a:pPr>
                  <a:r>
                    <a:rPr lang="zh-CN" altLang="en-US" sz="2000" b="1" dirty="0">
                      <a:solidFill>
                        <a:srgbClr val="244242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枚举</a:t>
                  </a:r>
                  <a:endParaRPr lang="zh-CN" altLang="en-US" sz="2000" b="1" dirty="0">
                    <a:solidFill>
                      <a:srgbClr val="244242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41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1535" y="3572"/>
                  <a:ext cx="528" cy="232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>
                  <a:spAutoFit/>
                </a:bodyPr>
                <a:p>
                  <a:pPr algn="just" eaLnBrk="0" hangingPunct="0">
                    <a:defRPr/>
                  </a:pPr>
                  <a:r>
                    <a:rPr lang="zh-CN" altLang="en-US" sz="2000" b="1" dirty="0">
                      <a:solidFill>
                        <a:srgbClr val="244242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指针</a:t>
                  </a:r>
                  <a:endParaRPr lang="zh-CN" altLang="en-US" sz="2000" b="1" dirty="0">
                    <a:solidFill>
                      <a:srgbClr val="244242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grpSp>
          <p:nvGrpSpPr>
            <p:cNvPr id="29704" name="Group 61"/>
            <p:cNvGrpSpPr/>
            <p:nvPr/>
          </p:nvGrpSpPr>
          <p:grpSpPr bwMode="auto">
            <a:xfrm>
              <a:off x="2448" y="1632"/>
              <a:ext cx="2599" cy="2087"/>
              <a:chOff x="2448" y="1632"/>
              <a:chExt cx="2599" cy="2087"/>
            </a:xfrm>
          </p:grpSpPr>
          <p:sp>
            <p:nvSpPr>
              <p:cNvPr id="5" name="Text Box 17"/>
              <p:cNvSpPr txBox="1">
                <a:spLocks noChangeArrowheads="1"/>
              </p:cNvSpPr>
              <p:nvPr/>
            </p:nvSpPr>
            <p:spPr bwMode="auto">
              <a:xfrm>
                <a:off x="2448" y="2640"/>
                <a:ext cx="393" cy="216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p>
                <a:pPr algn="just" eaLnBrk="0" hangingPunct="0">
                  <a:defRPr/>
                </a:pPr>
                <a:r>
                  <a:rPr lang="zh-CN" altLang="en-US" b="1" dirty="0">
                    <a:solidFill>
                      <a:srgbClr val="24424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整型</a:t>
                </a:r>
                <a:endParaRPr lang="zh-CN" altLang="en-US" b="1" dirty="0">
                  <a:solidFill>
                    <a:srgbClr val="244242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7" name="AutoShape 18"/>
              <p:cNvSpPr/>
              <p:nvPr/>
            </p:nvSpPr>
            <p:spPr bwMode="auto">
              <a:xfrm>
                <a:off x="2976" y="1968"/>
                <a:ext cx="192" cy="1488"/>
              </a:xfrm>
              <a:prstGeom prst="leftBrace">
                <a:avLst>
                  <a:gd name="adj1" fmla="val 64583"/>
                  <a:gd name="adj2" fmla="val 50000"/>
                </a:avLst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 wrap="none" anchor="ctr"/>
              <a:p>
                <a:pPr eaLnBrk="0" hangingPunct="0">
                  <a:defRPr/>
                </a:pPr>
                <a:endParaRPr lang="zh-CN" altLang="en-US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29713" name="Group 60"/>
              <p:cNvGrpSpPr/>
              <p:nvPr/>
            </p:nvGrpSpPr>
            <p:grpSpPr bwMode="auto">
              <a:xfrm>
                <a:off x="3168" y="3120"/>
                <a:ext cx="1879" cy="599"/>
                <a:chOff x="3168" y="3120"/>
                <a:chExt cx="1879" cy="599"/>
              </a:xfrm>
            </p:grpSpPr>
            <p:sp>
              <p:nvSpPr>
                <p:cNvPr id="30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3168" y="3312"/>
                  <a:ext cx="534" cy="216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p>
                  <a:pPr algn="just" eaLnBrk="0" hangingPunct="0">
                    <a:defRPr/>
                  </a:pPr>
                  <a:r>
                    <a:rPr lang="zh-CN" altLang="en-US" b="1" dirty="0">
                      <a:solidFill>
                        <a:srgbClr val="244242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长整型</a:t>
                  </a:r>
                  <a:endParaRPr lang="zh-CN" altLang="en-US" b="1" dirty="0">
                    <a:solidFill>
                      <a:srgbClr val="244242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0" name="AutoShape 29"/>
                <p:cNvSpPr/>
                <p:nvPr/>
              </p:nvSpPr>
              <p:spPr bwMode="auto">
                <a:xfrm>
                  <a:off x="3888" y="3216"/>
                  <a:ext cx="96" cy="431"/>
                </a:xfrm>
                <a:prstGeom prst="leftBrace">
                  <a:avLst>
                    <a:gd name="adj1" fmla="val 37500"/>
                    <a:gd name="adj2" fmla="val 50000"/>
                  </a:avLst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 wrap="none" anchor="ctr"/>
                <a:p>
                  <a:pPr eaLnBrk="0" hangingPunct="0">
                    <a:defRPr/>
                  </a:pPr>
                  <a:endParaRPr lang="zh-CN" altLang="en-US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1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3987" y="3120"/>
                  <a:ext cx="1060" cy="215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p>
                  <a:pPr algn="just" eaLnBrk="0" hangingPunct="0">
                    <a:defRPr/>
                  </a:pPr>
                  <a:r>
                    <a:rPr lang="zh-CN" altLang="en-US" b="1" dirty="0">
                      <a:solidFill>
                        <a:srgbClr val="244242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无符号长整型</a:t>
                  </a:r>
                  <a:endParaRPr lang="zh-CN" altLang="en-US" b="1" dirty="0">
                    <a:solidFill>
                      <a:srgbClr val="244242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33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3984" y="3504"/>
                  <a:ext cx="1063" cy="215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p>
                  <a:pPr algn="just" eaLnBrk="0" hangingPunct="0">
                    <a:defRPr/>
                  </a:pPr>
                  <a:r>
                    <a:rPr lang="zh-CN" altLang="en-US" b="1" dirty="0">
                      <a:solidFill>
                        <a:srgbClr val="244242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有符号长整型</a:t>
                  </a:r>
                  <a:endParaRPr lang="zh-CN" altLang="en-US" b="1" dirty="0">
                    <a:solidFill>
                      <a:srgbClr val="244242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29714" name="Group 57"/>
              <p:cNvGrpSpPr/>
              <p:nvPr/>
            </p:nvGrpSpPr>
            <p:grpSpPr bwMode="auto">
              <a:xfrm>
                <a:off x="3168" y="2352"/>
                <a:ext cx="1635" cy="600"/>
                <a:chOff x="3216" y="2640"/>
                <a:chExt cx="1635" cy="600"/>
              </a:xfrm>
            </p:grpSpPr>
            <p:sp>
              <p:nvSpPr>
                <p:cNvPr id="26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3216" y="2832"/>
                  <a:ext cx="477" cy="215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p>
                  <a:pPr algn="just" eaLnBrk="0" hangingPunct="0">
                    <a:defRPr/>
                  </a:pPr>
                  <a:r>
                    <a:rPr lang="zh-CN" altLang="en-US" b="1" dirty="0">
                      <a:solidFill>
                        <a:srgbClr val="244242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整  型</a:t>
                  </a:r>
                  <a:endParaRPr lang="zh-CN" altLang="en-US" b="1" dirty="0">
                    <a:solidFill>
                      <a:srgbClr val="244242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7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4037" y="2640"/>
                  <a:ext cx="814" cy="216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p>
                  <a:pPr algn="just" eaLnBrk="0" hangingPunct="0">
                    <a:defRPr/>
                  </a:pPr>
                  <a:r>
                    <a:rPr lang="zh-CN" altLang="en-US" b="1" dirty="0">
                      <a:solidFill>
                        <a:srgbClr val="244242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无符号整型</a:t>
                  </a:r>
                  <a:endParaRPr lang="zh-CN" altLang="en-US" b="1" dirty="0">
                    <a:solidFill>
                      <a:srgbClr val="244242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2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4032" y="3024"/>
                  <a:ext cx="814" cy="216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p>
                  <a:pPr algn="just" eaLnBrk="0" hangingPunct="0">
                    <a:defRPr/>
                  </a:pPr>
                  <a:r>
                    <a:rPr lang="zh-CN" altLang="en-US" b="1" dirty="0">
                      <a:solidFill>
                        <a:srgbClr val="244242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有符号整型</a:t>
                  </a:r>
                  <a:endParaRPr lang="zh-CN" altLang="en-US" b="1" dirty="0">
                    <a:solidFill>
                      <a:srgbClr val="244242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9" name="AutoShape 46"/>
                <p:cNvSpPr/>
                <p:nvPr/>
              </p:nvSpPr>
              <p:spPr bwMode="auto">
                <a:xfrm>
                  <a:off x="3936" y="2736"/>
                  <a:ext cx="96" cy="488"/>
                </a:xfrm>
                <a:prstGeom prst="leftBrace">
                  <a:avLst>
                    <a:gd name="adj1" fmla="val 42361"/>
                    <a:gd name="adj2" fmla="val 50000"/>
                  </a:avLst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 wrap="none" anchor="ctr"/>
                <a:p>
                  <a:pPr eaLnBrk="0" hangingPunct="0">
                    <a:defRPr/>
                  </a:pPr>
                  <a:endParaRPr lang="zh-CN" altLang="en-US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29715" name="Group 56"/>
              <p:cNvGrpSpPr/>
              <p:nvPr/>
            </p:nvGrpSpPr>
            <p:grpSpPr bwMode="auto">
              <a:xfrm>
                <a:off x="3168" y="1632"/>
                <a:ext cx="1771" cy="596"/>
                <a:chOff x="3216" y="1920"/>
                <a:chExt cx="1771" cy="596"/>
              </a:xfrm>
            </p:grpSpPr>
            <p:sp>
              <p:nvSpPr>
                <p:cNvPr id="22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3216" y="2064"/>
                  <a:ext cx="720" cy="216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>
                  <a:spAutoFit/>
                </a:bodyPr>
                <a:p>
                  <a:pPr algn="just" eaLnBrk="0" hangingPunct="0">
                    <a:defRPr/>
                  </a:pPr>
                  <a:r>
                    <a:rPr lang="zh-CN" altLang="en-US" b="1">
                      <a:solidFill>
                        <a:srgbClr val="244242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短整形</a:t>
                  </a:r>
                  <a:endParaRPr lang="zh-CN" altLang="en-US" b="1">
                    <a:solidFill>
                      <a:srgbClr val="244242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3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4032" y="1920"/>
                  <a:ext cx="955" cy="216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p>
                  <a:pPr algn="just" eaLnBrk="0" hangingPunct="0">
                    <a:defRPr/>
                  </a:pPr>
                  <a:r>
                    <a:rPr lang="zh-CN" altLang="en-US" b="1" dirty="0">
                      <a:solidFill>
                        <a:srgbClr val="244242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无符号短整型</a:t>
                  </a:r>
                  <a:endParaRPr lang="zh-CN" altLang="en-US" b="1" dirty="0">
                    <a:solidFill>
                      <a:srgbClr val="244242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4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4032" y="2256"/>
                  <a:ext cx="955" cy="216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p>
                  <a:pPr algn="just" eaLnBrk="0" hangingPunct="0">
                    <a:defRPr/>
                  </a:pPr>
                  <a:r>
                    <a:rPr lang="zh-CN" altLang="en-US" b="1">
                      <a:solidFill>
                        <a:srgbClr val="244242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有符号短整型</a:t>
                  </a:r>
                  <a:endParaRPr lang="zh-CN" altLang="en-US" b="1">
                    <a:solidFill>
                      <a:srgbClr val="244242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5" name="AutoShape 47"/>
                <p:cNvSpPr/>
                <p:nvPr/>
              </p:nvSpPr>
              <p:spPr bwMode="auto">
                <a:xfrm>
                  <a:off x="3936" y="1969"/>
                  <a:ext cx="96" cy="547"/>
                </a:xfrm>
                <a:prstGeom prst="leftBrace">
                  <a:avLst>
                    <a:gd name="adj1" fmla="val 47569"/>
                    <a:gd name="adj2" fmla="val 50000"/>
                  </a:avLst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 wrap="none" anchor="ctr"/>
                <a:p>
                  <a:pPr eaLnBrk="0" hangingPunct="0">
                    <a:defRPr/>
                  </a:pPr>
                  <a:endParaRPr lang="zh-CN" altLang="en-US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grpSp>
          <p:nvGrpSpPr>
            <p:cNvPr id="29705" name="Group 52"/>
            <p:cNvGrpSpPr/>
            <p:nvPr/>
          </p:nvGrpSpPr>
          <p:grpSpPr bwMode="auto">
            <a:xfrm>
              <a:off x="2448" y="816"/>
              <a:ext cx="1486" cy="652"/>
              <a:chOff x="2496" y="1104"/>
              <a:chExt cx="1486" cy="652"/>
            </a:xfrm>
          </p:grpSpPr>
          <p:sp>
            <p:nvSpPr>
              <p:cNvPr id="13" name="Text Box 33"/>
              <p:cNvSpPr txBox="1">
                <a:spLocks noChangeArrowheads="1"/>
              </p:cNvSpPr>
              <p:nvPr/>
            </p:nvSpPr>
            <p:spPr bwMode="auto">
              <a:xfrm>
                <a:off x="2496" y="1344"/>
                <a:ext cx="393" cy="216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p>
                <a:pPr algn="just" eaLnBrk="0" hangingPunct="0">
                  <a:defRPr/>
                </a:pPr>
                <a:r>
                  <a:rPr lang="zh-CN" altLang="en-US" b="1" dirty="0">
                    <a:solidFill>
                      <a:srgbClr val="24424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实型</a:t>
                </a:r>
                <a:endParaRPr lang="zh-CN" altLang="en-US" b="1" dirty="0">
                  <a:solidFill>
                    <a:srgbClr val="244242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8" name="Text Box 34"/>
              <p:cNvSpPr txBox="1">
                <a:spLocks noChangeArrowheads="1"/>
              </p:cNvSpPr>
              <p:nvPr/>
            </p:nvSpPr>
            <p:spPr bwMode="auto">
              <a:xfrm>
                <a:off x="3168" y="1104"/>
                <a:ext cx="814" cy="216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p>
                <a:pPr algn="just" eaLnBrk="0" hangingPunct="0">
                  <a:defRPr/>
                </a:pPr>
                <a:r>
                  <a:rPr lang="zh-CN" altLang="en-US" b="1" dirty="0">
                    <a:solidFill>
                      <a:srgbClr val="24424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单精度实型</a:t>
                </a:r>
                <a:endParaRPr lang="zh-CN" altLang="en-US" b="1" dirty="0">
                  <a:solidFill>
                    <a:srgbClr val="244242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9" name="Text Box 35"/>
              <p:cNvSpPr txBox="1">
                <a:spLocks noChangeArrowheads="1"/>
              </p:cNvSpPr>
              <p:nvPr/>
            </p:nvSpPr>
            <p:spPr bwMode="auto">
              <a:xfrm>
                <a:off x="3168" y="1536"/>
                <a:ext cx="814" cy="216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p>
                <a:pPr algn="just" eaLnBrk="0" hangingPunct="0">
                  <a:defRPr/>
                </a:pPr>
                <a:r>
                  <a:rPr lang="zh-CN" altLang="en-US" b="1" dirty="0">
                    <a:solidFill>
                      <a:srgbClr val="24424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双精度实型</a:t>
                </a:r>
                <a:endParaRPr lang="zh-CN" altLang="en-US" b="1" dirty="0">
                  <a:solidFill>
                    <a:srgbClr val="244242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8" name="AutoShape 48"/>
              <p:cNvSpPr/>
              <p:nvPr/>
            </p:nvSpPr>
            <p:spPr bwMode="auto">
              <a:xfrm>
                <a:off x="3024" y="1248"/>
                <a:ext cx="107" cy="508"/>
              </a:xfrm>
              <a:prstGeom prst="leftBrace">
                <a:avLst>
                  <a:gd name="adj1" fmla="val 39564"/>
                  <a:gd name="adj2" fmla="val 50000"/>
                </a:avLst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 wrap="none" anchor="ctr"/>
              <a:p>
                <a:pPr eaLnBrk="0" hangingPunct="0">
                  <a:defRPr/>
                </a:pPr>
                <a:endParaRPr lang="zh-CN" altLang="en-US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9" name="Text Box 49"/>
            <p:cNvSpPr txBox="1">
              <a:spLocks noChangeArrowheads="1"/>
            </p:cNvSpPr>
            <p:nvPr/>
          </p:nvSpPr>
          <p:spPr bwMode="auto">
            <a:xfrm>
              <a:off x="384" y="1788"/>
              <a:ext cx="288" cy="70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spAutoFit/>
            </a:bodyPr>
            <a:p>
              <a:pPr algn="just" eaLnBrk="0" hangingPunct="0">
                <a:defRPr/>
              </a:pPr>
              <a:r>
                <a:rPr lang="zh-CN" altLang="en-US" b="1" dirty="0">
                  <a:solidFill>
                    <a:srgbClr val="244242"/>
                  </a:solidFill>
                  <a:latin typeface="微软雅黑" panose="020B0503020204020204" charset="-122"/>
                  <a:ea typeface="微软雅黑" panose="020B0503020204020204" charset="-122"/>
                </a:rPr>
                <a:t>数据类型</a:t>
              </a:r>
              <a:endParaRPr lang="zh-CN" altLang="en-US" b="1" dirty="0">
                <a:solidFill>
                  <a:srgbClr val="24424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C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语言第一个程序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206500" y="1537970"/>
            <a:ext cx="9779000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  <a:buNone/>
            </a:pP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#include &lt;stdio.h&gt;                   /*预处理命令*/</a:t>
            </a: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00000"/>
              </a:lnSpc>
              <a:buNone/>
            </a:pP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00000"/>
              </a:lnSpc>
              <a:buNone/>
            </a:pP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main() 　　　　　　　　　　/*主函数*/</a:t>
            </a: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00000"/>
              </a:lnSpc>
              <a:buNone/>
            </a:pP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 </a:t>
            </a: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00000"/>
              </a:lnSpc>
              <a:buNone/>
            </a:pP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printf("hello,world!\n");         /*库函数，输出字符序*/</a:t>
            </a: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00000"/>
              </a:lnSpc>
              <a:buNone/>
            </a:pP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return 0;</a:t>
            </a: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00000"/>
              </a:lnSpc>
              <a:buNone/>
            </a:pP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位和字节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065655" y="1336675"/>
            <a:ext cx="806005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计算机中，数据是以二进制的形式保存，八位二进制数构成一个字节。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1831340" y="206756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165"/>
                <a:gridCol w="1066165"/>
                <a:gridCol w="1066165"/>
                <a:gridCol w="1066165"/>
                <a:gridCol w="1066165"/>
                <a:gridCol w="1066165"/>
                <a:gridCol w="1066165"/>
                <a:gridCol w="1066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2130425" y="2087880"/>
            <a:ext cx="838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244242"/>
                </a:solidFill>
              </a:rPr>
              <a:t>  1                   0                  0                  1                    0                 0                    0                  1      </a:t>
            </a:r>
            <a:endParaRPr lang="en-US" altLang="zh-CN">
              <a:solidFill>
                <a:srgbClr val="244242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573780" y="2456180"/>
            <a:ext cx="410654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计算机中用八位二进制数表示一个字节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4" name="表格 23"/>
          <p:cNvGraphicFramePr/>
          <p:nvPr/>
        </p:nvGraphicFramePr>
        <p:xfrm>
          <a:off x="1828800" y="3534410"/>
          <a:ext cx="8531860" cy="790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79057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5" name="文本框 24"/>
          <p:cNvSpPr txBox="1"/>
          <p:nvPr/>
        </p:nvSpPr>
        <p:spPr>
          <a:xfrm>
            <a:off x="1831340" y="4475480"/>
            <a:ext cx="9088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0x100                    0x101                      0x102                      0x103</a:t>
            </a:r>
            <a:endParaRPr lang="en-US" altLang="zh-CN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833880" y="4952365"/>
            <a:ext cx="852614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内存是以字节为单位。为了更好的查找、使用内存，每个字节都用一个地址来表示。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数据类型长度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14730" y="1209040"/>
            <a:ext cx="977900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在32位操作系统中：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、整型int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整数，在目前绝大多数机器上占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4个字节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。TC环境中是2个字节。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、单精度实型float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单精度浮点数，一般是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4个字节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长。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、双精度实型double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双精度浮点数，一般是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8个字节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长。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、字符型char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字符，一般是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1个字节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长，用来表示256个ASCII字符，或者0~255的整数。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 algn="l"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注：不同的操作系统，数据类型长度不一样！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数据类型长度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206500" y="1537970"/>
            <a:ext cx="97790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如何通过代码计算不同的数据类型长度？</a:t>
            </a:r>
            <a:endParaRPr lang="zh-CN" altLang="en-US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endParaRPr lang="zh-CN" altLang="en-US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28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sizeof</a:t>
            </a:r>
            <a:r>
              <a:rPr lang="zh-CN" altLang="en-US" sz="28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的用法</a:t>
            </a:r>
            <a:endParaRPr lang="zh-CN" altLang="en-US" sz="28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3795" name="Picture 2" descr="C:\Program Files\Microsoft Office\MEDIA\CAGCAT10\j0286068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106978" y="-317"/>
            <a:ext cx="2000250" cy="264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数据类型的范围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14730" y="1046480"/>
            <a:ext cx="97790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有符号整形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65" y="1837690"/>
            <a:ext cx="10313035" cy="37268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数据类型范围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14730" y="1046480"/>
            <a:ext cx="97790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无符号整形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pic>
        <p:nvPicPr>
          <p:cNvPr id="5" name="图片 4" descr="捕获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360" y="1835785"/>
            <a:ext cx="10495280" cy="36188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数据类型的范围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39800" y="770255"/>
            <a:ext cx="977900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浮点类型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pic>
        <p:nvPicPr>
          <p:cNvPr id="3" name="图片 2" descr="捕获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00" y="1276985"/>
            <a:ext cx="10196195" cy="23107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48690" y="3679825"/>
            <a:ext cx="309880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浮点数表示法将一个数分为小数部分和指数部分并分别存储。因此尽管7.00和7有相同的值，但它们的存储方式不同。下图只是示意图，计算机的内部存储使用二进制数字，它使用2的幂而非10的幂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7490" y="3587750"/>
            <a:ext cx="7088505" cy="2562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笔试题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206500" y="1537970"/>
            <a:ext cx="366903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#include &lt;stdio.h&gt;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>
              <a:lnSpc>
                <a:spcPct val="100000"/>
              </a:lnSpc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>
              <a:lnSpc>
                <a:spcPct val="10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int main()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>
              <a:lnSpc>
                <a:spcPct val="10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{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>
              <a:lnSpc>
                <a:spcPct val="10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    char a = -128;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>
              <a:lnSpc>
                <a:spcPct val="10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    char num = a - 1;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>
              <a:lnSpc>
                <a:spcPct val="10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    printf("%d\n", num);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>
              <a:lnSpc>
                <a:spcPct val="100000"/>
              </a:lnSpc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>
              <a:lnSpc>
                <a:spcPct val="10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    return 0;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>
              <a:lnSpc>
                <a:spcPct val="10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}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02910" y="1311910"/>
            <a:ext cx="4685030" cy="4554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 i =  -20;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unsigned  int j = 10;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i+j =?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  <a:buNone/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  <a:buNone/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  <a:buNone/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2、小数值1.5625的二进制表示是_____（阿里巴巴2015笔试题）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乘2取整法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常量和变量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64870" y="1046480"/>
            <a:ext cx="10287635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const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关键字（笔试重点）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、数据的表现形式有两种：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常量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变量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、常量是一种在程序中保持固定类型和固定值的数据。编译系统从数据形式上可以区分（除枚举类型外）。常量分为：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整型常量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、实型常量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、字符常量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、字符串常量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、枚举常量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、变量是在程序执行过程中可以改变。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66970" y="1311910"/>
            <a:ext cx="660400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None/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Clr>
                <a:srgbClr val="000000"/>
              </a:buClr>
              <a:buFont typeface="Wingdings" panose="05000000000000000000" pitchFamily="2" charset="2"/>
              <a:buNone/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常量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966970" y="1311910"/>
            <a:ext cx="660400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None/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Clr>
                <a:srgbClr val="000000"/>
              </a:buClr>
              <a:buFont typeface="Wingdings" panose="05000000000000000000" pitchFamily="2" charset="2"/>
              <a:buNone/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83540" y="1167765"/>
            <a:ext cx="11188065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00000"/>
              </a:lnSpc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、整型常量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十进制常量：18、-31，long int型常量：123l、123L、123456l、123456L；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unsigned int型常量：123u、 123U，根据实际数据大小确定int型还是long型。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>
              <a:lnSpc>
                <a:spcPct val="100000"/>
              </a:lnSpc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00000"/>
              </a:lnSpc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、以数字“0”开始的整型常量是八进制数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00000"/>
              </a:lnSpc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比如022、-037。注意010和10大小不一样。因为八进制并不常用，所以此种表示法比较少见。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00000"/>
              </a:lnSpc>
              <a:buClr>
                <a:srgbClr val="000000"/>
              </a:buClr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00000"/>
              </a:lnSpc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、以“0x”或者“0X”开始的整型常量是十六进制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00000"/>
              </a:lnSpc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A~F和a~f用来表示十进制的10~15，十六进制的形式比较常用：0x12、-0x1F, -0x1f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...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00000"/>
              </a:lnSpc>
              <a:buClr>
                <a:srgbClr val="000000"/>
              </a:buClr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lnSpc>
                <a:spcPct val="100000"/>
              </a:lnSpc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、实型常量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十进制小数形式：123.45、456.78；指数形式：1e-2、4.5e3；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float型常量 123.45f、 456.78F、1e-2f、4.5e3F；long double型常量 123.45l、 456.78L、；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缺省为double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常量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966970" y="1311910"/>
            <a:ext cx="660400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None/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Clr>
                <a:srgbClr val="000000"/>
              </a:buClr>
              <a:buFont typeface="Wingdings" panose="05000000000000000000" pitchFamily="2" charset="2"/>
              <a:buNone/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83540" y="1167765"/>
            <a:ext cx="1118806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5、字符常量的表示方法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比如：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'a'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'A'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'5'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'%'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'$'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；单引号内只能有一个字符，除非用“\”开头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注意：'5'和5的区别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、用'\'开头的字符为转义字符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例如，'\n'，代表1个字符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0000"/>
              </a:buClr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48" name="Group 51"/>
          <p:cNvGrpSpPr/>
          <p:nvPr/>
        </p:nvGrpSpPr>
        <p:grpSpPr bwMode="auto">
          <a:xfrm>
            <a:off x="1651635" y="2993390"/>
            <a:ext cx="8651875" cy="3249788"/>
            <a:chOff x="158" y="1706"/>
            <a:chExt cx="5450" cy="2080"/>
          </a:xfrm>
        </p:grpSpPr>
        <p:sp>
          <p:nvSpPr>
            <p:cNvPr id="49" name="Oval 7">
              <a:hlinkClick r:id="" highlightClick="1"/>
            </p:cNvPr>
            <p:cNvSpPr>
              <a:spLocks noChangeArrowheads="1"/>
            </p:cNvSpPr>
            <p:nvPr/>
          </p:nvSpPr>
          <p:spPr bwMode="auto">
            <a:xfrm>
              <a:off x="631" y="2810"/>
              <a:ext cx="338" cy="240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FF9900">
                    <a:gamma/>
                    <a:shade val="6823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12700" cap="sq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p>
              <a:pPr algn="ctr"/>
              <a:r>
                <a:rPr kumimoji="1" lang="en-US" altLang="zh-CN" sz="2400">
                  <a:latin typeface="Times New Roman" panose="02020603050405020304" pitchFamily="18" charset="0"/>
                </a:rPr>
                <a:t>&lt;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50" name="Rectangle 9"/>
            <p:cNvSpPr>
              <a:spLocks noChangeArrowheads="1"/>
            </p:cNvSpPr>
            <p:nvPr/>
          </p:nvSpPr>
          <p:spPr bwMode="auto">
            <a:xfrm>
              <a:off x="158" y="1706"/>
              <a:ext cx="5450" cy="207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folHlink"/>
              </a:solidFill>
              <a:miter lim="800000"/>
            </a:ln>
            <a:effectLst/>
          </p:spPr>
          <p:txBody>
            <a:bodyPr wrap="none" anchor="ctr"/>
            <a:p>
              <a:pPr algn="ctr" eaLnBrk="0" hangingPunct="0"/>
              <a:endParaRPr kumimoji="1" lang="zh-CN" altLang="en-US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51" name="Text Box 12"/>
            <p:cNvSpPr txBox="1">
              <a:spLocks noChangeArrowheads="1"/>
            </p:cNvSpPr>
            <p:nvPr/>
          </p:nvSpPr>
          <p:spPr bwMode="auto">
            <a:xfrm>
              <a:off x="314" y="1762"/>
              <a:ext cx="760" cy="2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 eaLnBrk="0" hangingPunct="0"/>
              <a:r>
                <a:rPr kumimoji="1" lang="zh-CN" altLang="en-US" sz="2000" b="1">
                  <a:latin typeface="Times New Roman" panose="02020603050405020304" pitchFamily="18" charset="0"/>
                </a:rPr>
                <a:t>转义字符</a:t>
              </a:r>
              <a:endParaRPr kumimoji="1" lang="zh-CN" altLang="en-US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52" name="Text Box 13"/>
            <p:cNvSpPr txBox="1">
              <a:spLocks noChangeArrowheads="1"/>
            </p:cNvSpPr>
            <p:nvPr/>
          </p:nvSpPr>
          <p:spPr bwMode="auto">
            <a:xfrm>
              <a:off x="1667" y="1762"/>
              <a:ext cx="438" cy="2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 eaLnBrk="0" hangingPunct="0"/>
              <a:r>
                <a:rPr kumimoji="1" lang="zh-CN" altLang="en-US" sz="2000" b="1">
                  <a:latin typeface="Times New Roman" panose="02020603050405020304" pitchFamily="18" charset="0"/>
                </a:rPr>
                <a:t>含义</a:t>
              </a:r>
              <a:endParaRPr kumimoji="1" lang="zh-CN" altLang="en-US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53" name="Text Box 14"/>
            <p:cNvSpPr txBox="1">
              <a:spLocks noChangeArrowheads="1"/>
            </p:cNvSpPr>
            <p:nvPr/>
          </p:nvSpPr>
          <p:spPr bwMode="auto">
            <a:xfrm>
              <a:off x="401" y="2061"/>
              <a:ext cx="249" cy="2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 eaLnBrk="0" hangingPunct="0"/>
              <a:r>
                <a:rPr kumimoji="1" lang="en-US" altLang="zh-CN" sz="2000" b="1">
                  <a:latin typeface="Times New Roman" panose="02020603050405020304" pitchFamily="18" charset="0"/>
                </a:rPr>
                <a:t>\n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54" name="Text Box 15"/>
            <p:cNvSpPr txBox="1">
              <a:spLocks noChangeArrowheads="1"/>
            </p:cNvSpPr>
            <p:nvPr/>
          </p:nvSpPr>
          <p:spPr bwMode="auto">
            <a:xfrm>
              <a:off x="392" y="2355"/>
              <a:ext cx="240" cy="2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 eaLnBrk="0" hangingPunct="0"/>
              <a:r>
                <a:rPr kumimoji="1" lang="en-US" altLang="zh-CN" sz="2000" b="1">
                  <a:latin typeface="Times New Roman" panose="02020603050405020304" pitchFamily="18" charset="0"/>
                </a:rPr>
                <a:t>\v</a:t>
              </a:r>
              <a:endParaRPr kumimoji="1" lang="en-US" altLang="zh-CN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55" name="Text Box 16"/>
            <p:cNvSpPr txBox="1">
              <a:spLocks noChangeArrowheads="1"/>
            </p:cNvSpPr>
            <p:nvPr/>
          </p:nvSpPr>
          <p:spPr bwMode="auto">
            <a:xfrm>
              <a:off x="428" y="2649"/>
              <a:ext cx="231" cy="2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 eaLnBrk="0" hangingPunct="0"/>
              <a:r>
                <a:rPr kumimoji="1" lang="en-US" altLang="zh-CN" sz="2000" b="1">
                  <a:latin typeface="Times New Roman" panose="02020603050405020304" pitchFamily="18" charset="0"/>
                </a:rPr>
                <a:t>\r</a:t>
              </a:r>
              <a:endParaRPr kumimoji="1" lang="en-US" altLang="zh-CN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56" name="Text Box 17"/>
            <p:cNvSpPr txBox="1">
              <a:spLocks noChangeArrowheads="1"/>
            </p:cNvSpPr>
            <p:nvPr/>
          </p:nvSpPr>
          <p:spPr bwMode="auto">
            <a:xfrm>
              <a:off x="409" y="2943"/>
              <a:ext cx="240" cy="2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 eaLnBrk="0" hangingPunct="0"/>
              <a:r>
                <a:rPr kumimoji="1" lang="en-US" altLang="zh-CN" sz="2000" b="1">
                  <a:latin typeface="Times New Roman" panose="02020603050405020304" pitchFamily="18" charset="0"/>
                </a:rPr>
                <a:t>\a</a:t>
              </a:r>
              <a:endParaRPr kumimoji="1" lang="en-US" altLang="zh-CN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57" name="Text Box 18"/>
            <p:cNvSpPr txBox="1">
              <a:spLocks noChangeArrowheads="1"/>
            </p:cNvSpPr>
            <p:nvPr/>
          </p:nvSpPr>
          <p:spPr bwMode="auto">
            <a:xfrm>
              <a:off x="428" y="3193"/>
              <a:ext cx="213" cy="2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 eaLnBrk="0" hangingPunct="0"/>
              <a:r>
                <a:rPr kumimoji="1" lang="en-US" altLang="zh-CN" sz="2000" b="1">
                  <a:latin typeface="Times New Roman" panose="02020603050405020304" pitchFamily="18" charset="0"/>
                </a:rPr>
                <a:t>\‘</a:t>
              </a:r>
              <a:endParaRPr kumimoji="1" lang="en-US" altLang="zh-CN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58" name="Text Box 19"/>
            <p:cNvSpPr txBox="1">
              <a:spLocks noChangeArrowheads="1"/>
            </p:cNvSpPr>
            <p:nvPr/>
          </p:nvSpPr>
          <p:spPr bwMode="auto">
            <a:xfrm>
              <a:off x="401" y="3531"/>
              <a:ext cx="438" cy="2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>
              <a:spAutoFit/>
            </a:bodyPr>
            <a:p>
              <a:pPr eaLnBrk="0" hangingPunct="0"/>
              <a:r>
                <a:rPr kumimoji="1" lang="en-US" altLang="zh-CN" sz="2000" b="1">
                  <a:latin typeface="Times New Roman" panose="02020603050405020304" pitchFamily="18" charset="0"/>
                </a:rPr>
                <a:t>\ddd</a:t>
              </a:r>
              <a:endParaRPr kumimoji="1" lang="en-US" altLang="zh-CN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59" name="Text Box 20"/>
            <p:cNvSpPr txBox="1">
              <a:spLocks noChangeArrowheads="1"/>
            </p:cNvSpPr>
            <p:nvPr/>
          </p:nvSpPr>
          <p:spPr bwMode="auto">
            <a:xfrm>
              <a:off x="2939" y="2018"/>
              <a:ext cx="213" cy="2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 eaLnBrk="0" hangingPunct="0"/>
              <a:r>
                <a:rPr kumimoji="1" lang="en-US" altLang="zh-CN" sz="2000" b="1">
                  <a:latin typeface="Times New Roman" panose="02020603050405020304" pitchFamily="18" charset="0"/>
                </a:rPr>
                <a:t>\t</a:t>
              </a:r>
              <a:endParaRPr kumimoji="1" lang="en-US" altLang="zh-CN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60" name="Text Box 21"/>
            <p:cNvSpPr txBox="1">
              <a:spLocks noChangeArrowheads="1"/>
            </p:cNvSpPr>
            <p:nvPr/>
          </p:nvSpPr>
          <p:spPr bwMode="auto">
            <a:xfrm>
              <a:off x="2940" y="2334"/>
              <a:ext cx="249" cy="2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 eaLnBrk="0" hangingPunct="0"/>
              <a:r>
                <a:rPr kumimoji="1" lang="en-US" altLang="zh-CN" sz="2000" b="1">
                  <a:latin typeface="Times New Roman" panose="02020603050405020304" pitchFamily="18" charset="0"/>
                </a:rPr>
                <a:t>\b</a:t>
              </a:r>
              <a:endParaRPr kumimoji="1" lang="en-US" altLang="zh-CN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61" name="Text Box 22"/>
            <p:cNvSpPr txBox="1">
              <a:spLocks noChangeArrowheads="1"/>
            </p:cNvSpPr>
            <p:nvPr/>
          </p:nvSpPr>
          <p:spPr bwMode="auto">
            <a:xfrm>
              <a:off x="2939" y="2649"/>
              <a:ext cx="213" cy="2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 eaLnBrk="0" hangingPunct="0"/>
              <a:r>
                <a:rPr kumimoji="1" lang="en-US" altLang="zh-CN" sz="2000" b="1">
                  <a:latin typeface="Times New Roman" panose="02020603050405020304" pitchFamily="18" charset="0"/>
                </a:rPr>
                <a:t>\f</a:t>
              </a:r>
              <a:endParaRPr kumimoji="1" lang="en-US" altLang="zh-CN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62" name="Text Box 23"/>
            <p:cNvSpPr txBox="1">
              <a:spLocks noChangeArrowheads="1"/>
            </p:cNvSpPr>
            <p:nvPr/>
          </p:nvSpPr>
          <p:spPr bwMode="auto">
            <a:xfrm>
              <a:off x="2976" y="2943"/>
              <a:ext cx="204" cy="2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 eaLnBrk="0" hangingPunct="0"/>
              <a:r>
                <a:rPr kumimoji="1" lang="en-US" altLang="zh-CN" sz="2000" b="1">
                  <a:latin typeface="Times New Roman" panose="02020603050405020304" pitchFamily="18" charset="0"/>
                </a:rPr>
                <a:t>\\</a:t>
              </a:r>
              <a:endParaRPr kumimoji="1" lang="en-US" altLang="zh-CN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63" name="Text Box 24"/>
            <p:cNvSpPr txBox="1">
              <a:spLocks noChangeArrowheads="1"/>
            </p:cNvSpPr>
            <p:nvPr/>
          </p:nvSpPr>
          <p:spPr bwMode="auto">
            <a:xfrm>
              <a:off x="2976" y="3193"/>
              <a:ext cx="240" cy="2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 eaLnBrk="0" hangingPunct="0"/>
              <a:r>
                <a:rPr kumimoji="1" lang="en-US" altLang="zh-CN" sz="2000" b="1">
                  <a:latin typeface="Times New Roman" panose="02020603050405020304" pitchFamily="18" charset="0"/>
                </a:rPr>
                <a:t>\“</a:t>
              </a:r>
              <a:endParaRPr kumimoji="1" lang="en-US" altLang="zh-CN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64" name="Text Box 25"/>
            <p:cNvSpPr txBox="1">
              <a:spLocks noChangeArrowheads="1"/>
            </p:cNvSpPr>
            <p:nvPr/>
          </p:nvSpPr>
          <p:spPr bwMode="auto">
            <a:xfrm>
              <a:off x="2939" y="3531"/>
              <a:ext cx="418" cy="2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 eaLnBrk="0" hangingPunct="0"/>
              <a:r>
                <a:rPr kumimoji="1" lang="en-US" altLang="zh-CN" sz="2000" b="1">
                  <a:latin typeface="Times New Roman" panose="02020603050405020304" pitchFamily="18" charset="0"/>
                </a:rPr>
                <a:t>\xhh</a:t>
              </a:r>
              <a:endParaRPr kumimoji="1" lang="en-US" altLang="zh-CN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65" name="Text Box 26"/>
            <p:cNvSpPr txBox="1">
              <a:spLocks noChangeArrowheads="1"/>
            </p:cNvSpPr>
            <p:nvPr/>
          </p:nvSpPr>
          <p:spPr bwMode="auto">
            <a:xfrm>
              <a:off x="2754" y="1762"/>
              <a:ext cx="760" cy="2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 eaLnBrk="0" hangingPunct="0"/>
              <a:r>
                <a:rPr kumimoji="1" lang="zh-CN" altLang="en-US" sz="2000" b="1">
                  <a:latin typeface="Times New Roman" panose="02020603050405020304" pitchFamily="18" charset="0"/>
                </a:rPr>
                <a:t>转义字符</a:t>
              </a:r>
              <a:endParaRPr kumimoji="1" lang="zh-CN" altLang="en-US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66" name="Text Box 27"/>
            <p:cNvSpPr txBox="1">
              <a:spLocks noChangeArrowheads="1"/>
            </p:cNvSpPr>
            <p:nvPr/>
          </p:nvSpPr>
          <p:spPr bwMode="auto">
            <a:xfrm>
              <a:off x="4146" y="1762"/>
              <a:ext cx="438" cy="2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 eaLnBrk="0" hangingPunct="0"/>
              <a:r>
                <a:rPr kumimoji="1" lang="zh-CN" altLang="en-US" sz="2000" b="1">
                  <a:latin typeface="Times New Roman" panose="02020603050405020304" pitchFamily="18" charset="0"/>
                </a:rPr>
                <a:t>含义</a:t>
              </a:r>
              <a:endParaRPr kumimoji="1" lang="zh-CN" altLang="en-US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67" name="Text Box 28"/>
            <p:cNvSpPr txBox="1">
              <a:spLocks noChangeArrowheads="1"/>
            </p:cNvSpPr>
            <p:nvPr/>
          </p:nvSpPr>
          <p:spPr bwMode="auto">
            <a:xfrm>
              <a:off x="1610" y="2061"/>
              <a:ext cx="438" cy="2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 eaLnBrk="0" hangingPunct="0"/>
              <a:r>
                <a:rPr kumimoji="1" lang="zh-CN" altLang="en-US" sz="2000" b="1">
                  <a:latin typeface="Times New Roman" panose="02020603050405020304" pitchFamily="18" charset="0"/>
                </a:rPr>
                <a:t>换行</a:t>
              </a:r>
              <a:endParaRPr kumimoji="1" lang="zh-CN" altLang="en-US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68" name="Text Box 29"/>
            <p:cNvSpPr txBox="1">
              <a:spLocks noChangeArrowheads="1"/>
            </p:cNvSpPr>
            <p:nvPr/>
          </p:nvSpPr>
          <p:spPr bwMode="auto">
            <a:xfrm>
              <a:off x="1432" y="2334"/>
              <a:ext cx="760" cy="2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 eaLnBrk="0" hangingPunct="0"/>
              <a:r>
                <a:rPr kumimoji="1" lang="zh-CN" altLang="en-US" sz="2000" b="1">
                  <a:latin typeface="Times New Roman" panose="02020603050405020304" pitchFamily="18" charset="0"/>
                </a:rPr>
                <a:t>垂直制表</a:t>
              </a:r>
              <a:endParaRPr kumimoji="1" lang="zh-CN" altLang="en-US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69" name="Text Box 30"/>
            <p:cNvSpPr txBox="1">
              <a:spLocks noChangeArrowheads="1"/>
            </p:cNvSpPr>
            <p:nvPr/>
          </p:nvSpPr>
          <p:spPr bwMode="auto">
            <a:xfrm>
              <a:off x="1610" y="2649"/>
              <a:ext cx="438" cy="2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 eaLnBrk="0" hangingPunct="0"/>
              <a:r>
                <a:rPr kumimoji="1" lang="zh-CN" altLang="en-US" sz="2000" b="1">
                  <a:latin typeface="Times New Roman" panose="02020603050405020304" pitchFamily="18" charset="0"/>
                </a:rPr>
                <a:t>回车</a:t>
              </a:r>
              <a:endParaRPr kumimoji="1" lang="zh-CN" altLang="en-US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70" name="Text Box 31"/>
            <p:cNvSpPr txBox="1">
              <a:spLocks noChangeArrowheads="1"/>
            </p:cNvSpPr>
            <p:nvPr/>
          </p:nvSpPr>
          <p:spPr bwMode="auto">
            <a:xfrm>
              <a:off x="1610" y="2943"/>
              <a:ext cx="438" cy="2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 eaLnBrk="0" hangingPunct="0"/>
              <a:r>
                <a:rPr kumimoji="1" lang="zh-CN" altLang="en-US" sz="2000" b="1">
                  <a:latin typeface="Times New Roman" panose="02020603050405020304" pitchFamily="18" charset="0"/>
                </a:rPr>
                <a:t>响铃</a:t>
              </a:r>
              <a:endParaRPr kumimoji="1" lang="zh-CN" altLang="en-US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71" name="Text Box 32"/>
            <p:cNvSpPr txBox="1">
              <a:spLocks noChangeArrowheads="1"/>
            </p:cNvSpPr>
            <p:nvPr/>
          </p:nvSpPr>
          <p:spPr bwMode="auto">
            <a:xfrm>
              <a:off x="1507" y="3193"/>
              <a:ext cx="599" cy="2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 eaLnBrk="0" hangingPunct="0"/>
              <a:r>
                <a:rPr kumimoji="1" lang="zh-CN" altLang="en-US" sz="2000" b="1">
                  <a:latin typeface="Times New Roman" panose="02020603050405020304" pitchFamily="18" charset="0"/>
                </a:rPr>
                <a:t>单引号</a:t>
              </a:r>
              <a:endParaRPr kumimoji="1" lang="zh-CN" altLang="en-US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72" name="Text Box 33"/>
            <p:cNvSpPr txBox="1">
              <a:spLocks noChangeArrowheads="1"/>
            </p:cNvSpPr>
            <p:nvPr/>
          </p:nvSpPr>
          <p:spPr bwMode="auto">
            <a:xfrm>
              <a:off x="1044" y="3531"/>
              <a:ext cx="1725" cy="2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 eaLnBrk="0" hangingPunct="0"/>
              <a:r>
                <a:rPr kumimoji="1" lang="en-US" altLang="zh-CN" sz="2000" b="1">
                  <a:latin typeface="Times New Roman" panose="02020603050405020304" pitchFamily="18" charset="0"/>
                </a:rPr>
                <a:t>3</a:t>
              </a:r>
              <a:r>
                <a:rPr kumimoji="1" lang="zh-CN" altLang="en-US" sz="2000" b="1">
                  <a:latin typeface="Times New Roman" panose="02020603050405020304" pitchFamily="18" charset="0"/>
                </a:rPr>
                <a:t>位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8</a:t>
              </a:r>
              <a:r>
                <a:rPr kumimoji="1" lang="zh-CN" altLang="en-US" sz="2000" b="1">
                  <a:latin typeface="Times New Roman" panose="02020603050405020304" pitchFamily="18" charset="0"/>
                </a:rPr>
                <a:t>进制数代表的字符</a:t>
              </a:r>
              <a:endParaRPr kumimoji="1" lang="zh-CN" altLang="en-US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73" name="Text Box 34"/>
            <p:cNvSpPr txBox="1">
              <a:spLocks noChangeArrowheads="1"/>
            </p:cNvSpPr>
            <p:nvPr/>
          </p:nvSpPr>
          <p:spPr bwMode="auto">
            <a:xfrm>
              <a:off x="4163" y="2061"/>
              <a:ext cx="760" cy="2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 eaLnBrk="0" hangingPunct="0"/>
              <a:r>
                <a:rPr kumimoji="1" lang="zh-CN" altLang="en-US" sz="2000" b="1">
                  <a:latin typeface="Times New Roman" panose="02020603050405020304" pitchFamily="18" charset="0"/>
                </a:rPr>
                <a:t>水平制表</a:t>
              </a:r>
              <a:endParaRPr kumimoji="1" lang="zh-CN" altLang="en-US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74" name="Text Box 35"/>
            <p:cNvSpPr txBox="1">
              <a:spLocks noChangeArrowheads="1"/>
            </p:cNvSpPr>
            <p:nvPr/>
          </p:nvSpPr>
          <p:spPr bwMode="auto">
            <a:xfrm>
              <a:off x="4323" y="2334"/>
              <a:ext cx="438" cy="2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 eaLnBrk="0" hangingPunct="0"/>
              <a:r>
                <a:rPr kumimoji="1" lang="zh-CN" altLang="en-US" sz="2000" b="1">
                  <a:latin typeface="Times New Roman" panose="02020603050405020304" pitchFamily="18" charset="0"/>
                </a:rPr>
                <a:t>退格</a:t>
              </a:r>
              <a:endParaRPr kumimoji="1" lang="zh-CN" altLang="en-US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75" name="Text Box 36"/>
            <p:cNvSpPr txBox="1">
              <a:spLocks noChangeArrowheads="1"/>
            </p:cNvSpPr>
            <p:nvPr/>
          </p:nvSpPr>
          <p:spPr bwMode="auto">
            <a:xfrm>
              <a:off x="4323" y="2649"/>
              <a:ext cx="438" cy="2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 eaLnBrk="0" hangingPunct="0"/>
              <a:r>
                <a:rPr kumimoji="1" lang="zh-CN" altLang="en-US" sz="2000" b="1">
                  <a:latin typeface="Times New Roman" panose="02020603050405020304" pitchFamily="18" charset="0"/>
                </a:rPr>
                <a:t>换页</a:t>
              </a:r>
              <a:endParaRPr kumimoji="1" lang="zh-CN" altLang="en-US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76" name="Text Box 37"/>
            <p:cNvSpPr txBox="1">
              <a:spLocks noChangeArrowheads="1"/>
            </p:cNvSpPr>
            <p:nvPr/>
          </p:nvSpPr>
          <p:spPr bwMode="auto">
            <a:xfrm>
              <a:off x="4323" y="2943"/>
              <a:ext cx="599" cy="2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 eaLnBrk="0" hangingPunct="0"/>
              <a:r>
                <a:rPr kumimoji="1" lang="zh-CN" altLang="en-US" sz="2000" b="1">
                  <a:latin typeface="Times New Roman" panose="02020603050405020304" pitchFamily="18" charset="0"/>
                </a:rPr>
                <a:t>反斜线</a:t>
              </a:r>
              <a:endParaRPr kumimoji="1" lang="zh-CN" altLang="en-US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77" name="Text Box 38"/>
            <p:cNvSpPr txBox="1">
              <a:spLocks noChangeArrowheads="1"/>
            </p:cNvSpPr>
            <p:nvPr/>
          </p:nvSpPr>
          <p:spPr bwMode="auto">
            <a:xfrm>
              <a:off x="4323" y="3237"/>
              <a:ext cx="599" cy="2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 eaLnBrk="0" hangingPunct="0"/>
              <a:r>
                <a:rPr kumimoji="1" lang="zh-CN" altLang="en-US" sz="2000" b="1">
                  <a:latin typeface="Times New Roman" panose="02020603050405020304" pitchFamily="18" charset="0"/>
                </a:rPr>
                <a:t>双引号</a:t>
              </a:r>
              <a:endParaRPr kumimoji="1" lang="zh-CN" altLang="en-US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78" name="Text Box 39"/>
            <p:cNvSpPr txBox="1">
              <a:spLocks noChangeArrowheads="1"/>
            </p:cNvSpPr>
            <p:nvPr/>
          </p:nvSpPr>
          <p:spPr bwMode="auto">
            <a:xfrm>
              <a:off x="3649" y="3487"/>
              <a:ext cx="1805" cy="2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 eaLnBrk="0" hangingPunct="0"/>
              <a:r>
                <a:rPr kumimoji="1" lang="en-US" altLang="zh-CN" sz="2000" b="1">
                  <a:latin typeface="Times New Roman" panose="02020603050405020304" pitchFamily="18" charset="0"/>
                </a:rPr>
                <a:t>2</a:t>
              </a:r>
              <a:r>
                <a:rPr kumimoji="1" lang="zh-CN" altLang="en-US" sz="2000" b="1">
                  <a:latin typeface="Times New Roman" panose="02020603050405020304" pitchFamily="18" charset="0"/>
                </a:rPr>
                <a:t>位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16</a:t>
              </a:r>
              <a:r>
                <a:rPr kumimoji="1" lang="zh-CN" altLang="en-US" sz="2000" b="1">
                  <a:latin typeface="Times New Roman" panose="02020603050405020304" pitchFamily="18" charset="0"/>
                </a:rPr>
                <a:t>进制数代表的字符</a:t>
              </a:r>
              <a:endParaRPr kumimoji="1" lang="zh-CN" altLang="en-US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79" name="Line 40"/>
            <p:cNvSpPr>
              <a:spLocks noChangeShapeType="1"/>
            </p:cNvSpPr>
            <p:nvPr/>
          </p:nvSpPr>
          <p:spPr bwMode="auto">
            <a:xfrm>
              <a:off x="2754" y="1706"/>
              <a:ext cx="0" cy="2075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80" name="Line 41"/>
            <p:cNvSpPr>
              <a:spLocks noChangeShapeType="1"/>
            </p:cNvSpPr>
            <p:nvPr/>
          </p:nvSpPr>
          <p:spPr bwMode="auto">
            <a:xfrm>
              <a:off x="1044" y="1706"/>
              <a:ext cx="0" cy="2075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81" name="Line 42"/>
            <p:cNvSpPr>
              <a:spLocks noChangeShapeType="1"/>
            </p:cNvSpPr>
            <p:nvPr/>
          </p:nvSpPr>
          <p:spPr bwMode="auto">
            <a:xfrm>
              <a:off x="3650" y="1706"/>
              <a:ext cx="0" cy="2075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82" name="Line 43"/>
            <p:cNvSpPr>
              <a:spLocks noChangeShapeType="1"/>
            </p:cNvSpPr>
            <p:nvPr/>
          </p:nvSpPr>
          <p:spPr bwMode="auto">
            <a:xfrm>
              <a:off x="158" y="2018"/>
              <a:ext cx="5450" cy="1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83" name="Line 44"/>
            <p:cNvSpPr>
              <a:spLocks noChangeShapeType="1"/>
            </p:cNvSpPr>
            <p:nvPr/>
          </p:nvSpPr>
          <p:spPr bwMode="auto">
            <a:xfrm>
              <a:off x="158" y="2311"/>
              <a:ext cx="5450" cy="1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84" name="Line 45"/>
            <p:cNvSpPr>
              <a:spLocks noChangeShapeType="1"/>
            </p:cNvSpPr>
            <p:nvPr/>
          </p:nvSpPr>
          <p:spPr bwMode="auto">
            <a:xfrm>
              <a:off x="158" y="2605"/>
              <a:ext cx="5450" cy="1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85" name="Line 46"/>
            <p:cNvSpPr>
              <a:spLocks noChangeShapeType="1"/>
            </p:cNvSpPr>
            <p:nvPr/>
          </p:nvSpPr>
          <p:spPr bwMode="auto">
            <a:xfrm>
              <a:off x="158" y="2899"/>
              <a:ext cx="5450" cy="1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86" name="Line 47"/>
            <p:cNvSpPr>
              <a:spLocks noChangeShapeType="1"/>
            </p:cNvSpPr>
            <p:nvPr/>
          </p:nvSpPr>
          <p:spPr bwMode="auto">
            <a:xfrm>
              <a:off x="158" y="3193"/>
              <a:ext cx="5450" cy="1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87" name="Line 48"/>
            <p:cNvSpPr>
              <a:spLocks noChangeShapeType="1"/>
            </p:cNvSpPr>
            <p:nvPr/>
          </p:nvSpPr>
          <p:spPr bwMode="auto">
            <a:xfrm>
              <a:off x="158" y="3487"/>
              <a:ext cx="5450" cy="1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字符串常量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966970" y="1311910"/>
            <a:ext cx="660400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None/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Clr>
                <a:srgbClr val="000000"/>
              </a:buClr>
              <a:buFont typeface="Wingdings" panose="05000000000000000000" pitchFamily="2" charset="2"/>
              <a:buNone/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83540" y="1167765"/>
            <a:ext cx="11188065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、字符串常量是一对双引号括起来的字符序列；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defTabSz="762000" eaLnBrk="0" hangingPunct="0">
              <a:lnSpc>
                <a:spcPct val="150000"/>
              </a:lnSpc>
              <a:spcBef>
                <a:spcPct val="20000"/>
              </a:spcBef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、合法的字符串常量：“How do you do.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CHINA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$123.45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defTabSz="762000" eaLnBrk="0" hangingPunct="0">
              <a:lnSpc>
                <a:spcPct val="150000"/>
              </a:lnSpc>
              <a:spcBef>
                <a:spcPct val="20000"/>
              </a:spcBef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、可以用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printf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直接输出一个字符串，如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defTabSz="762000" eaLnBrk="0" hangingPunct="0">
              <a:lnSpc>
                <a:spcPct val="150000"/>
              </a:lnSpc>
              <a:spcBef>
                <a:spcPct val="20000"/>
              </a:spcBef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printf(“How do you do.”)；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defTabSz="762000" eaLnBrk="0" hangingPunct="0">
              <a:lnSpc>
                <a:spcPct val="150000"/>
              </a:lnSpc>
              <a:spcBef>
                <a:spcPct val="20000"/>
              </a:spcBef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、Ｃ规定：在每一个字符串常量的结尾加一个“字符串结束标志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，以便系统据此判断字符串是否结束。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Ｃ规定以字符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'\0'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作为字符串结束标志。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defTabSz="762000" eaLnBrk="0" hangingPunct="0"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如：如果有一个字符串常量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”CHINA”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，实际上在内存中是：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defTabSz="762000" eaLnBrk="0" hangingPunct="0"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它占内存单元不是５个字符，而是６个字符，最后一个字符为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'\0'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。但在输出时不输出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'\0'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678947" name="Group 35"/>
          <p:cNvGraphicFramePr>
            <a:graphicFrameLocks noGrp="1"/>
          </p:cNvGraphicFramePr>
          <p:nvPr>
            <p:ph idx="1"/>
          </p:nvPr>
        </p:nvGraphicFramePr>
        <p:xfrm>
          <a:off x="7514252" y="4297998"/>
          <a:ext cx="2952750" cy="457200"/>
        </p:xfrm>
        <a:graphic>
          <a:graphicData uri="http://schemas.openxmlformats.org/drawingml/2006/table">
            <a:tbl>
              <a:tblPr/>
              <a:tblGrid>
                <a:gridCol w="492125"/>
                <a:gridCol w="492125"/>
                <a:gridCol w="492125"/>
                <a:gridCol w="492125"/>
                <a:gridCol w="492125"/>
                <a:gridCol w="492125"/>
              </a:tblGrid>
              <a:tr h="457200">
                <a:tc>
                  <a:txBody>
                    <a:bodyPr/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\0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8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输入输出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966970" y="1311910"/>
            <a:ext cx="660400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None/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Clr>
                <a:srgbClr val="000000"/>
              </a:buClr>
              <a:buFont typeface="Wingdings" panose="05000000000000000000" pitchFamily="2" charset="2"/>
              <a:buNone/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64870" y="1046480"/>
            <a:ext cx="1070673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、格式输入函数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scanf(格式控制字符串, 地址表列);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scanf("%d,%f”, &amp;a,&amp;b);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None/>
            </a:pPr>
            <a:endParaRPr kumimoji="1" lang="zh-CN" altLang="en-US" sz="2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、格式输出函数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printf(格式控制字符串, 输出项表列);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函数原型：int printf(const char *format, ...);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...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表示可变参数。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格式输出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966970" y="1311910"/>
            <a:ext cx="660400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None/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Clr>
                <a:srgbClr val="000000"/>
              </a:buClr>
              <a:buFont typeface="Wingdings" panose="05000000000000000000" pitchFamily="2" charset="2"/>
              <a:buNone/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64870" y="1046480"/>
            <a:ext cx="10706735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%d或%i按十进制有符号整数输出，正数的符号省略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%u按十进制无符号整数输出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%o按八进制无符号整数输出（不输出前导0）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%x或X按十六进制无符号整数输出（不输出前导符0x）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%c按字符型数据输出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%s按字符串数据输出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%f按小数形式输出(6位小数)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%e或E按指数形式输出实数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%%输出％本身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%g或G选用%f或%e格式中输出宽度较短的一种格式，不输出无意义的0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PART02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运算符和表达式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C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语言运算符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2485" y="1325880"/>
            <a:ext cx="516445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defTabSz="914400"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1、算术运算符 （+  -  *  /  %）    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914400"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2、关系运算符 （＞ ＜  ==  &gt;=  &lt;=  !=）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914400"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3、逻辑运算符 （！ ＆＆  ||）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914400">
              <a:lnSpc>
                <a:spcPct val="150000"/>
              </a:lnSpc>
              <a:spcBef>
                <a:spcPct val="20000"/>
              </a:spcBef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、位运算符   （&lt;&lt;   &gt;&gt;   ~   | ∧ ＆）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914400">
              <a:lnSpc>
                <a:spcPct val="150000"/>
              </a:lnSpc>
              <a:spcBef>
                <a:spcPct val="20000"/>
              </a:spcBef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、赋值运算符 （＝及其扩展赋值运算符）  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914400">
              <a:lnSpc>
                <a:spcPct val="150000"/>
              </a:lnSpc>
              <a:spcBef>
                <a:spcPct val="20000"/>
              </a:spcBef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、条件运算符 （？：） 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 defTabSz="762000" eaLnBrk="0" hangingPunct="0">
              <a:lnSpc>
                <a:spcPct val="150000"/>
              </a:lnSpc>
              <a:spcBef>
                <a:spcPct val="20000"/>
              </a:spcBef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、逗号运算符  (，）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827395" y="1325880"/>
            <a:ext cx="482600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 defTabSz="762000" eaLnBrk="0" hangingPunct="0">
              <a:lnSpc>
                <a:spcPct val="150000"/>
              </a:lnSpc>
              <a:spcBef>
                <a:spcPct val="20000"/>
              </a:spcBef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、指针运算符 （*和＆）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 defTabSz="762000" eaLnBrk="0" hangingPunct="0">
              <a:lnSpc>
                <a:spcPct val="150000"/>
              </a:lnSpc>
              <a:spcBef>
                <a:spcPct val="20000"/>
              </a:spcBef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、求字节数运算符（sizeof）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 defTabSz="762000" eaLnBrk="0" hangingPunct="0">
              <a:lnSpc>
                <a:spcPct val="150000"/>
              </a:lnSpc>
              <a:spcBef>
                <a:spcPct val="20000"/>
              </a:spcBef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、强制类型转换运算符（ (类型） )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 defTabSz="762000" eaLnBrk="0" hangingPunct="0">
              <a:lnSpc>
                <a:spcPct val="150000"/>
              </a:lnSpc>
              <a:spcBef>
                <a:spcPct val="20000"/>
              </a:spcBef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、分量运算符（.   -&gt;）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 defTabSz="762000" eaLnBrk="0" hangingPunct="0">
              <a:lnSpc>
                <a:spcPct val="150000"/>
              </a:lnSpc>
              <a:spcBef>
                <a:spcPct val="20000"/>
              </a:spcBef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12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、下标运算符（[]）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 defTabSz="762000" eaLnBrk="0" hangingPunct="0">
              <a:lnSpc>
                <a:spcPct val="150000"/>
              </a:lnSpc>
              <a:spcBef>
                <a:spcPct val="20000"/>
              </a:spcBef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13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、其他 （如函数调用运算符（））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运算符优先级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998980" y="1498600"/>
            <a:ext cx="7786370" cy="42716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defTabSz="914400">
              <a:lnSpc>
                <a:spcPct val="150000"/>
              </a:lnSpc>
              <a:spcBef>
                <a:spcPct val="20000"/>
              </a:spcBef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能背下优先级表的人凤毛麟角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914400">
              <a:lnSpc>
                <a:spcPct val="150000"/>
              </a:lnSpc>
              <a:spcBef>
                <a:spcPct val="20000"/>
              </a:spcBef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用括号来控制运算顺序更直观、方便，并减少出错的概率</a:t>
            </a:r>
            <a:r>
              <a:rPr lang="zh-CN" altLang="en-US" sz="18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zh-CN" altLang="en-US" sz="18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914400">
              <a:lnSpc>
                <a:spcPct val="150000"/>
              </a:lnSpc>
              <a:spcBef>
                <a:spcPct val="20000"/>
              </a:spcBef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函数符号（） 数组下标[]                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优先级最高</a:t>
            </a:r>
            <a:endParaRPr lang="zh-CN" altLang="en-US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914400">
              <a:lnSpc>
                <a:spcPct val="150000"/>
              </a:lnSpc>
              <a:spcBef>
                <a:spcPct val="20000"/>
              </a:spcBef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单目运算符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914400">
              <a:lnSpc>
                <a:spcPct val="150000"/>
              </a:lnSpc>
              <a:spcBef>
                <a:spcPct val="20000"/>
              </a:spcBef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算数运算符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914400">
              <a:lnSpc>
                <a:spcPct val="150000"/>
              </a:lnSpc>
              <a:spcBef>
                <a:spcPct val="20000"/>
              </a:spcBef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移位运算符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914400">
              <a:lnSpc>
                <a:spcPct val="150000"/>
              </a:lnSpc>
              <a:spcBef>
                <a:spcPct val="20000"/>
              </a:spcBef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关系运算符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914400">
              <a:lnSpc>
                <a:spcPct val="150000"/>
              </a:lnSpc>
              <a:spcBef>
                <a:spcPct val="20000"/>
              </a:spcBef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逻辑运算符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914400">
              <a:lnSpc>
                <a:spcPct val="150000"/>
              </a:lnSpc>
              <a:spcBef>
                <a:spcPct val="20000"/>
              </a:spcBef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三目运算符                                     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优先级最低</a:t>
            </a:r>
            <a:endParaRPr lang="zh-CN" altLang="en-US" sz="18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7404100" y="2684145"/>
            <a:ext cx="0" cy="300101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自增自减运算符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64870" y="1046480"/>
            <a:ext cx="57150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向来都是笔试的重点的内容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14730" y="1998345"/>
            <a:ext cx="870648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1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、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i++/i--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等价于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i = i + 1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或者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i = i - 1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执行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i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所在语句之后，对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i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的值加一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/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减一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2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、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++i/--i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等价于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i = i + 1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或者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i = i - 1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执行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i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所在语句之前，对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i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的值加一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/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减一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自增自减运算符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682865" y="1331595"/>
            <a:ext cx="393636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案例三：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00000"/>
              </a:lnSpc>
            </a:pPr>
            <a:endParaRPr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int i = 3, k;</a:t>
            </a:r>
            <a:endParaRPr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k = (++i) + (++i) + (i++);</a:t>
            </a:r>
            <a:endParaRPr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printf("i = %d, k = %d\n", i, k);</a:t>
            </a:r>
            <a:endParaRPr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endParaRPr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i = 3;</a:t>
            </a:r>
            <a:endParaRPr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k = (++i) + (++i) + (++i);</a:t>
            </a:r>
            <a:endParaRPr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printf("i = %d, k = %d\n", i, k);</a:t>
            </a:r>
            <a:endParaRPr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endParaRPr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i = 3;</a:t>
            </a:r>
            <a:endParaRPr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k = (i++) + (i++) + (i++);</a:t>
            </a:r>
            <a:endParaRPr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printf("i = %d, k = %d\n", i, k);</a:t>
            </a:r>
            <a:endParaRPr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9110" y="1331595"/>
            <a:ext cx="322580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案例一：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00000"/>
              </a:lnSpc>
            </a:pP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#include &lt;stdio.h&gt;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 main()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int i = 0;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printf("i = %d\n", i++);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printf("i = %d\n", ++i);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return 0;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38600" y="1331595"/>
            <a:ext cx="322580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案例二：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（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C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语言前置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++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不能做左值）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的初始值都是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   += a++; 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printf("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= %d\n",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);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 += ++a;   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printf("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= %d\n",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);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++a += a;  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printf("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= %d\n",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);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++a += a++; 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printf("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= %d\n",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);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++a += ++a;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printf("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= %d\n",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);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PART03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控制结构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32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程序的三种结构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7428768" y="1966505"/>
            <a:ext cx="2935067" cy="3465394"/>
            <a:chOff x="8418733" y="1788705"/>
            <a:chExt cx="2935067" cy="3465394"/>
          </a:xfrm>
        </p:grpSpPr>
        <p:grpSp>
          <p:nvGrpSpPr>
            <p:cNvPr id="6" name="组合 5"/>
            <p:cNvGrpSpPr/>
            <p:nvPr/>
          </p:nvGrpSpPr>
          <p:grpSpPr>
            <a:xfrm>
              <a:off x="8864476" y="1788705"/>
              <a:ext cx="2043583" cy="2224346"/>
              <a:chOff x="9033334" y="1788705"/>
              <a:chExt cx="2043583" cy="2224346"/>
            </a:xfrm>
          </p:grpSpPr>
          <p:sp>
            <p:nvSpPr>
              <p:cNvPr id="12" name="梯形 11"/>
              <p:cNvSpPr/>
              <p:nvPr/>
            </p:nvSpPr>
            <p:spPr>
              <a:xfrm rot="5400000">
                <a:off x="8942952" y="1879086"/>
                <a:ext cx="2224346" cy="2043583"/>
              </a:xfrm>
              <a:prstGeom prst="trapezoid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9320043" y="2639902"/>
                <a:ext cx="1612900" cy="52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zh-CN" altLang="en-US" sz="2800" b="1" dirty="0">
                    <a:solidFill>
                      <a:srgbClr val="244242"/>
                    </a:solidFill>
                  </a:rPr>
                  <a:t>循环结构</a:t>
                </a:r>
                <a:endParaRPr lang="zh-CN" altLang="en-US" sz="2800" b="1" dirty="0">
                  <a:solidFill>
                    <a:srgbClr val="244242"/>
                  </a:solidFill>
                </a:endParaRPr>
              </a:p>
            </p:txBody>
          </p:sp>
        </p:grpSp>
        <p:sp>
          <p:nvSpPr>
            <p:cNvPr id="41" name="文本框 40"/>
            <p:cNvSpPr txBox="1"/>
            <p:nvPr/>
          </p:nvSpPr>
          <p:spPr>
            <a:xfrm>
              <a:off x="8418733" y="4332079"/>
              <a:ext cx="2935067" cy="9220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while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语句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endParaRPr>
            </a:p>
            <a:p>
              <a:pPr algn="ctr">
                <a:lnSpc>
                  <a:spcPct val="100000"/>
                </a:lnSpc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do while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语句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endParaRPr>
            </a:p>
            <a:p>
              <a:pPr algn="ctr">
                <a:lnSpc>
                  <a:spcPct val="100000"/>
                </a:lnSpc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for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语句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493976" y="1966505"/>
            <a:ext cx="2935067" cy="3188534"/>
            <a:chOff x="4027746" y="1788705"/>
            <a:chExt cx="2935067" cy="3188534"/>
          </a:xfrm>
        </p:grpSpPr>
        <p:grpSp>
          <p:nvGrpSpPr>
            <p:cNvPr id="24" name="组合 23"/>
            <p:cNvGrpSpPr/>
            <p:nvPr/>
          </p:nvGrpSpPr>
          <p:grpSpPr>
            <a:xfrm>
              <a:off x="4473489" y="1788705"/>
              <a:ext cx="2043583" cy="2224346"/>
              <a:chOff x="3562152" y="1788705"/>
              <a:chExt cx="2043583" cy="2224346"/>
            </a:xfrm>
          </p:grpSpPr>
          <p:sp>
            <p:nvSpPr>
              <p:cNvPr id="11" name="梯形 10"/>
              <p:cNvSpPr/>
              <p:nvPr/>
            </p:nvSpPr>
            <p:spPr>
              <a:xfrm rot="5400000">
                <a:off x="3471770" y="1879086"/>
                <a:ext cx="2224346" cy="2043583"/>
              </a:xfrm>
              <a:prstGeom prst="trapezoid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3781551" y="2640537"/>
                <a:ext cx="1612900" cy="52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zh-CN" altLang="en-US" sz="2800" b="1" dirty="0">
                    <a:solidFill>
                      <a:srgbClr val="244242"/>
                    </a:solidFill>
                  </a:rPr>
                  <a:t>选择结构</a:t>
                </a:r>
                <a:endParaRPr lang="zh-CN" altLang="en-US" sz="2800" b="1" dirty="0">
                  <a:solidFill>
                    <a:srgbClr val="244242"/>
                  </a:solidFill>
                </a:endParaRPr>
              </a:p>
            </p:txBody>
          </p:sp>
        </p:grpSp>
        <p:sp>
          <p:nvSpPr>
            <p:cNvPr id="47" name="文本框 46"/>
            <p:cNvSpPr txBox="1"/>
            <p:nvPr/>
          </p:nvSpPr>
          <p:spPr>
            <a:xfrm>
              <a:off x="4027746" y="4332079"/>
              <a:ext cx="2935067" cy="645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if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语句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endParaRPr>
            </a:p>
            <a:p>
              <a:pPr algn="ctr">
                <a:lnSpc>
                  <a:spcPct val="100000"/>
                </a:lnSpc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多分支语句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435359" y="1966505"/>
            <a:ext cx="2935067" cy="3742254"/>
            <a:chOff x="635894" y="1788705"/>
            <a:chExt cx="2935067" cy="3742254"/>
          </a:xfrm>
        </p:grpSpPr>
        <p:grpSp>
          <p:nvGrpSpPr>
            <p:cNvPr id="3" name="组合 2"/>
            <p:cNvGrpSpPr/>
            <p:nvPr/>
          </p:nvGrpSpPr>
          <p:grpSpPr>
            <a:xfrm>
              <a:off x="1013692" y="1788705"/>
              <a:ext cx="2043583" cy="2224346"/>
              <a:chOff x="580170" y="1788705"/>
              <a:chExt cx="2043583" cy="2224346"/>
            </a:xfrm>
          </p:grpSpPr>
          <p:sp>
            <p:nvSpPr>
              <p:cNvPr id="10" name="梯形 9"/>
              <p:cNvSpPr/>
              <p:nvPr/>
            </p:nvSpPr>
            <p:spPr>
              <a:xfrm rot="5400000">
                <a:off x="489788" y="1879086"/>
                <a:ext cx="2224346" cy="2043583"/>
              </a:xfrm>
              <a:prstGeom prst="trapezoid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5" name="文本框 4"/>
              <p:cNvSpPr txBox="1"/>
              <p:nvPr/>
            </p:nvSpPr>
            <p:spPr>
              <a:xfrm>
                <a:off x="866879" y="2640537"/>
                <a:ext cx="1612900" cy="52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zh-CN" altLang="en-US" sz="2800" b="1" dirty="0">
                    <a:solidFill>
                      <a:srgbClr val="244242"/>
                    </a:solidFill>
                  </a:rPr>
                  <a:t>顺序结构</a:t>
                </a:r>
                <a:endParaRPr lang="zh-CN" altLang="en-US" sz="2800" b="1" dirty="0">
                  <a:solidFill>
                    <a:srgbClr val="244242"/>
                  </a:solidFill>
                </a:endParaRPr>
              </a:p>
            </p:txBody>
          </p:sp>
        </p:grpSp>
        <p:sp>
          <p:nvSpPr>
            <p:cNvPr id="50" name="文本框 49"/>
            <p:cNvSpPr txBox="1"/>
            <p:nvPr/>
          </p:nvSpPr>
          <p:spPr>
            <a:xfrm>
              <a:off x="635894" y="4332079"/>
              <a:ext cx="2935067" cy="1198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>
                <a:lnSpc>
                  <a:spcPct val="100000"/>
                </a:lnSpc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表达式语句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pPr algn="ctr">
                <a:lnSpc>
                  <a:spcPct val="100000"/>
                </a:lnSpc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空语句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pPr algn="ctr">
                <a:lnSpc>
                  <a:spcPct val="100000"/>
                </a:lnSpc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函数调用语句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pPr algn="ctr">
                <a:lnSpc>
                  <a:spcPct val="100000"/>
                </a:lnSpc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复合语句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判断语句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802765" y="1664970"/>
            <a:ext cx="635063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0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思考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00000"/>
              </a:lnSpc>
            </a:pP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0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数值如何跟零进行比较？</a:t>
            </a:r>
            <a:endParaRPr lang="zh-CN" altLang="en-US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00000"/>
              </a:lnSpc>
            </a:pPr>
            <a:endParaRPr lang="zh-CN" altLang="en-US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0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if (a == 0){}</a:t>
            </a: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0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if (0 == a){}</a:t>
            </a: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0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if (a = 0){}</a:t>
            </a: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0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if (0 = a){}</a:t>
            </a: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00000"/>
              </a:lnSpc>
            </a:pP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判断语句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268730"/>
            <a:ext cx="295021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基本语法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00000"/>
              </a:lnSpc>
            </a:pP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if（表达式1）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语句1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00000"/>
              </a:lnSpc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else if(表达式2)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语句2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……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00000"/>
              </a:lnSpc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else if(表达式m)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语句m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00000"/>
              </a:lnSpc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else  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语句n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15080" y="3669030"/>
            <a:ext cx="753427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匹配规则：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else总是与它上面的，最近的，统一复合语句中的，未配对的if语句配对；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当if和else数目不同时，可以加花括号来确定配对关系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选择语句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64870" y="1162685"/>
            <a:ext cx="750697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switch语句的格式：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switch （表达式）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｛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case　常量表达式１：语句１； break；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case　常量表达式２：语句２； break；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…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case　常量表达式ｎ：语句ｎ； break；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default      ：语句ｎ＋１； break；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｝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zh-CN" altLang="en-US" sz="24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PART04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循环语句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0077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while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循环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02970" y="1565910"/>
            <a:ext cx="1046988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defTabSz="762000" eaLnBrk="0" hangingPunct="0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while (表达式) 语句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defTabSz="762000" eaLnBrk="0" hangingPunct="0">
              <a:lnSpc>
                <a:spcPct val="150000"/>
              </a:lnSpc>
            </a:pP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defTabSz="762000" eaLnBrk="0" hangingPunct="0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当表达式为非0值时，执行while语句中的内嵌语句。其特点是:先判断表达式，后执行语句。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for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循环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4870" y="1046480"/>
            <a:ext cx="10174605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defTabSz="762000" eaLnBrk="0" hangingPunct="0">
              <a:buFontTx/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循环基本语法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defTabSz="762000" eaLnBrk="0" hangingPunct="0">
              <a:buFontTx/>
              <a:buNone/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defTabSz="762000" eaLnBrk="0" hangingPunct="0">
              <a:buFont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for(表达式1；表达式2；表达式3)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defTabSz="762000" eaLnBrk="0" hangingPunct="0"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defTabSz="762000" eaLnBrk="0" hangingPunct="0"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语句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defTabSz="762000" eaLnBrk="0" hangingPunct="0"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defTabSz="762000" eaLnBrk="0" hangingPunct="0">
              <a:buFontTx/>
              <a:buNone/>
            </a:pPr>
            <a:endParaRPr kumimoji="1" lang="en-US" altLang="zh-CN" sz="200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defTabSz="762000" eaLnBrk="0" hangingPunct="0">
              <a:buFontTx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笔试题：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defTabSz="762000" eaLnBrk="0" hangingPunct="0">
              <a:buFontTx/>
              <a:buNone/>
            </a:pPr>
            <a:endParaRPr kumimoji="1"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defTabSz="762000" eaLnBrk="0" hangingPunct="0">
              <a:buFontTx/>
              <a:buNone/>
            </a:pPr>
            <a:r>
              <a:rPr kumimoji="1"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 = 0, printf("i=%d\n",i); i &lt; 5, printf("i=%d\n",i); i++,printf("i=%d\n",i))</a:t>
            </a:r>
            <a:endParaRPr kumimoji="1"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defTabSz="762000" eaLnBrk="0" hangingPunct="0">
              <a:buFontTx/>
              <a:buNone/>
            </a:pPr>
            <a:r>
              <a:rPr kumimoji="1"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endParaRPr kumimoji="1"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defTabSz="762000" eaLnBrk="0" hangingPunct="0">
              <a:buFontTx/>
              <a:buNone/>
            </a:pPr>
            <a:r>
              <a:rPr kumimoji="1"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printf(“helloworld\n”);</a:t>
            </a:r>
            <a:endParaRPr kumimoji="1"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defTabSz="762000" eaLnBrk="0" hangingPunct="0">
              <a:buFontTx/>
              <a:buNone/>
            </a:pPr>
            <a:r>
              <a:rPr kumimoji="1"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kumimoji="1"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defTabSz="762000" eaLnBrk="0" hangingPunct="0">
              <a:buFontTx/>
              <a:buNone/>
            </a:pPr>
            <a:endParaRPr kumimoji="1"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defTabSz="762000" eaLnBrk="0" hangingPunct="0">
              <a:buFontTx/>
              <a:buNone/>
            </a:pPr>
            <a:r>
              <a:rPr kumimoji="1"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逗号表达式？</a:t>
            </a:r>
            <a:endParaRPr kumimoji="1"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逗号表达式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44880" y="1523365"/>
            <a:ext cx="928497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838200" indent="-838200" defTabSz="762000" eaLnBrk="0" hangingPunct="0"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逗号运算符：将两个表达式连接起来,又称为“顺序求值运算符“，如：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38200" indent="-838200" defTabSz="762000" eaLnBrk="0" hangingPunct="0"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３＋5，６＋８;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38200" indent="-838200" defTabSz="762000" eaLnBrk="0" hangingPunct="0"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逗号表达式 的值为14。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38200" indent="-838200" defTabSz="762000" eaLnBrk="0" hangingPunct="0">
              <a:lnSpc>
                <a:spcPct val="150000"/>
              </a:lnSpc>
              <a:spcBef>
                <a:spcPct val="20000"/>
              </a:spcBef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38200" indent="-838200" defTabSz="762000" eaLnBrk="0" hangingPunct="0"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一般形式:   表达式１，表达式２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38200" indent="-838200" defTabSz="762000" eaLnBrk="0" hangingPunct="0"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求解过程：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38200" indent="-838200" defTabSz="762000" eaLnBrk="0" hangingPunct="0"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先求解表达式１，再求解表达式２。整个逗号表达式的值是表达式２的值。</a:t>
            </a:r>
            <a:r>
              <a:rPr kumimoji="1"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kumimoji="1" lang="zh-CN" altLang="en-US" sz="20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break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和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continue</a:t>
              </a:r>
              <a:endPara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4870" y="1223010"/>
            <a:ext cx="10681970" cy="44119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838200" indent="-838200" defTabSz="762000" eaLnBrk="0" hangingPunct="0">
              <a:lnSpc>
                <a:spcPct val="15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continue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38200" indent="-838200" defTabSz="762000" eaLnBrk="0" hangingPunct="0">
              <a:lnSpc>
                <a:spcPct val="150000"/>
              </a:lnSpc>
              <a:spcBef>
                <a:spcPct val="20000"/>
              </a:spcBef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结束本次循环，开始下一次循环。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38200" indent="-838200" defTabSz="762000" eaLnBrk="0" hangingPunct="0">
              <a:lnSpc>
                <a:spcPct val="150000"/>
              </a:lnSpc>
              <a:spcBef>
                <a:spcPct val="20000"/>
              </a:spcBef>
            </a:pP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38200" indent="-838200" defTabSz="762000" eaLnBrk="0" hangingPunct="0">
              <a:lnSpc>
                <a:spcPct val="15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break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38200" indent="-838200" defTabSz="762000" eaLnBrk="0" hangingPunct="0">
              <a:lnSpc>
                <a:spcPct val="150000"/>
              </a:lnSpc>
              <a:spcBef>
                <a:spcPct val="20000"/>
              </a:spcBef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结束这一层循环，如果循环有嵌套，不影响其它层的循环。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38200" indent="-838200" defTabSz="762000" eaLnBrk="0" hangingPunct="0">
              <a:lnSpc>
                <a:spcPct val="150000"/>
              </a:lnSpc>
              <a:spcBef>
                <a:spcPct val="20000"/>
              </a:spcBef>
            </a:pP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38200" indent="-838200" defTabSz="762000" eaLnBrk="0" hangingPunct="0">
              <a:lnSpc>
                <a:spcPct val="150000"/>
              </a:lnSpc>
              <a:spcBef>
                <a:spcPct val="20000"/>
              </a:spcBef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注意：break语句不能用于循环语句和switch语句之外的任何其他语句中。</a:t>
            </a:r>
            <a:endParaRPr kumimoji="1" lang="zh-CN" altLang="en-US" sz="2400" b="1" dirty="0" smtClean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循环效率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226820" y="1383030"/>
            <a:ext cx="4135120" cy="4004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838200" indent="-838200" defTabSz="762000" eaLnBrk="0" hangingPunct="0">
              <a:lnSpc>
                <a:spcPct val="100000"/>
              </a:lnSpc>
              <a:spcBef>
                <a:spcPct val="20000"/>
              </a:spcBef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第一种</a:t>
            </a:r>
            <a:endParaRPr 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38200" indent="-838200" defTabSz="762000" eaLnBrk="0" hangingPunct="0">
              <a:lnSpc>
                <a:spcPct val="100000"/>
              </a:lnSpc>
              <a:spcBef>
                <a:spcPct val="20000"/>
              </a:spcBef>
            </a:pPr>
            <a:r>
              <a:rPr 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 = 0; i &lt; 1000; i++)</a:t>
            </a:r>
            <a:endParaRPr 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38200" indent="-838200" defTabSz="762000" eaLnBrk="0" hangingPunct="0">
              <a:lnSpc>
                <a:spcPct val="100000"/>
              </a:lnSpc>
              <a:spcBef>
                <a:spcPct val="20000"/>
              </a:spcBef>
            </a:pPr>
            <a:r>
              <a:rPr 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endParaRPr 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38200" indent="-838200" defTabSz="762000" eaLnBrk="0" hangingPunct="0">
              <a:lnSpc>
                <a:spcPct val="100000"/>
              </a:lnSpc>
              <a:spcBef>
                <a:spcPct val="20000"/>
              </a:spcBef>
            </a:pPr>
            <a:r>
              <a:rPr 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for (j = 0; j &lt; 2; j++)</a:t>
            </a:r>
            <a:endParaRPr 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38200" indent="-838200" defTabSz="762000" eaLnBrk="0" hangingPunct="0">
              <a:lnSpc>
                <a:spcPct val="100000"/>
              </a:lnSpc>
              <a:spcBef>
                <a:spcPct val="20000"/>
              </a:spcBef>
            </a:pPr>
            <a:r>
              <a:rPr 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{</a:t>
            </a:r>
            <a:endParaRPr 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38200" indent="-838200" defTabSz="762000" eaLnBrk="0" hangingPunct="0">
              <a:lnSpc>
                <a:spcPct val="100000"/>
              </a:lnSpc>
              <a:spcBef>
                <a:spcPct val="20000"/>
              </a:spcBef>
            </a:pPr>
            <a:r>
              <a:rPr 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	........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38200" indent="-838200" defTabSz="762000" eaLnBrk="0" hangingPunct="0">
              <a:lnSpc>
                <a:spcPct val="100000"/>
              </a:lnSpc>
              <a:spcBef>
                <a:spcPct val="20000"/>
              </a:spcBef>
            </a:pPr>
            <a:r>
              <a:rPr 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	}</a:t>
            </a:r>
            <a:endParaRPr 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38200" indent="-838200" defTabSz="762000" eaLnBrk="0" hangingPunct="0">
              <a:lnSpc>
                <a:spcPct val="100000"/>
              </a:lnSpc>
              <a:spcBef>
                <a:spcPct val="20000"/>
              </a:spcBef>
            </a:pPr>
            <a:r>
              <a:rPr 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                                                       </a:t>
            </a:r>
            <a:endParaRPr 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38200" indent="-838200" defTabSz="762000" eaLnBrk="0" hangingPunct="0">
              <a:lnSpc>
                <a:spcPct val="100000"/>
              </a:lnSpc>
              <a:spcBef>
                <a:spcPct val="20000"/>
              </a:spcBef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效率低，不推荐</a:t>
            </a:r>
            <a:endParaRPr kumimoji="1" lang="zh-CN" altLang="en-US" sz="2400" b="1" dirty="0" smtClean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96940" y="1383030"/>
            <a:ext cx="4797425" cy="4004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838200" indent="-838200" defTabSz="762000" eaLnBrk="0" hangingPunct="0">
              <a:lnSpc>
                <a:spcPct val="100000"/>
              </a:lnSpc>
              <a:spcBef>
                <a:spcPct val="20000"/>
              </a:spcBef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第二种</a:t>
            </a:r>
            <a:endParaRPr 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38200" indent="-838200" defTabSz="762000" eaLnBrk="0" hangingPunct="0">
              <a:lnSpc>
                <a:spcPct val="100000"/>
              </a:lnSpc>
              <a:spcBef>
                <a:spcPct val="20000"/>
              </a:spcBef>
            </a:pPr>
            <a:r>
              <a:rPr 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 =0; i &lt; 2; i++)</a:t>
            </a:r>
            <a:endParaRPr 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38200" indent="-838200" algn="l" defTabSz="762000" eaLnBrk="0" hangingPunc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endParaRPr 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38200" indent="-838200" algn="l" defTabSz="762000" eaLnBrk="0" hangingPunc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for (j = 0; j &lt; 1000; j++)</a:t>
            </a:r>
            <a:endParaRPr 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38200" indent="-838200" defTabSz="762000" eaLnBrk="0" hangingPunct="0">
              <a:lnSpc>
                <a:spcPct val="100000"/>
              </a:lnSpc>
              <a:spcBef>
                <a:spcPct val="20000"/>
              </a:spcBef>
            </a:pPr>
            <a:r>
              <a:rPr 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{</a:t>
            </a:r>
            <a:endParaRPr 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38200" indent="-838200" defTabSz="762000" eaLnBrk="0" hangingPunct="0">
              <a:lnSpc>
                <a:spcPct val="100000"/>
              </a:lnSpc>
              <a:spcBef>
                <a:spcPct val="20000"/>
              </a:spcBef>
            </a:pPr>
            <a:r>
              <a:rPr 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	........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38200" indent="-838200" defTabSz="762000" eaLnBrk="0" hangingPunct="0">
              <a:lnSpc>
                <a:spcPct val="100000"/>
              </a:lnSpc>
              <a:spcBef>
                <a:spcPct val="20000"/>
              </a:spcBef>
            </a:pPr>
            <a:r>
              <a:rPr 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}</a:t>
            </a:r>
            <a:endParaRPr 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38200" indent="-838200" defTabSz="762000" eaLnBrk="0" hangingPunct="0">
              <a:lnSpc>
                <a:spcPct val="100000"/>
              </a:lnSpc>
              <a:spcBef>
                <a:spcPct val="20000"/>
              </a:spcBef>
            </a:pPr>
            <a:r>
              <a:rPr 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                  </a:t>
            </a:r>
            <a:endParaRPr 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38200" indent="-838200" defTabSz="762000" eaLnBrk="0" hangingPunct="0">
              <a:lnSpc>
                <a:spcPct val="100000"/>
              </a:lnSpc>
              <a:spcBef>
                <a:spcPct val="20000"/>
              </a:spcBef>
            </a:pPr>
            <a:r>
              <a:rPr lang="en-US" sz="24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效率高，推荐</a:t>
            </a:r>
            <a:endParaRPr lang="zh-CN" altLang="en-US" sz="24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91485" y="5387975"/>
            <a:ext cx="46564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注意减少跨切循环层的次数</a:t>
            </a:r>
            <a:endParaRPr lang="en-US" altLang="en-US" sz="24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29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PART05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课后作业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0077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编程训练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83540" y="1046480"/>
            <a:ext cx="11441430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、200～300之间不能被3整除的数，5个一行输出；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、求两个数的最大公约数、最小公倍数；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、输入十个数，求出平均值；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、通过编程实现,统计1~n有多少个9；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、有1、2、3、4个数字，能组成多少个互不相同且无重复数字的三位数？都是多少？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、一个数如果恰好等于它的因子之和，这个数成为完数,例如：6=1+2+3。编程找出1000以内的完数；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、神州行用户无月租费，话费每分钟0.6元；全球通用户月租费50元，话费每分钟0. 4元。每个月通话多长时间，选择全球通更合适？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、在海军节开幕式上，有A、B、C三艘军舰要同时开始鸣放礼炮各21响。已知A舰每隔5秒放1次，B舰每隔6秒放1次，C舰每隔7秒放1次。假设各炮手对时间的掌握非常准确，请编程计算观众总共可以听到几次礼炮声。</a:t>
            </a:r>
            <a:endParaRPr kumimoji="1" lang="zh-CN" altLang="en-US" sz="20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809350" y="1642712"/>
            <a:ext cx="8848576" cy="3231651"/>
            <a:chOff x="2360893" y="1845912"/>
            <a:chExt cx="8848576" cy="3231651"/>
          </a:xfrm>
        </p:grpSpPr>
        <p:sp>
          <p:nvSpPr>
            <p:cNvPr id="11" name="原创设计师QQ598969553      _5"/>
            <p:cNvSpPr>
              <a:spLocks noChangeArrowheads="1"/>
            </p:cNvSpPr>
            <p:nvPr/>
          </p:nvSpPr>
          <p:spPr bwMode="auto">
            <a:xfrm>
              <a:off x="2360893" y="3307848"/>
              <a:ext cx="8848576" cy="17697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11500" dirty="0">
                  <a:solidFill>
                    <a:schemeClr val="bg1"/>
                  </a:solidFill>
                  <a:latin typeface="hakuyoxingshu7000" panose="02000600000000000000" pitchFamily="2" charset="-122"/>
                  <a:ea typeface="hakuyoxingshu7000" panose="02000600000000000000" pitchFamily="2" charset="-122"/>
                  <a:cs typeface="hakuyoxingshu7000" panose="02000600000000000000" pitchFamily="2" charset="-122"/>
                </a:rPr>
                <a:t>感谢各位观看</a:t>
              </a:r>
              <a:endParaRPr lang="en-US" altLang="zh-CN" sz="11500" dirty="0">
                <a:solidFill>
                  <a:schemeClr val="bg1"/>
                </a:solidFill>
                <a:latin typeface="hakuyoxingshu7000" panose="02000600000000000000" pitchFamily="2" charset="-122"/>
                <a:ea typeface="hakuyoxingshu7000" panose="02000600000000000000" pitchFamily="2" charset="-122"/>
                <a:cs typeface="hakuyoxingshu7000" panose="02000600000000000000" pitchFamily="2" charset="-122"/>
              </a:endParaRPr>
            </a:p>
          </p:txBody>
        </p:sp>
        <p:sp>
          <p:nvSpPr>
            <p:cNvPr id="12" name="原创设计师QQ598969553      _12"/>
            <p:cNvSpPr>
              <a:spLocks noChangeArrowheads="1"/>
            </p:cNvSpPr>
            <p:nvPr/>
          </p:nvSpPr>
          <p:spPr bwMode="auto">
            <a:xfrm>
              <a:off x="3278279" y="1845912"/>
              <a:ext cx="6636432" cy="17697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500" dirty="0">
                  <a:solidFill>
                    <a:schemeClr val="bg1"/>
                  </a:solidFill>
                  <a:latin typeface="hakuyoxingshu7000" panose="02000600000000000000" pitchFamily="2" charset="-122"/>
                  <a:ea typeface="hakuyoxingshu7000" panose="02000600000000000000" pitchFamily="2" charset="-122"/>
                  <a:cs typeface="hakuyoxingshu7000" panose="02000600000000000000" pitchFamily="2" charset="-122"/>
                </a:rPr>
                <a:t>THANK YOU</a:t>
              </a:r>
              <a:endParaRPr lang="en-US" altLang="zh-CN" sz="11500" dirty="0">
                <a:solidFill>
                  <a:schemeClr val="bg1"/>
                </a:solidFill>
                <a:latin typeface="hakuyoxingshu7000" panose="02000600000000000000" pitchFamily="2" charset="-122"/>
                <a:ea typeface="hakuyoxingshu7000" panose="02000600000000000000" pitchFamily="2" charset="-122"/>
                <a:cs typeface="hakuyoxingshu7000" panose="02000600000000000000" pitchFamily="2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5580</Words>
  <Application>WPS 演示</Application>
  <PresentationFormat>宽屏</PresentationFormat>
  <Paragraphs>644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4" baseType="lpstr">
      <vt:lpstr>Arial</vt:lpstr>
      <vt:lpstr>宋体</vt:lpstr>
      <vt:lpstr>Wingdings</vt:lpstr>
      <vt:lpstr>文鼎习字体</vt:lpstr>
      <vt:lpstr>Nexa Light</vt:lpstr>
      <vt:lpstr>Vrinda</vt:lpstr>
      <vt:lpstr>华康少女文字W5(P)</vt:lpstr>
      <vt:lpstr>方正清刻本悦宋简体</vt:lpstr>
      <vt:lpstr>Arial</vt:lpstr>
      <vt:lpstr>华文细黑</vt:lpstr>
      <vt:lpstr>微软雅黑</vt:lpstr>
      <vt:lpstr>Calibri</vt:lpstr>
      <vt:lpstr>Arial Unicode MS</vt:lpstr>
      <vt:lpstr>Calibri Light</vt:lpstr>
      <vt:lpstr>Times New Roman</vt:lpstr>
      <vt:lpstr>hakuyoxingshu7000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X6</cp:lastModifiedBy>
  <cp:revision>69</cp:revision>
  <dcterms:created xsi:type="dcterms:W3CDTF">2017-11-17T09:39:00Z</dcterms:created>
  <dcterms:modified xsi:type="dcterms:W3CDTF">2021-11-07T02:59:41Z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2052-11.1.0.11045</vt:lpwstr>
  </property>
  <property fmtid="{D5CDD505-2E9C-101B-9397-08002B2CF9AE}" pid="3" name="ICV">
    <vt:lpwstr>9D7B96A783EA46A3A80C9DE4ECC3789B</vt:lpwstr>
  </property>
</Properties>
</file>