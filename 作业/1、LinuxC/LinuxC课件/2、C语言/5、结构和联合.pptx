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56" r:id="rId3"/>
    <p:sldId id="257" r:id="rId5"/>
    <p:sldId id="258" r:id="rId6"/>
    <p:sldId id="265" r:id="rId7"/>
    <p:sldId id="260" r:id="rId8"/>
    <p:sldId id="266" r:id="rId9"/>
    <p:sldId id="261" r:id="rId10"/>
    <p:sldId id="267" r:id="rId11"/>
    <p:sldId id="264" r:id="rId12"/>
    <p:sldId id="262" r:id="rId13"/>
    <p:sldId id="269" r:id="rId14"/>
    <p:sldId id="263" r:id="rId15"/>
    <p:sldId id="272" r:id="rId16"/>
    <p:sldId id="327" r:id="rId17"/>
    <p:sldId id="328" r:id="rId18"/>
    <p:sldId id="329" r:id="rId19"/>
    <p:sldId id="25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16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结构联合内存管理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0" name="文本框 16"/>
          <p:cNvSpPr txBox="1"/>
          <p:nvPr/>
        </p:nvSpPr>
        <p:spPr>
          <a:xfrm>
            <a:off x="5306265" y="2102679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1</a:t>
            </a:r>
            <a:endParaRPr kumimoji="0" lang="en-US" altLang="zh-CN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1" name="文本框 23"/>
          <p:cNvSpPr txBox="1"/>
          <p:nvPr/>
        </p:nvSpPr>
        <p:spPr>
          <a:xfrm>
            <a:off x="5306265" y="2795241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2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2" name="文本框 16"/>
          <p:cNvSpPr txBox="1"/>
          <p:nvPr/>
        </p:nvSpPr>
        <p:spPr>
          <a:xfrm>
            <a:off x="5306265" y="3477983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3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5306265" y="4170545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4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924903" y="2209914"/>
            <a:ext cx="0" cy="24402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48"/>
          <p:cNvSpPr txBox="1">
            <a:spLocks noChangeArrowheads="1"/>
          </p:cNvSpPr>
          <p:nvPr/>
        </p:nvSpPr>
        <p:spPr bwMode="auto">
          <a:xfrm>
            <a:off x="6015198" y="2146494"/>
            <a:ext cx="3393440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结构体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6" name="文本框 48"/>
          <p:cNvSpPr txBox="1">
            <a:spLocks noChangeArrowheads="1"/>
          </p:cNvSpPr>
          <p:nvPr/>
        </p:nvSpPr>
        <p:spPr bwMode="auto">
          <a:xfrm>
            <a:off x="6014563" y="28049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联合体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7" name="文本框 48"/>
          <p:cNvSpPr txBox="1">
            <a:spLocks noChangeArrowheads="1"/>
          </p:cNvSpPr>
          <p:nvPr/>
        </p:nvSpPr>
        <p:spPr bwMode="auto">
          <a:xfrm>
            <a:off x="6014563" y="35288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枚举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8" name="文本框 48"/>
          <p:cNvSpPr txBox="1">
            <a:spLocks noChangeArrowheads="1"/>
          </p:cNvSpPr>
          <p:nvPr/>
        </p:nvSpPr>
        <p:spPr bwMode="auto">
          <a:xfrm>
            <a:off x="6015832" y="4238183"/>
            <a:ext cx="3392806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内存管理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0" name="文本框 16"/>
          <p:cNvSpPr txBox="1"/>
          <p:nvPr/>
        </p:nvSpPr>
        <p:spPr>
          <a:xfrm>
            <a:off x="2304029" y="2102240"/>
            <a:ext cx="2142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 </a:t>
            </a:r>
            <a:r>
              <a:rPr lang="en-US" altLang="zh-CN" sz="3600" dirty="0" smtClean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Contents</a:t>
            </a:r>
            <a:r>
              <a:rPr lang="en-US" altLang="zh-CN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结构体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结构体的声明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64870" y="1046480"/>
            <a:ext cx="10822940" cy="532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C数组允许定义可存储相同类型数据项的变量，结构是C编程中另一种用户自定义的可用的数据类型，它允许存储不同的数据项</a:t>
            </a:r>
            <a:r>
              <a:rPr kumimoji="1" lang="en-US" altLang="zh-CN" sz="20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kumimoji="1" lang="en-US" altLang="zh-CN" sz="2000" dirty="0" err="1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为了定义结构，语法要求必须使用struct语句。struct语句定了一个包含多个成员的新的数据类型，struct的语法格式如下：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   结构体名   ｛成员表列｝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            //</a:t>
            </a:r>
            <a:r>
              <a:rPr lang="zh-CN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分号不能丢</a:t>
            </a:r>
            <a:endParaRPr lang="zh-CN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比如：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student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num;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name[20];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float score;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addr[30];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 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定义结构体变量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136650"/>
            <a:ext cx="1020127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和其它类型变量一样，对结构体变量可以在定义时指定初始值。</a:t>
            </a:r>
            <a:endParaRPr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Books</a:t>
            </a:r>
            <a:endParaRPr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char  title[50];</a:t>
            </a:r>
            <a:endParaRPr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char  author[50];</a:t>
            </a:r>
            <a:endParaRPr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char  subject[100];</a:t>
            </a:r>
            <a:endParaRPr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int   book_id;</a:t>
            </a:r>
            <a:endParaRPr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 book = {"C 语言", "RUNOOB", "编程语言", 123456};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结构体长度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186815"/>
            <a:ext cx="1013142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计算结构体的长度，需要满足两个原则：</a:t>
            </a:r>
            <a:endParaRPr 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、结构体的总长度一定是最长成员的整数倍；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、每个成员的偏移量一定是该成员长度的整数倍。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struct test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a;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b;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short c;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666875" y="4777105"/>
          <a:ext cx="8526780" cy="394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  <a:gridCol w="710565"/>
              </a:tblGrid>
              <a:tr h="39497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blipFill>
                      <a:blip r:embed="rId2"/>
                      <a:tile tx="0" ty="0" sx="100000" sy="100000" flip="none" algn="tl"/>
                    </a:blipFill>
                  </a:tcPr>
                </a:tc>
              </a:tr>
            </a:tbl>
          </a:graphicData>
        </a:graphic>
      </p:graphicFrame>
      <p:sp>
        <p:nvSpPr>
          <p:cNvPr id="5" name="右大括号 4"/>
          <p:cNvSpPr/>
          <p:nvPr/>
        </p:nvSpPr>
        <p:spPr>
          <a:xfrm rot="5400000">
            <a:off x="1939290" y="5332730"/>
            <a:ext cx="197485" cy="719455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798320" y="5897880"/>
            <a:ext cx="479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a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11" name="右大括号 10"/>
          <p:cNvSpPr/>
          <p:nvPr/>
        </p:nvSpPr>
        <p:spPr>
          <a:xfrm rot="5400000">
            <a:off x="3322320" y="4620260"/>
            <a:ext cx="295275" cy="2144395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09215" y="5897880"/>
            <a:ext cx="1721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b="1">
                <a:solidFill>
                  <a:schemeClr val="bg1"/>
                </a:solidFill>
              </a:rPr>
              <a:t>空三个字节</a:t>
            </a:r>
            <a:endParaRPr lang="zh-CN" altLang="zh-CN" b="1">
              <a:solidFill>
                <a:schemeClr val="bg1"/>
              </a:solidFill>
            </a:endParaRPr>
          </a:p>
        </p:txBody>
      </p:sp>
      <p:sp>
        <p:nvSpPr>
          <p:cNvPr id="13" name="右大括号 12"/>
          <p:cNvSpPr/>
          <p:nvPr/>
        </p:nvSpPr>
        <p:spPr>
          <a:xfrm rot="5400000">
            <a:off x="5812790" y="4275455"/>
            <a:ext cx="295275" cy="2835275"/>
          </a:xfrm>
          <a:prstGeom prst="rightBrace">
            <a:avLst>
              <a:gd name="adj1" fmla="val 0"/>
              <a:gd name="adj2" fmla="val 50011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572125" y="5897880"/>
            <a:ext cx="776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b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8" name="右大括号 7"/>
          <p:cNvSpPr/>
          <p:nvPr/>
        </p:nvSpPr>
        <p:spPr>
          <a:xfrm rot="5400000">
            <a:off x="7954010" y="4993640"/>
            <a:ext cx="245110" cy="1397000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914005" y="5897880"/>
            <a:ext cx="325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</a:rPr>
              <a:t>c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9" name="右大括号 8"/>
          <p:cNvSpPr/>
          <p:nvPr/>
        </p:nvSpPr>
        <p:spPr>
          <a:xfrm rot="5400000">
            <a:off x="9352915" y="4988560"/>
            <a:ext cx="274320" cy="1429385"/>
          </a:xfrm>
          <a:prstGeom prst="rightBrac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763635" y="5897880"/>
            <a:ext cx="14528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空两个字节</a:t>
            </a:r>
            <a:endParaRPr lang="zh-CN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联合体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联合体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116965"/>
            <a:ext cx="887603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联合体又叫共用体。是一种特殊的数据类型，允许在相同的内存位置存储不同的数据类型。联合体可以带有多个成员，但是任何时候只能有一个成员带有值。联合体提供了一种使用相同的内存位置的有效方式。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定义联合体需要用到union关键字。union 语句定义了一个新的数据类型，带有多个成员。union 语句的格式如下：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union　共用体名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成员表列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};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36518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经典笔试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122045" y="1389380"/>
            <a:ext cx="77190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、如何判断大小端？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、如何把大端数据转换成小端数据？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枚举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枚举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71880" y="1523365"/>
            <a:ext cx="807148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将变量的值一一列举出来，变量的值只限于列举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出来的值的范围内。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申明枚举类型用enum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enum weekday{sun，mon，tue，wed，thu，fri，sat};　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定义变量：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enum weekday workday，week-day;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enum{sun，mon，tue，wed，thu，fri，sat｝workday；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变量值只能是sun到sat之一 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内存管理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内存分区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3740" y="1046480"/>
            <a:ext cx="10765155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语言不能直接操作物理内存，程序中使用的内存都是虚拟内存。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698875" y="1888490"/>
          <a:ext cx="4794885" cy="432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4885"/>
              </a:tblGrid>
              <a:tr h="10801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  <a:tr h="10801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  <a:tr h="10801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  <a:tr h="108013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868420" y="1987550"/>
            <a:ext cx="44545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数据段（只读数据段、未初始化数据段、已初始化数据段）</a:t>
            </a:r>
            <a:endParaRPr lang="zh-CN" altLang="en-US" b="1">
              <a:solidFill>
                <a:schemeClr val="bg1"/>
              </a:solidFill>
            </a:endParaRPr>
          </a:p>
          <a:p>
            <a:pPr algn="ctr"/>
            <a:r>
              <a:rPr lang="zh-CN" altLang="en-US" b="1">
                <a:solidFill>
                  <a:schemeClr val="bg1"/>
                </a:solidFill>
              </a:rPr>
              <a:t>比如全局变量、字符串常量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869055" y="3060065"/>
            <a:ext cx="4454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代码段</a:t>
            </a:r>
            <a:endParaRPr lang="zh-CN" altLang="en-US" b="1">
              <a:solidFill>
                <a:schemeClr val="bg1"/>
              </a:solidFill>
            </a:endParaRPr>
          </a:p>
          <a:p>
            <a:pPr algn="ctr"/>
            <a:r>
              <a:rPr lang="zh-CN" altLang="en-US" b="1">
                <a:solidFill>
                  <a:schemeClr val="bg1"/>
                </a:solidFill>
              </a:rPr>
              <a:t>存放二进制代码、常量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68420" y="4310380"/>
            <a:ext cx="4454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堆</a:t>
            </a:r>
            <a:endParaRPr lang="zh-CN" altLang="en-US" b="1">
              <a:solidFill>
                <a:schemeClr val="bg1"/>
              </a:solidFill>
            </a:endParaRPr>
          </a:p>
          <a:p>
            <a:pPr algn="ctr"/>
            <a:r>
              <a:rPr lang="zh-CN" altLang="en-US" b="1">
                <a:solidFill>
                  <a:schemeClr val="bg1"/>
                </a:solidFill>
              </a:rPr>
              <a:t>用户申请的内存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69055" y="5410835"/>
            <a:ext cx="4454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</a:rPr>
              <a:t>栈</a:t>
            </a:r>
            <a:endParaRPr lang="zh-CN" altLang="en-US" b="1">
              <a:solidFill>
                <a:schemeClr val="bg1"/>
              </a:solidFill>
            </a:endParaRPr>
          </a:p>
          <a:p>
            <a:pPr algn="ctr"/>
            <a:r>
              <a:rPr lang="zh-CN" altLang="en-US" b="1">
                <a:solidFill>
                  <a:schemeClr val="bg1"/>
                </a:solidFill>
              </a:rPr>
              <a:t>局部变量、形参</a:t>
            </a:r>
            <a:endParaRPr lang="zh-CN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申请内存的函数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pSp>
        <p:nvGrpSpPr>
          <p:cNvPr id="36" name="组合 35"/>
          <p:cNvGrpSpPr/>
          <p:nvPr/>
        </p:nvGrpSpPr>
        <p:grpSpPr>
          <a:xfrm>
            <a:off x="1369693" y="1329472"/>
            <a:ext cx="6783707" cy="1316688"/>
            <a:chOff x="645793" y="1737777"/>
            <a:chExt cx="6783707" cy="1316688"/>
          </a:xfrm>
        </p:grpSpPr>
        <p:grpSp>
          <p:nvGrpSpPr>
            <p:cNvPr id="31" name="组合 30"/>
            <p:cNvGrpSpPr/>
            <p:nvPr/>
          </p:nvGrpSpPr>
          <p:grpSpPr>
            <a:xfrm>
              <a:off x="1846735" y="1737777"/>
              <a:ext cx="5582765" cy="1316688"/>
              <a:chOff x="1846735" y="1737777"/>
              <a:chExt cx="5582765" cy="1316688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1846735" y="2132445"/>
                <a:ext cx="558276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函数原型：</a:t>
                </a:r>
                <a:endPara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void *malloc(size_t size)</a:t>
                </a:r>
                <a:endPara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8" name="文本框 7"/>
              <p:cNvSpPr txBox="1"/>
              <p:nvPr/>
            </p:nvSpPr>
            <p:spPr>
              <a:xfrm>
                <a:off x="1846735" y="1737777"/>
                <a:ext cx="2319049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malloc</a:t>
                </a:r>
                <a:endParaRPr lang="en-US" altLang="zh-CN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>
              <a:off x="645793" y="1922346"/>
              <a:ext cx="813053" cy="813053"/>
              <a:chOff x="442361" y="1769183"/>
              <a:chExt cx="813053" cy="813053"/>
            </a:xfrm>
          </p:grpSpPr>
          <p:sp>
            <p:nvSpPr>
              <p:cNvPr id="9" name="椭圆 8"/>
              <p:cNvSpPr/>
              <p:nvPr/>
            </p:nvSpPr>
            <p:spPr>
              <a:xfrm rot="8212632">
                <a:off x="442361" y="1769183"/>
                <a:ext cx="813053" cy="81305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16104" y="1883322"/>
                <a:ext cx="6655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altLang="zh-CN" sz="3200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01</a:t>
                </a:r>
                <a:endParaRPr lang="en-US" altLang="zh-CN" sz="3200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4" name="组合 33"/>
          <p:cNvGrpSpPr/>
          <p:nvPr/>
        </p:nvGrpSpPr>
        <p:grpSpPr>
          <a:xfrm>
            <a:off x="1369695" y="4618990"/>
            <a:ext cx="7502525" cy="1316756"/>
            <a:chOff x="645793" y="4938177"/>
            <a:chExt cx="6783707" cy="1316527"/>
          </a:xfrm>
        </p:grpSpPr>
        <p:grpSp>
          <p:nvGrpSpPr>
            <p:cNvPr id="33" name="组合 32"/>
            <p:cNvGrpSpPr/>
            <p:nvPr/>
          </p:nvGrpSpPr>
          <p:grpSpPr>
            <a:xfrm>
              <a:off x="1846735" y="4938177"/>
              <a:ext cx="5582765" cy="1316527"/>
              <a:chOff x="1846735" y="4938177"/>
              <a:chExt cx="5582765" cy="1316527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1846735" y="5332845"/>
                <a:ext cx="5582765" cy="921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动态申请的内存需要手动释放，如果不释放，会造成内存泄漏。释放后的指针应该置为空指针，否则会变成野指针。</a:t>
                </a:r>
                <a:endPara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1846735" y="4938177"/>
                <a:ext cx="2319049" cy="5218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free</a:t>
                </a:r>
                <a:endParaRPr lang="en-US" altLang="zh-CN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645793" y="5122746"/>
              <a:ext cx="813053" cy="813053"/>
              <a:chOff x="442361" y="1769183"/>
              <a:chExt cx="813053" cy="813053"/>
            </a:xfrm>
          </p:grpSpPr>
          <p:sp>
            <p:nvSpPr>
              <p:cNvPr id="19" name="椭圆 18"/>
              <p:cNvSpPr/>
              <p:nvPr/>
            </p:nvSpPr>
            <p:spPr>
              <a:xfrm rot="8212632">
                <a:off x="442361" y="1769183"/>
                <a:ext cx="813053" cy="81305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0" name="文本框 19"/>
              <p:cNvSpPr txBox="1"/>
              <p:nvPr/>
            </p:nvSpPr>
            <p:spPr>
              <a:xfrm>
                <a:off x="516104" y="1883322"/>
                <a:ext cx="665567" cy="583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3200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03</a:t>
                </a:r>
                <a:endParaRPr lang="en-US" altLang="zh-CN" sz="3200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1369693" y="2973487"/>
            <a:ext cx="6783707" cy="1316688"/>
            <a:chOff x="645793" y="3337977"/>
            <a:chExt cx="6783707" cy="1316688"/>
          </a:xfrm>
        </p:grpSpPr>
        <p:grpSp>
          <p:nvGrpSpPr>
            <p:cNvPr id="32" name="组合 31"/>
            <p:cNvGrpSpPr/>
            <p:nvPr/>
          </p:nvGrpSpPr>
          <p:grpSpPr>
            <a:xfrm>
              <a:off x="1846735" y="3337977"/>
              <a:ext cx="5582765" cy="1316688"/>
              <a:chOff x="1846735" y="3337977"/>
              <a:chExt cx="5582765" cy="1316688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1846735" y="3732645"/>
                <a:ext cx="558276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函数原型：</a:t>
                </a:r>
                <a:endPara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void *realloc(void *ptr, size_t size)</a:t>
                </a:r>
                <a:endPara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1846735" y="3337977"/>
                <a:ext cx="2319049" cy="52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realloc</a:t>
                </a:r>
                <a:endParaRPr lang="en-US" altLang="zh-CN" sz="2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645793" y="3522546"/>
              <a:ext cx="813053" cy="813053"/>
              <a:chOff x="442361" y="1769183"/>
              <a:chExt cx="813053" cy="813053"/>
            </a:xfrm>
          </p:grpSpPr>
          <p:sp>
            <p:nvSpPr>
              <p:cNvPr id="26" name="椭圆 25"/>
              <p:cNvSpPr/>
              <p:nvPr/>
            </p:nvSpPr>
            <p:spPr>
              <a:xfrm rot="8212632">
                <a:off x="442361" y="1769183"/>
                <a:ext cx="813053" cy="81305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516104" y="1883322"/>
                <a:ext cx="6655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altLang="zh-CN" sz="3200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02</a:t>
                </a:r>
                <a:endParaRPr lang="en-US" altLang="zh-CN" sz="3200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PART05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编程训练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实现学生管理系统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1014728" y="1455202"/>
            <a:ext cx="7912257" cy="1316990"/>
            <a:chOff x="645793" y="1737777"/>
            <a:chExt cx="7912257" cy="1316990"/>
          </a:xfrm>
        </p:grpSpPr>
        <p:grpSp>
          <p:nvGrpSpPr>
            <p:cNvPr id="4" name="组合 3"/>
            <p:cNvGrpSpPr/>
            <p:nvPr/>
          </p:nvGrpSpPr>
          <p:grpSpPr>
            <a:xfrm>
              <a:off x="1846735" y="1737777"/>
              <a:ext cx="6711315" cy="1316990"/>
              <a:chOff x="1846735" y="1737777"/>
              <a:chExt cx="6711315" cy="1316990"/>
            </a:xfrm>
          </p:grpSpPr>
          <p:sp>
            <p:nvSpPr>
              <p:cNvPr id="5" name="文本框 4"/>
              <p:cNvSpPr txBox="1"/>
              <p:nvPr/>
            </p:nvSpPr>
            <p:spPr>
              <a:xfrm>
                <a:off x="1846735" y="2132747"/>
                <a:ext cx="671131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实现学生信息（学号、姓名、手机号、家庭住址）的插入、删除、修改、查找功能。</a:t>
                </a:r>
                <a:endPara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1846735" y="1737777"/>
                <a:ext cx="2319049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功能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645793" y="1922346"/>
              <a:ext cx="813053" cy="813053"/>
              <a:chOff x="442361" y="1769183"/>
              <a:chExt cx="813053" cy="813053"/>
            </a:xfrm>
          </p:grpSpPr>
          <p:sp>
            <p:nvSpPr>
              <p:cNvPr id="13" name="椭圆 12"/>
              <p:cNvSpPr/>
              <p:nvPr/>
            </p:nvSpPr>
            <p:spPr>
              <a:xfrm rot="8212632">
                <a:off x="442361" y="1769183"/>
                <a:ext cx="813053" cy="81305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16104" y="1883322"/>
                <a:ext cx="6655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altLang="zh-CN" sz="3200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01</a:t>
                </a:r>
                <a:endParaRPr lang="en-US" altLang="zh-CN" sz="3200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1014728" y="4744502"/>
            <a:ext cx="8490107" cy="1316990"/>
            <a:chOff x="645793" y="4938177"/>
            <a:chExt cx="8490107" cy="1316990"/>
          </a:xfrm>
        </p:grpSpPr>
        <p:grpSp>
          <p:nvGrpSpPr>
            <p:cNvPr id="24" name="组合 23"/>
            <p:cNvGrpSpPr/>
            <p:nvPr/>
          </p:nvGrpSpPr>
          <p:grpSpPr>
            <a:xfrm>
              <a:off x="1846735" y="4938177"/>
              <a:ext cx="7289165" cy="1316990"/>
              <a:chOff x="1846735" y="4938177"/>
              <a:chExt cx="7289165" cy="1316990"/>
            </a:xfrm>
          </p:grpSpPr>
          <p:sp>
            <p:nvSpPr>
              <p:cNvPr id="30" name="文本框 29"/>
              <p:cNvSpPr txBox="1"/>
              <p:nvPr/>
            </p:nvSpPr>
            <p:spPr>
              <a:xfrm>
                <a:off x="1846735" y="5333147"/>
                <a:ext cx="728916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不低于</a:t>
                </a: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400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行代码；每个函数需要加上注释（函数功能描述、函数参数、函数返回值）；手机号长度判断；</a:t>
                </a:r>
                <a:endPara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37" name="文本框 36"/>
              <p:cNvSpPr txBox="1"/>
              <p:nvPr/>
            </p:nvSpPr>
            <p:spPr>
              <a:xfrm>
                <a:off x="1846735" y="4938177"/>
                <a:ext cx="2319049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要求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645793" y="5122746"/>
              <a:ext cx="813053" cy="813053"/>
              <a:chOff x="442361" y="1769183"/>
              <a:chExt cx="813053" cy="813053"/>
            </a:xfrm>
          </p:grpSpPr>
          <p:sp>
            <p:nvSpPr>
              <p:cNvPr id="39" name="椭圆 38"/>
              <p:cNvSpPr/>
              <p:nvPr/>
            </p:nvSpPr>
            <p:spPr>
              <a:xfrm rot="8212632">
                <a:off x="442361" y="1769183"/>
                <a:ext cx="813053" cy="81305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516104" y="1883322"/>
                <a:ext cx="6655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altLang="zh-CN" sz="3200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03</a:t>
                </a:r>
                <a:endParaRPr lang="en-US" altLang="zh-CN" sz="3200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41" name="组合 40"/>
          <p:cNvGrpSpPr/>
          <p:nvPr/>
        </p:nvGrpSpPr>
        <p:grpSpPr>
          <a:xfrm>
            <a:off x="1014728" y="3099852"/>
            <a:ext cx="6783707" cy="1316688"/>
            <a:chOff x="645793" y="3337977"/>
            <a:chExt cx="6783707" cy="1316688"/>
          </a:xfrm>
        </p:grpSpPr>
        <p:grpSp>
          <p:nvGrpSpPr>
            <p:cNvPr id="42" name="组合 41"/>
            <p:cNvGrpSpPr/>
            <p:nvPr/>
          </p:nvGrpSpPr>
          <p:grpSpPr>
            <a:xfrm>
              <a:off x="1846735" y="3337977"/>
              <a:ext cx="5582765" cy="1316688"/>
              <a:chOff x="1846735" y="3337977"/>
              <a:chExt cx="5582765" cy="1316688"/>
            </a:xfrm>
          </p:grpSpPr>
          <p:sp>
            <p:nvSpPr>
              <p:cNvPr id="43" name="文本框 42"/>
              <p:cNvSpPr txBox="1"/>
              <p:nvPr/>
            </p:nvSpPr>
            <p:spPr>
              <a:xfrm>
                <a:off x="1846735" y="3732645"/>
                <a:ext cx="558276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1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、用指针数组保存学生的信息；</a:t>
                </a:r>
                <a:endPara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2</a:t>
                </a:r>
                <a:r>
                  <a:rPr lang="zh-CN" altLang="en-US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lt"/>
                  </a:rPr>
                  <a:t>、用冒泡排序对学生的信息按照学号排序。</a:t>
                </a:r>
                <a:endPara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1846735" y="3337977"/>
                <a:ext cx="2319049" cy="460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涉及到的知识点</a:t>
                </a:r>
                <a:endParaRPr lang="zh-CN" altLang="en-US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645793" y="3521911"/>
              <a:ext cx="813053" cy="813053"/>
              <a:chOff x="442361" y="1768548"/>
              <a:chExt cx="813053" cy="813053"/>
            </a:xfrm>
          </p:grpSpPr>
          <p:sp>
            <p:nvSpPr>
              <p:cNvPr id="46" name="椭圆 45"/>
              <p:cNvSpPr/>
              <p:nvPr/>
            </p:nvSpPr>
            <p:spPr>
              <a:xfrm rot="8212632">
                <a:off x="442361" y="1768548"/>
                <a:ext cx="813053" cy="81305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516104" y="1883322"/>
                <a:ext cx="6655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r>
                  <a:rPr lang="en-US" altLang="zh-CN" sz="3200" dirty="0">
                    <a:solidFill>
                      <a:srgbClr val="244242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02</a:t>
                </a:r>
                <a:endParaRPr lang="en-US" altLang="zh-CN" sz="3200" dirty="0">
                  <a:solidFill>
                    <a:srgbClr val="244242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809350" y="1642712"/>
            <a:ext cx="8848576" cy="3231651"/>
            <a:chOff x="2360893" y="1845912"/>
            <a:chExt cx="8848576" cy="3231651"/>
          </a:xfrm>
        </p:grpSpPr>
        <p:sp>
          <p:nvSpPr>
            <p:cNvPr id="11" name="原创设计师QQ598969553      _5"/>
            <p:cNvSpPr>
              <a:spLocks noChangeArrowheads="1"/>
            </p:cNvSpPr>
            <p:nvPr/>
          </p:nvSpPr>
          <p:spPr bwMode="auto">
            <a:xfrm>
              <a:off x="2360893" y="3307848"/>
              <a:ext cx="8848576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感谢各位观看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  <p:sp>
          <p:nvSpPr>
            <p:cNvPr id="12" name="原创设计师QQ598969553      _12"/>
            <p:cNvSpPr>
              <a:spLocks noChangeArrowheads="1"/>
            </p:cNvSpPr>
            <p:nvPr/>
          </p:nvSpPr>
          <p:spPr bwMode="auto">
            <a:xfrm>
              <a:off x="3278279" y="1845912"/>
              <a:ext cx="6636432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THANK YOU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1641</Words>
  <Application>WPS 演示</Application>
  <PresentationFormat>宽屏</PresentationFormat>
  <Paragraphs>214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5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华文细黑</vt:lpstr>
      <vt:lpstr>微软雅黑</vt:lpstr>
      <vt:lpstr>Calibri</vt:lpstr>
      <vt:lpstr>Arial Unicode MS</vt:lpstr>
      <vt:lpstr>Calibri Light</vt:lpstr>
      <vt:lpstr>Symbol</vt:lpstr>
      <vt:lpstr>Times New Roman</vt:lpstr>
      <vt:lpstr>hakuyoxingshu7000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149</cp:revision>
  <dcterms:created xsi:type="dcterms:W3CDTF">2017-11-17T09:39:00Z</dcterms:created>
  <dcterms:modified xsi:type="dcterms:W3CDTF">2021-05-15T00:42:59Z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2052-11.1.0.10495</vt:lpwstr>
  </property>
  <property fmtid="{D5CDD505-2E9C-101B-9397-08002B2CF9AE}" pid="3" name="ICV">
    <vt:lpwstr>7F0A95E0E4234C7C884C4861B4637DE5</vt:lpwstr>
  </property>
</Properties>
</file>