
<file path=[Content_Types].xml><?xml version="1.0" encoding="utf-8"?>
<Types xmlns="http://schemas.openxmlformats.org/package/2006/content-types">
  <Default Extension="jpeg" ContentType="image/jpeg"/>
  <Default Extension="JPG" ContentType="image/.jpg"/>
  <Default Extension="emf" ContentType="image/x-emf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"/>
  </p:notesMasterIdLst>
  <p:handoutMasterIdLst>
    <p:handoutMasterId r:id="rId26"/>
  </p:handoutMasterIdLst>
  <p:sldIdLst>
    <p:sldId id="256" r:id="rId3"/>
    <p:sldId id="257" r:id="rId5"/>
    <p:sldId id="258" r:id="rId6"/>
    <p:sldId id="265" r:id="rId7"/>
    <p:sldId id="260" r:id="rId8"/>
    <p:sldId id="266" r:id="rId9"/>
    <p:sldId id="261" r:id="rId10"/>
    <p:sldId id="267" r:id="rId11"/>
    <p:sldId id="264" r:id="rId12"/>
    <p:sldId id="268" r:id="rId13"/>
    <p:sldId id="283" r:id="rId14"/>
    <p:sldId id="262" r:id="rId15"/>
    <p:sldId id="269" r:id="rId16"/>
    <p:sldId id="271" r:id="rId17"/>
    <p:sldId id="270" r:id="rId18"/>
    <p:sldId id="263" r:id="rId19"/>
    <p:sldId id="272" r:id="rId20"/>
    <p:sldId id="273" r:id="rId21"/>
    <p:sldId id="274" r:id="rId22"/>
    <p:sldId id="307" r:id="rId23"/>
    <p:sldId id="308" r:id="rId24"/>
    <p:sldId id="259" r:id="rId25"/>
  </p:sldIdLst>
  <p:sldSz cx="12192000" cy="6858000"/>
  <p:notesSz cx="6858000" cy="9144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244242"/>
    <a:srgbClr val="F6F5F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 showGuides="1">
      <p:cViewPr varScale="1">
        <p:scale>
          <a:sx n="71" d="100"/>
          <a:sy n="71" d="100"/>
        </p:scale>
        <p:origin x="696" y="60"/>
      </p:cViewPr>
      <p:guideLst>
        <p:guide orient="horz" pos="2169"/>
        <p:guide pos="381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9" Type="http://schemas.openxmlformats.org/officeDocument/2006/relationships/tableStyles" Target="tableStyles.xml"/><Relationship Id="rId28" Type="http://schemas.openxmlformats.org/officeDocument/2006/relationships/viewProps" Target="viewProps.xml"/><Relationship Id="rId27" Type="http://schemas.openxmlformats.org/officeDocument/2006/relationships/presProps" Target="presProps.xml"/><Relationship Id="rId26" Type="http://schemas.openxmlformats.org/officeDocument/2006/relationships/handoutMaster" Target="handoutMasters/handoutMaster1.xml"/><Relationship Id="rId25" Type="http://schemas.openxmlformats.org/officeDocument/2006/relationships/slide" Target="slides/slide22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9B84EA-7D68-4D60-9CB1-D50884785D1C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4E0FC9-F1F8-4FAE-9988-3BA365CFD46F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2A48B96-639E-45A3-A0BA-2464DFDB1FAA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A6837353-30EB-4A48-80EB-173D804AEFBD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hf sldNum="0" hdr="0" dt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3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4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2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幻灯片图像占位符 1"/>
          <p:cNvSpPr/>
          <p:nvPr>
            <p:ph type="sldImg" idx="2"/>
          </p:nvPr>
        </p:nvSpPr>
        <p:spPr/>
      </p:sp>
      <p:sp>
        <p:nvSpPr>
          <p:cNvPr id="3" name="文本占位符 2"/>
          <p:cNvSpPr/>
          <p:nvPr>
            <p:ph type="body" idx="3"/>
          </p:nvPr>
        </p:nvSpPr>
        <p:spPr/>
        <p:txBody>
          <a:bodyPr/>
          <a:p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4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CN" altLang="en-US" smtClean="0"/>
              <a:t>单击此处编辑母版副标题样式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CN" altLang="en-US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垂直排列标题与&#10;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  <p:hf sldNum="0" hdr="0" dt="0"/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2" Type="http://schemas.openxmlformats.org/officeDocument/2006/relationships/theme" Target="../theme/theme1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smtClean="0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 smtClean="0"/>
              <a:t>单击此处编辑母版文本样式</a:t>
            </a:r>
            <a:endParaRPr lang="zh-CN" altLang="en-US" smtClean="0"/>
          </a:p>
          <a:p>
            <a:pPr lvl="1"/>
            <a:r>
              <a:rPr lang="zh-CN" altLang="en-US" smtClean="0"/>
              <a:t>第二级</a:t>
            </a:r>
            <a:endParaRPr lang="zh-CN" altLang="en-US" smtClean="0"/>
          </a:p>
          <a:p>
            <a:pPr lvl="2"/>
            <a:r>
              <a:rPr lang="zh-CN" altLang="en-US" smtClean="0"/>
              <a:t>第三级</a:t>
            </a:r>
            <a:endParaRPr lang="zh-CN" altLang="en-US" smtClean="0"/>
          </a:p>
          <a:p>
            <a:pPr lvl="3"/>
            <a:r>
              <a:rPr lang="zh-CN" altLang="en-US" smtClean="0"/>
              <a:t>第四级</a:t>
            </a:r>
            <a:endParaRPr lang="zh-CN" altLang="en-US" smtClean="0"/>
          </a:p>
          <a:p>
            <a:pPr lvl="4"/>
            <a:r>
              <a:rPr lang="zh-CN" altLang="en-US" smtClean="0"/>
              <a:t>第五级</a:t>
            </a:r>
            <a:endParaRPr lang="zh-CN" altLang="en-US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4B2C48-D1EF-4FAE-888B-7D1797A0BCE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621DB3D-0507-4988-B3B7-DA2DB48C2F2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3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4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5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6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7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8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19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0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1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2.emf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notesSlide" Target="../notesSlides/notesSlide22.xml"/><Relationship Id="rId2" Type="http://schemas.openxmlformats.org/officeDocument/2006/relationships/slideLayout" Target="../slideLayouts/slideLayout1.xml"/><Relationship Id="rId1" Type="http://schemas.openxmlformats.org/officeDocument/2006/relationships/image" Target="../media/image1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5" name="文本框 3"/>
          <p:cNvSpPr txBox="1"/>
          <p:nvPr/>
        </p:nvSpPr>
        <p:spPr>
          <a:xfrm>
            <a:off x="2135407" y="2657915"/>
            <a:ext cx="8203140" cy="110680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6600" spc="225" dirty="0">
                <a:ln>
                  <a:solidFill>
                    <a:schemeClr val="bg1"/>
                  </a:solidFill>
                </a:ln>
                <a:solidFill>
                  <a:srgbClr val="F6F5F6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文鼎习字体" panose="020B0602010101010101" pitchFamily="33" charset="-122"/>
                <a:ea typeface="文鼎习字体" panose="020B0602010101010101" pitchFamily="33" charset="-122"/>
              </a:rPr>
              <a:t>指针初级</a:t>
            </a:r>
            <a:endParaRPr lang="zh-CN" altLang="en-US" sz="6600" spc="225" dirty="0">
              <a:ln>
                <a:solidFill>
                  <a:schemeClr val="bg1"/>
                </a:solidFill>
              </a:ln>
              <a:solidFill>
                <a:srgbClr val="F6F5F6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  <a:latin typeface="文鼎习字体" panose="020B0602010101010101" pitchFamily="33" charset="-122"/>
              <a:ea typeface="文鼎习字体" panose="020B0602010101010101" pitchFamily="33" charset="-122"/>
            </a:endParaRPr>
          </a:p>
        </p:txBody>
      </p: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20" name="文本框 16"/>
          <p:cNvSpPr txBox="1"/>
          <p:nvPr/>
        </p:nvSpPr>
        <p:spPr>
          <a:xfrm>
            <a:off x="5306265" y="2102679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1</a:t>
            </a:r>
            <a:endParaRPr kumimoji="0" lang="en-US" altLang="zh-CN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1" name="文本框 23"/>
          <p:cNvSpPr txBox="1"/>
          <p:nvPr/>
        </p:nvSpPr>
        <p:spPr>
          <a:xfrm>
            <a:off x="5306265" y="2795241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kumimoji="0" lang="en-US" altLang="zh-CN" sz="3200" kern="1200" cap="none" spc="0" normalizeH="0" baseline="0" noProof="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2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2" name="文本框 16"/>
          <p:cNvSpPr txBox="1"/>
          <p:nvPr/>
        </p:nvSpPr>
        <p:spPr>
          <a:xfrm>
            <a:off x="5306265" y="3477983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3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sp>
        <p:nvSpPr>
          <p:cNvPr id="23" name="文本框 23"/>
          <p:cNvSpPr txBox="1"/>
          <p:nvPr/>
        </p:nvSpPr>
        <p:spPr>
          <a:xfrm>
            <a:off x="5306265" y="4170545"/>
            <a:ext cx="386080" cy="583566"/>
          </a:xfrm>
          <a:prstGeom prst="rect">
            <a:avLst/>
          </a:prstGeom>
          <a:noFill/>
        </p:spPr>
        <p:txBody>
          <a:bodyPr wrap="none">
            <a:spAutoFit/>
          </a:bodyPr>
          <a:lstStyle>
            <a:defPPr>
              <a:defRPr lang="zh-CN"/>
            </a:defPPr>
            <a:lvl1pPr marL="0" lvl="0" indent="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1pPr>
            <a:lvl2pPr marL="342900" lvl="1" indent="1143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2pPr>
            <a:lvl3pPr marL="685800" lvl="2" indent="2286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3pPr>
            <a:lvl4pPr marL="1028700" lvl="3" indent="3429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4pPr>
            <a:lvl5pPr marL="1371600" lvl="4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5pPr>
            <a:lvl6pPr marL="2286000" lvl="5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6pPr>
            <a:lvl7pPr marL="2743200" lvl="6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7pPr>
            <a:lvl8pPr marL="3200400" lvl="7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8pPr>
            <a:lvl9pPr marL="3657600" lvl="8" indent="457200" algn="l" defTabSz="685800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None/>
              <a:defRPr sz="1300" b="0" i="0" u="none" kern="1200" baseline="0">
                <a:solidFill>
                  <a:schemeClr val="tx1"/>
                </a:solidFill>
                <a:latin typeface="Nexa Light" panose="02000000000000000000" pitchFamily="50" charset="0"/>
                <a:ea typeface="华康少女文字W5(P)" panose="040F0500000000000000" pitchFamily="82" charset="-122"/>
              </a:defRPr>
            </a:lvl9pPr>
          </a:lstStyle>
          <a:p>
            <a:pPr marR="0" algn="ctr" defTabSz="685800" rtl="0" fontAlgn="auto">
              <a:spcBef>
                <a:spcPts val="0"/>
              </a:spcBef>
              <a:spcAft>
                <a:spcPts val="0"/>
              </a:spcAft>
              <a:buClrTx/>
              <a:buSzTx/>
              <a:buFontTx/>
              <a:defRPr/>
            </a:pP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  <a:sym typeface="Arial" panose="020B0604020202020204"/>
              </a:rPr>
              <a:t>4</a:t>
            </a:r>
            <a:endParaRPr kumimoji="0" lang="zh-CN" altLang="en-US" sz="3200" kern="1200" cap="none" spc="0" normalizeH="0" baseline="0" noProof="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  <a:sym typeface="Arial" panose="020B0604020202020204"/>
            </a:endParaRPr>
          </a:p>
        </p:txBody>
      </p:sp>
      <p:cxnSp>
        <p:nvCxnSpPr>
          <p:cNvPr id="24" name="直接连接符 23"/>
          <p:cNvCxnSpPr/>
          <p:nvPr/>
        </p:nvCxnSpPr>
        <p:spPr>
          <a:xfrm>
            <a:off x="4924903" y="2209914"/>
            <a:ext cx="0" cy="2440269"/>
          </a:xfrm>
          <a:prstGeom prst="line">
            <a:avLst/>
          </a:prstGeom>
          <a:ln>
            <a:solidFill>
              <a:schemeClr val="bg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文本框 48"/>
          <p:cNvSpPr txBox="1">
            <a:spLocks noChangeArrowheads="1"/>
          </p:cNvSpPr>
          <p:nvPr/>
        </p:nvSpPr>
        <p:spPr bwMode="auto">
          <a:xfrm>
            <a:off x="6015198" y="2146494"/>
            <a:ext cx="3393440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指针的概念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6" name="文本框 48"/>
          <p:cNvSpPr txBox="1">
            <a:spLocks noChangeArrowheads="1"/>
          </p:cNvSpPr>
          <p:nvPr/>
        </p:nvSpPr>
        <p:spPr bwMode="auto">
          <a:xfrm>
            <a:off x="6014563" y="28049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指针和变量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7" name="文本框 48"/>
          <p:cNvSpPr txBox="1">
            <a:spLocks noChangeArrowheads="1"/>
          </p:cNvSpPr>
          <p:nvPr/>
        </p:nvSpPr>
        <p:spPr bwMode="auto">
          <a:xfrm>
            <a:off x="6014563" y="3528889"/>
            <a:ext cx="3394075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指针和数组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28" name="文本框 48"/>
          <p:cNvSpPr txBox="1">
            <a:spLocks noChangeArrowheads="1"/>
          </p:cNvSpPr>
          <p:nvPr/>
        </p:nvSpPr>
        <p:spPr bwMode="auto">
          <a:xfrm>
            <a:off x="6015832" y="4238183"/>
            <a:ext cx="3392806" cy="645160"/>
          </a:xfrm>
          <a:prstGeom prst="rect">
            <a:avLst/>
          </a:prstGeom>
          <a:noFill/>
          <a:ln w="9525">
            <a:noFill/>
            <a:miter lim="800000"/>
          </a:ln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  <p:txBody>
          <a:bodyPr wrap="square">
            <a:spAutoFit/>
          </a:bodyPr>
          <a:lstStyle>
            <a:lvl1pPr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1pPr>
            <a:lvl2pPr marL="742950" indent="-28575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2pPr>
            <a:lvl3pPr marL="11430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3pPr>
            <a:lvl4pPr marL="16002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4pPr>
            <a:lvl5pPr marL="2057400" indent="-228600"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5pPr>
            <a:lvl6pPr marL="25146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6pPr>
            <a:lvl7pPr marL="29718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7pPr>
            <a:lvl8pPr marL="34290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8pPr>
            <a:lvl9pPr marL="3886200" indent="-228600" defTabSz="684530" fontAlgn="base">
              <a:spcBef>
                <a:spcPct val="0"/>
              </a:spcBef>
              <a:spcAft>
                <a:spcPct val="0"/>
              </a:spcAft>
              <a:defRPr sz="1300">
                <a:solidFill>
                  <a:schemeClr val="tx1"/>
                </a:solidFill>
                <a:latin typeface="华文细黑" panose="02010600040101010101" pitchFamily="2" charset="-122"/>
                <a:ea typeface="华文细黑" panose="02010600040101010101" pitchFamily="2" charset="-122"/>
              </a:defRPr>
            </a:lvl9pPr>
          </a:lstStyle>
          <a:p>
            <a:pPr algn="l" defTabSz="685800" eaLnBrk="1" hangingPunct="1">
              <a:buClrTx/>
              <a:buSzTx/>
              <a:buFontTx/>
            </a:pPr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指针和字符串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  <p:sp>
        <p:nvSpPr>
          <p:cNvPr id="30" name="文本框 16"/>
          <p:cNvSpPr txBox="1"/>
          <p:nvPr/>
        </p:nvSpPr>
        <p:spPr>
          <a:xfrm>
            <a:off x="2304029" y="2102240"/>
            <a:ext cx="2142084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zh-CN"/>
            </a:defPPr>
            <a:lvl1pPr marL="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3429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6858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0287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3716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17145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0574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24003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2743200" algn="l" defTabSz="685800" rtl="0" eaLnBrk="1" latinLnBrk="0" hangingPunct="1">
              <a:defRPr sz="135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r>
              <a:rPr lang="zh-CN" altLang="en-US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目录 </a:t>
            </a:r>
            <a:r>
              <a:rPr lang="en-US" altLang="zh-CN" sz="3600" dirty="0" smtClean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r>
              <a:rPr lang="en-US" altLang="zh-CN" sz="32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Contents</a:t>
            </a:r>
            <a:r>
              <a:rPr lang="en-US" altLang="zh-CN" sz="3600" dirty="0">
                <a:solidFill>
                  <a:srgbClr val="F6F5F6"/>
                </a:solidFill>
                <a:latin typeface="方正清刻本悦宋简体" panose="02000000000000000000" pitchFamily="2" charset="-122"/>
                <a:ea typeface="方正清刻本悦宋简体" panose="02000000000000000000" pitchFamily="2" charset="-122"/>
              </a:rPr>
              <a:t> </a:t>
            </a:r>
            <a:endParaRPr lang="zh-CN" altLang="en-US" sz="3600" dirty="0">
              <a:solidFill>
                <a:srgbClr val="F6F5F6"/>
              </a:solidFill>
              <a:latin typeface="方正清刻本悦宋简体" panose="02000000000000000000" pitchFamily="2" charset="-122"/>
              <a:ea typeface="方正清刻本悦宋简体" panose="02000000000000000000" pitchFamily="2" charset="-122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PART01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指针的概念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95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38100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  <a:ln w="38100">
              <a:noFill/>
            </a:ln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指针的概念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846455" y="1272540"/>
            <a:ext cx="9624060" cy="132207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1、指针是什么？起什么作用？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指针是变量的一种，里面是一个地址，通过这个地址找到要找的数据。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实质：内存的地址就是指针内容。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886460" y="348869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846455" y="3120390"/>
            <a:ext cx="24879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int a = 10;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452120" y="3501390"/>
            <a:ext cx="43434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sz="2000" b="1">
                <a:solidFill>
                  <a:schemeClr val="bg1"/>
                </a:solidFill>
              </a:rPr>
              <a:t>a</a:t>
            </a:r>
            <a:endParaRPr lang="en-US" altLang="zh-CN" sz="2000" b="1">
              <a:solidFill>
                <a:schemeClr val="bg1"/>
              </a:solidFill>
            </a:endParaRPr>
          </a:p>
        </p:txBody>
      </p:sp>
      <p:sp>
        <p:nvSpPr>
          <p:cNvPr id="10" name="文本框 9"/>
          <p:cNvSpPr txBox="1"/>
          <p:nvPr/>
        </p:nvSpPr>
        <p:spPr>
          <a:xfrm>
            <a:off x="1182370" y="35013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1" name="文本框 10"/>
          <p:cNvSpPr txBox="1"/>
          <p:nvPr/>
        </p:nvSpPr>
        <p:spPr>
          <a:xfrm>
            <a:off x="3334385" y="35013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5468620" y="35013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7587615" y="34886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00001010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8" name="文本框 7"/>
          <p:cNvSpPr txBox="1"/>
          <p:nvPr/>
        </p:nvSpPr>
        <p:spPr>
          <a:xfrm>
            <a:off x="889000" y="4014470"/>
            <a:ext cx="10688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0x1000                   0x1001                    0x1002                    0x1003                </a:t>
            </a:r>
            <a:r>
              <a:rPr lang="zh-CN" altLang="en-US" b="1">
                <a:solidFill>
                  <a:schemeClr val="bg1"/>
                </a:solidFill>
              </a:rPr>
              <a:t>每个字节都有地址</a:t>
            </a:r>
            <a:endParaRPr lang="zh-CN" altLang="en-US" b="1">
              <a:solidFill>
                <a:schemeClr val="bg1"/>
              </a:solidFill>
            </a:endParaRPr>
          </a:p>
        </p:txBody>
      </p:sp>
      <p:sp>
        <p:nvSpPr>
          <p:cNvPr id="9" name="文本框 8"/>
          <p:cNvSpPr txBox="1"/>
          <p:nvPr/>
        </p:nvSpPr>
        <p:spPr>
          <a:xfrm>
            <a:off x="889000" y="4541520"/>
            <a:ext cx="10261600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如何保存变量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的地址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0x1000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？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地址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0x1000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也是一种数据，就是整数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1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需要整型来保存一样。地址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0x1000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需要指针来保存。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指针运算符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136650"/>
            <a:ext cx="8761730" cy="163004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2、指针运算符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&amp;是取地址的运算符，*是表示取值运算符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例：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 *p，a;   p =&amp;a;  *p =3；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1450975" y="313309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>
                        <a:solidFill>
                          <a:srgbClr val="6AAFE6"/>
                        </a:solidFill>
                      </a:endParaRPr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21" name="文本框 20"/>
          <p:cNvSpPr txBox="1"/>
          <p:nvPr/>
        </p:nvSpPr>
        <p:spPr>
          <a:xfrm>
            <a:off x="1016635" y="3145790"/>
            <a:ext cx="4343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2" name="文本框 21"/>
          <p:cNvSpPr txBox="1"/>
          <p:nvPr/>
        </p:nvSpPr>
        <p:spPr>
          <a:xfrm>
            <a:off x="1746885" y="31457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3" name="文本框 22"/>
          <p:cNvSpPr txBox="1"/>
          <p:nvPr/>
        </p:nvSpPr>
        <p:spPr>
          <a:xfrm>
            <a:off x="3898900" y="31457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28" name="文本框 27"/>
          <p:cNvSpPr txBox="1"/>
          <p:nvPr/>
        </p:nvSpPr>
        <p:spPr>
          <a:xfrm>
            <a:off x="6033135" y="31457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00000000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8" name="文本框 37"/>
          <p:cNvSpPr txBox="1"/>
          <p:nvPr/>
        </p:nvSpPr>
        <p:spPr>
          <a:xfrm>
            <a:off x="8152130" y="3133090"/>
            <a:ext cx="15271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00001010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39" name="文本框 38"/>
          <p:cNvSpPr txBox="1"/>
          <p:nvPr/>
        </p:nvSpPr>
        <p:spPr>
          <a:xfrm>
            <a:off x="1453515" y="3658870"/>
            <a:ext cx="1046607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0x1000                   0x1001                    0x1002                    0x1003               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每个字节都有地址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graphicFrame>
        <p:nvGraphicFramePr>
          <p:cNvPr id="40" name="表格 39"/>
          <p:cNvGraphicFramePr/>
          <p:nvPr/>
        </p:nvGraphicFramePr>
        <p:xfrm>
          <a:off x="1450975" y="4808220"/>
          <a:ext cx="853186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2965"/>
                <a:gridCol w="2132965"/>
                <a:gridCol w="2132965"/>
                <a:gridCol w="213296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41" name="文本框 40"/>
          <p:cNvSpPr txBox="1"/>
          <p:nvPr/>
        </p:nvSpPr>
        <p:spPr>
          <a:xfrm>
            <a:off x="649605" y="4820920"/>
            <a:ext cx="80391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指针p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2" name="文本框 41"/>
          <p:cNvSpPr txBox="1"/>
          <p:nvPr/>
        </p:nvSpPr>
        <p:spPr>
          <a:xfrm>
            <a:off x="1450975" y="4820920"/>
            <a:ext cx="852995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>
                <a:solidFill>
                  <a:schemeClr val="bg1"/>
                </a:solidFill>
              </a:rPr>
              <a:t>0x1000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43" name="文本框 42"/>
          <p:cNvSpPr txBox="1"/>
          <p:nvPr/>
        </p:nvSpPr>
        <p:spPr>
          <a:xfrm>
            <a:off x="3460750" y="5189220"/>
            <a:ext cx="338264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保存的是变量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的地址</a:t>
            </a:r>
            <a:endParaRPr lang="zh-CN" altLang="en-US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44" name="上箭头 43"/>
          <p:cNvSpPr/>
          <p:nvPr/>
        </p:nvSpPr>
        <p:spPr>
          <a:xfrm>
            <a:off x="5514975" y="3935730"/>
            <a:ext cx="407670" cy="723900"/>
          </a:xfrm>
          <a:prstGeom prst="upArrow">
            <a:avLst/>
          </a:prstGeom>
          <a:solidFill>
            <a:srgbClr val="6AA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45" name="文本框 44"/>
          <p:cNvSpPr txBox="1"/>
          <p:nvPr/>
        </p:nvSpPr>
        <p:spPr>
          <a:xfrm>
            <a:off x="6126480" y="4106545"/>
            <a:ext cx="385572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指向变量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，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 *p </a:t>
            </a:r>
            <a:r>
              <a:rPr lang="zh-CN" altLang="en-US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等价于 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a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  <a:cs typeface="+mn-ea"/>
                  <a:sym typeface="+mn-lt"/>
                </a:rPr>
                <a:t>指针做函数参数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endParaRPr>
            </a:p>
          </p:txBody>
        </p:sp>
      </p:grp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383540" y="1480820"/>
            <a:ext cx="10131425" cy="193802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、指针做函数参数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函数参数的传递分为两种：值传递和地址传递，地址传递就是指针。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交换两个数字：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void swap(int *x, int *y);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  <p:graphicFrame>
        <p:nvGraphicFramePr>
          <p:cNvPr id="2" name="表格 1"/>
          <p:cNvGraphicFramePr/>
          <p:nvPr/>
        </p:nvGraphicFramePr>
        <p:xfrm>
          <a:off x="3098165" y="3693160"/>
          <a:ext cx="49834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6" name="文本框 5"/>
          <p:cNvSpPr txBox="1"/>
          <p:nvPr/>
        </p:nvSpPr>
        <p:spPr>
          <a:xfrm>
            <a:off x="4008755" y="3324860"/>
            <a:ext cx="3161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                                      b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21" name="文本框 20"/>
          <p:cNvSpPr txBox="1"/>
          <p:nvPr/>
        </p:nvSpPr>
        <p:spPr>
          <a:xfrm>
            <a:off x="4008755" y="3693160"/>
            <a:ext cx="3048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1                                      2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7" name="文本框 6"/>
          <p:cNvSpPr txBox="1"/>
          <p:nvPr/>
        </p:nvSpPr>
        <p:spPr>
          <a:xfrm>
            <a:off x="3098165" y="4074160"/>
            <a:ext cx="3753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0x100                           0x104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8" name="表格 7"/>
          <p:cNvGraphicFramePr/>
          <p:nvPr/>
        </p:nvGraphicFramePr>
        <p:xfrm>
          <a:off x="3098165" y="4664710"/>
          <a:ext cx="4983480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491740"/>
                <a:gridCol w="2491740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9" name="文本框 8"/>
          <p:cNvSpPr txBox="1"/>
          <p:nvPr/>
        </p:nvSpPr>
        <p:spPr>
          <a:xfrm>
            <a:off x="3098165" y="5045710"/>
            <a:ext cx="409257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            int *x                           int *y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0" name="上箭头 9"/>
          <p:cNvSpPr/>
          <p:nvPr/>
        </p:nvSpPr>
        <p:spPr>
          <a:xfrm>
            <a:off x="4119880" y="4148455"/>
            <a:ext cx="168910" cy="508000"/>
          </a:xfrm>
          <a:prstGeom prst="upArrow">
            <a:avLst/>
          </a:prstGeom>
          <a:solidFill>
            <a:srgbClr val="6AA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1" name="上箭头 10"/>
          <p:cNvSpPr/>
          <p:nvPr/>
        </p:nvSpPr>
        <p:spPr>
          <a:xfrm>
            <a:off x="6682740" y="4148455"/>
            <a:ext cx="168910" cy="508000"/>
          </a:xfrm>
          <a:prstGeom prst="upArrow">
            <a:avLst/>
          </a:prstGeom>
          <a:solidFill>
            <a:srgbClr val="6AA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2" name="文本框 11"/>
          <p:cNvSpPr txBox="1"/>
          <p:nvPr/>
        </p:nvSpPr>
        <p:spPr>
          <a:xfrm>
            <a:off x="3498850" y="4677410"/>
            <a:ext cx="1721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0x100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5906135" y="4656455"/>
            <a:ext cx="172148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0x200</a:t>
            </a:r>
            <a:endParaRPr lang="en-US" altLang="zh-CN">
              <a:solidFill>
                <a:schemeClr val="bg1"/>
              </a:solidFill>
            </a:endParaRPr>
          </a:p>
        </p:txBody>
      </p:sp>
      <p:sp>
        <p:nvSpPr>
          <p:cNvPr id="16" name="文本框 15"/>
          <p:cNvSpPr txBox="1"/>
          <p:nvPr/>
        </p:nvSpPr>
        <p:spPr>
          <a:xfrm>
            <a:off x="2534285" y="5573395"/>
            <a:ext cx="5997575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*x就是a，*y就是b，通过指针间接操作变量a和b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PART02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指针和变量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指针运算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608455"/>
            <a:ext cx="887603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、指针可以赋值运算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a, *pa = &amp;a, *pb ;  pb = pa；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、经典笔试题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fr-FR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x=3, y=0 , *px = &amp;x;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y = *px +5;                  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y = ++*px;                                                             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y = *px++;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*px++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和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(*px)++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的区别！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指针运算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47775"/>
            <a:ext cx="10540365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实现库函数：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strcpy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*mystrcpy(char *dest, const char *src)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{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}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 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修饰指针是什么意思？（笔试重点）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 char *s1;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char *const s1;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const char *const s1;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空指针和野指针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6" name="文本框 5"/>
          <p:cNvSpPr txBox="1"/>
          <p:nvPr/>
        </p:nvSpPr>
        <p:spPr>
          <a:xfrm>
            <a:off x="1014730" y="1046480"/>
            <a:ext cx="9707880" cy="516953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、定义指针的时候，养成初始化的习惯。比如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 = NULL;       //NULL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是空指针，其实就是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0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、如果定义指针没有初始化，则变成野指针。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*p;                    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如果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是局部变量，则为垃圾值，称为野指针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*p = 100;  </a:t>
            </a:r>
            <a:r>
              <a:rPr lang="en-US" altLang="zh-CN" sz="2000" b="1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//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访问不能访问的内存（野地址），程序奔溃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、正确的使用指针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a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、定义指针；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b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、初始化指针；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、使用指针。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36518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zh-CN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初始化指针</a:t>
              </a:r>
              <a:endParaRPr lang="zh-CN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864870" y="1247775"/>
            <a:ext cx="8155940" cy="470789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  <a:buNone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、初始化为已知变量的地址。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a;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int *p = &amp;a;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、初始化为字符串常量的地址；</a:t>
            </a:r>
            <a:endParaRPr lang="zh-CN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 = “helloworld”; //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把字符串的地址赋值给指针变量</a:t>
            </a:r>
            <a:endParaRPr lang="zh-CN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endParaRPr lang="zh-CN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malloc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动态申请内存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 = (char *)malloc(sizeof(char) * 128);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free(s);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PART03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指针和数组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4332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指针和数组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矩形 3"/>
          <p:cNvSpPr/>
          <p:nvPr/>
        </p:nvSpPr>
        <p:spPr>
          <a:xfrm>
            <a:off x="3721735" y="3229610"/>
            <a:ext cx="7769860" cy="299974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数组名就是数组首元素地址，指针用来保存地址数据。于是可以这样写：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	int *p = a;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下面就可以通过指针来访问数组。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*p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表示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a[0] 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也可以写成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p[0]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*(p + 1)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表示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a[1]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也可以写成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p[1]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*(p + 2)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表示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a[2]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也可以写成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p[2]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...</a:t>
            </a:r>
            <a:endParaRPr lang="en-US" altLang="zh-CN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5" name="表格 4"/>
          <p:cNvGraphicFramePr/>
          <p:nvPr/>
        </p:nvGraphicFramePr>
        <p:xfrm>
          <a:off x="1830705" y="2137410"/>
          <a:ext cx="853376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06245"/>
                <a:gridCol w="1706245"/>
                <a:gridCol w="1706245"/>
                <a:gridCol w="1706245"/>
                <a:gridCol w="170624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12" name="文本框 11"/>
          <p:cNvSpPr txBox="1"/>
          <p:nvPr/>
        </p:nvSpPr>
        <p:spPr>
          <a:xfrm>
            <a:off x="1474470" y="2150110"/>
            <a:ext cx="3562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a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sp>
        <p:nvSpPr>
          <p:cNvPr id="13" name="文本框 12"/>
          <p:cNvSpPr txBox="1"/>
          <p:nvPr/>
        </p:nvSpPr>
        <p:spPr>
          <a:xfrm>
            <a:off x="1830705" y="2150110"/>
            <a:ext cx="850900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</a:rPr>
              <a:t>           1                       2                       3                       4                       5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6" name="文本框 5"/>
          <p:cNvSpPr txBox="1"/>
          <p:nvPr/>
        </p:nvSpPr>
        <p:spPr>
          <a:xfrm>
            <a:off x="1861820" y="2666365"/>
            <a:ext cx="843851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rPr>
              <a:t>0x100              0x104               0x108                0x10C               0x110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</a:endParaRPr>
          </a:p>
        </p:txBody>
      </p:sp>
      <p:graphicFrame>
        <p:nvGraphicFramePr>
          <p:cNvPr id="7" name="表格 6"/>
          <p:cNvGraphicFramePr/>
          <p:nvPr/>
        </p:nvGraphicFramePr>
        <p:xfrm>
          <a:off x="1861820" y="3816985"/>
          <a:ext cx="166179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6179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16" name="文本框 15"/>
          <p:cNvSpPr txBox="1"/>
          <p:nvPr/>
        </p:nvSpPr>
        <p:spPr>
          <a:xfrm>
            <a:off x="913765" y="3816985"/>
            <a:ext cx="91694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指针</a:t>
            </a:r>
            <a:r>
              <a:rPr lang="en-US" altLang="zh-CN" b="1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</a:rPr>
              <a:t>p</a:t>
            </a:r>
            <a:endParaRPr lang="en-US" altLang="zh-CN" b="1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</p:txBody>
      </p:sp>
      <p:sp>
        <p:nvSpPr>
          <p:cNvPr id="8" name="上箭头 7"/>
          <p:cNvSpPr/>
          <p:nvPr/>
        </p:nvSpPr>
        <p:spPr>
          <a:xfrm>
            <a:off x="2609850" y="2920365"/>
            <a:ext cx="267970" cy="720090"/>
          </a:xfrm>
          <a:prstGeom prst="upArrow">
            <a:avLst/>
          </a:prstGeom>
          <a:solidFill>
            <a:srgbClr val="6AA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  <p:sp>
        <p:nvSpPr>
          <p:cNvPr id="18" name="文本框 17"/>
          <p:cNvSpPr txBox="1"/>
          <p:nvPr/>
        </p:nvSpPr>
        <p:spPr>
          <a:xfrm>
            <a:off x="2172335" y="3823335"/>
            <a:ext cx="1143635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en-US" altLang="zh-CN">
                <a:solidFill>
                  <a:schemeClr val="bg1"/>
                </a:solidFill>
              </a:rPr>
              <a:t>0x100</a:t>
            </a:r>
            <a:endParaRPr lang="en-US" altLang="zh-CN">
              <a:solidFill>
                <a:schemeClr val="bg1"/>
              </a:solidFill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指针和数组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10" name="文本框 9"/>
          <p:cNvSpPr txBox="1"/>
          <p:nvPr/>
        </p:nvSpPr>
        <p:spPr>
          <a:xfrm>
            <a:off x="864715" y="1141839"/>
            <a:ext cx="7968290" cy="506730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</a:pPr>
            <a:r>
              <a:rPr lang="zh-CN" altLang="en-US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  <a:sym typeface="+mn-lt"/>
              </a:rPr>
              <a:t>指针就是数组、数组就是指针，可以这么说，但是不严谨</a:t>
            </a:r>
            <a:endParaRPr lang="zh-CN" altLang="en-US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+mn-ea"/>
              <a:sym typeface="+mn-lt"/>
            </a:endParaRPr>
          </a:p>
        </p:txBody>
      </p:sp>
      <p:sp>
        <p:nvSpPr>
          <p:cNvPr id="5" name="矩形 4"/>
          <p:cNvSpPr/>
          <p:nvPr/>
        </p:nvSpPr>
        <p:spPr>
          <a:xfrm>
            <a:off x="2200275" y="3945890"/>
            <a:ext cx="7769860" cy="1938020"/>
          </a:xfrm>
          <a:prstGeom prst="rect">
            <a:avLst/>
          </a:prstGeom>
        </p:spPr>
        <p:txBody>
          <a:bodyPr wrap="square">
            <a:spAutoFit/>
          </a:bodyPr>
          <a:p>
            <a:pPr>
              <a:lnSpc>
                <a:spcPct val="150000"/>
              </a:lnSpc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可以通过数组的形式访问指针指向的内容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ptr[0]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表示字符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'h'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ptr[1]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表示字符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'e'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....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</p:txBody>
      </p:sp>
      <p:graphicFrame>
        <p:nvGraphicFramePr>
          <p:cNvPr id="9" name="表格 8"/>
          <p:cNvGraphicFramePr/>
          <p:nvPr/>
        </p:nvGraphicFramePr>
        <p:xfrm>
          <a:off x="4038600" y="2259330"/>
          <a:ext cx="2663825" cy="36639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825"/>
              </a:tblGrid>
              <a:tr h="366395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11" name="文本框 10"/>
          <p:cNvSpPr txBox="1"/>
          <p:nvPr/>
        </p:nvSpPr>
        <p:spPr>
          <a:xfrm>
            <a:off x="4038600" y="1723390"/>
            <a:ext cx="3021330" cy="33718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r>
              <a:rPr lang="zh-CN" altLang="en-US" sz="16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+mn-ea"/>
              </a:rPr>
              <a:t>char *ptr = “helloworld”;</a:t>
            </a:r>
            <a:endParaRPr lang="zh-CN" altLang="en-US" sz="16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+mn-ea"/>
            </a:endParaRPr>
          </a:p>
        </p:txBody>
      </p:sp>
      <p:sp>
        <p:nvSpPr>
          <p:cNvPr id="12" name="文本框 11"/>
          <p:cNvSpPr txBox="1"/>
          <p:nvPr/>
        </p:nvSpPr>
        <p:spPr>
          <a:xfrm>
            <a:off x="4039235" y="2259330"/>
            <a:ext cx="266319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dist"/>
            <a:r>
              <a:rPr lang="en-US" altLang="zh-CN" b="1">
                <a:solidFill>
                  <a:schemeClr val="bg1"/>
                </a:solidFill>
              </a:rPr>
              <a:t>helloworld</a:t>
            </a:r>
            <a:endParaRPr lang="en-US" altLang="zh-CN" b="1">
              <a:solidFill>
                <a:schemeClr val="bg1"/>
              </a:solidFill>
            </a:endParaRPr>
          </a:p>
        </p:txBody>
      </p:sp>
      <p:graphicFrame>
        <p:nvGraphicFramePr>
          <p:cNvPr id="16" name="表格 15"/>
          <p:cNvGraphicFramePr/>
          <p:nvPr/>
        </p:nvGraphicFramePr>
        <p:xfrm>
          <a:off x="2797810" y="3238500"/>
          <a:ext cx="2663825" cy="381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63825"/>
              </a:tblGrid>
              <a:tr h="381000">
                <a:tc>
                  <a:txBody>
                    <a:bodyPr/>
                    <a:p>
                      <a:pPr>
                        <a:buNone/>
                      </a:pPr>
                      <a:endParaRPr lang="zh-CN" altLang="en-US"/>
                    </a:p>
                  </a:txBody>
                  <a:tcPr>
                    <a:solidFill>
                      <a:srgbClr val="6AAFE6"/>
                    </a:solidFill>
                  </a:tcPr>
                </a:tc>
              </a:tr>
            </a:tbl>
          </a:graphicData>
        </a:graphic>
      </p:graphicFrame>
      <p:sp>
        <p:nvSpPr>
          <p:cNvPr id="22" name="文本框 21"/>
          <p:cNvSpPr txBox="1"/>
          <p:nvPr/>
        </p:nvSpPr>
        <p:spPr>
          <a:xfrm>
            <a:off x="3246755" y="3238500"/>
            <a:ext cx="1764030" cy="3683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ctr"/>
            <a:r>
              <a:rPr lang="zh-CN" altLang="zh-CN" b="1">
                <a:solidFill>
                  <a:schemeClr val="bg1"/>
                </a:solidFill>
              </a:rPr>
              <a:t>指针</a:t>
            </a:r>
            <a:r>
              <a:rPr lang="en-US" altLang="zh-CN" b="1">
                <a:solidFill>
                  <a:schemeClr val="bg1"/>
                </a:solidFill>
              </a:rPr>
              <a:t>ptr</a:t>
            </a:r>
            <a:endParaRPr lang="en-US" altLang="zh-CN" b="1">
              <a:solidFill>
                <a:schemeClr val="bg1"/>
              </a:solidFill>
            </a:endParaRPr>
          </a:p>
        </p:txBody>
      </p:sp>
      <p:sp>
        <p:nvSpPr>
          <p:cNvPr id="23" name="上箭头 22"/>
          <p:cNvSpPr/>
          <p:nvPr/>
        </p:nvSpPr>
        <p:spPr>
          <a:xfrm>
            <a:off x="3994785" y="2702560"/>
            <a:ext cx="267970" cy="535940"/>
          </a:xfrm>
          <a:prstGeom prst="upArrow">
            <a:avLst/>
          </a:prstGeom>
          <a:solidFill>
            <a:srgbClr val="6AAFE6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p>
            <a:pPr algn="ctr"/>
            <a:endParaRPr lang="zh-CN" altLang="en-US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指针和数组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4" name="文本框 3"/>
          <p:cNvSpPr txBox="1"/>
          <p:nvPr/>
        </p:nvSpPr>
        <p:spPr>
          <a:xfrm>
            <a:off x="864870" y="1348105"/>
            <a:ext cx="712406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思考：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a[5] = {1, 2, 3, 4, 5};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*p1 = (int*)(&amp;a + 1);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*p2 = (int*)((int)a + 1);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*p3 = (int*)(a + 1);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marL="0" algn="l">
              <a:lnSpc>
                <a:spcPct val="150000"/>
              </a:lnSpc>
              <a:buClrTx/>
              <a:buSz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p1[0], p2[0], p3[0]的值分别为多少？</a:t>
            </a:r>
            <a:endParaRPr lang="zh-CN" altLang="en-US" sz="2000" b="1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4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30997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PART04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指针和字符串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定义字符串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3" name="文本框 2"/>
          <p:cNvSpPr txBox="1"/>
          <p:nvPr/>
        </p:nvSpPr>
        <p:spPr>
          <a:xfrm>
            <a:off x="713740" y="1397000"/>
            <a:ext cx="10765155" cy="332295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char str[] = “helloworld”;  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数组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printf(“%s\n”, str);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char *s = “helloworld”;         </a:t>
            </a: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 //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字符串常量</a:t>
            </a:r>
            <a:endParaRPr lang="en-US" altLang="zh-CN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lt"/>
              </a:rPr>
              <a:t>printf(“%s\n”, s);</a:t>
            </a: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lt"/>
            </a:endParaRPr>
          </a:p>
          <a:p>
            <a:pPr>
              <a:lnSpc>
                <a:spcPct val="150000"/>
              </a:lnSpc>
            </a:pP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lnSpc>
                <a:spcPct val="150000"/>
              </a:lnSpc>
            </a:pP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两种定义方法有什么区别？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当指针遇上数组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046480"/>
            <a:ext cx="6914515" cy="378460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int 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main()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{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*string[]={”I love China!”,”I am ”};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printf("%s\n",strin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);                              </a:t>
            </a: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//???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en-US" altLang="zh-CN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return 0;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 algn="l">
              <a:lnSpc>
                <a:spcPct val="150000"/>
              </a:lnSpc>
              <a:buClrTx/>
              <a:buSzTx/>
              <a:buFontTx/>
              <a:buNone/>
            </a:pP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}</a:t>
            </a: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</a:t>
            </a: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endParaRPr lang="en-US" altLang="zh-CN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lnSpc>
                <a:spcPct val="150000"/>
              </a:lnSpc>
            </a:pPr>
            <a:r>
              <a:rPr lang="en-US" altLang="zh-CN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string</a:t>
            </a:r>
            <a:r>
              <a:rPr lang="zh-CN" altLang="en-US" sz="2000" b="1" dirty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是数组还是指针？</a:t>
            </a:r>
            <a:endParaRPr lang="zh-CN" altLang="en-US" sz="2000" b="1" dirty="0">
              <a:solidFill>
                <a:schemeClr val="accent2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字符串和字符数组的区别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1014730" y="1090295"/>
            <a:ext cx="10202545" cy="4215765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sz="2000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、字符数组</a:t>
            </a:r>
            <a:endParaRPr lang="zh-CN" altLang="en-US" sz="2000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s1[] = “helloworld”;    //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存放在栈空间，</a:t>
            </a:r>
            <a:r>
              <a:rPr lang="zh-CN" altLang="en-US" sz="2000" b="1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不可以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写成：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s1[]; s1 = “helloworld”;//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编译报错，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数组名是指针常量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endParaRPr lang="en-US" altLang="zh-CN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、字符串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*s2 = “helloworld”;         //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存放在只读数据区，</a:t>
            </a:r>
            <a:r>
              <a:rPr lang="zh-CN" altLang="en-US" sz="2000" b="1" dirty="0" smtClean="0">
                <a:solidFill>
                  <a:schemeClr val="accent2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不能修改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，可以写成：</a:t>
            </a:r>
            <a:endParaRPr lang="zh-CN" altLang="en-US" sz="2000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 lvl="1" indent="0">
              <a:lnSpc>
                <a:spcPct val="150000"/>
              </a:lnSpc>
              <a:spcBef>
                <a:spcPct val="20000"/>
              </a:spcBef>
              <a:buClr>
                <a:srgbClr val="000000"/>
              </a:buClr>
              <a:buFont typeface="Wingdings" panose="05000000000000000000" pitchFamily="2" charset="2"/>
              <a:buNone/>
            </a:pPr>
            <a:r>
              <a:rPr lang="en-US" altLang="zh-CN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	char *s2; s2 = “helloworld”;    //</a:t>
            </a:r>
            <a:r>
              <a:rPr lang="zh-CN" altLang="en-US" sz="2000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相当于指针的赋值</a:t>
            </a:r>
            <a:endParaRPr lang="en-US" altLang="zh-CN" sz="2000" b="1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35" name="组合 34"/>
          <p:cNvGrpSpPr/>
          <p:nvPr/>
        </p:nvGrpSpPr>
        <p:grpSpPr>
          <a:xfrm>
            <a:off x="3800395" y="2721403"/>
            <a:ext cx="5029913" cy="1351107"/>
            <a:chOff x="3800395" y="2721403"/>
            <a:chExt cx="5029913" cy="1351107"/>
          </a:xfrm>
        </p:grpSpPr>
        <p:grpSp>
          <p:nvGrpSpPr>
            <p:cNvPr id="27" name="组合 26"/>
            <p:cNvGrpSpPr/>
            <p:nvPr/>
          </p:nvGrpSpPr>
          <p:grpSpPr>
            <a:xfrm rot="21524908">
              <a:off x="3800395" y="2771316"/>
              <a:ext cx="1128713" cy="1128712"/>
              <a:chOff x="2558424" y="1401428"/>
              <a:chExt cx="1318727" cy="1318727"/>
            </a:xfrm>
          </p:grpSpPr>
          <p:sp>
            <p:nvSpPr>
              <p:cNvPr id="28" name="椭圆 27"/>
              <p:cNvSpPr/>
              <p:nvPr/>
            </p:nvSpPr>
            <p:spPr>
              <a:xfrm>
                <a:off x="2558424" y="1401428"/>
                <a:ext cx="1318727" cy="1318727"/>
              </a:xfrm>
              <a:prstGeom prst="ellipse">
                <a:avLst/>
              </a:prstGeom>
              <a:noFill/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anchor="ctr"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lt1"/>
                    </a:solidFill>
                    <a:latin typeface="+mn-lt"/>
                    <a:ea typeface="+mn-ea"/>
                    <a:cs typeface="+mn-cs"/>
                  </a:defRPr>
                </a:lvl9pPr>
              </a:lstStyle>
              <a:p>
                <a:pPr marL="0" marR="0" lvl="0" indent="0" algn="ctr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sym typeface="Arial" panose="020B0604020202020204"/>
                </a:endParaRPr>
              </a:p>
            </p:txBody>
          </p:sp>
          <p:sp>
            <p:nvSpPr>
              <p:cNvPr id="29" name="Freeform 11"/>
              <p:cNvSpPr/>
              <p:nvPr/>
            </p:nvSpPr>
            <p:spPr bwMode="auto">
              <a:xfrm>
                <a:off x="2675274" y="1815037"/>
                <a:ext cx="1085027" cy="597230"/>
              </a:xfrm>
              <a:custGeom>
                <a:avLst/>
                <a:gdLst>
                  <a:gd name="T0" fmla="*/ 7 w 683"/>
                  <a:gd name="T1" fmla="*/ 118 h 376"/>
                  <a:gd name="T2" fmla="*/ 334 w 683"/>
                  <a:gd name="T3" fmla="*/ 1 h 376"/>
                  <a:gd name="T4" fmla="*/ 341 w 683"/>
                  <a:gd name="T5" fmla="*/ 1 h 376"/>
                  <a:gd name="T6" fmla="*/ 675 w 683"/>
                  <a:gd name="T7" fmla="*/ 118 h 376"/>
                  <a:gd name="T8" fmla="*/ 683 w 683"/>
                  <a:gd name="T9" fmla="*/ 129 h 376"/>
                  <a:gd name="T10" fmla="*/ 675 w 683"/>
                  <a:gd name="T11" fmla="*/ 139 h 376"/>
                  <a:gd name="T12" fmla="*/ 561 w 683"/>
                  <a:gd name="T13" fmla="*/ 172 h 376"/>
                  <a:gd name="T14" fmla="*/ 338 w 683"/>
                  <a:gd name="T15" fmla="*/ 119 h 376"/>
                  <a:gd name="T16" fmla="*/ 328 w 683"/>
                  <a:gd name="T17" fmla="*/ 130 h 376"/>
                  <a:gd name="T18" fmla="*/ 338 w 683"/>
                  <a:gd name="T19" fmla="*/ 140 h 376"/>
                  <a:gd name="T20" fmla="*/ 545 w 683"/>
                  <a:gd name="T21" fmla="*/ 185 h 376"/>
                  <a:gd name="T22" fmla="*/ 545 w 683"/>
                  <a:gd name="T23" fmla="*/ 255 h 376"/>
                  <a:gd name="T24" fmla="*/ 545 w 683"/>
                  <a:gd name="T25" fmla="*/ 256 h 376"/>
                  <a:gd name="T26" fmla="*/ 337 w 683"/>
                  <a:gd name="T27" fmla="*/ 305 h 376"/>
                  <a:gd name="T28" fmla="*/ 130 w 683"/>
                  <a:gd name="T29" fmla="*/ 256 h 376"/>
                  <a:gd name="T30" fmla="*/ 130 w 683"/>
                  <a:gd name="T31" fmla="*/ 255 h 376"/>
                  <a:gd name="T32" fmla="*/ 130 w 683"/>
                  <a:gd name="T33" fmla="*/ 174 h 376"/>
                  <a:gd name="T34" fmla="*/ 71 w 683"/>
                  <a:gd name="T35" fmla="*/ 157 h 376"/>
                  <a:gd name="T36" fmla="*/ 71 w 683"/>
                  <a:gd name="T37" fmla="*/ 249 h 376"/>
                  <a:gd name="T38" fmla="*/ 92 w 683"/>
                  <a:gd name="T39" fmla="*/ 277 h 376"/>
                  <a:gd name="T40" fmla="*/ 75 w 683"/>
                  <a:gd name="T41" fmla="*/ 303 h 376"/>
                  <a:gd name="T42" fmla="*/ 82 w 683"/>
                  <a:gd name="T43" fmla="*/ 338 h 376"/>
                  <a:gd name="T44" fmla="*/ 28 w 683"/>
                  <a:gd name="T45" fmla="*/ 361 h 376"/>
                  <a:gd name="T46" fmla="*/ 39 w 683"/>
                  <a:gd name="T47" fmla="*/ 301 h 376"/>
                  <a:gd name="T48" fmla="*/ 26 w 683"/>
                  <a:gd name="T49" fmla="*/ 277 h 376"/>
                  <a:gd name="T50" fmla="*/ 46 w 683"/>
                  <a:gd name="T51" fmla="*/ 249 h 376"/>
                  <a:gd name="T52" fmla="*/ 46 w 683"/>
                  <a:gd name="T53" fmla="*/ 150 h 376"/>
                  <a:gd name="T54" fmla="*/ 8 w 683"/>
                  <a:gd name="T55" fmla="*/ 139 h 376"/>
                  <a:gd name="T56" fmla="*/ 0 w 683"/>
                  <a:gd name="T57" fmla="*/ 129 h 376"/>
                  <a:gd name="T58" fmla="*/ 7 w 683"/>
                  <a:gd name="T59" fmla="*/ 118 h 376"/>
                </a:gdLst>
                <a:ahLst/>
                <a:cxnLst>
                  <a:cxn ang="0">
                    <a:pos x="T0" y="T1"/>
                  </a:cxn>
                  <a:cxn ang="0">
                    <a:pos x="T2" y="T3"/>
                  </a:cxn>
                  <a:cxn ang="0">
                    <a:pos x="T4" y="T5"/>
                  </a:cxn>
                  <a:cxn ang="0">
                    <a:pos x="T6" y="T7"/>
                  </a:cxn>
                  <a:cxn ang="0">
                    <a:pos x="T8" y="T9"/>
                  </a:cxn>
                  <a:cxn ang="0">
                    <a:pos x="T10" y="T11"/>
                  </a:cxn>
                  <a:cxn ang="0">
                    <a:pos x="T12" y="T13"/>
                  </a:cxn>
                  <a:cxn ang="0">
                    <a:pos x="T14" y="T15"/>
                  </a:cxn>
                  <a:cxn ang="0">
                    <a:pos x="T16" y="T17"/>
                  </a:cxn>
                  <a:cxn ang="0">
                    <a:pos x="T18" y="T19"/>
                  </a:cxn>
                  <a:cxn ang="0">
                    <a:pos x="T20" y="T21"/>
                  </a:cxn>
                  <a:cxn ang="0">
                    <a:pos x="T22" y="T23"/>
                  </a:cxn>
                  <a:cxn ang="0">
                    <a:pos x="T24" y="T25"/>
                  </a:cxn>
                  <a:cxn ang="0">
                    <a:pos x="T26" y="T27"/>
                  </a:cxn>
                  <a:cxn ang="0">
                    <a:pos x="T28" y="T29"/>
                  </a:cxn>
                  <a:cxn ang="0">
                    <a:pos x="T30" y="T31"/>
                  </a:cxn>
                  <a:cxn ang="0">
                    <a:pos x="T32" y="T33"/>
                  </a:cxn>
                  <a:cxn ang="0">
                    <a:pos x="T34" y="T35"/>
                  </a:cxn>
                  <a:cxn ang="0">
                    <a:pos x="T36" y="T37"/>
                  </a:cxn>
                  <a:cxn ang="0">
                    <a:pos x="T38" y="T39"/>
                  </a:cxn>
                  <a:cxn ang="0">
                    <a:pos x="T40" y="T41"/>
                  </a:cxn>
                  <a:cxn ang="0">
                    <a:pos x="T42" y="T43"/>
                  </a:cxn>
                  <a:cxn ang="0">
                    <a:pos x="T44" y="T45"/>
                  </a:cxn>
                  <a:cxn ang="0">
                    <a:pos x="T46" y="T47"/>
                  </a:cxn>
                  <a:cxn ang="0">
                    <a:pos x="T48" y="T49"/>
                  </a:cxn>
                  <a:cxn ang="0">
                    <a:pos x="T50" y="T51"/>
                  </a:cxn>
                  <a:cxn ang="0">
                    <a:pos x="T52" y="T53"/>
                  </a:cxn>
                  <a:cxn ang="0">
                    <a:pos x="T54" y="T55"/>
                  </a:cxn>
                  <a:cxn ang="0">
                    <a:pos x="T56" y="T57"/>
                  </a:cxn>
                  <a:cxn ang="0">
                    <a:pos x="T58" y="T59"/>
                  </a:cxn>
                </a:cxnLst>
                <a:rect l="0" t="0" r="r" b="b"/>
                <a:pathLst>
                  <a:path w="683" h="376">
                    <a:moveTo>
                      <a:pt x="7" y="118"/>
                    </a:moveTo>
                    <a:cubicBezTo>
                      <a:pt x="334" y="1"/>
                      <a:pt x="334" y="1"/>
                      <a:pt x="334" y="1"/>
                    </a:cubicBezTo>
                    <a:cubicBezTo>
                      <a:pt x="336" y="0"/>
                      <a:pt x="339" y="0"/>
                      <a:pt x="341" y="1"/>
                    </a:cubicBezTo>
                    <a:cubicBezTo>
                      <a:pt x="675" y="118"/>
                      <a:pt x="675" y="118"/>
                      <a:pt x="675" y="118"/>
                    </a:cubicBezTo>
                    <a:cubicBezTo>
                      <a:pt x="680" y="120"/>
                      <a:pt x="683" y="124"/>
                      <a:pt x="683" y="129"/>
                    </a:cubicBezTo>
                    <a:cubicBezTo>
                      <a:pt x="682" y="134"/>
                      <a:pt x="679" y="138"/>
                      <a:pt x="675" y="139"/>
                    </a:cubicBezTo>
                    <a:cubicBezTo>
                      <a:pt x="561" y="172"/>
                      <a:pt x="561" y="172"/>
                      <a:pt x="561" y="172"/>
                    </a:cubicBezTo>
                    <a:cubicBezTo>
                      <a:pt x="537" y="136"/>
                      <a:pt x="430" y="119"/>
                      <a:pt x="338" y="119"/>
                    </a:cubicBezTo>
                    <a:cubicBezTo>
                      <a:pt x="333" y="119"/>
                      <a:pt x="328" y="124"/>
                      <a:pt x="328" y="130"/>
                    </a:cubicBezTo>
                    <a:cubicBezTo>
                      <a:pt x="328" y="136"/>
                      <a:pt x="333" y="140"/>
                      <a:pt x="338" y="140"/>
                    </a:cubicBezTo>
                    <a:cubicBezTo>
                      <a:pt x="452" y="140"/>
                      <a:pt x="534" y="164"/>
                      <a:pt x="545" y="185"/>
                    </a:cubicBezTo>
                    <a:cubicBezTo>
                      <a:pt x="545" y="255"/>
                      <a:pt x="545" y="255"/>
                      <a:pt x="545" y="255"/>
                    </a:cubicBezTo>
                    <a:cubicBezTo>
                      <a:pt x="545" y="255"/>
                      <a:pt x="545" y="255"/>
                      <a:pt x="545" y="256"/>
                    </a:cubicBezTo>
                    <a:cubicBezTo>
                      <a:pt x="545" y="283"/>
                      <a:pt x="452" y="305"/>
                      <a:pt x="337" y="305"/>
                    </a:cubicBezTo>
                    <a:cubicBezTo>
                      <a:pt x="223" y="305"/>
                      <a:pt x="130" y="283"/>
                      <a:pt x="130" y="256"/>
                    </a:cubicBezTo>
                    <a:cubicBezTo>
                      <a:pt x="130" y="255"/>
                      <a:pt x="130" y="255"/>
                      <a:pt x="130" y="255"/>
                    </a:cubicBezTo>
                    <a:cubicBezTo>
                      <a:pt x="130" y="174"/>
                      <a:pt x="130" y="174"/>
                      <a:pt x="130" y="174"/>
                    </a:cubicBezTo>
                    <a:cubicBezTo>
                      <a:pt x="71" y="157"/>
                      <a:pt x="71" y="157"/>
                      <a:pt x="71" y="157"/>
                    </a:cubicBezTo>
                    <a:cubicBezTo>
                      <a:pt x="71" y="249"/>
                      <a:pt x="71" y="249"/>
                      <a:pt x="71" y="249"/>
                    </a:cubicBezTo>
                    <a:cubicBezTo>
                      <a:pt x="83" y="253"/>
                      <a:pt x="92" y="264"/>
                      <a:pt x="92" y="277"/>
                    </a:cubicBezTo>
                    <a:cubicBezTo>
                      <a:pt x="92" y="288"/>
                      <a:pt x="85" y="298"/>
                      <a:pt x="75" y="303"/>
                    </a:cubicBezTo>
                    <a:cubicBezTo>
                      <a:pt x="82" y="338"/>
                      <a:pt x="82" y="338"/>
                      <a:pt x="82" y="338"/>
                    </a:cubicBezTo>
                    <a:cubicBezTo>
                      <a:pt x="86" y="354"/>
                      <a:pt x="26" y="376"/>
                      <a:pt x="28" y="361"/>
                    </a:cubicBezTo>
                    <a:cubicBezTo>
                      <a:pt x="39" y="301"/>
                      <a:pt x="39" y="301"/>
                      <a:pt x="39" y="301"/>
                    </a:cubicBezTo>
                    <a:cubicBezTo>
                      <a:pt x="31" y="296"/>
                      <a:pt x="26" y="287"/>
                      <a:pt x="26" y="277"/>
                    </a:cubicBezTo>
                    <a:cubicBezTo>
                      <a:pt x="26" y="264"/>
                      <a:pt x="34" y="253"/>
                      <a:pt x="46" y="249"/>
                    </a:cubicBezTo>
                    <a:cubicBezTo>
                      <a:pt x="46" y="150"/>
                      <a:pt x="46" y="150"/>
                      <a:pt x="46" y="150"/>
                    </a:cubicBezTo>
                    <a:cubicBezTo>
                      <a:pt x="8" y="139"/>
                      <a:pt x="8" y="139"/>
                      <a:pt x="8" y="139"/>
                    </a:cubicBezTo>
                    <a:cubicBezTo>
                      <a:pt x="3" y="138"/>
                      <a:pt x="0" y="134"/>
                      <a:pt x="0" y="129"/>
                    </a:cubicBezTo>
                    <a:cubicBezTo>
                      <a:pt x="0" y="124"/>
                      <a:pt x="3" y="120"/>
                      <a:pt x="7" y="118"/>
                    </a:cubicBezTo>
                    <a:close/>
                  </a:path>
                </a:pathLst>
              </a:custGeom>
              <a:solidFill>
                <a:schemeClr val="bg1"/>
              </a:solidFill>
              <a:ln>
                <a:noFill/>
              </a:ln>
            </p:spPr>
            <p:txBody>
              <a:bodyPr/>
              <a:lstStyle>
                <a:defPPr>
                  <a:defRPr lang="zh-CN"/>
                </a:defPPr>
                <a:lvl1pPr marL="0" lvl="0" indent="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1pPr>
                <a:lvl2pPr marL="342900" lvl="1" indent="1143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2pPr>
                <a:lvl3pPr marL="685800" lvl="2" indent="2286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3pPr>
                <a:lvl4pPr marL="1028700" lvl="3" indent="3429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4pPr>
                <a:lvl5pPr marL="1371600" lvl="4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5pPr>
                <a:lvl6pPr marL="2286000" lvl="5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6pPr>
                <a:lvl7pPr marL="2743200" lvl="6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7pPr>
                <a:lvl8pPr marL="3200400" lvl="7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8pPr>
                <a:lvl9pPr marL="3657600" lvl="8" indent="457200" algn="l" defTabSz="685800" eaLnBrk="1" fontAlgn="base" latinLnBrk="0" hangingPunct="1">
                  <a:lnSpc>
                    <a:spcPct val="100000"/>
                  </a:lnSpc>
                  <a:spcBef>
                    <a:spcPct val="0"/>
                  </a:spcBef>
                  <a:spcAft>
                    <a:spcPct val="0"/>
                  </a:spcAft>
                  <a:buNone/>
                  <a:defRPr sz="1300" b="0" i="0" u="none" kern="1200" baseline="0">
                    <a:solidFill>
                      <a:schemeClr val="tx1"/>
                    </a:solidFill>
                    <a:latin typeface="Nexa Light" panose="02000000000000000000" pitchFamily="50" charset="0"/>
                    <a:ea typeface="华康少女文字W5(P)" panose="040F0500000000000000" pitchFamily="82" charset="-122"/>
                  </a:defRPr>
                </a:lvl9pPr>
              </a:lstStyle>
              <a:p>
                <a:pPr marL="0" marR="0" lvl="0" indent="0" algn="l" defTabSz="685800" rtl="0" eaLnBrk="1" fontAlgn="auto" latinLnBrk="0" hangingPunct="1">
                  <a:lnSpc>
                    <a:spcPct val="100000"/>
                  </a:lnSpc>
                  <a:spcBef>
                    <a:spcPts val="0"/>
                  </a:spcBef>
                  <a:spcAft>
                    <a:spcPts val="0"/>
                  </a:spcAft>
                  <a:buClrTx/>
                  <a:buSzTx/>
                  <a:buFontTx/>
                  <a:buNone/>
                  <a:defRPr/>
                </a:pPr>
                <a:endParaRPr kumimoji="0" lang="zh-CN" altLang="en-US" sz="1600" b="0" i="0" u="none" strike="noStrike" kern="1200" cap="none" spc="0" normalizeH="0" baseline="0" noProof="0">
                  <a:ln>
                    <a:noFill/>
                  </a:ln>
                  <a:solidFill>
                    <a:schemeClr val="bg1"/>
                  </a:solidFill>
                  <a:effectLst/>
                  <a:uLnTx/>
                  <a:uFillTx/>
                  <a:latin typeface="Arial" panose="020B0604020202020204"/>
                  <a:ea typeface="微软雅黑" panose="020B0503020204020204" charset="-122"/>
                  <a:cs typeface="+mn-cs"/>
                  <a:sym typeface="Arial" panose="020B0604020202020204"/>
                </a:endParaRPr>
              </a:p>
            </p:txBody>
          </p:sp>
        </p:grpSp>
        <p:grpSp>
          <p:nvGrpSpPr>
            <p:cNvPr id="30" name="组合 29"/>
            <p:cNvGrpSpPr/>
            <p:nvPr/>
          </p:nvGrpSpPr>
          <p:grpSpPr>
            <a:xfrm rot="26108">
              <a:off x="4755150" y="2721403"/>
              <a:ext cx="4075158" cy="1351107"/>
              <a:chOff x="303880" y="2324855"/>
              <a:chExt cx="4075158" cy="1351107"/>
            </a:xfrm>
          </p:grpSpPr>
          <p:sp>
            <p:nvSpPr>
              <p:cNvPr id="31" name="文本框 30"/>
              <p:cNvSpPr txBox="1"/>
              <p:nvPr/>
            </p:nvSpPr>
            <p:spPr>
              <a:xfrm rot="21573892">
                <a:off x="907028" y="2324855"/>
                <a:ext cx="2858135" cy="829945"/>
              </a:xfrm>
              <a:prstGeom prst="rect">
                <a:avLst/>
              </a:prstGeom>
              <a:noFill/>
            </p:spPr>
            <p:txBody>
              <a:bodyPr wrap="square" rtlCol="0">
                <a:spAutoFit/>
              </a:bodyPr>
              <a:lstStyle/>
              <a:p>
                <a:pPr algn="dist"/>
                <a:r>
                  <a:rPr lang="en-US" altLang="zh-CN" sz="4800" dirty="0" smtClean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PART05</a:t>
                </a:r>
                <a:endParaRPr lang="en-US" altLang="zh-CN" sz="48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  <p:sp>
            <p:nvSpPr>
              <p:cNvPr id="32" name="文本框 48"/>
              <p:cNvSpPr txBox="1">
                <a:spLocks noChangeArrowheads="1"/>
              </p:cNvSpPr>
              <p:nvPr/>
            </p:nvSpPr>
            <p:spPr bwMode="auto">
              <a:xfrm>
                <a:off x="303880" y="3215587"/>
                <a:ext cx="4075158" cy="460375"/>
              </a:xfrm>
              <a:prstGeom prst="rect">
                <a:avLst/>
              </a:prstGeom>
              <a:noFill/>
              <a:ln>
                <a:noFill/>
              </a:ln>
              <a:extLst>
                <a:ext uri="{909E8E84-426E-40DD-AFC4-6F175D3DCCD1}">
                  <a14:hiddenFill xmlns:a14="http://schemas.microsoft.com/office/drawing/2010/main">
                    <a:solidFill>
                      <a:srgbClr val="FFFFFF"/>
                    </a:solidFill>
                  </a14:hiddenFill>
                </a:ext>
                <a:ext uri="{91240B29-F687-4F45-9708-019B960494DF}">
                  <a14:hiddenLine xmlns:a14="http://schemas.microsoft.com/office/drawing/2010/main" w="9525">
                    <a:solidFill>
                      <a:srgbClr val="000000"/>
                    </a:solidFill>
                    <a:miter lim="800000"/>
                    <a:headEnd/>
                    <a:tailEnd/>
                  </a14:hiddenLine>
                </a:ext>
              </a:extLst>
            </p:spPr>
            <p:txBody>
              <a:bodyPr wrap="square">
                <a:spAutoFit/>
              </a:bodyPr>
              <a:lstStyle>
                <a:lvl1pPr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1pPr>
                <a:lvl2pPr marL="742950" indent="-28575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2pPr>
                <a:lvl3pPr marL="11430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3pPr>
                <a:lvl4pPr marL="16002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4pPr>
                <a:lvl5pPr marL="2057400" indent="-228600"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5pPr>
                <a:lvl6pPr marL="25146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6pPr>
                <a:lvl7pPr marL="29718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7pPr>
                <a:lvl8pPr marL="34290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8pPr>
                <a:lvl9pPr marL="3886200" indent="-228600" defTabSz="684530" fontAlgn="base">
                  <a:spcBef>
                    <a:spcPct val="0"/>
                  </a:spcBef>
                  <a:spcAft>
                    <a:spcPct val="0"/>
                  </a:spcAft>
                  <a:defRPr sz="1300">
                    <a:solidFill>
                      <a:schemeClr val="tx1"/>
                    </a:solidFill>
                    <a:latin typeface="华文细黑" panose="02010600040101010101" pitchFamily="2" charset="-122"/>
                    <a:ea typeface="华文细黑" panose="02010600040101010101" pitchFamily="2" charset="-122"/>
                  </a:defRPr>
                </a:lvl9pPr>
              </a:lstStyle>
              <a:p>
                <a:pPr algn="ctr" eaLnBrk="1" hangingPunct="1">
                  <a:defRPr/>
                </a:pPr>
                <a:r>
                  <a:rPr lang="zh-CN" altLang="id-ID" sz="2400" dirty="0">
                    <a:solidFill>
                      <a:schemeClr val="bg1"/>
                    </a:solidFill>
                    <a:latin typeface="微软雅黑" panose="020B0503020204020204" charset="-122"/>
                    <a:ea typeface="微软雅黑" panose="020B0503020204020204" charset="-122"/>
                  </a:rPr>
                  <a:t>作业</a:t>
                </a:r>
                <a:endParaRPr lang="zh-CN" altLang="id-ID" sz="2400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endParaRPr>
              </a:p>
            </p:txBody>
          </p:sp>
        </p:grp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00775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244242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" name="组合 13"/>
          <p:cNvGrpSpPr/>
          <p:nvPr/>
        </p:nvGrpSpPr>
        <p:grpSpPr>
          <a:xfrm>
            <a:off x="383556" y="258714"/>
            <a:ext cx="3986603" cy="788014"/>
            <a:chOff x="383556" y="258714"/>
            <a:chExt cx="3986603" cy="788014"/>
          </a:xfrm>
        </p:grpSpPr>
        <p:pic>
          <p:nvPicPr>
            <p:cNvPr id="15" name="图片 14"/>
            <p:cNvPicPr>
              <a:picLocks noChangeAspect="1"/>
            </p:cNvPicPr>
            <p:nvPr/>
          </p:nvPicPr>
          <p:blipFill>
            <a:blip r:embed="rId1" cstate="print"/>
            <a:stretch>
              <a:fillRect/>
            </a:stretch>
          </p:blipFill>
          <p:spPr>
            <a:xfrm>
              <a:off x="383556" y="258714"/>
              <a:ext cx="631018" cy="788014"/>
            </a:xfrm>
            <a:prstGeom prst="rect">
              <a:avLst/>
            </a:prstGeom>
            <a:noFill/>
            <a:ln w="9525">
              <a:noFill/>
            </a:ln>
          </p:spPr>
        </p:pic>
        <p:sp>
          <p:nvSpPr>
            <p:cNvPr id="17" name="文本框 16"/>
            <p:cNvSpPr txBox="1"/>
            <p:nvPr/>
          </p:nvSpPr>
          <p:spPr>
            <a:xfrm>
              <a:off x="864959" y="402014"/>
              <a:ext cx="3505200" cy="368300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zh-CN" altLang="en-US" dirty="0">
                  <a:solidFill>
                    <a:schemeClr val="bg1"/>
                  </a:solidFill>
                  <a:latin typeface="微软雅黑" panose="020B0503020204020204" charset="-122"/>
                  <a:ea typeface="微软雅黑" panose="020B0503020204020204" charset="-122"/>
                </a:rPr>
                <a:t>编程训练（全部用指针实现）</a:t>
              </a:r>
              <a:endPara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</a:endParaRPr>
            </a:p>
          </p:txBody>
        </p:sp>
      </p:grp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  <p:sp>
        <p:nvSpPr>
          <p:cNvPr id="5" name="文本框 4"/>
          <p:cNvSpPr txBox="1"/>
          <p:nvPr/>
        </p:nvSpPr>
        <p:spPr>
          <a:xfrm>
            <a:off x="775335" y="1046480"/>
            <a:ext cx="10640695" cy="5077460"/>
          </a:xfrm>
          <a:prstGeom prst="rect">
            <a:avLst/>
          </a:prstGeom>
          <a:noFill/>
        </p:spPr>
        <p:txBody>
          <a:bodyPr wrap="square" rtlCol="0">
            <a:spAutoFit/>
          </a:bodyPr>
          <a:p>
            <a:pPr>
              <a:buNone/>
            </a:pPr>
            <a:r>
              <a:rPr 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1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、输入任意字符串，把所有小写字母换成大写字母。（输入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ABcDEfgH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ABCDEDFH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2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、去掉字符串中的空格。（输入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  ef g hijk  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 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abcdefghijk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、判断一个字符串是不是回文。（输入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abcdedcba 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输出是）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en-US" altLang="zh-CN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4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、给定字符串 A 和 B,输出 A 和 B 中的最大公共子串。（ A="aocdfe" B="pmcdfa" 输出"cdf"）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5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编写一个C函数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将”I am from shanghai ”倒置为”shanghai from am I”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即将句子中的单词位置倒置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而不改变单词内部结构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6</a:t>
            </a:r>
            <a:r>
              <a:rPr lang="zh-CN" altLang="en-US" dirty="0" smtClean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输入一个字符串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同时输入帧头和帧尾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（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可以是多个字符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），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将该字符串中合法的帧识别出来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     提示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：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帧头和帧尾分别是head和tail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字符串”asdheadhauboisoktail”中headhauboisoktail是合法帧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。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7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、找出字符串中第一个不重复的字符。（输入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google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l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是第一个不重复的字符）</a:t>
            </a:r>
            <a:endParaRPr lang="zh-CN" altLang="en-US" dirty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  <a:p>
            <a:pPr>
              <a:buNone/>
            </a:pP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8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、向左旋转字符串。（输入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XYZabcdef 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，输出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abcdefXYZ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，即字符串向左移动</a:t>
            </a:r>
            <a:r>
              <a:rPr lang="en-US" altLang="zh-CN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3</a:t>
            </a:r>
            <a:r>
              <a:rPr lang="zh-CN" altLang="en-US" dirty="0">
                <a:solidFill>
                  <a:schemeClr val="bg1"/>
                </a:solidFill>
                <a:latin typeface="微软雅黑" panose="020B0503020204020204" charset="-122"/>
                <a:ea typeface="微软雅黑" panose="020B0503020204020204" charset="-122"/>
                <a:cs typeface="微软雅黑" panose="020B0503020204020204" charset="-122"/>
                <a:sym typeface="+mn-ea"/>
              </a:rPr>
              <a:t>位，前面的接到后面）</a:t>
            </a:r>
            <a:endParaRPr lang="zh-CN" altLang="en-US" dirty="0" smtClean="0">
              <a:solidFill>
                <a:schemeClr val="bg1"/>
              </a:solidFill>
              <a:latin typeface="微软雅黑" panose="020B0503020204020204" charset="-122"/>
              <a:ea typeface="微软雅黑" panose="020B0503020204020204" charset="-122"/>
              <a:cs typeface="微软雅黑" panose="020B0503020204020204" charset="-122"/>
              <a:sym typeface="+mn-ea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5325"/>
            <a:ext cx="12192000" cy="6858000"/>
          </a:xfrm>
          <a:prstGeom prst="rect">
            <a:avLst/>
          </a:prstGeom>
        </p:spPr>
      </p:pic>
      <p:grpSp>
        <p:nvGrpSpPr>
          <p:cNvPr id="10" name="组合 9"/>
          <p:cNvGrpSpPr/>
          <p:nvPr/>
        </p:nvGrpSpPr>
        <p:grpSpPr>
          <a:xfrm>
            <a:off x="1809350" y="1642712"/>
            <a:ext cx="8848576" cy="3231651"/>
            <a:chOff x="2360893" y="1845912"/>
            <a:chExt cx="8848576" cy="3231651"/>
          </a:xfrm>
        </p:grpSpPr>
        <p:sp>
          <p:nvSpPr>
            <p:cNvPr id="11" name="原创设计师QQ598969553      _5"/>
            <p:cNvSpPr>
              <a:spLocks noChangeArrowheads="1"/>
            </p:cNvSpPr>
            <p:nvPr/>
          </p:nvSpPr>
          <p:spPr bwMode="auto">
            <a:xfrm>
              <a:off x="2360893" y="3307848"/>
              <a:ext cx="8848576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pPr>
                <a:defRPr/>
              </a:pPr>
              <a:r>
                <a:rPr lang="zh-CN" altLang="en-US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感谢各位观看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  <p:sp>
          <p:nvSpPr>
            <p:cNvPr id="12" name="原创设计师QQ598969553      _12"/>
            <p:cNvSpPr>
              <a:spLocks noChangeArrowheads="1"/>
            </p:cNvSpPr>
            <p:nvPr/>
          </p:nvSpPr>
          <p:spPr bwMode="auto">
            <a:xfrm>
              <a:off x="3278279" y="1845912"/>
              <a:ext cx="6636432" cy="1769715"/>
            </a:xfrm>
            <a:prstGeom prst="rect">
              <a:avLst/>
            </a:prstGeom>
            <a:noFill/>
            <a:ln>
              <a:noFill/>
            </a:ln>
            <a:extLst>
              <a:ext uri="{909E8E84-426E-40DD-AFC4-6F175D3DCCD1}">
                <a14:hiddenFill xmlns:a14="http://schemas.microsoft.com/office/drawing/2010/main">
                  <a:solidFill>
                    <a:srgbClr val="FFFFFF"/>
                  </a:solidFill>
                </a14:hiddenFill>
              </a:ext>
              <a:ext uri="{91240B29-F687-4F45-9708-019B960494DF}">
                <a14:hiddenLine xmlns:a14="http://schemas.microsoft.com/office/drawing/2010/main" w="9525">
                  <a:solidFill>
                    <a:srgbClr val="000000"/>
                  </a:solidFill>
                  <a:miter lim="800000"/>
                  <a:headEnd/>
                  <a:tailEnd/>
                </a14:hiddenLine>
              </a:ext>
            </a:extLst>
          </p:spPr>
          <p:txBody>
            <a:bodyPr wrap="none" lIns="0" tIns="0" rIns="0" bIns="0">
              <a:spAutoFit/>
            </a:bodyPr>
            <a:lstStyle/>
            <a:p>
              <a:r>
                <a:rPr lang="en-US" altLang="zh-CN" sz="11500" dirty="0">
                  <a:solidFill>
                    <a:schemeClr val="bg1"/>
                  </a:solidFill>
                  <a:latin typeface="hakuyoxingshu7000" panose="02000600000000000000" pitchFamily="2" charset="-122"/>
                  <a:ea typeface="hakuyoxingshu7000" panose="02000600000000000000" pitchFamily="2" charset="-122"/>
                  <a:cs typeface="hakuyoxingshu7000" panose="02000600000000000000" pitchFamily="2" charset="-122"/>
                </a:rPr>
                <a:t>THANK YOU</a:t>
              </a:r>
              <a:endParaRPr lang="en-US" altLang="zh-CN" sz="11500" dirty="0">
                <a:solidFill>
                  <a:schemeClr val="bg1"/>
                </a:solidFill>
                <a:latin typeface="hakuyoxingshu7000" panose="02000600000000000000" pitchFamily="2" charset="-122"/>
                <a:ea typeface="hakuyoxingshu7000" panose="02000600000000000000" pitchFamily="2" charset="-122"/>
                <a:cs typeface="hakuyoxingshu7000" panose="02000600000000000000" pitchFamily="2" charset="-122"/>
              </a:endParaRPr>
            </a:p>
          </p:txBody>
        </p:sp>
      </p:grpSp>
      <p:sp>
        <p:nvSpPr>
          <p:cNvPr id="2" name="页脚占位符 1"/>
          <p:cNvSpPr>
            <a:spLocks noGrp="1"/>
          </p:cNvSpPr>
          <p:nvPr>
            <p:ph type="ftr" sz="quarter" idx="11"/>
          </p:nvPr>
        </p:nvSpPr>
        <p:spPr>
          <a:xfrm>
            <a:off x="4038600" y="6229350"/>
            <a:ext cx="4114800" cy="365125"/>
          </a:xfrm>
        </p:spPr>
        <p:txBody>
          <a:bodyPr/>
          <a:p>
            <a:r>
              <a:rPr lang="zh-CN" altLang="en-US"/>
              <a:t>南京学益得智能科技有限公司</a:t>
            </a:r>
            <a:endParaRPr lang="zh-CN" alt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3564</Words>
  <Application>WPS 演示</Application>
  <PresentationFormat>宽屏</PresentationFormat>
  <Paragraphs>310</Paragraphs>
  <Slides>22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15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22</vt:i4>
      </vt:variant>
    </vt:vector>
  </HeadingPairs>
  <TitlesOfParts>
    <vt:vector size="38" baseType="lpstr">
      <vt:lpstr>Arial</vt:lpstr>
      <vt:lpstr>宋体</vt:lpstr>
      <vt:lpstr>Wingdings</vt:lpstr>
      <vt:lpstr>文鼎习字体</vt:lpstr>
      <vt:lpstr>Nexa Light</vt:lpstr>
      <vt:lpstr>Vrinda</vt:lpstr>
      <vt:lpstr>华康少女文字W5(P)</vt:lpstr>
      <vt:lpstr>方正清刻本悦宋简体</vt:lpstr>
      <vt:lpstr>Arial</vt:lpstr>
      <vt:lpstr>华文细黑</vt:lpstr>
      <vt:lpstr>微软雅黑</vt:lpstr>
      <vt:lpstr>Calibri</vt:lpstr>
      <vt:lpstr>Arial Unicode MS</vt:lpstr>
      <vt:lpstr>Calibri Light</vt:lpstr>
      <vt:lpstr>hakuyoxingshu7000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Company>Microsoft</Company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Administrator</dc:creator>
  <cp:lastModifiedBy>X6</cp:lastModifiedBy>
  <cp:revision>93</cp:revision>
  <dcterms:created xsi:type="dcterms:W3CDTF">2017-11-17T09:39:00Z</dcterms:created>
  <dcterms:modified xsi:type="dcterms:W3CDTF">2021-11-14T09:00:14Z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2052-11.1.0.11045</vt:lpwstr>
  </property>
  <property fmtid="{D5CDD505-2E9C-101B-9397-08002B2CF9AE}" pid="3" name="ICV">
    <vt:lpwstr>7F0A95E0E4234C7C884C4861B4637DE5</vt:lpwstr>
  </property>
</Properties>
</file>