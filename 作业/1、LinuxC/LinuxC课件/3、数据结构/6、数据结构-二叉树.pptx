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6" r:id="rId3"/>
    <p:sldId id="257" r:id="rId5"/>
    <p:sldId id="258" r:id="rId6"/>
    <p:sldId id="265" r:id="rId7"/>
    <p:sldId id="260" r:id="rId8"/>
    <p:sldId id="261" r:id="rId9"/>
    <p:sldId id="267" r:id="rId10"/>
    <p:sldId id="264" r:id="rId11"/>
    <p:sldId id="281" r:id="rId12"/>
    <p:sldId id="268" r:id="rId13"/>
    <p:sldId id="292" r:id="rId14"/>
    <p:sldId id="293" r:id="rId15"/>
    <p:sldId id="262" r:id="rId16"/>
    <p:sldId id="269" r:id="rId17"/>
    <p:sldId id="271" r:id="rId18"/>
    <p:sldId id="270" r:id="rId19"/>
    <p:sldId id="294" r:id="rId20"/>
    <p:sldId id="295" r:id="rId21"/>
    <p:sldId id="296" r:id="rId22"/>
    <p:sldId id="297" r:id="rId23"/>
    <p:sldId id="298" r:id="rId24"/>
    <p:sldId id="263" r:id="rId25"/>
    <p:sldId id="27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1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数据结构</a:t>
            </a:r>
            <a:r>
              <a:rPr lang="en-US" altLang="zh-CN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-</a:t>
            </a:r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二叉树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141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679"/>
            <a:ext cx="6625092" cy="2780468"/>
            <a:chOff x="3388622" y="2209939"/>
            <a:chExt cx="5040867" cy="2326297"/>
          </a:xfrm>
        </p:grpSpPr>
        <p:grpSp>
          <p:nvGrpSpPr>
            <p:cNvPr id="7" name="组合 6"/>
            <p:cNvGrpSpPr/>
            <p:nvPr/>
          </p:nvGrpSpPr>
          <p:grpSpPr>
            <a:xfrm>
              <a:off x="5018480" y="2209939"/>
              <a:ext cx="3411009" cy="2326297"/>
              <a:chOff x="5018480" y="2209939"/>
              <a:chExt cx="3411009" cy="2326297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480" y="2209939"/>
                <a:ext cx="583445" cy="2218338"/>
                <a:chOff x="5421311" y="2621290"/>
                <a:chExt cx="583445" cy="2218338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710997" y="2621290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en-US" altLang="zh-CN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710997" y="320072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en-US" altLang="zh-CN" sz="3200" kern="1200" cap="none" spc="0" normalizeH="0" baseline="0" noProof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311" y="2764668"/>
                  <a:ext cx="0" cy="20416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10997" y="3771947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9" name="文本框 23"/>
                <p:cNvSpPr txBox="1"/>
                <p:nvPr/>
              </p:nvSpPr>
              <p:spPr>
                <a:xfrm>
                  <a:off x="5710997" y="4351384"/>
                  <a:ext cx="293759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en-US" altLang="zh-CN" sz="32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4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5579521" y="2246808"/>
                <a:ext cx="2849968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树的概念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5579521" y="2797728"/>
                <a:ext cx="2849968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二叉树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5579521" y="3403287"/>
                <a:ext cx="2849968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二叉树的遍历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  <p:sp>
            <p:nvSpPr>
              <p:cNvPr id="13" name="文本框 48"/>
              <p:cNvSpPr txBox="1">
                <a:spLocks noChangeArrowheads="1"/>
              </p:cNvSpPr>
              <p:nvPr/>
            </p:nvSpPr>
            <p:spPr bwMode="auto">
              <a:xfrm>
                <a:off x="5579521" y="3996459"/>
                <a:ext cx="2849968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defTabSz="685800" eaLnBrk="1" hangingPunct="1">
                  <a:buClrTx/>
                  <a:buSzTx/>
                  <a:buFontTx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二叉排序树</a:t>
                </a:r>
                <a:endPara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树的概念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7189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树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199515"/>
            <a:ext cx="970788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树（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Tree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）是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n&gt;=0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）个结点的有限集。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n=0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的时候称为空树，在任意一颗非空树中：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）有且仅有一个特定的称为根（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root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）的结点；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）当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n&gt;1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时，其余结点可以分为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m&gt;0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）个互不相交的有限集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T1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T2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T3.....Tm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，其中，每一个集合本身又是一棵树，并且称为跟的子树。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248910" y="3809365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038600" y="465582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6518910" y="465582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638425" y="559435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038600" y="559435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390515" y="559435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520305" y="559435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>
            <a:stCxn id="5" idx="3"/>
            <a:endCxn id="6" idx="7"/>
          </p:cNvCxnSpPr>
          <p:nvPr/>
        </p:nvCxnSpPr>
        <p:spPr>
          <a:xfrm flipH="1">
            <a:off x="4688840" y="4459605"/>
            <a:ext cx="671830" cy="307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6" idx="3"/>
            <a:endCxn id="8" idx="7"/>
          </p:cNvCxnSpPr>
          <p:nvPr/>
        </p:nvCxnSpPr>
        <p:spPr>
          <a:xfrm flipH="1">
            <a:off x="3288665" y="5306060"/>
            <a:ext cx="861695" cy="400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6" idx="4"/>
            <a:endCxn id="9" idx="0"/>
          </p:cNvCxnSpPr>
          <p:nvPr/>
        </p:nvCxnSpPr>
        <p:spPr>
          <a:xfrm>
            <a:off x="4419600" y="5417820"/>
            <a:ext cx="0" cy="1765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6" idx="5"/>
            <a:endCxn id="10" idx="1"/>
          </p:cNvCxnSpPr>
          <p:nvPr/>
        </p:nvCxnSpPr>
        <p:spPr>
          <a:xfrm>
            <a:off x="4688840" y="5306060"/>
            <a:ext cx="813435" cy="400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>
            <a:stCxn id="5" idx="5"/>
            <a:endCxn id="7" idx="1"/>
          </p:cNvCxnSpPr>
          <p:nvPr/>
        </p:nvCxnSpPr>
        <p:spPr>
          <a:xfrm>
            <a:off x="5899150" y="4459605"/>
            <a:ext cx="731520" cy="307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7" idx="5"/>
            <a:endCxn id="11" idx="1"/>
          </p:cNvCxnSpPr>
          <p:nvPr/>
        </p:nvCxnSpPr>
        <p:spPr>
          <a:xfrm>
            <a:off x="7169150" y="5306060"/>
            <a:ext cx="462915" cy="400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396230" y="4006215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A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185920" y="4852670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B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85745" y="5791200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85920" y="5791200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E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37835" y="5791200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F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666230" y="4852670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C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667625" y="5791200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G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树的概念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326515" y="1278890"/>
            <a:ext cx="843851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结点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树的结点包含一个数据元素及若干个指向其子树的分支。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度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结点拥有的子树称为结点的度。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叶结点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度为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的结点称为叶结点或者终端结点。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分支结点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度不为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的结点称为非终端结点或者分支结点。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孩子、双亲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结点的子树的跟称为该结点的孩子，相应的，该结点称为孩子的双亲。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深度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树中结点最大层次称为树的深度。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二叉树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binary 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二叉树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410970"/>
            <a:ext cx="102584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二叉树</a:t>
            </a:r>
            <a:endParaRPr lang="zh-CN" altLang="en-US" sz="2000" b="1" noProof="1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二叉树是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n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n&gt;=0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）个结点的有限集合，该集合或者为空集（称为空二叉树），或者由一个根结点和两颗互不相交的、分别称为根结点的左子树和右子树的二叉树组成。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178425" y="3371850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68115" y="4218305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448425" y="4218305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2567940" y="5156835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4935220" y="5156835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7449820" y="5156835"/>
            <a:ext cx="7620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>
            <a:stCxn id="18" idx="3"/>
            <a:endCxn id="19" idx="7"/>
          </p:cNvCxnSpPr>
          <p:nvPr/>
        </p:nvCxnSpPr>
        <p:spPr>
          <a:xfrm flipH="1">
            <a:off x="4618355" y="4022090"/>
            <a:ext cx="671830" cy="307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19" idx="3"/>
            <a:endCxn id="31" idx="7"/>
          </p:cNvCxnSpPr>
          <p:nvPr/>
        </p:nvCxnSpPr>
        <p:spPr>
          <a:xfrm flipH="1">
            <a:off x="3218180" y="4868545"/>
            <a:ext cx="861695" cy="400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19" idx="5"/>
            <a:endCxn id="32" idx="0"/>
          </p:cNvCxnSpPr>
          <p:nvPr/>
        </p:nvCxnSpPr>
        <p:spPr>
          <a:xfrm>
            <a:off x="4618355" y="4868545"/>
            <a:ext cx="697865" cy="288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18" idx="5"/>
            <a:endCxn id="20" idx="1"/>
          </p:cNvCxnSpPr>
          <p:nvPr/>
        </p:nvCxnSpPr>
        <p:spPr>
          <a:xfrm>
            <a:off x="5828665" y="4022090"/>
            <a:ext cx="731520" cy="307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20" idx="5"/>
            <a:endCxn id="43" idx="1"/>
          </p:cNvCxnSpPr>
          <p:nvPr/>
        </p:nvCxnSpPr>
        <p:spPr>
          <a:xfrm>
            <a:off x="7098665" y="4868545"/>
            <a:ext cx="462915" cy="400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5325745" y="3568700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A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115435" y="4415155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B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2715260" y="5353685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082540" y="5353685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E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595745" y="4415155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C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597140" y="5353685"/>
            <a:ext cx="467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G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二叉树的特点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2143125"/>
            <a:ext cx="82543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二叉树的特点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每个结点最多有两棵子树，所以二叉树中不存在度大于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的结点。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左子树和右子树是有顺序的，次序不能任意颠倒。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即使树中某结点只有一棵子树，也要区分它是左子树还是右子树。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特殊的二叉树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1706880" y="1537970"/>
            <a:ext cx="621030" cy="6210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71345" y="1664335"/>
            <a:ext cx="291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A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1250315" y="2426970"/>
            <a:ext cx="621030" cy="6210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14780" y="2553335"/>
            <a:ext cx="291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B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629285" y="3274060"/>
            <a:ext cx="621030" cy="6210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93750" y="3400425"/>
            <a:ext cx="291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C</a:t>
            </a:r>
            <a:endParaRPr lang="en-US" altLang="zh-CN" b="1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>
            <a:stCxn id="3" idx="3"/>
            <a:endCxn id="6" idx="0"/>
          </p:cNvCxnSpPr>
          <p:nvPr/>
        </p:nvCxnSpPr>
        <p:spPr>
          <a:xfrm flipH="1">
            <a:off x="1560830" y="2068195"/>
            <a:ext cx="236855" cy="358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6" idx="3"/>
            <a:endCxn id="8" idx="7"/>
          </p:cNvCxnSpPr>
          <p:nvPr/>
        </p:nvCxnSpPr>
        <p:spPr>
          <a:xfrm flipH="1">
            <a:off x="1159510" y="2957195"/>
            <a:ext cx="181610" cy="4076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60425" y="4091940"/>
            <a:ext cx="699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斜树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684395" y="1411605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775835" y="1537970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A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696970" y="2032000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788410" y="2158365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B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925820" y="2032635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017260" y="2159000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C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2905125" y="2991485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2996565" y="3117850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D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411980" y="2992120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503420" y="3118485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E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305425" y="2991485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396865" y="3117850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F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546215" y="2991485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6637655" y="3117850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G</a:t>
            </a:r>
            <a:endParaRPr lang="en-US" altLang="zh-CN" b="1">
              <a:solidFill>
                <a:schemeClr val="bg1"/>
              </a:solidFill>
            </a:endParaRPr>
          </a:p>
        </p:txBody>
      </p:sp>
      <p:cxnSp>
        <p:nvCxnSpPr>
          <p:cNvPr id="36" name="直接连接符 35"/>
          <p:cNvCxnSpPr>
            <a:stCxn id="13" idx="3"/>
            <a:endCxn id="22" idx="7"/>
          </p:cNvCxnSpPr>
          <p:nvPr/>
        </p:nvCxnSpPr>
        <p:spPr>
          <a:xfrm flipH="1">
            <a:off x="4226560" y="1941195"/>
            <a:ext cx="548640" cy="18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13" idx="5"/>
            <a:endCxn id="24" idx="1"/>
          </p:cNvCxnSpPr>
          <p:nvPr/>
        </p:nvCxnSpPr>
        <p:spPr>
          <a:xfrm>
            <a:off x="5213985" y="1941195"/>
            <a:ext cx="802640" cy="182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>
            <a:stCxn id="22" idx="3"/>
            <a:endCxn id="26" idx="7"/>
          </p:cNvCxnSpPr>
          <p:nvPr/>
        </p:nvCxnSpPr>
        <p:spPr>
          <a:xfrm flipH="1">
            <a:off x="3434715" y="2561590"/>
            <a:ext cx="353060" cy="52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22" idx="5"/>
            <a:endCxn id="28" idx="1"/>
          </p:cNvCxnSpPr>
          <p:nvPr/>
        </p:nvCxnSpPr>
        <p:spPr>
          <a:xfrm>
            <a:off x="4226560" y="2561590"/>
            <a:ext cx="276225" cy="521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24" idx="3"/>
            <a:endCxn id="30" idx="7"/>
          </p:cNvCxnSpPr>
          <p:nvPr/>
        </p:nvCxnSpPr>
        <p:spPr>
          <a:xfrm flipH="1">
            <a:off x="5835015" y="2562225"/>
            <a:ext cx="181610" cy="52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24" idx="5"/>
            <a:endCxn id="34" idx="1"/>
          </p:cNvCxnSpPr>
          <p:nvPr/>
        </p:nvCxnSpPr>
        <p:spPr>
          <a:xfrm>
            <a:off x="6455410" y="2562225"/>
            <a:ext cx="181610" cy="52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592955" y="4091940"/>
            <a:ext cx="1241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满二叉树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9370060" y="1447800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9461500" y="1574165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A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8382635" y="2068195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8474075" y="2194560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B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0611485" y="2068830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0702925" y="2195195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C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7590790" y="3027680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7682230" y="3154045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D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9097645" y="3028315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9189085" y="3154680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E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991090" y="3027680"/>
            <a:ext cx="620395" cy="6203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10082530" y="3154045"/>
            <a:ext cx="437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F</a:t>
            </a:r>
            <a:endParaRPr lang="en-US" altLang="zh-CN" b="1">
              <a:solidFill>
                <a:schemeClr val="bg1"/>
              </a:solidFill>
            </a:endParaRPr>
          </a:p>
        </p:txBody>
      </p:sp>
      <p:cxnSp>
        <p:nvCxnSpPr>
          <p:cNvPr id="71" name="直接连接符 70"/>
          <p:cNvCxnSpPr>
            <a:stCxn id="48" idx="3"/>
            <a:endCxn id="50" idx="7"/>
          </p:cNvCxnSpPr>
          <p:nvPr/>
        </p:nvCxnSpPr>
        <p:spPr>
          <a:xfrm flipH="1">
            <a:off x="8912225" y="1977390"/>
            <a:ext cx="548640" cy="181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48" idx="5"/>
            <a:endCxn id="53" idx="1"/>
          </p:cNvCxnSpPr>
          <p:nvPr/>
        </p:nvCxnSpPr>
        <p:spPr>
          <a:xfrm>
            <a:off x="9899650" y="1977390"/>
            <a:ext cx="802640" cy="1822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50" idx="3"/>
            <a:endCxn id="55" idx="7"/>
          </p:cNvCxnSpPr>
          <p:nvPr/>
        </p:nvCxnSpPr>
        <p:spPr>
          <a:xfrm flipH="1">
            <a:off x="8120380" y="2597785"/>
            <a:ext cx="353060" cy="52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50" idx="5"/>
            <a:endCxn id="63" idx="1"/>
          </p:cNvCxnSpPr>
          <p:nvPr/>
        </p:nvCxnSpPr>
        <p:spPr>
          <a:xfrm>
            <a:off x="8912225" y="2597785"/>
            <a:ext cx="276225" cy="521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>
            <a:stCxn id="53" idx="3"/>
            <a:endCxn id="67" idx="7"/>
          </p:cNvCxnSpPr>
          <p:nvPr/>
        </p:nvCxnSpPr>
        <p:spPr>
          <a:xfrm flipH="1">
            <a:off x="10520680" y="2598420"/>
            <a:ext cx="181610" cy="52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9189085" y="4091940"/>
            <a:ext cx="1332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完全二叉树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24835" y="4737735"/>
            <a:ext cx="41770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在一棵二叉树中，如果所有的分支结点都存在左子树和右子树，并且所有叶子都在同一层上，这样的二叉树称为满二叉树。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867015" y="4737735"/>
            <a:ext cx="3626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对一个具有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个结点的二叉树按层编号，如果编号为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的结点与同样深度的满二叉树中编号为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的结点在二叉树中位置完全相同，则这棵二叉树称为完全二叉树。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完全二叉树的特点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36395" y="1579880"/>
            <a:ext cx="949706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完全二叉树的特点：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/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叶子结点只能出现在最下两层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最下层的叶子一定集中在左部连续位置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倒数第二层，若有叶子结点，一定都在右部连续位置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如果结点度为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，则该结点只有左孩子，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同样结点树的二叉树，完全二叉树的深度最小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4474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二叉树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36395" y="1579880"/>
            <a:ext cx="94970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二叉树的性质：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/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在二叉树的第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层上至多有        个结点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深度为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的二叉树至多有       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-1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个结点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对任何一棵二叉树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，如果其终端结点数为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，度为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的结点数为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则 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 = m + 1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具有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个结点的完全二叉树的深度为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</a:t>
            </a:r>
            <a:endParaRPr lang="zh-CN" altLang="en-US" sz="24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6388" name="对象 9"/>
          <p:cNvGraphicFramePr/>
          <p:nvPr/>
        </p:nvGraphicFramePr>
        <p:xfrm>
          <a:off x="5139055" y="2577465"/>
          <a:ext cx="814070" cy="596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241300" imgH="190500" progId="Equation.KSEE3">
                  <p:embed/>
                </p:oleObj>
              </mc:Choice>
              <mc:Fallback>
                <p:oleObj name="" r:id="rId2" imgW="241300" imgH="1905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139055" y="2577465"/>
                        <a:ext cx="814070" cy="596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90148" y="3359150"/>
          <a:ext cx="5508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177165" imgH="190500" progId="Equation.KSEE3">
                  <p:embed/>
                </p:oleObj>
              </mc:Choice>
              <mc:Fallback>
                <p:oleObj name="" r:id="rId4" imgW="177165" imgH="190500" progId="Equation.KSEE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90148" y="3359150"/>
                        <a:ext cx="550862" cy="488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4474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二叉树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36395" y="1579880"/>
            <a:ext cx="949706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/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二叉树的性质：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/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棵有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个结点的二叉树的结点按层序编号，对任一结点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i=1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，则结点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是二叉树的根，无双亲，如果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i&gt;1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，则其双亲是结点【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i/2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】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2i&gt;n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，则结点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无左孩子，否则，其左孩子是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2i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如果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2i+1&gt;n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，则结点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无右孩子；否则其右孩子是结点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2i+1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二叉树的遍历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1538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Traverse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二叉树的遍历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555365" y="1998345"/>
            <a:ext cx="352869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bg1"/>
                </a:solidFill>
              </a:rPr>
              <a:t>常见的遍历方式：</a:t>
            </a:r>
            <a:endParaRPr lang="zh-CN" altLang="en-US" sz="24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4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bg1"/>
                </a:solidFill>
              </a:rPr>
              <a:t>先序遍历；</a:t>
            </a:r>
            <a:endParaRPr lang="zh-CN" altLang="en-US" sz="24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bg1"/>
                </a:solidFill>
              </a:rPr>
              <a:t>中序遍历；</a:t>
            </a:r>
            <a:endParaRPr lang="zh-CN" altLang="en-US" sz="24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bg1"/>
                </a:solidFill>
              </a:rPr>
              <a:t>后序遍历。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PreOrder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先序遍历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09395" y="3287395"/>
            <a:ext cx="716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64870" y="1215390"/>
            <a:ext cx="97917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先序遍历：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规则是若二叉树为空， 则空操作返回，否则先访问根结点，然后先序遍历左子树，再先序遍历左子树，再先序遍历右子树，如图：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ABDGHCEI</a:t>
            </a:r>
            <a:endParaRPr lang="zh-CN" altLang="en-US"/>
          </a:p>
        </p:txBody>
      </p:sp>
      <p:pic>
        <p:nvPicPr>
          <p:cNvPr id="19461" name="图片 2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2460308"/>
            <a:ext cx="3849688" cy="3895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PreOrder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先序遍历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47365" y="1590040"/>
            <a:ext cx="578612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void PreOrder(Node *root)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{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if (NULL == root)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{   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    return;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}   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printf("%d ", root-&gt;data);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PreOrder(root-&gt;left);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PreOrder(root-&gt;right);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}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MidOrder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中序遍历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09395" y="3287395"/>
            <a:ext cx="716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97000" y="1208405"/>
            <a:ext cx="93980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中序遍历：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规则是若树为空，则空操作返回，否则从根结点开始（注意并不是访问根结点），中序遍历根结点的左子树，然后是访问根结点，最后中序遍历右子树，如图：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GDHBAEICF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1509" name="图片 2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548" y="2776220"/>
            <a:ext cx="3430587" cy="3454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MidOrder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中序遍历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47365" y="1590040"/>
            <a:ext cx="578612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void MidOrder(Node *root)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{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if (NULL == root)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{   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    return;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}   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MidOrder(root-&gt;left);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printf("%d ", root-&gt;data);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MidOrder(root-&gt;right);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}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MidOrder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后序遍历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14730" y="1046480"/>
            <a:ext cx="10004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后序遍历：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规则是若树为空，则空操作返回，否则从左到右，先叶子后结点的方式遍历访问左右子树，最后是访问根结点，如图：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GHDBIEFCA</a:t>
            </a:r>
            <a:endParaRPr lang="zh-CN" altLang="en-US"/>
          </a:p>
        </p:txBody>
      </p:sp>
      <p:pic>
        <p:nvPicPr>
          <p:cNvPr id="23556" name="图片 8" descr="捕获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490" y="2551113"/>
            <a:ext cx="3430588" cy="33766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PostOrder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后序遍历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47365" y="1590040"/>
            <a:ext cx="578612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void PostOrder(Node *root)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{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if (NULL == root)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{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    return;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}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PostOrder(root-&gt;left);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PostOrder(root-&gt;right);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    printf("%d ", root-&gt;data);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}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二叉树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203575" y="1762760"/>
            <a:ext cx="57861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已知：</a:t>
            </a:r>
            <a:endParaRPr lang="zh-CN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先序遍历：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adcefghb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zh-CN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中序遍历：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cdfeghab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charset="0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求后续遍历？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57575" y="1046480"/>
            <a:ext cx="52774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solidFill>
                  <a:schemeClr val="bg1"/>
                </a:solidFill>
              </a:rPr>
              <a:t>经典笔试题</a:t>
            </a:r>
            <a:endParaRPr lang="zh-CN" altLang="en-US" sz="32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二叉搜索树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binary Tree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二叉搜索树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95395" y="2454910"/>
            <a:ext cx="46012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如何创建二叉搜索树？</a:t>
            </a:r>
            <a:endParaRPr lang="zh-CN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2340</Words>
  <Application>WPS 演示</Application>
  <PresentationFormat>宽屏</PresentationFormat>
  <Paragraphs>332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4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华康海报体W12(P)</vt:lpstr>
      <vt:lpstr>微软雅黑</vt:lpstr>
      <vt:lpstr>华文细黑</vt:lpstr>
      <vt:lpstr>Wingdings</vt:lpstr>
      <vt:lpstr>Times New Roman</vt:lpstr>
      <vt:lpstr>Calibri</vt:lpstr>
      <vt:lpstr>Arial Unicode MS</vt:lpstr>
      <vt:lpstr>Calibri Light</vt:lpstr>
      <vt:lpstr>Segoe Print</vt:lpstr>
      <vt:lpstr>Office 主题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34</cp:revision>
  <dcterms:created xsi:type="dcterms:W3CDTF">2017-11-17T09:39:00Z</dcterms:created>
  <dcterms:modified xsi:type="dcterms:W3CDTF">2021-02-03T07:06:23Z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