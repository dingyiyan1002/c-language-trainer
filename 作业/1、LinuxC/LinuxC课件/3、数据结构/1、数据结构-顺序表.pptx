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3"/>
    <p:sldId id="257" r:id="rId5"/>
    <p:sldId id="258" r:id="rId6"/>
    <p:sldId id="265" r:id="rId7"/>
    <p:sldId id="260" r:id="rId8"/>
    <p:sldId id="261" r:id="rId9"/>
    <p:sldId id="267" r:id="rId10"/>
    <p:sldId id="264" r:id="rId11"/>
    <p:sldId id="262" r:id="rId12"/>
    <p:sldId id="269" r:id="rId13"/>
    <p:sldId id="331" r:id="rId14"/>
    <p:sldId id="332" r:id="rId15"/>
    <p:sldId id="333" r:id="rId16"/>
    <p:sldId id="334" r:id="rId17"/>
    <p:sldId id="263" r:id="rId18"/>
    <p:sldId id="272" r:id="rId19"/>
    <p:sldId id="328" r:id="rId20"/>
    <p:sldId id="329" r:id="rId21"/>
    <p:sldId id="259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16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数据结构</a:t>
            </a:r>
            <a:r>
              <a:rPr lang="en-US" altLang="zh-CN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-</a:t>
            </a:r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顺序表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0" name="文本框 16"/>
          <p:cNvSpPr txBox="1"/>
          <p:nvPr/>
        </p:nvSpPr>
        <p:spPr>
          <a:xfrm>
            <a:off x="5306265" y="2102679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1</a:t>
            </a:r>
            <a:endParaRPr kumimoji="0" lang="en-US" altLang="zh-CN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1" name="文本框 23"/>
          <p:cNvSpPr txBox="1"/>
          <p:nvPr/>
        </p:nvSpPr>
        <p:spPr>
          <a:xfrm>
            <a:off x="5306265" y="2795241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2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5306265" y="3477983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3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5306265" y="4170545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4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924903" y="2209914"/>
            <a:ext cx="0" cy="2440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48"/>
          <p:cNvSpPr txBox="1">
            <a:spLocks noChangeArrowheads="1"/>
          </p:cNvSpPr>
          <p:nvPr/>
        </p:nvSpPr>
        <p:spPr bwMode="auto">
          <a:xfrm>
            <a:off x="6015198" y="2146494"/>
            <a:ext cx="339344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数据结构概述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014563" y="28049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线性结构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7" name="文本框 48"/>
          <p:cNvSpPr txBox="1">
            <a:spLocks noChangeArrowheads="1"/>
          </p:cNvSpPr>
          <p:nvPr/>
        </p:nvSpPr>
        <p:spPr bwMode="auto">
          <a:xfrm>
            <a:off x="6014563" y="35288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顺序表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8" name="文本框 48"/>
          <p:cNvSpPr txBox="1">
            <a:spLocks noChangeArrowheads="1"/>
          </p:cNvSpPr>
          <p:nvPr/>
        </p:nvSpPr>
        <p:spPr bwMode="auto">
          <a:xfrm>
            <a:off x="6015832" y="4238183"/>
            <a:ext cx="3392806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顺序表缺点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2304029" y="2102240"/>
            <a:ext cx="2142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 </a:t>
            </a:r>
            <a:r>
              <a:rPr lang="en-US" altLang="zh-CN" sz="3600" dirty="0" smtClean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Contents</a:t>
            </a:r>
            <a:r>
              <a:rPr lang="en-US" altLang="zh-CN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数据结构概述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数据结构概述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046480"/>
            <a:ext cx="108229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、什么是数据结构？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base"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2、数据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结构用途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计算机编程（和语言无关）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考研</a:t>
            </a:r>
            <a:endParaRPr lang="zh-CN" altLang="en-US" sz="2000" strike="noStrike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fontAlgn="base">
              <a:lnSpc>
                <a:spcPct val="150000"/>
              </a:lnSpc>
            </a:pPr>
            <a:endParaRPr lang="zh-CN" altLang="en-US" sz="2000" strike="noStrike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、怎么学习数据结构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理论结合实际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逻辑结构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1024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167698"/>
            <a:ext cx="2779713" cy="1638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415" y="3167698"/>
            <a:ext cx="3333750" cy="172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64870" y="1873885"/>
            <a:ext cx="275145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、线性结构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64710" y="1873885"/>
            <a:ext cx="275145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、树形结构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89900" y="1873885"/>
            <a:ext cx="275145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、图形结构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12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763" y="3167698"/>
            <a:ext cx="2962275" cy="2352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线性结构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线性表定义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116965"/>
            <a:ext cx="887603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线性表的定义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定义n个数据元素的有限序列，记作（a1, a2, …, an）ai 是表中数据元素，n 是表长度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线性表的特点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除第一个元素外，其他每一个元素有一个且仅有一个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直接前驱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除最后一个元素外其他每一个元素有一个且仅有一个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直接后继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存储结构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046480"/>
            <a:ext cx="77190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线性结构的存储形式常见有两种：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、顺序结构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、链式存储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331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90" y="3469005"/>
            <a:ext cx="4560888" cy="666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1869440" y="4317365"/>
            <a:ext cx="25158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eaLnBrk="0" hangingPunct="0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顺序存储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ctr" eaLnBrk="0" hangingPunct="0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可以理解成数组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331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840" y="2366328"/>
            <a:ext cx="3017838" cy="2657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604125" y="5024120"/>
            <a:ext cx="25158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eaLnBrk="0" hangingPunct="0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链式存储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ctr" eaLnBrk="0" hangingPunct="0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俗称链表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顺序表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定义顺序表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1880" y="1523365"/>
            <a:ext cx="9467850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ct val="10000"/>
              </a:spcBef>
              <a:buClr>
                <a:srgbClr val="FF7C80"/>
              </a:buClr>
              <a:buSzPct val="5000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顺序表的定义和特点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lnSpc>
                <a:spcPct val="150000"/>
              </a:lnSpc>
              <a:spcBef>
                <a:spcPct val="10000"/>
              </a:spcBef>
              <a:buClr>
                <a:schemeClr val="accent1"/>
              </a:buClr>
              <a:buSzPct val="5000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将线性表中的元素相继存放在一个连续的存储空间中。        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lnSpc>
                <a:spcPct val="150000"/>
              </a:lnSpc>
              <a:spcBef>
                <a:spcPct val="10000"/>
              </a:spcBef>
              <a:buClr>
                <a:schemeClr val="accent1"/>
              </a:buClr>
              <a:buSzPct val="5000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可利用一维数组描述存储结构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0">
              <a:lnSpc>
                <a:spcPct val="150000"/>
              </a:lnSpc>
              <a:spcBef>
                <a:spcPct val="10000"/>
              </a:spcBef>
              <a:buClr>
                <a:schemeClr val="accent1"/>
              </a:buClr>
              <a:buSzPct val="5000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特点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线性表的顺序存储方式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10000"/>
              </a:spcBef>
              <a:buClr>
                <a:schemeClr val="accent1"/>
              </a:buClr>
              <a:buSzPct val="5000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遍历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顺序访问, 可以随机存取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5364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160" y="4246563"/>
            <a:ext cx="6329363" cy="1446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顺序表抽象数据类型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1880" y="1523365"/>
            <a:ext cx="946785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顺序表应该支持一下操作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InitList(*L);            初始化操作，建立一个空的顺序表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ListEmpty(L);         判断顺序表是否为空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ClearList(*L);         清空顺序表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GetElem(L, i, *e);   获取第i个位置的元素，存放在e中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LocateElem(L, e);  查找于e相等的元素，返回元素的位置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ListInsert(*L, i, e);  在第i个位置插入元素e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ListDel(*L, i, *e);    删除第i个位置的元素，保存在e中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ListLength(L);        获取顺序表的长度 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如何表示顺序表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1880" y="1523365"/>
            <a:ext cx="94678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SequenceList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int data[SIZE];              //顺序表起始地址和容量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int length;                    //顺序表长度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typedef struct SequenceList seqList;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829435" y="4649470"/>
          <a:ext cx="8533130" cy="649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4535"/>
                <a:gridCol w="1458595"/>
              </a:tblGrid>
              <a:tr h="64960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24424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244242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585335" y="4790440"/>
            <a:ext cx="1637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存放数据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07780" y="4790440"/>
            <a:ext cx="1454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长度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顺序表的插入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046480"/>
            <a:ext cx="94678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插入算法的思路：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1、如果插入的位置不合理，返回失败；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2、如果线性表的长度大于等于数组长度，返回失败或者动态增加数组容量；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3、从最后一个元素开始向前遍历到第i个位置，分别将他们向后都移动一个位置；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4、将要插入的元素填入位置i处；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5、表长加一。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0484" name="图片 7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725" y="3136900"/>
            <a:ext cx="5960110" cy="3219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顺序表的删除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046480"/>
            <a:ext cx="946785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顺序表删除的思路：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1、如果删除位置不合理，返回失败；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2、取出删除的元素；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3、从删除位置开始遍历到最后一个元素位置，分别将他们都向前移动一个位置；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4、表长减一。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253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730" y="3150235"/>
            <a:ext cx="6904990" cy="32061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顺序表的优缺点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顺序表优缺点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829435" y="1298575"/>
          <a:ext cx="8533130" cy="3843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8108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优点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24424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charset="-122"/>
                          <a:ea typeface="微软雅黑" panose="020B0503020204020204" charset="-122"/>
                        </a:rPr>
                        <a:t>缺点</a:t>
                      </a:r>
                      <a:endParaRPr lang="zh-CN" altLang="en-US" sz="2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244242"/>
                    </a:solidFill>
                  </a:tcPr>
                </a:tc>
              </a:tr>
              <a:tr h="3032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、无需为表示表中元素之间的逻辑关系而增加额外的存储空间；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、可以快速的存取表中任一位置的元素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24424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、插入和删除元素需要移动大量的元素；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、当线性表长度变化较大时，难以确定存储空间的容量；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24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、造成存储空间的碎片。</a:t>
                      </a:r>
                      <a:endParaRPr lang="zh-CN" altLang="en-US" sz="240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solidFill>
                      <a:srgbClr val="244242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790440" y="5361940"/>
            <a:ext cx="2610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解决方案：链表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PART05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编程训练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训练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14730" y="1524000"/>
            <a:ext cx="75291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1、独自实现顺序表的增删改查操作；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2、用顺序表实现排序操作（插入排序）。</a:t>
            </a:r>
            <a:endParaRPr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809350" y="1642712"/>
            <a:ext cx="8848576" cy="3231651"/>
            <a:chOff x="2360893" y="1845912"/>
            <a:chExt cx="8848576" cy="3231651"/>
          </a:xfrm>
        </p:grpSpPr>
        <p:sp>
          <p:nvSpPr>
            <p:cNvPr id="11" name="原创设计师QQ598969553      _5"/>
            <p:cNvSpPr>
              <a:spLocks noChangeArrowheads="1"/>
            </p:cNvSpPr>
            <p:nvPr/>
          </p:nvSpPr>
          <p:spPr bwMode="auto">
            <a:xfrm>
              <a:off x="2360893" y="3307848"/>
              <a:ext cx="8848576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感谢各位观看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  <p:sp>
          <p:nvSpPr>
            <p:cNvPr id="12" name="原创设计师QQ598969553      _12"/>
            <p:cNvSpPr>
              <a:spLocks noChangeArrowheads="1"/>
            </p:cNvSpPr>
            <p:nvPr/>
          </p:nvSpPr>
          <p:spPr bwMode="auto">
            <a:xfrm>
              <a:off x="3278279" y="1845912"/>
              <a:ext cx="6636432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THANK YOU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3727d9f8-6184-425d-9203-f2fc2738a547}"/>
  <p:tag name="TABLE_ENDDRAG_ORIGIN_RECT" val="671*330"/>
  <p:tag name="TABLE_ENDDRAG_RECT" val="144*108*671*330"/>
</p:tagLst>
</file>

<file path=ppt/tags/tag2.xml><?xml version="1.0" encoding="utf-8"?>
<p:tagLst xmlns:p="http://schemas.openxmlformats.org/presentationml/2006/main">
  <p:tag name="KSO_WPP_MARK_KEY" val="60af603c-6c23-47e9-afce-a66bc8e59f3e"/>
  <p:tag name="COMMONDATA" val="eyJoZGlkIjoiYjNhNzAyODk1NWEzNmIwOGViYjgzMjI0YTc1ZDcwNj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1618</Words>
  <Application>WPS 演示</Application>
  <PresentationFormat>宽屏</PresentationFormat>
  <Paragraphs>194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文鼎习字体</vt:lpstr>
      <vt:lpstr>Nexa Light</vt:lpstr>
      <vt:lpstr>Wide Latin</vt:lpstr>
      <vt:lpstr>华康少女文字W5(P)</vt:lpstr>
      <vt:lpstr>方正清刻本悦宋简体</vt:lpstr>
      <vt:lpstr>Arial</vt:lpstr>
      <vt:lpstr>华文细黑</vt:lpstr>
      <vt:lpstr>微软雅黑</vt:lpstr>
      <vt:lpstr>hakuyoxingshu7000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181</cp:revision>
  <dcterms:created xsi:type="dcterms:W3CDTF">2017-11-17T09:39:00Z</dcterms:created>
  <dcterms:modified xsi:type="dcterms:W3CDTF">2023-10-01T00:02:44Z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7F0A95E0E4234C7C884C4861B4637DE5</vt:lpwstr>
  </property>
</Properties>
</file>