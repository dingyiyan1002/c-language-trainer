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58" r:id="rId6"/>
    <p:sldId id="265" r:id="rId7"/>
    <p:sldId id="260" r:id="rId8"/>
    <p:sldId id="261" r:id="rId9"/>
    <p:sldId id="267" r:id="rId10"/>
    <p:sldId id="262" r:id="rId11"/>
    <p:sldId id="269" r:id="rId12"/>
    <p:sldId id="271" r:id="rId13"/>
    <p:sldId id="263" r:id="rId14"/>
    <p:sldId id="272" r:id="rId15"/>
    <p:sldId id="281" r:id="rId16"/>
    <p:sldId id="282" r:id="rId17"/>
    <p:sldId id="25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0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双向链表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0" name="文本框 16"/>
          <p:cNvSpPr txBox="1"/>
          <p:nvPr/>
        </p:nvSpPr>
        <p:spPr>
          <a:xfrm>
            <a:off x="5306265" y="2102679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1</a:t>
            </a:r>
            <a:endParaRPr kumimoji="0" lang="en-US" altLang="zh-CN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1" name="文本框 23"/>
          <p:cNvSpPr txBox="1"/>
          <p:nvPr/>
        </p:nvSpPr>
        <p:spPr>
          <a:xfrm>
            <a:off x="5306265" y="2795241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2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5306265" y="3477983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3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5306265" y="4170545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4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924903" y="2209914"/>
            <a:ext cx="0" cy="24402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48"/>
          <p:cNvSpPr txBox="1">
            <a:spLocks noChangeArrowheads="1"/>
          </p:cNvSpPr>
          <p:nvPr/>
        </p:nvSpPr>
        <p:spPr bwMode="auto">
          <a:xfrm>
            <a:off x="6015198" y="2146494"/>
            <a:ext cx="3393440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链表分类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6" name="文本框 48"/>
          <p:cNvSpPr txBox="1">
            <a:spLocks noChangeArrowheads="1"/>
          </p:cNvSpPr>
          <p:nvPr/>
        </p:nvSpPr>
        <p:spPr bwMode="auto">
          <a:xfrm>
            <a:off x="6014563" y="28049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双向链表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7" name="文本框 48"/>
          <p:cNvSpPr txBox="1">
            <a:spLocks noChangeArrowheads="1"/>
          </p:cNvSpPr>
          <p:nvPr/>
        </p:nvSpPr>
        <p:spPr bwMode="auto">
          <a:xfrm>
            <a:off x="6014563" y="35288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循环链表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8" name="文本框 48"/>
          <p:cNvSpPr txBox="1">
            <a:spLocks noChangeArrowheads="1"/>
          </p:cNvSpPr>
          <p:nvPr/>
        </p:nvSpPr>
        <p:spPr bwMode="auto">
          <a:xfrm>
            <a:off x="6015832" y="4238183"/>
            <a:ext cx="3392806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双向循环链表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0" name="文本框 16"/>
          <p:cNvSpPr txBox="1"/>
          <p:nvPr/>
        </p:nvSpPr>
        <p:spPr>
          <a:xfrm>
            <a:off x="2304029" y="2102240"/>
            <a:ext cx="2142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 </a:t>
            </a:r>
            <a:r>
              <a:rPr lang="en-US" altLang="zh-CN" sz="3600" dirty="0" smtClean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Contents</a:t>
            </a:r>
            <a:r>
              <a:rPr lang="en-US" altLang="zh-CN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链表的分类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链表的分类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256030"/>
            <a:ext cx="88753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常见的链表有：静态链表、单链表、双向链表、循环链表、双向循环链表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静态链表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56970"/>
            <a:ext cx="664654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静态链表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用的很少，有点类似于顺序表。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742440" y="3048635"/>
          <a:ext cx="8529955" cy="1721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65"/>
                <a:gridCol w="1218565"/>
                <a:gridCol w="1218565"/>
                <a:gridCol w="1218565"/>
                <a:gridCol w="1218565"/>
                <a:gridCol w="1218565"/>
                <a:gridCol w="1218565"/>
              </a:tblGrid>
              <a:tr h="87439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84709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035685" y="2680335"/>
            <a:ext cx="7067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下标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2440" y="2680335"/>
            <a:ext cx="8706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0                1               2                3                4                5                6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3095" y="3230880"/>
            <a:ext cx="925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数据域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33095" y="4077970"/>
            <a:ext cx="925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指针域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55580" y="3202940"/>
            <a:ext cx="1242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存放数据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355580" y="3970020"/>
            <a:ext cx="1242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存放下一个元素的下标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58035" y="320294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100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36745" y="323088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101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05625" y="323088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102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661660" y="323088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103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058035" y="4077335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2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436745" y="407797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4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05625" y="407797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3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661660" y="407797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-1</a:t>
            </a:r>
            <a:endParaRPr lang="en-US" altLang="zh-CN" b="1">
              <a:solidFill>
                <a:srgbClr val="244242"/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2354580" y="4754880"/>
            <a:ext cx="0" cy="5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354580" y="5248910"/>
            <a:ext cx="24834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4824095" y="4754880"/>
            <a:ext cx="0" cy="52260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049520" y="4769485"/>
            <a:ext cx="0" cy="4933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049520" y="5262880"/>
            <a:ext cx="229997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7349490" y="4769485"/>
            <a:ext cx="0" cy="47942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053580" y="4783455"/>
            <a:ext cx="0" cy="6915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5995035" y="5461000"/>
            <a:ext cx="10585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endCxn id="5" idx="2"/>
          </p:cNvCxnSpPr>
          <p:nvPr/>
        </p:nvCxnSpPr>
        <p:spPr>
          <a:xfrm flipV="1">
            <a:off x="6005830" y="4770120"/>
            <a:ext cx="1905" cy="69024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双向链表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双向链表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31545" y="1579880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1947545" y="157988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780030" y="157988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600575" y="1579880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>
            <a:off x="5616575" y="157988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449060" y="157988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8268970" y="1579880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9284970" y="157988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0117455" y="157988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右箭头 44"/>
          <p:cNvSpPr/>
          <p:nvPr/>
        </p:nvSpPr>
        <p:spPr>
          <a:xfrm>
            <a:off x="3950970" y="1706880"/>
            <a:ext cx="635000" cy="254000"/>
          </a:xfrm>
          <a:prstGeom prst="rightArrow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右箭头 50"/>
          <p:cNvSpPr/>
          <p:nvPr/>
        </p:nvSpPr>
        <p:spPr>
          <a:xfrm>
            <a:off x="7633970" y="1706880"/>
            <a:ext cx="635000" cy="254000"/>
          </a:xfrm>
          <a:prstGeom prst="rightArrow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左箭头 55"/>
          <p:cNvSpPr/>
          <p:nvPr/>
        </p:nvSpPr>
        <p:spPr>
          <a:xfrm>
            <a:off x="3945255" y="2200910"/>
            <a:ext cx="655320" cy="254000"/>
          </a:xfrm>
          <a:prstGeom prst="leftArrow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左箭头 56"/>
          <p:cNvSpPr/>
          <p:nvPr/>
        </p:nvSpPr>
        <p:spPr>
          <a:xfrm>
            <a:off x="7592060" y="2200910"/>
            <a:ext cx="655320" cy="254000"/>
          </a:xfrm>
          <a:prstGeom prst="leftArrow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931545" y="2764790"/>
            <a:ext cx="931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0x100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585970" y="2764790"/>
            <a:ext cx="931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0x500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268970" y="2764790"/>
            <a:ext cx="931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0x200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31545" y="196088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NULL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780030" y="196088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0x500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600575" y="188976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0x100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449060" y="188976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0x200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268970" y="188976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0x500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117455" y="188976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NULL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754880" y="3229610"/>
            <a:ext cx="20605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双向链表的结点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54880" y="3914775"/>
            <a:ext cx="42322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struct Node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 defTabSz="914400" fontAlgn="auto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	int data;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 defTabSz="914400" fontAlgn="auto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	struct Node *next;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 defTabSz="914400" fontAlgn="auto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	struct Node *prior;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};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循环链表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循环链表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75030" y="2159000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2723515" y="215900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544060" y="2159000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6392545" y="215900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8212455" y="2159000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10060940" y="2159000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右箭头 29"/>
          <p:cNvSpPr/>
          <p:nvPr/>
        </p:nvSpPr>
        <p:spPr>
          <a:xfrm>
            <a:off x="3894455" y="2597150"/>
            <a:ext cx="635000" cy="254000"/>
          </a:xfrm>
          <a:prstGeom prst="rightArrow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右箭头 30"/>
          <p:cNvSpPr/>
          <p:nvPr/>
        </p:nvSpPr>
        <p:spPr>
          <a:xfrm>
            <a:off x="7577455" y="2597150"/>
            <a:ext cx="635000" cy="254000"/>
          </a:xfrm>
          <a:prstGeom prst="rightArrow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723515" y="254000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0x500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392545" y="246888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0x200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060940" y="2468880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0x100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13" name="直角上箭头 12"/>
          <p:cNvSpPr/>
          <p:nvPr/>
        </p:nvSpPr>
        <p:spPr>
          <a:xfrm rot="10800000">
            <a:off x="2102485" y="1456690"/>
            <a:ext cx="8409940" cy="564515"/>
          </a:xfrm>
          <a:prstGeom prst="bentUpArrow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371455" y="1442720"/>
            <a:ext cx="140970" cy="592455"/>
          </a:xfrm>
          <a:prstGeom prst="rect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60425" y="3358515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0x100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85970" y="3358515"/>
            <a:ext cx="1481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0x500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40395" y="3315970"/>
            <a:ext cx="1397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0x200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78425" y="3879850"/>
            <a:ext cx="203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循环链表结点</a:t>
            </a:r>
            <a:endParaRPr lang="zh-CN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26075" y="4248150"/>
            <a:ext cx="452945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struct Node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 defTabSz="914400" fontAlgn="auto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	int data;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 defTabSz="914400" fontAlgn="auto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	struct Node *next;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};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循环链表初始化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95905" y="1410970"/>
            <a:ext cx="66008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int InitLink(struct Node **head)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{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	*head = (Node *)malloc(sizeof(Node) * 1);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	if (NULL == (*head))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	{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		return -1;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	}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	(*head)-&gt;next = (*head);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	return 1;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}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双向循环链表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双向循环链表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30910" y="2666365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946910" y="2666365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779395" y="2666365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599940" y="2666365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5615940" y="2666365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448425" y="2666365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268335" y="2666365"/>
            <a:ext cx="2991485" cy="987425"/>
          </a:xfrm>
          <a:prstGeom prst="rect">
            <a:avLst/>
          </a:prstGeom>
          <a:solidFill>
            <a:schemeClr val="bg1"/>
          </a:solidFill>
          <a:ln>
            <a:solidFill>
              <a:srgbClr val="24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9284335" y="2666365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0116820" y="2666365"/>
            <a:ext cx="0" cy="987425"/>
          </a:xfrm>
          <a:prstGeom prst="line">
            <a:avLst/>
          </a:prstGeom>
          <a:ln w="28575"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右箭头 36"/>
          <p:cNvSpPr/>
          <p:nvPr/>
        </p:nvSpPr>
        <p:spPr>
          <a:xfrm>
            <a:off x="3950335" y="2793365"/>
            <a:ext cx="635000" cy="25400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7633335" y="2793365"/>
            <a:ext cx="635000" cy="254000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左箭头 38"/>
          <p:cNvSpPr/>
          <p:nvPr/>
        </p:nvSpPr>
        <p:spPr>
          <a:xfrm>
            <a:off x="3944620" y="3287395"/>
            <a:ext cx="655320" cy="254000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左箭头 39"/>
          <p:cNvSpPr/>
          <p:nvPr/>
        </p:nvSpPr>
        <p:spPr>
          <a:xfrm>
            <a:off x="7591425" y="3287395"/>
            <a:ext cx="655320" cy="254000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30910" y="3851275"/>
            <a:ext cx="931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0x100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585335" y="3851275"/>
            <a:ext cx="931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0x500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268335" y="3851275"/>
            <a:ext cx="931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0x200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30910" y="3047365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0x200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779395" y="3047365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0x500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99940" y="2976245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0x100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448425" y="2976245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0x200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68335" y="2976245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0x500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116820" y="2976245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0x100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50" name="直角上箭头 49"/>
          <p:cNvSpPr/>
          <p:nvPr/>
        </p:nvSpPr>
        <p:spPr>
          <a:xfrm rot="10800000">
            <a:off x="2158365" y="1650365"/>
            <a:ext cx="8509000" cy="847090"/>
          </a:xfrm>
          <a:prstGeom prst="bent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0427335" y="1650365"/>
            <a:ext cx="240030" cy="804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直角上箭头 51"/>
          <p:cNvSpPr/>
          <p:nvPr/>
        </p:nvSpPr>
        <p:spPr>
          <a:xfrm>
            <a:off x="1424940" y="4219575"/>
            <a:ext cx="8382000" cy="775970"/>
          </a:xfrm>
          <a:prstGeom prst="bent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424940" y="4219575"/>
            <a:ext cx="168910" cy="606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编程训练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编程训练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30910" y="1495425"/>
            <a:ext cx="986345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用循环链表实现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有n个人围成一圈,顺序排号,从第一个开始报数(从1到3报数),凡报到3的人退出圈子,问最后最后留下的是原来第几号的那位？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、用双向链表实现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判断字符串是不是回文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、用双向循环链表实现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输入一个整数（可以是负数），输出从这个数字开始的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个英文字母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比如：输入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，输出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fghijklmnopqrstuvwxyzabcde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-4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，输出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wxyzabcdefghijklmnopqrstuv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sp>
        <p:nvSpPr>
          <p:cNvPr id="12" name="原创设计师QQ598969553      _12"/>
          <p:cNvSpPr>
            <a:spLocks noChangeArrowheads="1"/>
          </p:cNvSpPr>
          <p:nvPr/>
        </p:nvSpPr>
        <p:spPr bwMode="auto">
          <a:xfrm>
            <a:off x="4635500" y="2549525"/>
            <a:ext cx="2921000" cy="1769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OVER</a:t>
            </a:r>
            <a:endParaRPr lang="en-US" altLang="zh-CN" sz="11500" dirty="0">
              <a:solidFill>
                <a:schemeClr val="bg1"/>
              </a:solidFill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af423e03-7fe6-449e-9468-4f106e936ee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1445</Words>
  <Application>WPS 演示</Application>
  <PresentationFormat>宽屏</PresentationFormat>
  <Paragraphs>221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华文细黑</vt:lpstr>
      <vt:lpstr>微软雅黑</vt:lpstr>
      <vt:lpstr>Neris Thin</vt:lpstr>
      <vt:lpstr>hakuyoxingshu7000</vt:lpstr>
      <vt:lpstr>Calibri</vt:lpstr>
      <vt:lpstr>Arial Unicode MS</vt:lpstr>
      <vt:lpstr>Calibri Light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35</cp:revision>
  <dcterms:created xsi:type="dcterms:W3CDTF">2017-11-17T09:39:00Z</dcterms:created>
  <dcterms:modified xsi:type="dcterms:W3CDTF">2021-01-30T00:55:27Z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