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57" r:id="rId5"/>
    <p:sldId id="258" r:id="rId6"/>
    <p:sldId id="265" r:id="rId7"/>
    <p:sldId id="260" r:id="rId8"/>
    <p:sldId id="266" r:id="rId9"/>
    <p:sldId id="261" r:id="rId10"/>
    <p:sldId id="267" r:id="rId11"/>
    <p:sldId id="264" r:id="rId12"/>
    <p:sldId id="281" r:id="rId13"/>
    <p:sldId id="268" r:id="rId14"/>
    <p:sldId id="283" r:id="rId15"/>
    <p:sldId id="284" r:id="rId16"/>
    <p:sldId id="262" r:id="rId17"/>
    <p:sldId id="26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20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数据结构</a:t>
            </a:r>
            <a:r>
              <a:rPr lang="en-US" altLang="zh-CN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-</a:t>
            </a:r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单链表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0" name="文本框 16"/>
          <p:cNvSpPr txBox="1"/>
          <p:nvPr/>
        </p:nvSpPr>
        <p:spPr>
          <a:xfrm>
            <a:off x="5306265" y="2102679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1</a:t>
            </a:r>
            <a:endParaRPr kumimoji="0" lang="en-US" altLang="zh-CN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1" name="文本框 23"/>
          <p:cNvSpPr txBox="1"/>
          <p:nvPr/>
        </p:nvSpPr>
        <p:spPr>
          <a:xfrm>
            <a:off x="5306265" y="2795241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2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2" name="文本框 16"/>
          <p:cNvSpPr txBox="1"/>
          <p:nvPr/>
        </p:nvSpPr>
        <p:spPr>
          <a:xfrm>
            <a:off x="5306265" y="3477983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3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925060" y="2209800"/>
            <a:ext cx="0" cy="20935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48"/>
          <p:cNvSpPr txBox="1">
            <a:spLocks noChangeArrowheads="1"/>
          </p:cNvSpPr>
          <p:nvPr/>
        </p:nvSpPr>
        <p:spPr bwMode="auto">
          <a:xfrm>
            <a:off x="6015198" y="2146494"/>
            <a:ext cx="3393440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链表概述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6" name="文本框 48"/>
          <p:cNvSpPr txBox="1">
            <a:spLocks noChangeArrowheads="1"/>
          </p:cNvSpPr>
          <p:nvPr/>
        </p:nvSpPr>
        <p:spPr bwMode="auto">
          <a:xfrm>
            <a:off x="6014563" y="28049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链表操作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7" name="文本框 48"/>
          <p:cNvSpPr txBox="1">
            <a:spLocks noChangeArrowheads="1"/>
          </p:cNvSpPr>
          <p:nvPr/>
        </p:nvSpPr>
        <p:spPr bwMode="auto">
          <a:xfrm>
            <a:off x="6014563" y="35288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编程训练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0" name="文本框 16"/>
          <p:cNvSpPr txBox="1"/>
          <p:nvPr/>
        </p:nvSpPr>
        <p:spPr>
          <a:xfrm>
            <a:off x="2304029" y="2102240"/>
            <a:ext cx="2142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目录 </a:t>
            </a:r>
            <a:r>
              <a:rPr lang="en-US" altLang="zh-CN" sz="3600" dirty="0" smtClean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Contents</a:t>
            </a:r>
            <a:r>
              <a:rPr lang="en-US" altLang="zh-CN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链表概述</a:t>
                </a:r>
                <a:endParaRPr lang="zh-CN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6999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Click here add your </a:t>
              </a:r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title,text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here as your wish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链表的定义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19835" y="2482850"/>
            <a:ext cx="2639060" cy="11709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775835" y="2482850"/>
            <a:ext cx="2639060" cy="11709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261350" y="2482850"/>
            <a:ext cx="2639060" cy="11709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19835" y="3653790"/>
            <a:ext cx="932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0x100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75835" y="3653790"/>
            <a:ext cx="932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0x500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61350" y="3653790"/>
            <a:ext cx="932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0x200</a:t>
            </a:r>
            <a:endParaRPr lang="en-US" altLang="zh-CN" b="1">
              <a:solidFill>
                <a:schemeClr val="bg1"/>
              </a:solidFill>
            </a:endParaRPr>
          </a:p>
        </p:txBody>
      </p:sp>
      <p:cxnSp>
        <p:nvCxnSpPr>
          <p:cNvPr id="13" name="直接连接符 12"/>
          <p:cNvCxnSpPr>
            <a:stCxn id="5" idx="0"/>
            <a:endCxn id="5" idx="2"/>
          </p:cNvCxnSpPr>
          <p:nvPr/>
        </p:nvCxnSpPr>
        <p:spPr>
          <a:xfrm>
            <a:off x="2539365" y="2482850"/>
            <a:ext cx="0" cy="1170940"/>
          </a:xfrm>
          <a:prstGeom prst="line">
            <a:avLst/>
          </a:prstGeom>
          <a:ln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stCxn id="6" idx="0"/>
          </p:cNvCxnSpPr>
          <p:nvPr/>
        </p:nvCxnSpPr>
        <p:spPr>
          <a:xfrm>
            <a:off x="6095365" y="2482850"/>
            <a:ext cx="0" cy="1128395"/>
          </a:xfrm>
          <a:prstGeom prst="line">
            <a:avLst/>
          </a:prstGeom>
          <a:ln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7" idx="0"/>
            <a:endCxn id="7" idx="2"/>
          </p:cNvCxnSpPr>
          <p:nvPr/>
        </p:nvCxnSpPr>
        <p:spPr>
          <a:xfrm>
            <a:off x="9580880" y="2482850"/>
            <a:ext cx="0" cy="1170940"/>
          </a:xfrm>
          <a:prstGeom prst="line">
            <a:avLst/>
          </a:prstGeom>
          <a:ln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939925" y="2114550"/>
            <a:ext cx="1199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b="1">
                <a:solidFill>
                  <a:schemeClr val="bg1"/>
                </a:solidFill>
              </a:rPr>
              <a:t>头结点</a:t>
            </a:r>
            <a:endParaRPr lang="zh-CN" altLang="zh-CN" b="1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298440" y="2114550"/>
            <a:ext cx="1593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b="1">
                <a:solidFill>
                  <a:schemeClr val="bg1"/>
                </a:solidFill>
              </a:rPr>
              <a:t>第一个结点</a:t>
            </a:r>
            <a:endParaRPr lang="zh-CN" altLang="zh-CN" b="1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783955" y="2114550"/>
            <a:ext cx="1593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b="1">
                <a:solidFill>
                  <a:schemeClr val="bg1"/>
                </a:solidFill>
              </a:rPr>
              <a:t>第二个结点</a:t>
            </a:r>
            <a:endParaRPr lang="zh-CN" altLang="zh-CN" b="1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459865" y="2482850"/>
            <a:ext cx="909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244242"/>
                </a:solidFill>
              </a:rPr>
              <a:t>数据域</a:t>
            </a:r>
            <a:endParaRPr lang="zh-CN" altLang="en-US" b="1">
              <a:solidFill>
                <a:srgbClr val="244242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715895" y="2482850"/>
            <a:ext cx="909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244242"/>
                </a:solidFill>
              </a:rPr>
              <a:t>指针域</a:t>
            </a:r>
            <a:endParaRPr lang="zh-CN" altLang="en-US" b="1">
              <a:solidFill>
                <a:srgbClr val="244242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700530" y="4556760"/>
            <a:ext cx="1678940" cy="4800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2010410" y="4612640"/>
            <a:ext cx="105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244242"/>
                </a:solidFill>
              </a:rPr>
              <a:t>头指针</a:t>
            </a:r>
            <a:endParaRPr lang="zh-CN" altLang="en-US" b="1">
              <a:solidFill>
                <a:srgbClr val="244242"/>
              </a:solidFill>
            </a:endParaRPr>
          </a:p>
        </p:txBody>
      </p:sp>
      <p:sp>
        <p:nvSpPr>
          <p:cNvPr id="25" name="上箭头 24"/>
          <p:cNvSpPr/>
          <p:nvPr/>
        </p:nvSpPr>
        <p:spPr>
          <a:xfrm>
            <a:off x="2334895" y="3836670"/>
            <a:ext cx="408940" cy="720090"/>
          </a:xfrm>
          <a:prstGeom prst="up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2743835" y="2975610"/>
            <a:ext cx="97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0x500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233795" y="2884170"/>
            <a:ext cx="97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0x200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827260" y="2884170"/>
            <a:ext cx="97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244242"/>
                </a:solidFill>
              </a:rPr>
              <a:t>NULL</a:t>
            </a:r>
            <a:endParaRPr lang="en-US" altLang="zh-CN" b="1">
              <a:solidFill>
                <a:srgbClr val="244242"/>
              </a:solidFill>
            </a:endParaRPr>
          </a:p>
        </p:txBody>
      </p:sp>
      <p:sp>
        <p:nvSpPr>
          <p:cNvPr id="30" name="右箭头 29"/>
          <p:cNvSpPr/>
          <p:nvPr/>
        </p:nvSpPr>
        <p:spPr>
          <a:xfrm>
            <a:off x="3928745" y="2975610"/>
            <a:ext cx="847090" cy="31051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右箭头 32"/>
          <p:cNvSpPr/>
          <p:nvPr/>
        </p:nvSpPr>
        <p:spPr>
          <a:xfrm>
            <a:off x="7414895" y="2912745"/>
            <a:ext cx="847090" cy="31051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4987925" y="1314450"/>
            <a:ext cx="2215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链表的定义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Click here add your </a:t>
              </a:r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title,text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here as your wish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几个概念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4730" y="1805940"/>
            <a:ext cx="857948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数据域：保存数据，可以是多个数据；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指针域：保存下一个结点的地址；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头结点：链表的头结点可有可无，头结点一般不保存数据；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头指针：指向头结点的指针。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Click here add your </a:t>
              </a:r>
              <a:r>
                <a:rPr lang="en-US" altLang="zh-CN" sz="1200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title,text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 here as your wish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结点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200910" y="1580515"/>
            <a:ext cx="606742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 Node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int data;                        //数据域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struct Node *next;        //指针域（指向下一个结点）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链表增删改查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头插法和尾插法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链表插入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4730" y="1046480"/>
            <a:ext cx="7704455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R="0" algn="l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头插法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（带有头几点）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algn="l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在第一个结点前（第一个结点和头结点之间）插入一个结点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R="0" algn="l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newnode-&gt;next = first-&gt;next;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algn="l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first-&gt;next = newnode;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8437" name="Group 39"/>
          <p:cNvGrpSpPr/>
          <p:nvPr/>
        </p:nvGrpSpPr>
        <p:grpSpPr>
          <a:xfrm>
            <a:off x="338365" y="3810061"/>
            <a:ext cx="4888955" cy="1219424"/>
            <a:chOff x="463" y="2640"/>
            <a:chExt cx="2897" cy="768"/>
          </a:xfrm>
        </p:grpSpPr>
        <p:sp>
          <p:nvSpPr>
            <p:cNvPr id="18438" name="Rectangle 5"/>
            <p:cNvSpPr/>
            <p:nvPr/>
          </p:nvSpPr>
          <p:spPr>
            <a:xfrm>
              <a:off x="1536" y="3120"/>
              <a:ext cx="432" cy="288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E0A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39" name="Rectangle 6"/>
            <p:cNvSpPr/>
            <p:nvPr/>
          </p:nvSpPr>
          <p:spPr>
            <a:xfrm>
              <a:off x="2352" y="3120"/>
              <a:ext cx="432" cy="288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E0A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40" name="Line 7"/>
            <p:cNvSpPr/>
            <p:nvPr/>
          </p:nvSpPr>
          <p:spPr>
            <a:xfrm>
              <a:off x="1776" y="312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41" name="Line 8"/>
            <p:cNvSpPr/>
            <p:nvPr/>
          </p:nvSpPr>
          <p:spPr>
            <a:xfrm>
              <a:off x="2592" y="312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42" name="Line 9"/>
            <p:cNvSpPr/>
            <p:nvPr/>
          </p:nvSpPr>
          <p:spPr>
            <a:xfrm>
              <a:off x="1296" y="3264"/>
              <a:ext cx="240" cy="0"/>
            </a:xfrm>
            <a:prstGeom prst="line">
              <a:avLst/>
            </a:prstGeom>
            <a:ln w="38100" cap="flat" cmpd="sng">
              <a:solidFill>
                <a:schemeClr val="tx2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43" name="Line 10"/>
            <p:cNvSpPr/>
            <p:nvPr/>
          </p:nvSpPr>
          <p:spPr>
            <a:xfrm>
              <a:off x="1872" y="3264"/>
              <a:ext cx="48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44" name="Line 11"/>
            <p:cNvSpPr/>
            <p:nvPr/>
          </p:nvSpPr>
          <p:spPr>
            <a:xfrm>
              <a:off x="2688" y="3264"/>
              <a:ext cx="2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45" name="Line 12"/>
            <p:cNvSpPr/>
            <p:nvPr/>
          </p:nvSpPr>
          <p:spPr>
            <a:xfrm>
              <a:off x="3024" y="3264"/>
              <a:ext cx="336" cy="0"/>
            </a:xfrm>
            <a:prstGeom prst="line">
              <a:avLst/>
            </a:prstGeom>
            <a:ln w="38100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46" name="Text Box 13"/>
            <p:cNvSpPr txBox="1"/>
            <p:nvPr/>
          </p:nvSpPr>
          <p:spPr>
            <a:xfrm>
              <a:off x="463" y="3159"/>
              <a:ext cx="940" cy="2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eaLnBrk="0" hangingPunct="0"/>
              <a:r>
                <a:rPr lang="en-US" altLang="zh-CN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头指针</a:t>
              </a:r>
              <a:r>
                <a:rPr lang="en-US" altLang="zh-CN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first</a:t>
              </a:r>
              <a:endParaRPr lang="en-US" altLang="zh-CN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Rectangle 14"/>
            <p:cNvSpPr/>
            <p:nvPr/>
          </p:nvSpPr>
          <p:spPr>
            <a:xfrm>
              <a:off x="2050" y="2640"/>
              <a:ext cx="432" cy="288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E0A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Line 16"/>
            <p:cNvSpPr/>
            <p:nvPr/>
          </p:nvSpPr>
          <p:spPr>
            <a:xfrm>
              <a:off x="1728" y="2804"/>
              <a:ext cx="2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Text Box 17"/>
            <p:cNvSpPr txBox="1"/>
            <p:nvPr/>
          </p:nvSpPr>
          <p:spPr>
            <a:xfrm>
              <a:off x="589" y="2640"/>
              <a:ext cx="115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eaLnBrk="0" hangingPunct="0"/>
              <a:r>
                <a:rPr lang="en-US" altLang="zh-CN" sz="2800" b="1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rPr>
                <a:t>newnode</a:t>
              </a:r>
              <a:endParaRPr lang="en-US" altLang="zh-CN" sz="3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0" name="Group 43"/>
          <p:cNvGrpSpPr/>
          <p:nvPr/>
        </p:nvGrpSpPr>
        <p:grpSpPr>
          <a:xfrm>
            <a:off x="6532880" y="3871278"/>
            <a:ext cx="4724400" cy="2365375"/>
            <a:chOff x="2640" y="2475"/>
            <a:chExt cx="2976" cy="1490"/>
          </a:xfrm>
        </p:grpSpPr>
        <p:sp>
          <p:nvSpPr>
            <p:cNvPr id="18452" name="Rectangle 18"/>
            <p:cNvSpPr/>
            <p:nvPr/>
          </p:nvSpPr>
          <p:spPr>
            <a:xfrm>
              <a:off x="4128" y="2496"/>
              <a:ext cx="432" cy="288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E0A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53" name="Line 19"/>
            <p:cNvSpPr/>
            <p:nvPr/>
          </p:nvSpPr>
          <p:spPr>
            <a:xfrm>
              <a:off x="4368" y="2496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55" name="Text Box 21"/>
            <p:cNvSpPr txBox="1"/>
            <p:nvPr/>
          </p:nvSpPr>
          <p:spPr>
            <a:xfrm>
              <a:off x="2725" y="2475"/>
              <a:ext cx="1163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2800" b="1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rPr>
                <a:t>newnode</a:t>
              </a:r>
              <a:endParaRPr lang="en-US" altLang="zh-CN" sz="3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56" name="Rectangle 22"/>
            <p:cNvSpPr/>
            <p:nvPr/>
          </p:nvSpPr>
          <p:spPr>
            <a:xfrm>
              <a:off x="3840" y="3120"/>
              <a:ext cx="432" cy="288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E0A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57" name="Line 23"/>
            <p:cNvSpPr/>
            <p:nvPr/>
          </p:nvSpPr>
          <p:spPr>
            <a:xfrm>
              <a:off x="4080" y="312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61" name="Text Box 27"/>
            <p:cNvSpPr txBox="1"/>
            <p:nvPr/>
          </p:nvSpPr>
          <p:spPr>
            <a:xfrm>
              <a:off x="2640" y="3138"/>
              <a:ext cx="921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zh-CN" altLang="en-US" sz="2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头指针</a:t>
              </a:r>
              <a:r>
                <a:rPr lang="en-US" altLang="zh-CN" sz="2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first</a:t>
              </a:r>
              <a:endParaRPr lang="en-US" altLang="zh-CN" sz="2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68" name="Rectangle 33"/>
            <p:cNvSpPr/>
            <p:nvPr/>
          </p:nvSpPr>
          <p:spPr>
            <a:xfrm>
              <a:off x="4656" y="3120"/>
              <a:ext cx="432" cy="288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E0A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69" name="Line 34"/>
            <p:cNvSpPr/>
            <p:nvPr/>
          </p:nvSpPr>
          <p:spPr>
            <a:xfrm>
              <a:off x="4896" y="312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71" name="Line 36"/>
            <p:cNvSpPr/>
            <p:nvPr/>
          </p:nvSpPr>
          <p:spPr>
            <a:xfrm>
              <a:off x="4992" y="3264"/>
              <a:ext cx="2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472" name="Line 37"/>
            <p:cNvSpPr/>
            <p:nvPr/>
          </p:nvSpPr>
          <p:spPr>
            <a:xfrm>
              <a:off x="5328" y="3264"/>
              <a:ext cx="288" cy="0"/>
            </a:xfrm>
            <a:prstGeom prst="line">
              <a:avLst/>
            </a:prstGeom>
            <a:ln w="38100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Rectangle 40"/>
            <p:cNvSpPr>
              <a:spLocks noChangeArrowheads="1"/>
            </p:cNvSpPr>
            <p:nvPr/>
          </p:nvSpPr>
          <p:spPr bwMode="auto">
            <a:xfrm>
              <a:off x="3744" y="3600"/>
              <a:ext cx="1401" cy="36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（插入后）</a:t>
              </a:r>
              <a:endParaRPr kumimoji="0" lang="zh-CN" altLang="en-US" sz="32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</p:grpSp>
      <p:sp>
        <p:nvSpPr>
          <p:cNvPr id="42" name="Text Box 17"/>
          <p:cNvSpPr txBox="1"/>
          <p:nvPr/>
        </p:nvSpPr>
        <p:spPr>
          <a:xfrm>
            <a:off x="1291411" y="5181600"/>
            <a:ext cx="1949169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>
              <a:buClrTx/>
              <a:buSzTx/>
              <a:buFontTx/>
            </a:pP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头结点</a:t>
            </a:r>
            <a:endParaRPr lang="en-US" altLang="zh-CN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 Box 17"/>
          <p:cNvSpPr txBox="1"/>
          <p:nvPr/>
        </p:nvSpPr>
        <p:spPr>
          <a:xfrm>
            <a:off x="2915741" y="5207635"/>
            <a:ext cx="1949169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algn="ctr" eaLnBrk="0" hangingPunct="0">
              <a:buClrTx/>
              <a:buSzTx/>
              <a:buFontTx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第一个结点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ectangle 40"/>
          <p:cNvSpPr>
            <a:spLocks noChangeArrowheads="1"/>
          </p:cNvSpPr>
          <p:nvPr/>
        </p:nvSpPr>
        <p:spPr bwMode="auto">
          <a:xfrm>
            <a:off x="2013585" y="5641975"/>
            <a:ext cx="2214880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0" lang="zh-CN" altLang="en-US" sz="3200" b="1" i="0" u="none" strike="noStrike" kern="1200" cap="none" spc="0" normalizeH="0" baseline="0" noProof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（插入前）</a:t>
            </a:r>
            <a:endParaRPr kumimoji="0" lang="zh-CN" altLang="en-US" sz="3200" b="1" i="0" u="none" strike="noStrike" kern="1200" cap="none" spc="0" normalizeH="0" baseline="0" noProof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5" name="Line 9"/>
          <p:cNvSpPr/>
          <p:nvPr/>
        </p:nvSpPr>
        <p:spPr>
          <a:xfrm>
            <a:off x="8023644" y="5181844"/>
            <a:ext cx="405022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triangle" w="sm" len="med"/>
          </a:ln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Line 9"/>
          <p:cNvSpPr/>
          <p:nvPr/>
        </p:nvSpPr>
        <p:spPr>
          <a:xfrm rot="16200000">
            <a:off x="8814219" y="4707499"/>
            <a:ext cx="405022" cy="0"/>
          </a:xfrm>
          <a:prstGeom prst="line">
            <a:avLst/>
          </a:prstGeom>
          <a:ln w="38100" cap="flat" cmpd="sng">
            <a:solidFill>
              <a:schemeClr val="tx2"/>
            </a:solidFill>
            <a:prstDash val="solid"/>
            <a:round/>
            <a:headEnd type="none" w="med" len="med"/>
            <a:tailEnd type="triangle" w="sm" len="med"/>
          </a:ln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Line 36"/>
          <p:cNvSpPr/>
          <p:nvPr/>
        </p:nvSpPr>
        <p:spPr>
          <a:xfrm rot="5400000">
            <a:off x="9533255" y="4681220"/>
            <a:ext cx="457200" cy="0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7" name="直接连接符 56"/>
          <p:cNvCxnSpPr>
            <a:stCxn id="18" idx="0"/>
            <a:endCxn id="18" idx="2"/>
          </p:cNvCxnSpPr>
          <p:nvPr/>
        </p:nvCxnSpPr>
        <p:spPr>
          <a:xfrm>
            <a:off x="3381375" y="3810000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头插法和尾插法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链表的插入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4730" y="1188085"/>
            <a:ext cx="774636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algn="l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在链表的中间插入：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newnode-&gt;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next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p-&gt;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next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	</a:t>
            </a:r>
            <a:endParaRPr lang="zh-CN" altLang="en-US" sz="2000" b="1" baseline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 p-&gt;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next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newnode；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3338830" y="3527425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461" name="Group 54"/>
          <p:cNvGrpSpPr/>
          <p:nvPr/>
        </p:nvGrpSpPr>
        <p:grpSpPr>
          <a:xfrm>
            <a:off x="743903" y="3436084"/>
            <a:ext cx="3979863" cy="2518311"/>
            <a:chOff x="277" y="1668"/>
            <a:chExt cx="2507" cy="1679"/>
          </a:xfrm>
        </p:grpSpPr>
        <p:sp>
          <p:nvSpPr>
            <p:cNvPr id="19462" name="Rectangle 3"/>
            <p:cNvSpPr/>
            <p:nvPr/>
          </p:nvSpPr>
          <p:spPr>
            <a:xfrm>
              <a:off x="1728" y="1728"/>
              <a:ext cx="432" cy="288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E0A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768" y="2943"/>
              <a:ext cx="1121" cy="40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112947" tIns="56473" rIns="112947" bIns="56473">
              <a:spAutoFit/>
            </a:bodyPr>
            <a:p>
              <a:pPr marR="0" defTabSz="1128395" eaLnBrk="0" hangingPunct="0">
                <a:defRPr/>
              </a:pPr>
              <a:r>
                <a:rPr kumimoji="0" lang="en-US" altLang="zh-CN" sz="3200" b="1" i="0" kern="1200" cap="none" spc="0" normalizeH="0" baseline="0" noProof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(</a:t>
              </a:r>
              <a:r>
                <a:rPr kumimoji="0" lang="zh-CN" altLang="en-US" sz="3200" b="1" i="0" kern="1200" cap="none" spc="0" normalizeH="0" baseline="0" noProof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插入前</a:t>
              </a:r>
              <a:r>
                <a:rPr kumimoji="0" lang="en-US" altLang="zh-CN" sz="3200" b="1" i="0" kern="1200" cap="none" spc="0" normalizeH="0" baseline="0" noProof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)</a:t>
              </a:r>
              <a:endParaRPr kumimoji="0" lang="en-US" altLang="zh-CN" sz="3600" b="1" i="0" kern="1200" cap="none" spc="0" normalizeH="0" baseline="0" noProof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9464" name="Line 10"/>
            <p:cNvSpPr/>
            <p:nvPr/>
          </p:nvSpPr>
          <p:spPr>
            <a:xfrm>
              <a:off x="1968" y="172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65" name="Line 11"/>
            <p:cNvSpPr/>
            <p:nvPr/>
          </p:nvSpPr>
          <p:spPr>
            <a:xfrm flipV="1">
              <a:off x="1440" y="1872"/>
              <a:ext cx="2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66" name="Text Box 12"/>
            <p:cNvSpPr txBox="1"/>
            <p:nvPr/>
          </p:nvSpPr>
          <p:spPr>
            <a:xfrm>
              <a:off x="277" y="1668"/>
              <a:ext cx="1163" cy="3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2800" b="1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rPr>
                <a:t>newnode</a:t>
              </a:r>
              <a:endParaRPr lang="en-US" altLang="zh-CN" sz="3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67" name="Rectangle 13"/>
            <p:cNvSpPr/>
            <p:nvPr/>
          </p:nvSpPr>
          <p:spPr>
            <a:xfrm>
              <a:off x="1920" y="2502"/>
              <a:ext cx="432" cy="288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E0A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68" name="Line 14"/>
            <p:cNvSpPr/>
            <p:nvPr/>
          </p:nvSpPr>
          <p:spPr>
            <a:xfrm>
              <a:off x="2160" y="250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69" name="Rectangle 15"/>
            <p:cNvSpPr/>
            <p:nvPr/>
          </p:nvSpPr>
          <p:spPr>
            <a:xfrm>
              <a:off x="1104" y="2502"/>
              <a:ext cx="432" cy="288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E0A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70" name="Line 16"/>
            <p:cNvSpPr/>
            <p:nvPr/>
          </p:nvSpPr>
          <p:spPr>
            <a:xfrm>
              <a:off x="864" y="2646"/>
              <a:ext cx="2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71" name="Line 17"/>
            <p:cNvSpPr/>
            <p:nvPr/>
          </p:nvSpPr>
          <p:spPr>
            <a:xfrm flipV="1">
              <a:off x="1440" y="2640"/>
              <a:ext cx="480" cy="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72" name="Line 18"/>
            <p:cNvSpPr/>
            <p:nvPr/>
          </p:nvSpPr>
          <p:spPr>
            <a:xfrm>
              <a:off x="1344" y="250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73" name="Line 19"/>
            <p:cNvSpPr/>
            <p:nvPr/>
          </p:nvSpPr>
          <p:spPr>
            <a:xfrm>
              <a:off x="2256" y="2640"/>
              <a:ext cx="336" cy="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74" name="Line 20"/>
            <p:cNvSpPr/>
            <p:nvPr/>
          </p:nvSpPr>
          <p:spPr>
            <a:xfrm>
              <a:off x="2640" y="2646"/>
              <a:ext cx="144" cy="0"/>
            </a:xfrm>
            <a:prstGeom prst="line">
              <a:avLst/>
            </a:prstGeom>
            <a:ln w="38100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75" name="Line 21"/>
            <p:cNvSpPr/>
            <p:nvPr/>
          </p:nvSpPr>
          <p:spPr>
            <a:xfrm>
              <a:off x="528" y="2646"/>
              <a:ext cx="336" cy="0"/>
            </a:xfrm>
            <a:prstGeom prst="line">
              <a:avLst/>
            </a:prstGeom>
            <a:ln w="38100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76" name="Line 22"/>
            <p:cNvSpPr/>
            <p:nvPr/>
          </p:nvSpPr>
          <p:spPr>
            <a:xfrm>
              <a:off x="1248" y="2214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77" name="Line 23"/>
            <p:cNvSpPr/>
            <p:nvPr/>
          </p:nvSpPr>
          <p:spPr>
            <a:xfrm flipH="1" flipV="1">
              <a:off x="1152" y="2208"/>
              <a:ext cx="96" cy="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478" name="Text Box 24"/>
            <p:cNvSpPr txBox="1"/>
            <p:nvPr/>
          </p:nvSpPr>
          <p:spPr>
            <a:xfrm>
              <a:off x="911" y="2016"/>
              <a:ext cx="267" cy="3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2800" b="1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rPr>
                <a:t>p</a:t>
              </a:r>
              <a:endParaRPr lang="en-US" altLang="zh-CN" sz="3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" name="Group 53"/>
          <p:cNvGrpSpPr/>
          <p:nvPr/>
        </p:nvGrpSpPr>
        <p:grpSpPr>
          <a:xfrm>
            <a:off x="5959158" y="3527425"/>
            <a:ext cx="4589463" cy="2528888"/>
            <a:chOff x="2341" y="1680"/>
            <a:chExt cx="2891" cy="1686"/>
          </a:xfrm>
        </p:grpSpPr>
        <p:sp>
          <p:nvSpPr>
            <p:cNvPr id="19480" name="Text Box 48"/>
            <p:cNvSpPr txBox="1"/>
            <p:nvPr/>
          </p:nvSpPr>
          <p:spPr>
            <a:xfrm>
              <a:off x="3071" y="2064"/>
              <a:ext cx="267" cy="3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2800" b="1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rPr>
                <a:t>p</a:t>
              </a:r>
              <a:endParaRPr lang="en-US" altLang="zh-CN" sz="3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9481" name="Group 52"/>
            <p:cNvGrpSpPr/>
            <p:nvPr/>
          </p:nvGrpSpPr>
          <p:grpSpPr>
            <a:xfrm>
              <a:off x="2341" y="1680"/>
              <a:ext cx="2891" cy="1686"/>
              <a:chOff x="2341" y="1680"/>
              <a:chExt cx="2891" cy="1686"/>
            </a:xfrm>
          </p:grpSpPr>
          <p:sp>
            <p:nvSpPr>
              <p:cNvPr id="19482" name="Rectangle 2"/>
              <p:cNvSpPr/>
              <p:nvPr/>
            </p:nvSpPr>
            <p:spPr>
              <a:xfrm>
                <a:off x="4272" y="2544"/>
                <a:ext cx="432" cy="288"/>
              </a:xfrm>
              <a:prstGeom prst="rect">
                <a:avLst/>
              </a:prstGeom>
              <a:gradFill rotWithShape="0">
                <a:gsLst>
                  <a:gs pos="0">
                    <a:srgbClr val="996600"/>
                  </a:gs>
                  <a:gs pos="100000">
                    <a:srgbClr val="0E0A00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483" name="Rectangle 25"/>
              <p:cNvSpPr/>
              <p:nvPr/>
            </p:nvSpPr>
            <p:spPr>
              <a:xfrm>
                <a:off x="3840" y="1776"/>
                <a:ext cx="432" cy="288"/>
              </a:xfrm>
              <a:prstGeom prst="rect">
                <a:avLst/>
              </a:prstGeom>
              <a:gradFill rotWithShape="0">
                <a:gsLst>
                  <a:gs pos="0">
                    <a:srgbClr val="996600"/>
                  </a:gs>
                  <a:gs pos="100000">
                    <a:srgbClr val="0E0A00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484" name="Line 26"/>
              <p:cNvSpPr/>
              <p:nvPr/>
            </p:nvSpPr>
            <p:spPr>
              <a:xfrm>
                <a:off x="4944" y="2688"/>
                <a:ext cx="288" cy="0"/>
              </a:xfrm>
              <a:prstGeom prst="line">
                <a:avLst/>
              </a:prstGeom>
              <a:ln w="38100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485" name="Line 27"/>
              <p:cNvSpPr/>
              <p:nvPr/>
            </p:nvSpPr>
            <p:spPr>
              <a:xfrm>
                <a:off x="4608" y="2688"/>
                <a:ext cx="288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486" name="Line 28"/>
              <p:cNvSpPr/>
              <p:nvPr/>
            </p:nvSpPr>
            <p:spPr>
              <a:xfrm>
                <a:off x="4512" y="2544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487" name="Line 29"/>
              <p:cNvSpPr/>
              <p:nvPr/>
            </p:nvSpPr>
            <p:spPr>
              <a:xfrm>
                <a:off x="4080" y="1776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19488" name="Group 50"/>
              <p:cNvGrpSpPr/>
              <p:nvPr/>
            </p:nvGrpSpPr>
            <p:grpSpPr>
              <a:xfrm>
                <a:off x="4080" y="1920"/>
                <a:ext cx="288" cy="768"/>
                <a:chOff x="4080" y="1920"/>
                <a:chExt cx="288" cy="768"/>
              </a:xfrm>
            </p:grpSpPr>
            <p:sp>
              <p:nvSpPr>
                <p:cNvPr id="19489" name="Line 30"/>
                <p:cNvSpPr/>
                <p:nvPr/>
              </p:nvSpPr>
              <p:spPr>
                <a:xfrm>
                  <a:off x="4176" y="1920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eaLnBrk="0" hangingPunct="0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9490" name="Line 31"/>
                <p:cNvSpPr/>
                <p:nvPr/>
              </p:nvSpPr>
              <p:spPr>
                <a:xfrm>
                  <a:off x="4368" y="1920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eaLnBrk="0" hangingPunct="0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9491" name="Line 32"/>
                <p:cNvSpPr/>
                <p:nvPr/>
              </p:nvSpPr>
              <p:spPr>
                <a:xfrm flipH="1">
                  <a:off x="4080" y="2304"/>
                  <a:ext cx="288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eaLnBrk="0" hangingPunct="0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9492" name="Line 33"/>
                <p:cNvSpPr/>
                <p:nvPr/>
              </p:nvSpPr>
              <p:spPr>
                <a:xfrm>
                  <a:off x="4080" y="2304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eaLnBrk="0" hangingPunct="0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9493" name="Line 34"/>
                <p:cNvSpPr/>
                <p:nvPr/>
              </p:nvSpPr>
              <p:spPr>
                <a:xfrm>
                  <a:off x="4080" y="2688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rgbClr val="FF9900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  <p:txBody>
                <a:bodyPr wrap="none" anchor="ctr"/>
                <a:p>
                  <a:pPr eaLnBrk="0" hangingPunct="0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19494" name="Rectangle 35"/>
              <p:cNvSpPr/>
              <p:nvPr/>
            </p:nvSpPr>
            <p:spPr>
              <a:xfrm>
                <a:off x="3312" y="2544"/>
                <a:ext cx="432" cy="288"/>
              </a:xfrm>
              <a:prstGeom prst="rect">
                <a:avLst/>
              </a:prstGeom>
              <a:gradFill rotWithShape="0">
                <a:gsLst>
                  <a:gs pos="0">
                    <a:srgbClr val="996600"/>
                  </a:gs>
                  <a:gs pos="100000">
                    <a:srgbClr val="0E0A00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495" name="Line 36"/>
              <p:cNvSpPr/>
              <p:nvPr/>
            </p:nvSpPr>
            <p:spPr>
              <a:xfrm>
                <a:off x="3552" y="2544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19496" name="Group 49"/>
              <p:cNvGrpSpPr/>
              <p:nvPr/>
            </p:nvGrpSpPr>
            <p:grpSpPr>
              <a:xfrm>
                <a:off x="3648" y="1968"/>
                <a:ext cx="240" cy="720"/>
                <a:chOff x="3648" y="1968"/>
                <a:chExt cx="240" cy="720"/>
              </a:xfrm>
            </p:grpSpPr>
            <p:sp>
              <p:nvSpPr>
                <p:cNvPr id="19497" name="Line 37"/>
                <p:cNvSpPr/>
                <p:nvPr/>
              </p:nvSpPr>
              <p:spPr>
                <a:xfrm>
                  <a:off x="3648" y="2688"/>
                  <a:ext cx="240" cy="0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eaLnBrk="0" hangingPunct="0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9498" name="Line 38"/>
                <p:cNvSpPr/>
                <p:nvPr/>
              </p:nvSpPr>
              <p:spPr>
                <a:xfrm flipV="1">
                  <a:off x="3888" y="2304"/>
                  <a:ext cx="0" cy="384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eaLnBrk="0" hangingPunct="0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9499" name="Line 39"/>
                <p:cNvSpPr/>
                <p:nvPr/>
              </p:nvSpPr>
              <p:spPr>
                <a:xfrm flipH="1">
                  <a:off x="3648" y="2304"/>
                  <a:ext cx="240" cy="0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eaLnBrk="0" hangingPunct="0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9500" name="Line 40"/>
                <p:cNvSpPr/>
                <p:nvPr/>
              </p:nvSpPr>
              <p:spPr>
                <a:xfrm flipV="1">
                  <a:off x="3648" y="1968"/>
                  <a:ext cx="0" cy="336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eaLnBrk="0" hangingPunct="0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9501" name="Line 41"/>
                <p:cNvSpPr/>
                <p:nvPr/>
              </p:nvSpPr>
              <p:spPr>
                <a:xfrm>
                  <a:off x="3648" y="1968"/>
                  <a:ext cx="192" cy="0"/>
                </a:xfrm>
                <a:prstGeom prst="line">
                  <a:avLst/>
                </a:prstGeom>
                <a:ln w="38100" cap="flat" cmpd="sng">
                  <a:solidFill>
                    <a:schemeClr val="tx2"/>
                  </a:solidFill>
                  <a:prstDash val="solid"/>
                  <a:round/>
                  <a:headEnd type="none" w="med" len="med"/>
                  <a:tailEnd type="triangle" w="sm" len="med"/>
                </a:ln>
              </p:spPr>
              <p:txBody>
                <a:bodyPr wrap="none" anchor="ctr"/>
                <a:p>
                  <a:pPr eaLnBrk="0" hangingPunct="0"/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19502" name="Line 42"/>
              <p:cNvSpPr/>
              <p:nvPr/>
            </p:nvSpPr>
            <p:spPr>
              <a:xfrm>
                <a:off x="3504" y="1872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503" name="Text Box 43"/>
              <p:cNvSpPr txBox="1"/>
              <p:nvPr/>
            </p:nvSpPr>
            <p:spPr>
              <a:xfrm>
                <a:off x="2341" y="1680"/>
                <a:ext cx="1163" cy="3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pPr eaLnBrk="0" hangingPunct="0"/>
                <a:r>
                  <a:rPr lang="en-US" altLang="zh-CN" sz="2800" b="1" dirty="0">
                    <a:solidFill>
                      <a:schemeClr val="accent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newnode</a:t>
                </a:r>
                <a:endParaRPr lang="en-US" altLang="zh-CN" sz="32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504" name="Line 44"/>
              <p:cNvSpPr/>
              <p:nvPr/>
            </p:nvSpPr>
            <p:spPr>
              <a:xfrm>
                <a:off x="3120" y="2688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505" name="Line 45"/>
              <p:cNvSpPr/>
              <p:nvPr/>
            </p:nvSpPr>
            <p:spPr>
              <a:xfrm>
                <a:off x="2976" y="2688"/>
                <a:ext cx="144" cy="0"/>
              </a:xfrm>
              <a:prstGeom prst="line">
                <a:avLst/>
              </a:prstGeom>
              <a:ln w="38100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506" name="Line 46"/>
              <p:cNvSpPr/>
              <p:nvPr/>
            </p:nvSpPr>
            <p:spPr>
              <a:xfrm>
                <a:off x="3408" y="2256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507" name="Line 47"/>
              <p:cNvSpPr/>
              <p:nvPr/>
            </p:nvSpPr>
            <p:spPr>
              <a:xfrm flipH="1">
                <a:off x="3312" y="2256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" name="Rectangle 51"/>
              <p:cNvSpPr>
                <a:spLocks noChangeArrowheads="1"/>
              </p:cNvSpPr>
              <p:nvPr/>
            </p:nvSpPr>
            <p:spPr bwMode="auto">
              <a:xfrm>
                <a:off x="3504" y="2976"/>
                <a:ext cx="1094" cy="3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1" dirty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ea"/>
                  </a:rPr>
                  <a:t>(</a:t>
                </a:r>
                <a:r>
                  <a:rPr kumimoji="0" lang="zh-CN" altLang="en-US" sz="3200" b="1" i="0" u="none" strike="noStrike" kern="1200" cap="none" spc="0" normalizeH="0" baseline="0" noProof="1" dirty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ea"/>
                  </a:rPr>
                  <a:t>插入后</a:t>
                </a:r>
                <a:r>
                  <a:rPr kumimoji="0" lang="en-US" altLang="zh-CN" sz="3200" b="1" i="0" u="none" strike="noStrike" kern="1200" cap="none" spc="0" normalizeH="0" baseline="0" noProof="1" dirty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ea"/>
                  </a:rPr>
                  <a:t>)</a:t>
                </a:r>
                <a:endParaRPr kumimoji="0" lang="en-US" altLang="zh-CN" sz="3200" b="1" i="0" u="none" strike="noStrike" kern="1200" cap="none" spc="0" normalizeH="0" baseline="0" noProof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头插法和尾插法</a:t>
              </a:r>
              <a:endPara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链表的插入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4730" y="1188085"/>
            <a:ext cx="7746365" cy="159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R="0" algn="l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尾插法：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newnode-&gt;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next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	</a:t>
            </a:r>
            <a:endParaRPr lang="zh-CN" altLang="en-US" sz="2000" b="1" baseline="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 p-&gt;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next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= newnode；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101465" y="3471545"/>
            <a:ext cx="0" cy="457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4"/>
          <p:cNvGrpSpPr/>
          <p:nvPr/>
        </p:nvGrpSpPr>
        <p:grpSpPr>
          <a:xfrm>
            <a:off x="1506538" y="3308329"/>
            <a:ext cx="2989263" cy="2510811"/>
            <a:chOff x="277" y="1673"/>
            <a:chExt cx="1883" cy="1674"/>
          </a:xfrm>
        </p:grpSpPr>
        <p:sp>
          <p:nvSpPr>
            <p:cNvPr id="8" name="Rectangle 3"/>
            <p:cNvSpPr/>
            <p:nvPr/>
          </p:nvSpPr>
          <p:spPr>
            <a:xfrm>
              <a:off x="1728" y="1728"/>
              <a:ext cx="432" cy="288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E0A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768" y="2943"/>
              <a:ext cx="1121" cy="40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 lIns="112947" tIns="56473" rIns="112947" bIns="56473">
              <a:spAutoFit/>
            </a:bodyPr>
            <a:p>
              <a:pPr marR="0" defTabSz="1128395" eaLnBrk="0" hangingPunct="0">
                <a:defRPr/>
              </a:pPr>
              <a:r>
                <a:rPr kumimoji="0" lang="en-US" altLang="zh-CN" sz="3200" b="1" i="0" kern="1200" cap="none" spc="0" normalizeH="0" baseline="0" noProof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(</a:t>
              </a:r>
              <a:r>
                <a:rPr kumimoji="0" lang="zh-CN" altLang="en-US" sz="3200" b="1" i="0" kern="1200" cap="none" spc="0" normalizeH="0" baseline="0" noProof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插入前</a:t>
              </a:r>
              <a:r>
                <a:rPr kumimoji="0" lang="en-US" altLang="zh-CN" sz="3200" b="1" i="0" kern="1200" cap="none" spc="0" normalizeH="0" baseline="0" noProof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)</a:t>
              </a:r>
              <a:endParaRPr kumimoji="0" lang="en-US" altLang="zh-CN" sz="3600" b="1" i="0" kern="1200" cap="none" spc="0" normalizeH="0" baseline="0" noProof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endParaRPr>
            </a:p>
          </p:txBody>
        </p:sp>
        <p:sp>
          <p:nvSpPr>
            <p:cNvPr id="11" name="Line 10"/>
            <p:cNvSpPr/>
            <p:nvPr/>
          </p:nvSpPr>
          <p:spPr>
            <a:xfrm>
              <a:off x="1968" y="1728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Line 11"/>
            <p:cNvSpPr/>
            <p:nvPr/>
          </p:nvSpPr>
          <p:spPr>
            <a:xfrm flipV="1">
              <a:off x="1440" y="1872"/>
              <a:ext cx="288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Text Box 12"/>
            <p:cNvSpPr txBox="1"/>
            <p:nvPr/>
          </p:nvSpPr>
          <p:spPr>
            <a:xfrm>
              <a:off x="277" y="1673"/>
              <a:ext cx="1163" cy="3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2800" b="1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rPr>
                <a:t>newnode</a:t>
              </a:r>
              <a:endParaRPr lang="en-US" altLang="zh-CN" sz="3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Rectangle 15"/>
            <p:cNvSpPr/>
            <p:nvPr/>
          </p:nvSpPr>
          <p:spPr>
            <a:xfrm>
              <a:off x="1104" y="2502"/>
              <a:ext cx="678" cy="288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E0A00"/>
                </a:gs>
              </a:gsLst>
              <a:lin ang="540000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Line 16"/>
            <p:cNvSpPr/>
            <p:nvPr/>
          </p:nvSpPr>
          <p:spPr>
            <a:xfrm>
              <a:off x="864" y="2646"/>
              <a:ext cx="2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Line 18"/>
            <p:cNvSpPr/>
            <p:nvPr/>
          </p:nvSpPr>
          <p:spPr>
            <a:xfrm>
              <a:off x="1440" y="2502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528" y="2646"/>
              <a:ext cx="336" cy="0"/>
            </a:xfrm>
            <a:prstGeom prst="line">
              <a:avLst/>
            </a:prstGeom>
            <a:ln w="38100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1248" y="2214"/>
              <a:ext cx="0" cy="288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sm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 flipH="1" flipV="1">
              <a:off x="1152" y="2208"/>
              <a:ext cx="96" cy="6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Text Box 24"/>
            <p:cNvSpPr txBox="1"/>
            <p:nvPr/>
          </p:nvSpPr>
          <p:spPr>
            <a:xfrm>
              <a:off x="911" y="2016"/>
              <a:ext cx="267" cy="3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2800" b="1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rPr>
                <a:t>p</a:t>
              </a:r>
              <a:endParaRPr lang="en-US" altLang="zh-CN" sz="3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5" name="Group 53"/>
          <p:cNvGrpSpPr/>
          <p:nvPr/>
        </p:nvGrpSpPr>
        <p:grpSpPr>
          <a:xfrm>
            <a:off x="6709728" y="3498544"/>
            <a:ext cx="3582988" cy="2501889"/>
            <a:chOff x="2341" y="1698"/>
            <a:chExt cx="2257" cy="1668"/>
          </a:xfrm>
        </p:grpSpPr>
        <p:sp>
          <p:nvSpPr>
            <p:cNvPr id="26" name="Text Box 48"/>
            <p:cNvSpPr txBox="1"/>
            <p:nvPr/>
          </p:nvSpPr>
          <p:spPr>
            <a:xfrm>
              <a:off x="3071" y="2064"/>
              <a:ext cx="267" cy="34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2800" b="1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</a:rPr>
                <a:t>p</a:t>
              </a:r>
              <a:endParaRPr lang="en-US" altLang="zh-CN" sz="32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7" name="Group 52"/>
            <p:cNvGrpSpPr/>
            <p:nvPr/>
          </p:nvGrpSpPr>
          <p:grpSpPr>
            <a:xfrm>
              <a:off x="2341" y="1698"/>
              <a:ext cx="2257" cy="1668"/>
              <a:chOff x="2341" y="1698"/>
              <a:chExt cx="2257" cy="1668"/>
            </a:xfrm>
          </p:grpSpPr>
          <p:sp>
            <p:nvSpPr>
              <p:cNvPr id="28" name="Rectangle 25"/>
              <p:cNvSpPr/>
              <p:nvPr/>
            </p:nvSpPr>
            <p:spPr>
              <a:xfrm>
                <a:off x="3840" y="1776"/>
                <a:ext cx="432" cy="288"/>
              </a:xfrm>
              <a:prstGeom prst="rect">
                <a:avLst/>
              </a:prstGeom>
              <a:gradFill rotWithShape="0">
                <a:gsLst>
                  <a:gs pos="0">
                    <a:srgbClr val="996600"/>
                  </a:gs>
                  <a:gs pos="100000">
                    <a:srgbClr val="0E0A00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4080" y="1776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0" name="Rectangle 35"/>
              <p:cNvSpPr/>
              <p:nvPr/>
            </p:nvSpPr>
            <p:spPr>
              <a:xfrm>
                <a:off x="3312" y="2544"/>
                <a:ext cx="672" cy="288"/>
              </a:xfrm>
              <a:prstGeom prst="rect">
                <a:avLst/>
              </a:prstGeom>
              <a:gradFill rotWithShape="0">
                <a:gsLst>
                  <a:gs pos="0">
                    <a:srgbClr val="996600"/>
                  </a:gs>
                  <a:gs pos="100000">
                    <a:srgbClr val="0E0A00"/>
                  </a:gs>
                </a:gsLst>
                <a:lin ang="5400000" scaled="1"/>
                <a:tileRect/>
              </a:gra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  <a:effectLst>
                <a:outerShdw dist="107763" dir="2699999" algn="ctr" rotWithShape="0">
                  <a:srgbClr val="808080"/>
                </a:outerShdw>
              </a:effectLst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1" name="Line 36"/>
              <p:cNvSpPr/>
              <p:nvPr/>
            </p:nvSpPr>
            <p:spPr>
              <a:xfrm>
                <a:off x="3648" y="2544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3" name="Line 42"/>
              <p:cNvSpPr/>
              <p:nvPr/>
            </p:nvSpPr>
            <p:spPr>
              <a:xfrm>
                <a:off x="3504" y="1872"/>
                <a:ext cx="33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4" name="Text Box 43"/>
              <p:cNvSpPr txBox="1"/>
              <p:nvPr/>
            </p:nvSpPr>
            <p:spPr>
              <a:xfrm>
                <a:off x="2341" y="1698"/>
                <a:ext cx="1163" cy="3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>
                <a:spAutoFit/>
              </a:bodyPr>
              <a:p>
                <a:pPr eaLnBrk="0" hangingPunct="0"/>
                <a:r>
                  <a:rPr lang="en-US" altLang="zh-CN" sz="2800" b="1" dirty="0">
                    <a:solidFill>
                      <a:schemeClr val="accent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newnode</a:t>
                </a:r>
                <a:endParaRPr lang="en-US" altLang="zh-CN" sz="32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5" name="Line 44"/>
              <p:cNvSpPr/>
              <p:nvPr/>
            </p:nvSpPr>
            <p:spPr>
              <a:xfrm>
                <a:off x="3120" y="2688"/>
                <a:ext cx="192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6" name="Line 45"/>
              <p:cNvSpPr/>
              <p:nvPr/>
            </p:nvSpPr>
            <p:spPr>
              <a:xfrm>
                <a:off x="2976" y="2688"/>
                <a:ext cx="144" cy="0"/>
              </a:xfrm>
              <a:prstGeom prst="line">
                <a:avLst/>
              </a:prstGeom>
              <a:ln w="38100" cap="rnd" cmpd="sng">
                <a:solidFill>
                  <a:schemeClr val="tx1"/>
                </a:solidFill>
                <a:prstDash val="sysDot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7" name="Line 46"/>
              <p:cNvSpPr/>
              <p:nvPr/>
            </p:nvSpPr>
            <p:spPr>
              <a:xfrm>
                <a:off x="3408" y="2256"/>
                <a:ext cx="0" cy="288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triangle" w="sm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8" name="Line 47"/>
              <p:cNvSpPr/>
              <p:nvPr/>
            </p:nvSpPr>
            <p:spPr>
              <a:xfrm flipH="1">
                <a:off x="3312" y="2256"/>
                <a:ext cx="96" cy="0"/>
              </a:xfrm>
              <a:prstGeom prst="line">
                <a:avLst/>
              </a:prstGeom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eaLnBrk="0" hangingPunct="0"/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5" name="Rectangle 51"/>
              <p:cNvSpPr>
                <a:spLocks noChangeArrowheads="1"/>
              </p:cNvSpPr>
              <p:nvPr/>
            </p:nvSpPr>
            <p:spPr bwMode="auto">
              <a:xfrm>
                <a:off x="3504" y="2976"/>
                <a:ext cx="1094" cy="390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>
                <a:spAutoFit/>
              </a:bodyPr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/>
                </a:pPr>
                <a:r>
                  <a:rPr kumimoji="0" lang="en-US" altLang="zh-CN" sz="3200" b="1" i="0" u="none" strike="noStrike" kern="1200" cap="none" spc="0" normalizeH="0" baseline="0" noProof="1" dirty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ea"/>
                  </a:rPr>
                  <a:t>(</a:t>
                </a:r>
                <a:r>
                  <a:rPr kumimoji="0" lang="zh-CN" altLang="en-US" sz="3200" b="1" i="0" u="none" strike="noStrike" kern="1200" cap="none" spc="0" normalizeH="0" baseline="0" noProof="1" dirty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ea"/>
                  </a:rPr>
                  <a:t>插入后</a:t>
                </a:r>
                <a:r>
                  <a:rPr kumimoji="0" lang="en-US" altLang="zh-CN" sz="3200" b="1" i="0" u="none" strike="noStrike" kern="1200" cap="none" spc="0" normalizeH="0" baseline="0" noProof="1" dirty="0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+mn-ea"/>
                  </a:rPr>
                  <a:t>)</a:t>
                </a:r>
                <a:endParaRPr kumimoji="0" lang="en-US" altLang="zh-CN" sz="3200" b="1" i="0" u="none" strike="noStrike" kern="1200" cap="none" spc="0" normalizeH="0" baseline="0" noProof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endParaRPr>
              </a:p>
            </p:txBody>
          </p:sp>
        </p:grpSp>
      </p:grpSp>
      <p:sp>
        <p:nvSpPr>
          <p:cNvPr id="39" name="文本框 38"/>
          <p:cNvSpPr txBox="1"/>
          <p:nvPr/>
        </p:nvSpPr>
        <p:spPr>
          <a:xfrm>
            <a:off x="3191510" y="4636770"/>
            <a:ext cx="8743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/>
              <a:t>NULL</a:t>
            </a:r>
            <a:endParaRPr lang="en-US" altLang="zh-CN" sz="1400" b="1"/>
          </a:p>
        </p:txBody>
      </p:sp>
      <p:sp>
        <p:nvSpPr>
          <p:cNvPr id="40" name="Line 46"/>
          <p:cNvSpPr/>
          <p:nvPr/>
        </p:nvSpPr>
        <p:spPr>
          <a:xfrm rot="10800000">
            <a:off x="9165590" y="4204697"/>
            <a:ext cx="0" cy="431981"/>
          </a:xfrm>
          <a:prstGeom prst="line">
            <a:avLst/>
          </a:prstGeom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sm" len="med"/>
          </a:ln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链表的删除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2533" name="Line 4"/>
          <p:cNvSpPr/>
          <p:nvPr/>
        </p:nvSpPr>
        <p:spPr>
          <a:xfrm rot="240000" flipV="1">
            <a:off x="3138170" y="2586355"/>
            <a:ext cx="457200" cy="46038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triangle" w="sm" len="lg"/>
          </a:ln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34" name="Rectangle 5"/>
          <p:cNvSpPr/>
          <p:nvPr/>
        </p:nvSpPr>
        <p:spPr>
          <a:xfrm>
            <a:off x="3595370" y="2394268"/>
            <a:ext cx="990600" cy="420687"/>
          </a:xfrm>
          <a:prstGeom prst="rect">
            <a:avLst/>
          </a:prstGeom>
          <a:gradFill rotWithShape="0">
            <a:gsLst>
              <a:gs pos="0">
                <a:srgbClr val="996600"/>
              </a:gs>
              <a:gs pos="100000">
                <a:srgbClr val="000000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/>
            </a:outerShdw>
          </a:effectLst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35" name="Line 6"/>
          <p:cNvSpPr/>
          <p:nvPr/>
        </p:nvSpPr>
        <p:spPr>
          <a:xfrm>
            <a:off x="4281170" y="2394268"/>
            <a:ext cx="0" cy="420687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36" name="Line 7"/>
          <p:cNvSpPr/>
          <p:nvPr/>
        </p:nvSpPr>
        <p:spPr>
          <a:xfrm rot="240000" flipV="1">
            <a:off x="4433570" y="2586355"/>
            <a:ext cx="990600" cy="46038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triangle" w="sm" len="lg"/>
          </a:ln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37" name="Rectangle 8"/>
          <p:cNvSpPr/>
          <p:nvPr/>
        </p:nvSpPr>
        <p:spPr>
          <a:xfrm>
            <a:off x="5424170" y="2394268"/>
            <a:ext cx="990600" cy="420687"/>
          </a:xfrm>
          <a:prstGeom prst="rect">
            <a:avLst/>
          </a:prstGeom>
          <a:gradFill rotWithShape="0">
            <a:gsLst>
              <a:gs pos="0">
                <a:srgbClr val="996600"/>
              </a:gs>
              <a:gs pos="100000">
                <a:srgbClr val="000000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/>
            </a:outerShdw>
          </a:effectLst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38" name="Line 9"/>
          <p:cNvSpPr/>
          <p:nvPr/>
        </p:nvSpPr>
        <p:spPr>
          <a:xfrm>
            <a:off x="6109970" y="2394268"/>
            <a:ext cx="0" cy="420687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39" name="Line 10"/>
          <p:cNvSpPr/>
          <p:nvPr/>
        </p:nvSpPr>
        <p:spPr>
          <a:xfrm rot="180000" flipV="1">
            <a:off x="6262370" y="2570480"/>
            <a:ext cx="990600" cy="46038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triangle" w="sm" len="lg"/>
          </a:ln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40" name="Rectangle 11"/>
          <p:cNvSpPr/>
          <p:nvPr/>
        </p:nvSpPr>
        <p:spPr>
          <a:xfrm>
            <a:off x="7252970" y="2394268"/>
            <a:ext cx="990600" cy="420687"/>
          </a:xfrm>
          <a:prstGeom prst="rect">
            <a:avLst/>
          </a:prstGeom>
          <a:gradFill rotWithShape="0">
            <a:gsLst>
              <a:gs pos="0">
                <a:srgbClr val="996600"/>
              </a:gs>
              <a:gs pos="100000">
                <a:srgbClr val="000000"/>
              </a:gs>
            </a:gsLst>
            <a:lin ang="5400000" scaled="1"/>
            <a:tileRect/>
          </a:gradFill>
          <a:ln w="952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  <a:effectLst>
            <a:outerShdw dist="107763" dir="2699999" algn="ctr" rotWithShape="0">
              <a:schemeClr val="bg2"/>
            </a:outerShdw>
          </a:effectLst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41" name="Line 12"/>
          <p:cNvSpPr/>
          <p:nvPr/>
        </p:nvSpPr>
        <p:spPr>
          <a:xfrm>
            <a:off x="7938770" y="2394268"/>
            <a:ext cx="0" cy="420687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42" name="Line 13"/>
          <p:cNvSpPr/>
          <p:nvPr/>
        </p:nvSpPr>
        <p:spPr>
          <a:xfrm rot="180000" flipV="1">
            <a:off x="8091170" y="2586355"/>
            <a:ext cx="609600" cy="46038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triangle" w="sm" len="lg"/>
          </a:ln>
        </p:spPr>
        <p:txBody>
          <a:bodyPr wrap="none" anchor="ctr"/>
          <a:p>
            <a:pPr eaLnBrk="0" hangingPunct="0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43" name="Text Box 14"/>
          <p:cNvSpPr txBox="1"/>
          <p:nvPr/>
        </p:nvSpPr>
        <p:spPr>
          <a:xfrm>
            <a:off x="2528570" y="2264093"/>
            <a:ext cx="641350" cy="6461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/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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44" name="Text Box 15"/>
          <p:cNvSpPr txBox="1"/>
          <p:nvPr/>
        </p:nvSpPr>
        <p:spPr>
          <a:xfrm>
            <a:off x="8592820" y="2264093"/>
            <a:ext cx="641350" cy="64611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/>
            <a:r>
              <a:rPr lang="en-US" altLang="zh-CN" sz="3600">
                <a:latin typeface="微软雅黑" panose="020B0503020204020204" charset="-122"/>
                <a:ea typeface="微软雅黑" panose="020B0503020204020204" charset="-122"/>
                <a:sym typeface="Symbol" panose="05050102010706020507" pitchFamily="18" charset="2"/>
              </a:rPr>
              <a:t>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45" name="Text Box 28"/>
          <p:cNvSpPr txBox="1"/>
          <p:nvPr/>
        </p:nvSpPr>
        <p:spPr>
          <a:xfrm>
            <a:off x="3596958" y="2281555"/>
            <a:ext cx="684212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/>
            <a:r>
              <a:rPr lang="en-US" altLang="zh-CN" sz="3200" b="1" i="1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3200" b="1" baseline="-25000">
                <a:latin typeface="微软雅黑" panose="020B0503020204020204" charset="-122"/>
                <a:ea typeface="微软雅黑" panose="020B0503020204020204" charset="-122"/>
              </a:rPr>
              <a:t>i-1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46" name="Text Box 30"/>
          <p:cNvSpPr txBox="1"/>
          <p:nvPr/>
        </p:nvSpPr>
        <p:spPr>
          <a:xfrm>
            <a:off x="5571808" y="2327593"/>
            <a:ext cx="461962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/>
            <a:r>
              <a:rPr lang="en-US" altLang="zh-CN" sz="3200" b="1" i="1" dirty="0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3200" b="1" baseline="-25000" dirty="0">
                <a:latin typeface="微软雅黑" panose="020B0503020204020204" charset="-122"/>
                <a:ea typeface="微软雅黑" panose="020B0503020204020204" charset="-122"/>
              </a:rPr>
              <a:t>i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47" name="Text Box 32"/>
          <p:cNvSpPr txBox="1"/>
          <p:nvPr/>
        </p:nvSpPr>
        <p:spPr>
          <a:xfrm>
            <a:off x="7248208" y="2327593"/>
            <a:ext cx="747712" cy="10763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/>
            <a:r>
              <a:rPr lang="en-US" altLang="zh-CN" sz="3200" b="1" i="1"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en-US" altLang="zh-CN" sz="3200" b="1" baseline="-25000">
                <a:latin typeface="微软雅黑" panose="020B0503020204020204" charset="-122"/>
                <a:ea typeface="微软雅黑" panose="020B0503020204020204" charset="-122"/>
              </a:rPr>
              <a:t>i+1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548" name="Text Box 41"/>
          <p:cNvSpPr txBox="1"/>
          <p:nvPr/>
        </p:nvSpPr>
        <p:spPr>
          <a:xfrm>
            <a:off x="5230495" y="3291205"/>
            <a:ext cx="1408113" cy="5238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/>
            <a:r>
              <a:rPr lang="zh-CN" altLang="en-US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删除前</a:t>
            </a:r>
            <a:endParaRPr lang="zh-CN" altLang="en-US" sz="280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" name="Group 43"/>
          <p:cNvGrpSpPr/>
          <p:nvPr/>
        </p:nvGrpSpPr>
        <p:grpSpPr>
          <a:xfrm>
            <a:off x="2528570" y="3894455"/>
            <a:ext cx="6710363" cy="1778000"/>
            <a:chOff x="624" y="2472"/>
            <a:chExt cx="4227" cy="1354"/>
          </a:xfrm>
        </p:grpSpPr>
        <p:sp>
          <p:nvSpPr>
            <p:cNvPr id="22550" name="Line 16"/>
            <p:cNvSpPr/>
            <p:nvPr/>
          </p:nvSpPr>
          <p:spPr>
            <a:xfrm>
              <a:off x="1008" y="2808"/>
              <a:ext cx="288" cy="0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51" name="Rectangle 17"/>
            <p:cNvSpPr/>
            <p:nvPr/>
          </p:nvSpPr>
          <p:spPr>
            <a:xfrm>
              <a:off x="1296" y="2616"/>
              <a:ext cx="624" cy="336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00000"/>
                </a:gs>
              </a:gsLst>
              <a:lin ang="5400000" scaled="1"/>
              <a:tileRect/>
            </a:gradFill>
            <a:ln w="952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chemeClr val="bg2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52" name="Line 18"/>
            <p:cNvSpPr/>
            <p:nvPr/>
          </p:nvSpPr>
          <p:spPr>
            <a:xfrm>
              <a:off x="1728" y="2616"/>
              <a:ext cx="0" cy="336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53" name="Line 19"/>
            <p:cNvSpPr/>
            <p:nvPr/>
          </p:nvSpPr>
          <p:spPr>
            <a:xfrm>
              <a:off x="1824" y="2808"/>
              <a:ext cx="624" cy="0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54" name="Rectangle 20"/>
            <p:cNvSpPr/>
            <p:nvPr/>
          </p:nvSpPr>
          <p:spPr>
            <a:xfrm>
              <a:off x="2448" y="2616"/>
              <a:ext cx="624" cy="336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00000"/>
                </a:gs>
              </a:gsLst>
              <a:lin ang="5400000" scaled="1"/>
              <a:tileRect/>
            </a:gradFill>
            <a:ln w="952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chemeClr val="bg2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55" name="Line 21"/>
            <p:cNvSpPr/>
            <p:nvPr/>
          </p:nvSpPr>
          <p:spPr>
            <a:xfrm>
              <a:off x="2880" y="2616"/>
              <a:ext cx="0" cy="336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56" name="Line 22"/>
            <p:cNvSpPr/>
            <p:nvPr/>
          </p:nvSpPr>
          <p:spPr>
            <a:xfrm>
              <a:off x="2976" y="2808"/>
              <a:ext cx="624" cy="0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57" name="Rectangle 23"/>
            <p:cNvSpPr/>
            <p:nvPr/>
          </p:nvSpPr>
          <p:spPr>
            <a:xfrm>
              <a:off x="3600" y="2616"/>
              <a:ext cx="624" cy="336"/>
            </a:xfrm>
            <a:prstGeom prst="rect">
              <a:avLst/>
            </a:prstGeom>
            <a:gradFill rotWithShape="0">
              <a:gsLst>
                <a:gs pos="0">
                  <a:srgbClr val="996600"/>
                </a:gs>
                <a:gs pos="100000">
                  <a:srgbClr val="000000"/>
                </a:gs>
              </a:gsLst>
              <a:lin ang="5400000" scaled="1"/>
              <a:tileRect/>
            </a:gradFill>
            <a:ln w="9525" cap="flat" cmpd="sng">
              <a:solidFill>
                <a:srgbClr val="FF9900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chemeClr val="bg2"/>
              </a:outerShdw>
            </a:effectLst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58" name="Line 24"/>
            <p:cNvSpPr/>
            <p:nvPr/>
          </p:nvSpPr>
          <p:spPr>
            <a:xfrm>
              <a:off x="4032" y="2616"/>
              <a:ext cx="0" cy="336"/>
            </a:xfrm>
            <a:prstGeom prst="line">
              <a:avLst/>
            </a:prstGeom>
            <a:ln w="19050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59" name="Line 25"/>
            <p:cNvSpPr/>
            <p:nvPr/>
          </p:nvSpPr>
          <p:spPr>
            <a:xfrm>
              <a:off x="4128" y="2808"/>
              <a:ext cx="384" cy="0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60" name="Text Box 26"/>
            <p:cNvSpPr txBox="1"/>
            <p:nvPr/>
          </p:nvSpPr>
          <p:spPr>
            <a:xfrm>
              <a:off x="624" y="2520"/>
              <a:ext cx="407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360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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61" name="Text Box 27"/>
            <p:cNvSpPr txBox="1"/>
            <p:nvPr/>
          </p:nvSpPr>
          <p:spPr>
            <a:xfrm>
              <a:off x="4444" y="2520"/>
              <a:ext cx="407" cy="51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3600" dirty="0">
                  <a:latin typeface="微软雅黑" panose="020B0503020204020204" charset="-122"/>
                  <a:ea typeface="微软雅黑" panose="020B0503020204020204" charset="-122"/>
                  <a:sym typeface="Symbol" panose="05050102010706020507" pitchFamily="18" charset="2"/>
                </a:rPr>
                <a:t>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62" name="Text Box 29"/>
            <p:cNvSpPr txBox="1"/>
            <p:nvPr/>
          </p:nvSpPr>
          <p:spPr>
            <a:xfrm>
              <a:off x="1296" y="2539"/>
              <a:ext cx="499" cy="4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3200" b="1" i="1" dirty="0">
                  <a:latin typeface="微软雅黑" panose="020B0503020204020204" charset="-122"/>
                  <a:ea typeface="微软雅黑" panose="020B0503020204020204" charset="-122"/>
                </a:rPr>
                <a:t>a</a:t>
              </a:r>
              <a:r>
                <a:rPr lang="en-US" altLang="zh-CN" sz="3200" b="1" baseline="-25000" dirty="0">
                  <a:latin typeface="微软雅黑" panose="020B0503020204020204" charset="-122"/>
                  <a:ea typeface="微软雅黑" panose="020B0503020204020204" charset="-122"/>
                </a:rPr>
                <a:t>i-1</a:t>
              </a:r>
              <a:endParaRPr lang="en-US" altLang="zh-CN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63" name="Text Box 31"/>
            <p:cNvSpPr txBox="1"/>
            <p:nvPr/>
          </p:nvSpPr>
          <p:spPr>
            <a:xfrm>
              <a:off x="2544" y="2539"/>
              <a:ext cx="317" cy="4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3200" b="1" i="1">
                  <a:latin typeface="微软雅黑" panose="020B0503020204020204" charset="-122"/>
                  <a:ea typeface="微软雅黑" panose="020B0503020204020204" charset="-122"/>
                </a:rPr>
                <a:t>a</a:t>
              </a:r>
              <a:r>
                <a:rPr lang="en-US" altLang="zh-CN" sz="3200" b="1" baseline="-25000">
                  <a:latin typeface="微软雅黑" panose="020B0503020204020204" charset="-122"/>
                  <a:ea typeface="微软雅黑" panose="020B0503020204020204" charset="-122"/>
                </a:rPr>
                <a:t>i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64" name="Text Box 33"/>
            <p:cNvSpPr txBox="1"/>
            <p:nvPr/>
          </p:nvSpPr>
          <p:spPr>
            <a:xfrm>
              <a:off x="3609" y="2539"/>
              <a:ext cx="555" cy="4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3200" b="1" i="1">
                  <a:latin typeface="微软雅黑" panose="020B0503020204020204" charset="-122"/>
                  <a:ea typeface="微软雅黑" panose="020B0503020204020204" charset="-122"/>
                </a:rPr>
                <a:t>a</a:t>
              </a:r>
              <a:r>
                <a:rPr lang="en-US" altLang="zh-CN" sz="3200" b="1" baseline="-25000">
                  <a:latin typeface="微软雅黑" panose="020B0503020204020204" charset="-122"/>
                  <a:ea typeface="微软雅黑" panose="020B0503020204020204" charset="-122"/>
                </a:rPr>
                <a:t>i+1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65" name="Line 34"/>
            <p:cNvSpPr/>
            <p:nvPr/>
          </p:nvSpPr>
          <p:spPr>
            <a:xfrm flipV="1">
              <a:off x="1488" y="3000"/>
              <a:ext cx="0" cy="288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66" name="Line 35"/>
            <p:cNvSpPr/>
            <p:nvPr/>
          </p:nvSpPr>
          <p:spPr>
            <a:xfrm flipV="1">
              <a:off x="2640" y="3000"/>
              <a:ext cx="0" cy="288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67" name="Text Box 36"/>
            <p:cNvSpPr txBox="1"/>
            <p:nvPr/>
          </p:nvSpPr>
          <p:spPr>
            <a:xfrm>
              <a:off x="1488" y="3000"/>
              <a:ext cx="289" cy="4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3200" b="1">
                  <a:latin typeface="微软雅黑" panose="020B0503020204020204" charset="-122"/>
                  <a:ea typeface="微软雅黑" panose="020B0503020204020204" charset="-122"/>
                </a:rPr>
                <a:t>p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68" name="Text Box 37"/>
            <p:cNvSpPr txBox="1"/>
            <p:nvPr/>
          </p:nvSpPr>
          <p:spPr>
            <a:xfrm>
              <a:off x="2670" y="3000"/>
              <a:ext cx="288" cy="4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p>
              <a:pPr eaLnBrk="0" hangingPunct="0"/>
              <a:r>
                <a:rPr lang="en-US" altLang="zh-CN" sz="3200" b="1">
                  <a:latin typeface="微软雅黑" panose="020B0503020204020204" charset="-122"/>
                  <a:ea typeface="微软雅黑" panose="020B0503020204020204" charset="-122"/>
                </a:rPr>
                <a:t>q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69" name="Line 38"/>
            <p:cNvSpPr/>
            <p:nvPr/>
          </p:nvSpPr>
          <p:spPr>
            <a:xfrm flipV="1">
              <a:off x="1824" y="2472"/>
              <a:ext cx="240" cy="240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70" name="Line 39"/>
            <p:cNvSpPr/>
            <p:nvPr/>
          </p:nvSpPr>
          <p:spPr>
            <a:xfrm>
              <a:off x="3408" y="2472"/>
              <a:ext cx="192" cy="144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round/>
              <a:headEnd type="none" w="med" len="med"/>
              <a:tailEnd type="triangle" w="sm" len="lg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71" name="Line 40"/>
            <p:cNvSpPr/>
            <p:nvPr/>
          </p:nvSpPr>
          <p:spPr>
            <a:xfrm flipH="1">
              <a:off x="2064" y="2472"/>
              <a:ext cx="1344" cy="0"/>
            </a:xfrm>
            <a:prstGeom prst="line">
              <a:avLst/>
            </a:prstGeom>
            <a:ln w="28575" cap="flat" cmpd="sng">
              <a:solidFill>
                <a:srgbClr val="FF99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pPr eaLnBrk="0" hangingPunct="0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72" name="Text Box 42"/>
            <p:cNvSpPr txBox="1"/>
            <p:nvPr/>
          </p:nvSpPr>
          <p:spPr>
            <a:xfrm>
              <a:off x="2352" y="3427"/>
              <a:ext cx="892" cy="39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pPr eaLnBrk="0" hangingPunct="0"/>
              <a:r>
                <a:rPr lang="zh-CN" altLang="en-US" sz="28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删除后</a:t>
              </a:r>
              <a:endParaRPr lang="zh-CN" altLang="en-US" sz="28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链表的操作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00455" y="1579880"/>
            <a:ext cx="90874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链表包括初始化、插入、删除、查找、定位、反转、获取前驱、后继结点、遍历、清空、销毁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...</a:t>
            </a:r>
            <a:endParaRPr lang="en-US" altLang="zh-CN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链表的操作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14730" y="979170"/>
            <a:ext cx="200469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经典笔试题</a:t>
            </a:r>
            <a:endParaRPr lang="zh-CN" altLang="en-US" sz="20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20060" y="1599565"/>
            <a:ext cx="557403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int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func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(LinkList A)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{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    if (A==NULL) return 0;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    ListNode *p = A-&gt;next;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    A-&gt;next = NULL;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    while (p != NULL)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    {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            ListNode *q = p;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            p = p-&gt;next;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            q-&gt;next = A-&gt;next;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            A-&gt;next = q;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    }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        return 1;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marL="0" lvl="1" algn="l">
              <a:lnSpc>
                <a:spcPct val="10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}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r>
              <a:rPr lang="en-US" altLang="zh-CN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LinkList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为结点指针，这段代码实现了什么功能？</a:t>
            </a:r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编程训练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链表编程训练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354455" y="1536700"/>
            <a:ext cx="783209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1、独自实现链表的增删改查操作；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2、用链表实现学生管理系统。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链表笔试题：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、判断两个链表是否相交；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、判断链表是否有环，并找出环开始的结点；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、合并两个有序的链表。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1466</Words>
  <Application>WPS 演示</Application>
  <PresentationFormat>宽屏</PresentationFormat>
  <Paragraphs>240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Arial</vt:lpstr>
      <vt:lpstr>宋体</vt:lpstr>
      <vt:lpstr>Wingdings</vt:lpstr>
      <vt:lpstr>文鼎习字体</vt:lpstr>
      <vt:lpstr>Nexa Light</vt:lpstr>
      <vt:lpstr>Wide Latin</vt:lpstr>
      <vt:lpstr>华康少女文字W5(P)</vt:lpstr>
      <vt:lpstr>方正清刻本悦宋简体</vt:lpstr>
      <vt:lpstr>Arial</vt:lpstr>
      <vt:lpstr>华文细黑</vt:lpstr>
      <vt:lpstr>微软雅黑</vt:lpstr>
      <vt:lpstr>Symbol</vt:lpstr>
      <vt:lpstr>Calibri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35</cp:revision>
  <dcterms:created xsi:type="dcterms:W3CDTF">2017-11-17T09:39:00Z</dcterms:created>
  <dcterms:modified xsi:type="dcterms:W3CDTF">2022-06-20T08:34:10Z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2052-11.1.0.11579</vt:lpwstr>
  </property>
  <property fmtid="{D5CDD505-2E9C-101B-9397-08002B2CF9AE}" pid="3" name="ICV">
    <vt:lpwstr>F24B314D95A740AD8D3E690B9E2BBC99</vt:lpwstr>
  </property>
</Properties>
</file>