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5"/>
  </p:handoutMasterIdLst>
  <p:sldIdLst>
    <p:sldId id="256" r:id="rId4"/>
    <p:sldId id="257" r:id="rId6"/>
    <p:sldId id="258" r:id="rId7"/>
    <p:sldId id="265" r:id="rId8"/>
    <p:sldId id="281" r:id="rId9"/>
    <p:sldId id="261" r:id="rId10"/>
    <p:sldId id="267" r:id="rId11"/>
    <p:sldId id="282" r:id="rId12"/>
    <p:sldId id="283" r:id="rId13"/>
    <p:sldId id="284" r:id="rId14"/>
    <p:sldId id="285" r:id="rId15"/>
    <p:sldId id="262" r:id="rId16"/>
    <p:sldId id="286" r:id="rId17"/>
    <p:sldId id="270" r:id="rId18"/>
    <p:sldId id="287" r:id="rId19"/>
    <p:sldId id="288" r:id="rId20"/>
    <p:sldId id="289" r:id="rId21"/>
    <p:sldId id="290" r:id="rId22"/>
    <p:sldId id="263" r:id="rId23"/>
    <p:sldId id="29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6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页眉占位符 4"/>
          <p:cNvSpPr>
            <a:spLocks noGrp="1"/>
          </p:cNvSpPr>
          <p:nvPr>
            <p:ph type="hdr" sz="quarter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5.png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数据结构</a:t>
            </a:r>
            <a:r>
              <a:rPr lang="en-US" altLang="zh-CN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-</a:t>
            </a:r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栈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83454" y="2102297"/>
            <a:ext cx="6625183" cy="2774949"/>
            <a:chOff x="3388622" y="2209619"/>
            <a:chExt cx="5040936" cy="2321680"/>
          </a:xfrm>
        </p:grpSpPr>
        <p:grpSp>
          <p:nvGrpSpPr>
            <p:cNvPr id="7" name="组合 6"/>
            <p:cNvGrpSpPr/>
            <p:nvPr/>
          </p:nvGrpSpPr>
          <p:grpSpPr>
            <a:xfrm>
              <a:off x="5018480" y="2209619"/>
              <a:ext cx="3411078" cy="2321680"/>
              <a:chOff x="5018480" y="2209619"/>
              <a:chExt cx="3411078" cy="2321680"/>
            </a:xfrm>
          </p:grpSpPr>
          <p:grpSp>
            <p:nvGrpSpPr>
              <p:cNvPr id="9" name="组合 8"/>
              <p:cNvGrpSpPr/>
              <p:nvPr/>
            </p:nvGrpSpPr>
            <p:grpSpPr>
              <a:xfrm>
                <a:off x="5018480" y="2209939"/>
                <a:ext cx="753722" cy="2218338"/>
                <a:chOff x="5421311" y="2621290"/>
                <a:chExt cx="753722" cy="2218338"/>
              </a:xfrm>
            </p:grpSpPr>
            <p:sp>
              <p:nvSpPr>
                <p:cNvPr id="14" name="文本框 16"/>
                <p:cNvSpPr txBox="1"/>
                <p:nvPr/>
              </p:nvSpPr>
              <p:spPr>
                <a:xfrm>
                  <a:off x="5692845" y="2621290"/>
                  <a:ext cx="447885" cy="539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zh-CN" altLang="en-US" sz="3600" kern="1200" cap="none" spc="0" normalizeH="0" baseline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1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sp>
              <p:nvSpPr>
                <p:cNvPr id="15" name="文本框 23"/>
                <p:cNvSpPr txBox="1"/>
                <p:nvPr/>
              </p:nvSpPr>
              <p:spPr>
                <a:xfrm>
                  <a:off x="5692361" y="3200913"/>
                  <a:ext cx="482672" cy="539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kumimoji="0" lang="zh-CN" altLang="en-US" sz="3600" kern="1200" cap="none" spc="0" normalizeH="0" baseline="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2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5787612" y="3773815"/>
                  <a:ext cx="140557" cy="489256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  <p:cxnSp>
              <p:nvCxnSpPr>
                <p:cNvPr id="17" name="直接连接符 16"/>
                <p:cNvCxnSpPr/>
                <p:nvPr/>
              </p:nvCxnSpPr>
              <p:spPr>
                <a:xfrm>
                  <a:off x="5421311" y="2764668"/>
                  <a:ext cx="0" cy="2041667"/>
                </a:xfrm>
                <a:prstGeom prst="line">
                  <a:avLst/>
                </a:prstGeom>
                <a:ln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文本框 16"/>
                <p:cNvSpPr txBox="1"/>
                <p:nvPr/>
              </p:nvSpPr>
              <p:spPr>
                <a:xfrm>
                  <a:off x="5709755" y="3772036"/>
                  <a:ext cx="447885" cy="539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lvl="0" algn="ctr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36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3</a:t>
                  </a:r>
                  <a:endPara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Arial" panose="020B0604020202020204"/>
                  </a:endParaRPr>
                </a:p>
              </p:txBody>
            </p:sp>
            <p:sp>
              <p:nvSpPr>
                <p:cNvPr id="19" name="文本框 23"/>
                <p:cNvSpPr txBox="1"/>
                <p:nvPr/>
              </p:nvSpPr>
              <p:spPr>
                <a:xfrm>
                  <a:off x="5751099" y="4351384"/>
                  <a:ext cx="365266" cy="488244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marL="0" lvl="0" indent="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1pPr>
                  <a:lvl2pPr marL="342900" lvl="1" indent="1143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2pPr>
                  <a:lvl3pPr marL="685800" lvl="2" indent="2286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3pPr>
                  <a:lvl4pPr marL="1028700" lvl="3" indent="3429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4pPr>
                  <a:lvl5pPr marL="1371600" lvl="4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5pPr>
                  <a:lvl6pPr marL="2286000" lvl="5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6pPr>
                  <a:lvl7pPr marL="2743200" lvl="6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7pPr>
                  <a:lvl8pPr marL="3200400" lvl="7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8pPr>
                  <a:lvl9pPr marL="3657600" lvl="8" indent="457200" algn="l" defTabSz="6858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None/>
                    <a:defRPr sz="1300" b="0" i="0" u="none" kern="1200" baseline="0">
                      <a:solidFill>
                        <a:schemeClr val="tx1"/>
                      </a:solidFill>
                      <a:latin typeface="Nexa Light" panose="02000000000000000000" pitchFamily="50" charset="0"/>
                      <a:ea typeface="华康少女文字W5(P)" panose="040F0500000000000000" pitchFamily="82" charset="-122"/>
                    </a:defRPr>
                  </a:lvl9pPr>
                </a:lstStyle>
                <a:p>
                  <a:pPr marR="0" algn="ctr" defTabSz="685800" rtl="0" fontAlgn="auto"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defRPr/>
                  </a:pPr>
                  <a:r>
                    <a:rPr lang="zh-CN" altLang="en-US" sz="3600" dirty="0">
                      <a:solidFill>
                        <a:srgbClr val="F6F5F6"/>
                      </a:solidFill>
                      <a:latin typeface="方正清刻本悦宋简体" panose="02000000000000000000" pitchFamily="2" charset="-122"/>
                      <a:ea typeface="方正清刻本悦宋简体" panose="02000000000000000000" pitchFamily="2" charset="-122"/>
                      <a:sym typeface="Arial" panose="020B0604020202020204"/>
                    </a:rPr>
                    <a:t>4</a:t>
                  </a:r>
                  <a:endParaRPr kumimoji="0" lang="zh-CN" altLang="en-US" sz="3200" kern="1200" cap="none" spc="0" normalizeH="0" baseline="0" noProof="0" dirty="0">
                    <a:solidFill>
                      <a:srgbClr val="F6F5F6"/>
                    </a:solidFill>
                    <a:latin typeface="华康海报体W12(P)"/>
                    <a:ea typeface="微软雅黑" panose="020B0503020204020204" charset="-122"/>
                    <a:sym typeface="Arial" panose="020B0604020202020204"/>
                  </a:endParaRPr>
                </a:p>
              </p:txBody>
            </p:sp>
          </p:grpSp>
          <p:sp>
            <p:nvSpPr>
              <p:cNvPr id="10" name="文本框 48"/>
              <p:cNvSpPr txBox="1">
                <a:spLocks noChangeArrowheads="1"/>
              </p:cNvSpPr>
              <p:nvPr/>
            </p:nvSpPr>
            <p:spPr bwMode="auto">
              <a:xfrm>
                <a:off x="6019095" y="2209619"/>
                <a:ext cx="2410463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栈的概念</a:t>
                </a:r>
                <a:endParaRPr lang="zh-CN" altLang="id-ID" sz="2400" b="1" dirty="0">
                  <a:solidFill>
                    <a:srgbClr val="F6F5F6"/>
                  </a:solidFill>
                  <a:latin typeface="华康海报体W12(P)"/>
                </a:endParaRPr>
              </a:p>
            </p:txBody>
          </p:sp>
          <p:sp>
            <p:nvSpPr>
              <p:cNvPr id="11" name="文本框 48"/>
              <p:cNvSpPr txBox="1">
                <a:spLocks noChangeArrowheads="1"/>
              </p:cNvSpPr>
              <p:nvPr/>
            </p:nvSpPr>
            <p:spPr bwMode="auto">
              <a:xfrm>
                <a:off x="6019095" y="2789242"/>
                <a:ext cx="2410463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顺序栈</a:t>
                </a:r>
                <a:endParaRPr lang="zh-CN" altLang="id-ID" sz="2400" b="1" dirty="0">
                  <a:solidFill>
                    <a:srgbClr val="F6F5F6"/>
                  </a:solidFill>
                  <a:latin typeface="华康海报体W12(P)"/>
                </a:endParaRPr>
              </a:p>
            </p:txBody>
          </p:sp>
          <p:sp>
            <p:nvSpPr>
              <p:cNvPr id="12" name="文本框 48"/>
              <p:cNvSpPr txBox="1">
                <a:spLocks noChangeArrowheads="1"/>
              </p:cNvSpPr>
              <p:nvPr/>
            </p:nvSpPr>
            <p:spPr bwMode="auto">
              <a:xfrm>
                <a:off x="6019095" y="3403398"/>
                <a:ext cx="2410463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链式栈</a:t>
                </a:r>
                <a:endParaRPr lang="zh-CN" altLang="id-ID" sz="2400" b="1" dirty="0">
                  <a:solidFill>
                    <a:srgbClr val="F6F5F6"/>
                  </a:solidFill>
                  <a:latin typeface="华康海报体W12(P)"/>
                </a:endParaRPr>
              </a:p>
            </p:txBody>
          </p:sp>
          <p:sp>
            <p:nvSpPr>
              <p:cNvPr id="13" name="文本框 48"/>
              <p:cNvSpPr txBox="1">
                <a:spLocks noChangeArrowheads="1"/>
              </p:cNvSpPr>
              <p:nvPr/>
            </p:nvSpPr>
            <p:spPr bwMode="auto">
              <a:xfrm>
                <a:off x="6019095" y="3991522"/>
                <a:ext cx="2410463" cy="5397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l" eaLnBrk="1" hangingPunct="1">
                  <a:defRPr/>
                </a:pPr>
                <a:r>
                  <a:rPr lang="zh-CN" altLang="en-US" sz="36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</a:rPr>
                  <a:t>栈的应用</a:t>
                </a:r>
                <a:endParaRPr lang="zh-CN" altLang="id-ID" sz="2400" b="1" dirty="0">
                  <a:solidFill>
                    <a:srgbClr val="F6F5F6"/>
                  </a:solidFill>
                  <a:latin typeface="华康海报体W12(P)"/>
                </a:endParaRPr>
              </a:p>
            </p:txBody>
          </p:sp>
        </p:grpSp>
        <p:sp>
          <p:nvSpPr>
            <p:cNvPr id="8" name="文本框 16"/>
            <p:cNvSpPr txBox="1"/>
            <p:nvPr/>
          </p:nvSpPr>
          <p:spPr>
            <a:xfrm>
              <a:off x="3388622" y="2302014"/>
              <a:ext cx="1629858" cy="1004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目录 </a:t>
              </a:r>
              <a:r>
                <a:rPr lang="en-US" altLang="zh-CN" sz="3600" dirty="0" smtClean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r>
                <a:rPr lang="en-US" altLang="zh-CN" sz="32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Contents</a:t>
              </a:r>
              <a:r>
                <a:rPr lang="en-US" altLang="zh-CN" sz="3600" dirty="0">
                  <a:solidFill>
                    <a:srgbClr val="F6F5F6"/>
                  </a:solidFill>
                  <a:latin typeface="方正清刻本悦宋简体" panose="02000000000000000000" pitchFamily="2" charset="-122"/>
                  <a:ea typeface="方正清刻本悦宋简体" panose="02000000000000000000" pitchFamily="2" charset="-122"/>
                </a:rPr>
                <a:t> </a:t>
              </a:r>
              <a:endPara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en-US" sz="2400" dirty="0">
                    <a:solidFill>
                      <a:srgbClr val="F6F5F6"/>
                    </a:solidFill>
                    <a:latin typeface="方正清刻本悦宋简体" panose="02000000000000000000" pitchFamily="2" charset="-122"/>
                    <a:ea typeface="方正清刻本悦宋简体" panose="02000000000000000000" pitchFamily="2" charset="-122"/>
                    <a:sym typeface="+mn-ea"/>
                  </a:rPr>
                  <a:t>栈的概念</a:t>
                </a:r>
                <a:endParaRPr lang="id-ID" altLang="zh-CN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44109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0670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stack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栈的概念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594485" y="1324610"/>
            <a:ext cx="6336030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栈是一个特殊的线性表，只能在一端操作；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）：允许操作 的一端；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栈底（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bottom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）：不允许操作的一端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43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0985" y="3009265"/>
            <a:ext cx="6589713" cy="3324225"/>
          </a:xfr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44109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06705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option</a:t>
              </a:r>
              <a:endParaRPr lang="en-US" altLang="zh-CN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栈的常见操作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3816350" y="1536700"/>
            <a:ext cx="455866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栈的常见操作：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创建栈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销毁栈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清空栈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进栈（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push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出栈（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pop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获取栈顶元素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获取栈的长度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顺序栈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1474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SequenceStack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12291" name="Picture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990" y="2070100"/>
            <a:ext cx="9898380" cy="3600450"/>
          </a:xfr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SequenceStack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014730" y="1381760"/>
            <a:ext cx="949706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如何表示一个顺序栈？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顺序栈具备三个属性：栈的起始地址、栈的容量、栈顶元素下标。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于是：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#define SIZE     10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struct SequenceStack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int *data;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int top;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};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SequenceStack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顺序栈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254760" y="1551305"/>
            <a:ext cx="94970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关于顺序栈的几点说明：</a:t>
            </a:r>
            <a:endParaRPr lang="zh-CN" altLang="en-US" sz="24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、空栈的时候，栈顶元素下标为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-1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、栈中只有一个元素的时候，栈顶元素下标为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、栈顶的位置（下标）必须小于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SIZE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、栈不存在遍历操作。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push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进栈操作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35760" y="1046480"/>
            <a:ext cx="949706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进栈操作：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Push(STACK *S,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e)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{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if(S-&gt;top == MAXSIZE -1)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		return error;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S-&gt;top++;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S-&gt;data[S-&gt;top]=e;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    return OK; 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}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pop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出栈操作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35760" y="1159510"/>
            <a:ext cx="949706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出栈操作：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Pop(STACK *S,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*e)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{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if(S-&gt;top == -1)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	return ERROR;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e=S-&gt;data[S-&gt;top];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S-&gt;top--;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return OK;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}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链栈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337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LinkStack</a:t>
              </a:r>
              <a:endParaRPr lang="en-US" altLang="zh-CN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链栈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635760" y="1046480"/>
            <a:ext cx="94970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用链表的形式来表示栈，称为链栈。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pic>
        <p:nvPicPr>
          <p:cNvPr id="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283" y="1830388"/>
            <a:ext cx="3765550" cy="4525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LinkStack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链栈的表示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9970" y="1692910"/>
            <a:ext cx="26523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结点的表示：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87425" y="2384425"/>
            <a:ext cx="38233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struct Node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int data;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struct Node *next;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};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417945" y="1692910"/>
            <a:ext cx="24841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栈的表示：</a:t>
            </a:r>
            <a:endParaRPr lang="zh-CN" altLang="en-US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417945" y="2384425"/>
            <a:ext cx="38233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struct Node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int length;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struct Node *top;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};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LinkStack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链栈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29970" y="1692910"/>
            <a:ext cx="33394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关于链栈的几点说明：</a:t>
            </a:r>
            <a:endParaRPr lang="zh-CN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2395" y="2652395"/>
            <a:ext cx="83115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栈的链式存储结构，简称为链栈；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栈顶放在单链表的头部；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链栈是不需要头结点的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en-US" altLang="zh-CN" sz="24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链栈不存在栈满的情况</a:t>
            </a:r>
            <a:r>
              <a:rPr lang="zh-CN" altLang="en-US" sz="2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push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进栈操作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735455" y="1590040"/>
            <a:ext cx="1007427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元素值为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的新节点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为栈顶指针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Push(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LinkStack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*S,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e)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Node *p =	(Node *)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malloc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sizeof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(Node);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p-&gt;data=e;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p-&gt;next=S-&gt;top;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S-&gt;top=p;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S-&gt;count++;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return OK;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push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进栈操作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624330"/>
            <a:ext cx="7421245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元素值为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的新节点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top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为栈顶指针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Push(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LinkStack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*S, 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e)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Node *p =	(Node *)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malloc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sizeof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(Node);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p-&gt;data=e;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p-&gt;next=S-&gt;top;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S-&gt;top=p;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S-&gt;count++;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return OK;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890760" y="2482850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890760" y="3992880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890760" y="5502910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153400" y="2733040"/>
            <a:ext cx="958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</a:rPr>
              <a:t>top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8933180" y="2787015"/>
            <a:ext cx="804545" cy="3524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4" idx="1"/>
            <a:endCxn id="4" idx="3"/>
          </p:cNvCxnSpPr>
          <p:nvPr/>
        </p:nvCxnSpPr>
        <p:spPr>
          <a:xfrm>
            <a:off x="9890760" y="2962910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890760" y="4472940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890760" y="5982970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下箭头 11"/>
          <p:cNvSpPr/>
          <p:nvPr/>
        </p:nvSpPr>
        <p:spPr>
          <a:xfrm>
            <a:off x="10328275" y="3569335"/>
            <a:ext cx="719455" cy="42354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10328275" y="5079365"/>
            <a:ext cx="719455" cy="42354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235565" y="6064250"/>
            <a:ext cx="903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4242"/>
                </a:solidFill>
              </a:rPr>
              <a:t>NULL</a:t>
            </a:r>
            <a:endParaRPr lang="en-US" altLang="zh-CN" sz="2000" b="1">
              <a:solidFill>
                <a:srgbClr val="24424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9890125" y="739140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9890125" y="1219200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8622665" y="1019810"/>
            <a:ext cx="11150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sz="2000" b="1">
                <a:solidFill>
                  <a:schemeClr val="bg1"/>
                </a:solidFill>
              </a:rPr>
              <a:t>新节点</a:t>
            </a:r>
            <a:endParaRPr lang="zh-CN" altLang="zh-CN" sz="2000" b="1">
              <a:solidFill>
                <a:schemeClr val="bg1"/>
              </a:solidFill>
            </a:endParaRPr>
          </a:p>
        </p:txBody>
      </p:sp>
      <p:sp>
        <p:nvSpPr>
          <p:cNvPr id="24" name="下箭头 23"/>
          <p:cNvSpPr/>
          <p:nvPr/>
        </p:nvSpPr>
        <p:spPr>
          <a:xfrm>
            <a:off x="10328275" y="1699260"/>
            <a:ext cx="719455" cy="42354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乘号 24"/>
          <p:cNvSpPr/>
          <p:nvPr/>
        </p:nvSpPr>
        <p:spPr>
          <a:xfrm>
            <a:off x="8933180" y="2131060"/>
            <a:ext cx="508000" cy="1664970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圆角右箭头 25"/>
          <p:cNvSpPr/>
          <p:nvPr/>
        </p:nvSpPr>
        <p:spPr>
          <a:xfrm>
            <a:off x="8576310" y="1418590"/>
            <a:ext cx="535940" cy="1326515"/>
          </a:xfrm>
          <a:prstGeom prst="ben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419715" y="820420"/>
            <a:ext cx="536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4242"/>
                </a:solidFill>
              </a:rPr>
              <a:t>e</a:t>
            </a:r>
            <a:endParaRPr lang="en-US" altLang="zh-CN" sz="2000" b="1">
              <a:solidFill>
                <a:srgbClr val="24424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6034478" cy="788014"/>
            <a:chOff x="383556" y="258714"/>
            <a:chExt cx="6034478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6" name="文本框 49"/>
            <p:cNvSpPr txBox="1">
              <a:spLocks noChangeArrowheads="1"/>
            </p:cNvSpPr>
            <p:nvPr/>
          </p:nvSpPr>
          <p:spPr bwMode="auto">
            <a:xfrm>
              <a:off x="864959" y="702211"/>
              <a:ext cx="5553075" cy="2755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5pPr>
              <a:lvl6pPr marL="25146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6pPr>
              <a:lvl7pPr marL="29718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7pPr>
              <a:lvl8pPr marL="34290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8pPr>
              <a:lvl9pPr marL="3886200" indent="-228600" defTabSz="68453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defRPr>
              </a:lvl9pPr>
            </a:lstStyle>
            <a:p>
              <a:r>
                <a:rPr lang="en-US" altLang="zh-CN" sz="12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pop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出栈操作</a:t>
              </a:r>
              <a:endPara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4730" y="1418590"/>
            <a:ext cx="5248275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用指针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e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保存出栈的元素，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Pop(</a:t>
            </a:r>
            <a:r>
              <a:rPr lang="en-US" altLang="zh-CN" sz="2400" dirty="0" err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LinkStack</a:t>
            </a:r>
            <a:r>
              <a:rPr lang="en-US" alt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*S, 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int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*e)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Node *p;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if(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StackEmpty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(*S))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	return ERROR;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*e=S-&gt;top-&gt;data;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p=S-&gt;top;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S-&gt;top=S-&gt;top-&gt;next;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free(p);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S-&gt;count--;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	</a:t>
            </a:r>
            <a:r>
              <a:rPr lang="en-US" altLang="zh-CN" sz="2400" dirty="0" err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reuturn</a:t>
            </a: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OK;</a:t>
            </a:r>
            <a:endParaRPr lang="en-US" altLang="zh-CN" sz="2400" strike="noStrike" noProof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}</a:t>
            </a:r>
            <a:endParaRPr lang="en-US" altLang="zh-CN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481820" y="1622425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481820" y="3132455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481820" y="4642485"/>
            <a:ext cx="1593850" cy="9601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565390" y="1871980"/>
            <a:ext cx="958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 b="1">
                <a:solidFill>
                  <a:schemeClr val="bg1"/>
                </a:solidFill>
              </a:rPr>
              <a:t>top</a:t>
            </a:r>
            <a:endParaRPr lang="en-US" altLang="zh-CN" sz="2400" b="1">
              <a:solidFill>
                <a:schemeClr val="bg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8524240" y="1926590"/>
            <a:ext cx="804545" cy="35242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4" idx="1"/>
            <a:endCxn id="4" idx="3"/>
          </p:cNvCxnSpPr>
          <p:nvPr/>
        </p:nvCxnSpPr>
        <p:spPr>
          <a:xfrm>
            <a:off x="9481820" y="2102485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481820" y="3612515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9481820" y="5122545"/>
            <a:ext cx="1593850" cy="0"/>
          </a:xfrm>
          <a:prstGeom prst="line">
            <a:avLst/>
          </a:prstGeom>
          <a:ln>
            <a:solidFill>
              <a:srgbClr val="2442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下箭头 11"/>
          <p:cNvSpPr/>
          <p:nvPr/>
        </p:nvSpPr>
        <p:spPr>
          <a:xfrm>
            <a:off x="9919335" y="2708910"/>
            <a:ext cx="719455" cy="42354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>
            <a:off x="9919335" y="4218940"/>
            <a:ext cx="719455" cy="423545"/>
          </a:xfrm>
          <a:prstGeom prst="down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9826625" y="5203825"/>
            <a:ext cx="9036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244242"/>
                </a:solidFill>
              </a:rPr>
              <a:t>NULL</a:t>
            </a:r>
            <a:endParaRPr lang="en-US" altLang="zh-CN" sz="2000" b="1">
              <a:solidFill>
                <a:srgbClr val="244242"/>
              </a:solidFill>
            </a:endParaRPr>
          </a:p>
        </p:txBody>
      </p:sp>
      <p:sp>
        <p:nvSpPr>
          <p:cNvPr id="13" name="乘号 12"/>
          <p:cNvSpPr/>
          <p:nvPr/>
        </p:nvSpPr>
        <p:spPr>
          <a:xfrm>
            <a:off x="9763760" y="797560"/>
            <a:ext cx="1030605" cy="2610485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乘号 17"/>
          <p:cNvSpPr/>
          <p:nvPr/>
        </p:nvSpPr>
        <p:spPr>
          <a:xfrm>
            <a:off x="8524240" y="1242060"/>
            <a:ext cx="588010" cy="1722120"/>
          </a:xfrm>
          <a:prstGeom prst="mathMultiply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直角上箭头 28"/>
          <p:cNvSpPr/>
          <p:nvPr/>
        </p:nvSpPr>
        <p:spPr>
          <a:xfrm rot="5400000">
            <a:off x="7748270" y="2522220"/>
            <a:ext cx="1553210" cy="1174115"/>
          </a:xfrm>
          <a:prstGeom prst="bentUp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栈的应用</a:t>
                </a:r>
                <a:endParaRPr lang="zh-CN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1538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栈相关的笔试题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778760" y="2152650"/>
            <a:ext cx="634809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、用栈实现四则运算；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、用栈解决迷宫问题（深度优先算法）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、如何不利用其他数据结构实现栈的逆序？</a:t>
            </a:r>
            <a:endParaRPr lang="zh-CN" altLang="en-US" sz="24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1789</Words>
  <Application>WPS 演示</Application>
  <PresentationFormat>宽屏</PresentationFormat>
  <Paragraphs>262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8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华康海报体W12(P)</vt:lpstr>
      <vt:lpstr>Segoe Print</vt:lpstr>
      <vt:lpstr>微软雅黑</vt:lpstr>
      <vt:lpstr>华文细黑</vt:lpstr>
      <vt:lpstr>Calibri</vt:lpstr>
      <vt:lpstr>Arial Unicode MS</vt:lpstr>
      <vt:lpstr>Calibri Light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46</cp:revision>
  <dcterms:created xsi:type="dcterms:W3CDTF">2017-11-17T09:39:00Z</dcterms:created>
  <dcterms:modified xsi:type="dcterms:W3CDTF">2021-02-01T11:20:28Z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