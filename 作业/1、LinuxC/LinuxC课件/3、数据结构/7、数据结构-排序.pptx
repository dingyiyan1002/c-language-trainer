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6"/>
  </p:handoutMasterIdLst>
  <p:sldIdLst>
    <p:sldId id="256" r:id="rId3"/>
    <p:sldId id="257" r:id="rId5"/>
    <p:sldId id="258" r:id="rId6"/>
    <p:sldId id="265" r:id="rId7"/>
    <p:sldId id="282" r:id="rId8"/>
    <p:sldId id="260" r:id="rId9"/>
    <p:sldId id="266" r:id="rId10"/>
    <p:sldId id="281" r:id="rId11"/>
    <p:sldId id="267" r:id="rId12"/>
    <p:sldId id="310" r:id="rId13"/>
    <p:sldId id="264" r:id="rId14"/>
    <p:sldId id="283" r:id="rId15"/>
    <p:sldId id="268" r:id="rId16"/>
    <p:sldId id="284" r:id="rId17"/>
    <p:sldId id="285" r:id="rId18"/>
    <p:sldId id="286" r:id="rId19"/>
    <p:sldId id="287" r:id="rId20"/>
    <p:sldId id="288" r:id="rId21"/>
    <p:sldId id="290" r:id="rId22"/>
    <p:sldId id="289" r:id="rId23"/>
    <p:sldId id="291" r:id="rId24"/>
    <p:sldId id="293" r:id="rId25"/>
    <p:sldId id="294" r:id="rId26"/>
    <p:sldId id="295" r:id="rId27"/>
    <p:sldId id="297" r:id="rId28"/>
    <p:sldId id="296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7" r:id="rId38"/>
    <p:sldId id="308" r:id="rId39"/>
    <p:sldId id="306" r:id="rId40"/>
    <p:sldId id="262" r:id="rId41"/>
    <p:sldId id="309" r:id="rId42"/>
    <p:sldId id="269" r:id="rId43"/>
    <p:sldId id="271" r:id="rId44"/>
    <p:sldId id="259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2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8.xml"/><Relationship Id="rId1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9.xml"/><Relationship Id="rId1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0.xml"/><Relationship Id="rId1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1.xml"/><Relationship Id="rId1" Type="http://schemas.openxmlformats.org/officeDocument/2006/relationships/image" Target="../media/image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2.xml"/><Relationship Id="rId1" Type="http://schemas.openxmlformats.org/officeDocument/2006/relationships/image" Target="../media/image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3.xml"/><Relationship Id="rId1" Type="http://schemas.openxmlformats.org/officeDocument/2006/relationships/image" Target="../media/image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4.xml"/><Relationship Id="rId1" Type="http://schemas.openxmlformats.org/officeDocument/2006/relationships/image" Target="../media/image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5.xml"/><Relationship Id="rId1" Type="http://schemas.openxmlformats.org/officeDocument/2006/relationships/image" Target="../media/image2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6.xml"/><Relationship Id="rId1" Type="http://schemas.openxmlformats.org/officeDocument/2006/relationships/image" Target="../media/image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7.xml"/><Relationship Id="rId1" Type="http://schemas.openxmlformats.org/officeDocument/2006/relationships/image" Target="../media/image2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18.xml"/><Relationship Id="rId2" Type="http://schemas.openxmlformats.org/officeDocument/2006/relationships/image" Target="../media/image2.emf"/><Relationship Id="rId1" Type="http://schemas.openxmlformats.org/officeDocument/2006/relationships/tags" Target="../tags/tag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数据结构</a:t>
            </a:r>
            <a:r>
              <a:rPr lang="en-US" altLang="zh-CN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-</a:t>
            </a:r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排序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783454" y="2037909"/>
            <a:ext cx="6625184" cy="2071369"/>
            <a:chOff x="3388622" y="2209939"/>
            <a:chExt cx="5040937" cy="1733025"/>
          </a:xfrm>
        </p:grpSpPr>
        <p:grpSp>
          <p:nvGrpSpPr>
            <p:cNvPr id="7" name="组合 6"/>
            <p:cNvGrpSpPr/>
            <p:nvPr/>
          </p:nvGrpSpPr>
          <p:grpSpPr>
            <a:xfrm>
              <a:off x="5017150" y="2209939"/>
              <a:ext cx="3412409" cy="1733025"/>
              <a:chOff x="5017150" y="2209939"/>
              <a:chExt cx="3412409" cy="1733025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017150" y="2209939"/>
                <a:ext cx="584775" cy="1694611"/>
                <a:chOff x="5419981" y="2621290"/>
                <a:chExt cx="584775" cy="1694611"/>
              </a:xfrm>
            </p:grpSpPr>
            <p:sp>
              <p:nvSpPr>
                <p:cNvPr id="14" name="文本框 16"/>
                <p:cNvSpPr txBox="1"/>
                <p:nvPr/>
              </p:nvSpPr>
              <p:spPr>
                <a:xfrm>
                  <a:off x="5710997" y="2621290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1</a:t>
                  </a:r>
                  <a:endParaRPr kumimoji="0" lang="en-US" altLang="zh-CN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5" name="文本框 23"/>
                <p:cNvSpPr txBox="1"/>
                <p:nvPr/>
              </p:nvSpPr>
              <p:spPr>
                <a:xfrm>
                  <a:off x="5710997" y="320072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2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5787612" y="3773815"/>
                  <a:ext cx="140557" cy="48925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>
                <a:xfrm flipH="1">
                  <a:off x="5419981" y="2764572"/>
                  <a:ext cx="1449" cy="155132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6"/>
                <p:cNvSpPr txBox="1"/>
                <p:nvPr/>
              </p:nvSpPr>
              <p:spPr>
                <a:xfrm>
                  <a:off x="5710997" y="377194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3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</p:grpSp>
          <p:sp>
            <p:nvSpPr>
              <p:cNvPr id="10" name="文本框 48"/>
              <p:cNvSpPr txBox="1">
                <a:spLocks noChangeArrowheads="1"/>
              </p:cNvSpPr>
              <p:nvPr/>
            </p:nvSpPr>
            <p:spPr bwMode="auto">
              <a:xfrm>
                <a:off x="5793945" y="2246597"/>
                <a:ext cx="2635614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排序的概念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1" name="文本框 48"/>
              <p:cNvSpPr txBox="1">
                <a:spLocks noChangeArrowheads="1"/>
              </p:cNvSpPr>
              <p:nvPr/>
            </p:nvSpPr>
            <p:spPr bwMode="auto">
              <a:xfrm>
                <a:off x="5794428" y="2797531"/>
                <a:ext cx="2635131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排序的分类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2" name="文本框 48"/>
              <p:cNvSpPr txBox="1">
                <a:spLocks noChangeArrowheads="1"/>
              </p:cNvSpPr>
              <p:nvPr/>
            </p:nvSpPr>
            <p:spPr bwMode="auto">
              <a:xfrm>
                <a:off x="5794428" y="3403187"/>
                <a:ext cx="2635131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排序比较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p:grpSp>
        <p:sp>
          <p:nvSpPr>
            <p:cNvPr id="8" name="文本框 16"/>
            <p:cNvSpPr txBox="1"/>
            <p:nvPr/>
          </p:nvSpPr>
          <p:spPr>
            <a:xfrm>
              <a:off x="3388622" y="2302014"/>
              <a:ext cx="1629858" cy="100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目录 </a:t>
              </a:r>
              <a:r>
                <a:rPr lang="en-US" altLang="zh-CN" sz="3600" dirty="0" smtClean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r>
                <a:rPr lang="en-US" altLang="zh-CN" sz="32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Contents</a:t>
              </a:r>
              <a:r>
                <a: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endPara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排序的概念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53440" y="1470025"/>
            <a:ext cx="10485120" cy="1210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所谓排序就是整理文件中的记录，使之按关键字递增（或递减）次序排列起来。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排序的分类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排序的分类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35455" y="1275080"/>
            <a:ext cx="8721090" cy="4307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稳定排序与不稳定排序：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假设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K</a:t>
            </a:r>
            <a:r>
              <a:rPr lang="en-US" altLang="zh-CN" sz="2000" b="1" baseline="-2500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i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= K</a:t>
            </a:r>
            <a:r>
              <a:rPr lang="en-US" altLang="zh-CN" sz="2000" b="1" baseline="-2500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j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，且排序前序列中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R</a:t>
            </a:r>
            <a:r>
              <a:rPr lang="en-US" altLang="zh-CN" sz="2000" b="1" baseline="-2500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i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领先于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R</a:t>
            </a:r>
            <a:r>
              <a:rPr lang="en-US" altLang="zh-CN" sz="2000" b="1" baseline="-2500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j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；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若在排序后的序列中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R</a:t>
            </a:r>
            <a:r>
              <a:rPr lang="en-US" altLang="zh-CN" sz="2000" b="1" baseline="-2500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i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仍领先于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R</a:t>
            </a:r>
            <a:r>
              <a:rPr lang="en-US" altLang="zh-CN" sz="2000" b="1" baseline="-2500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j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，则称排序方法是稳定的。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若在排序后的序列中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R</a:t>
            </a:r>
            <a:r>
              <a:rPr lang="en-US" altLang="zh-CN" sz="2000" b="1" baseline="-2500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j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仍领先于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R</a:t>
            </a:r>
            <a:r>
              <a:rPr lang="en-US" altLang="zh-CN" sz="2000" b="1" baseline="-2500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i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，则称排序方法是不稳定的。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/>
          </a:p>
          <a:p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例：序列   3    15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zh-CN" altLang="en-US" sz="2000" b="1" dirty="0">
                <a:latin typeface="Times New Roman" panose="02020603050405020304" pitchFamily="2" charset="0"/>
                <a:sym typeface="+mn-ea"/>
              </a:rPr>
              <a:t>    8    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2" charset="0"/>
                <a:sym typeface="+mn-ea"/>
              </a:rPr>
              <a:t>8</a:t>
            </a:r>
            <a:r>
              <a:rPr lang="zh-CN" altLang="en-US" sz="2000" b="1" dirty="0">
                <a:latin typeface="Times New Roman" panose="02020603050405020304" pitchFamily="2" charset="0"/>
                <a:sym typeface="+mn-ea"/>
              </a:rPr>
              <a:t>    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6     9</a:t>
            </a:r>
            <a:endParaRPr lang="zh-CN" altLang="en-US" sz="2000" b="1" dirty="0">
              <a:solidFill>
                <a:schemeClr val="tx2"/>
              </a:solidFill>
              <a:latin typeface="Times New Roman" panose="02020603050405020304" pitchFamily="2" charset="0"/>
            </a:endParaRPr>
          </a:p>
          <a:p>
            <a:endParaRPr lang="zh-CN" altLang="en-US" sz="2000" b="1" dirty="0">
              <a:solidFill>
                <a:schemeClr val="tx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若排序后得   3     6</a:t>
            </a:r>
            <a:r>
              <a:rPr lang="zh-CN" altLang="en-US" sz="2000" b="1" dirty="0">
                <a:latin typeface="Times New Roman" panose="02020603050405020304" pitchFamily="2" charset="0"/>
                <a:sym typeface="+mn-ea"/>
              </a:rPr>
              <a:t>      8    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2" charset="0"/>
                <a:sym typeface="+mn-ea"/>
              </a:rPr>
              <a:t>8</a:t>
            </a:r>
            <a:r>
              <a:rPr lang="zh-CN" altLang="en-US" sz="2000" b="1" dirty="0">
                <a:latin typeface="Times New Roman" panose="02020603050405020304" pitchFamily="2" charset="0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9    15         稳定的</a:t>
            </a:r>
            <a:endParaRPr lang="zh-CN" altLang="en-US" sz="2000" b="1" dirty="0">
              <a:solidFill>
                <a:schemeClr val="tx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若排序后得   3     6</a:t>
            </a:r>
            <a:r>
              <a:rPr lang="zh-CN" altLang="en-US" sz="2000" b="1" dirty="0">
                <a:latin typeface="Times New Roman" panose="02020603050405020304" pitchFamily="2" charset="0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2" charset="0"/>
                <a:sym typeface="+mn-ea"/>
              </a:rPr>
              <a:t>8</a:t>
            </a:r>
            <a:r>
              <a:rPr lang="zh-CN" altLang="en-US" sz="2000" b="1" dirty="0">
                <a:latin typeface="Times New Roman" panose="02020603050405020304" pitchFamily="2" charset="0"/>
                <a:sym typeface="+mn-ea"/>
              </a:rPr>
              <a:t>     8    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9    15         不稳定的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000" b="1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排序的分类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348105"/>
            <a:ext cx="1037145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根据排序过程中待排序记录是否全部放置在内存中，排序分为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内排和外排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800" b="1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内部排序: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指的是待排序记录存放在计算机随机存储器中进行的排序过程。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外部排序: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指的是待排序记录的数量很大，以致内存一次不能容纳全部记录，在排序过程中尚需对外存进行访问的排序过程。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algorithm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算法的复杂性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70560" y="1226820"/>
            <a:ext cx="1085024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算法的复杂性：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体现在运行该算法时的计算机所需资源的多少上，计算机资源最重要的是时间和空间（即寄存器）资源，因此复杂度分为时间和空间复杂度。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辅助空间：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辅助空间是评价排序算法的一个重要指标，辅助空间是指除了存放待排序资源之外，执行算法所需要的其他存储空间。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	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时间复杂度：</a:t>
            </a:r>
            <a:r>
              <a:rPr lang="zh-CN" altLang="en-US" sz="2400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简单的说就是程序循环执行的总的次数。算法的时间复杂度是一个函数，它定量描述了该算法的运行时间。时间复杂度常用大O符号表述，即O(f(n))。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insert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直接插入排序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26185" y="1278890"/>
            <a:ext cx="897445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按照排序过程中所依据的原则的不同可以分类为: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►插入排序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	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直接插入排序  希尔排序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►交换排序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	冒泡排序  快速排序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►选择排序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	简单选择排序  堆排序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►归并排序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►基数排序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insert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直接插入排序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1580515"/>
            <a:ext cx="9185910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直接插入排序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   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	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对于给定的一组记录，初始时假定第一个记录自成一个有序的序列，其余的记录为无序序列；接着从第二个记录开始，按照记录的大小依次将当前处理的记录插入到其之前的有序序列中，直至最后一个记录插入到有序序列为止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insert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直接插入排序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353820"/>
            <a:ext cx="6647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例：将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29  18  87  56  3  27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按由小到大排序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  <p:sp>
        <p:nvSpPr>
          <p:cNvPr id="12295" name="文本框 12294"/>
          <p:cNvSpPr txBox="1"/>
          <p:nvPr/>
        </p:nvSpPr>
        <p:spPr>
          <a:xfrm>
            <a:off x="2738120" y="2536825"/>
            <a:ext cx="6715125" cy="26511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2" charset="0"/>
              </a:rPr>
              <a:t>①</a:t>
            </a:r>
            <a:r>
              <a:rPr lang="zh-CN" altLang="en-US" sz="2800" dirty="0">
                <a:latin typeface="Times New Roman" panose="02020603050405020304" pitchFamily="2" charset="0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2" charset="0"/>
              </a:rPr>
              <a:t>(29)</a:t>
            </a:r>
            <a:r>
              <a:rPr lang="zh-CN" altLang="en-US" sz="2800" dirty="0">
                <a:latin typeface="Times New Roman" panose="02020603050405020304" pitchFamily="2" charset="0"/>
              </a:rPr>
              <a:t>	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</a:rPr>
              <a:t>(18	87	56	 3	27)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b="1" dirty="0">
                <a:solidFill>
                  <a:srgbClr val="FFFF66"/>
                </a:solidFill>
                <a:latin typeface="Times New Roman" panose="02020603050405020304" pitchFamily="2" charset="0"/>
              </a:rPr>
              <a:t>②</a:t>
            </a:r>
            <a:r>
              <a:rPr lang="zh-CN" altLang="en-US" sz="2800" dirty="0">
                <a:latin typeface="Times New Roman" panose="02020603050405020304" pitchFamily="2" charset="0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2" charset="0"/>
              </a:rPr>
              <a:t>(18	29)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</a:rPr>
              <a:t>(87	 56	 3	27)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b="1" dirty="0">
                <a:solidFill>
                  <a:srgbClr val="FFFF66"/>
                </a:solidFill>
                <a:latin typeface="Times New Roman" panose="02020603050405020304" pitchFamily="2" charset="0"/>
              </a:rPr>
              <a:t>③</a:t>
            </a:r>
            <a:r>
              <a:rPr lang="zh-CN" altLang="en-US" sz="2800" dirty="0">
                <a:latin typeface="Times New Roman" panose="02020603050405020304" pitchFamily="2" charset="0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2" charset="0"/>
              </a:rPr>
              <a:t>(18	29	87)</a:t>
            </a:r>
            <a:r>
              <a:rPr lang="zh-CN" altLang="en-US" sz="2800" dirty="0">
                <a:latin typeface="Times New Roman" panose="02020603050405020304" pitchFamily="2" charset="0"/>
              </a:rPr>
              <a:t>	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</a:rPr>
              <a:t>(56	 3	27)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b="1" dirty="0">
                <a:solidFill>
                  <a:srgbClr val="FFFF66"/>
                </a:solidFill>
                <a:latin typeface="Times New Roman" panose="02020603050405020304" pitchFamily="2" charset="0"/>
              </a:rPr>
              <a:t>④</a:t>
            </a:r>
            <a:r>
              <a:rPr lang="zh-CN" altLang="en-US" sz="2800" dirty="0">
                <a:latin typeface="Times New Roman" panose="02020603050405020304" pitchFamily="2" charset="0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2" charset="0"/>
              </a:rPr>
              <a:t>(18	29	56	87)</a:t>
            </a:r>
            <a:r>
              <a:rPr lang="zh-CN" altLang="en-US" sz="2800" dirty="0">
                <a:latin typeface="Times New Roman" panose="02020603050405020304" pitchFamily="2" charset="0"/>
              </a:rPr>
              <a:t>	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</a:rPr>
              <a:t>(3	27)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b="1" dirty="0">
                <a:solidFill>
                  <a:srgbClr val="FFFF66"/>
                </a:solidFill>
                <a:latin typeface="Times New Roman" panose="02020603050405020304" pitchFamily="2" charset="0"/>
              </a:rPr>
              <a:t>⑤</a:t>
            </a:r>
            <a:r>
              <a:rPr lang="zh-CN" altLang="en-US" sz="2800" dirty="0">
                <a:latin typeface="Times New Roman" panose="02020603050405020304" pitchFamily="2" charset="0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2" charset="0"/>
              </a:rPr>
              <a:t>( 3	18	29	56	87)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</a:rPr>
              <a:t>(27)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b="1" dirty="0">
                <a:solidFill>
                  <a:srgbClr val="FFFF66"/>
                </a:solidFill>
                <a:latin typeface="Times New Roman" panose="02020603050405020304" pitchFamily="2" charset="0"/>
              </a:rPr>
              <a:t>⑥</a:t>
            </a:r>
            <a:r>
              <a:rPr lang="zh-CN" altLang="en-US" sz="2800" dirty="0">
                <a:latin typeface="Times New Roman" panose="02020603050405020304" pitchFamily="2" charset="0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2" charset="0"/>
              </a:rPr>
              <a:t>(3	18	27	29	56	87)</a:t>
            </a:r>
            <a:endParaRPr lang="zh-CN" altLang="en-US" sz="2800" dirty="0">
              <a:solidFill>
                <a:schemeClr val="accent1"/>
              </a:solidFill>
              <a:latin typeface="Times New Roman" panose="02020603050405020304" pitchFamily="2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44365" y="5588000"/>
            <a:ext cx="3302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</a:rPr>
              <a:t>（点击播放，观看排序过程）</a:t>
            </a:r>
            <a:endParaRPr lang="zh-CN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charRg st="24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5">
                                            <p:txEl>
                                              <p:charRg st="24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charRg st="52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5">
                                            <p:txEl>
                                              <p:charRg st="52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charRg st="76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95">
                                            <p:txEl>
                                              <p:charRg st="76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charRg st="99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5">
                                            <p:txEl>
                                              <p:charRg st="99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charRg st="126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295">
                                            <p:txEl>
                                              <p:charRg st="126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insert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直接插入排序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368425"/>
            <a:ext cx="1079309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稳    定    性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：稳定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时间复杂度：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O(n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^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2)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(1)初始数据正序，总比较次数：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n-1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(2)初始数据逆序，总比较次数：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(n</a:t>
            </a:r>
            <a:r>
              <a:rPr lang="en-US" altLang="zh-CN" sz="2400" baseline="300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+ n - 1) / 2 =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O(n2)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                  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(3)初始数据无序，第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i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趟平均比较次数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(i+1)/2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，总次数为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(n</a:t>
            </a:r>
            <a:r>
              <a:rPr lang="en-US" altLang="zh-CN" sz="2400" baseline="300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+ 3n) / 4 = O(n</a:t>
            </a:r>
            <a:r>
              <a:rPr lang="en-US" altLang="zh-CN" sz="2400" baseline="300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)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(4)可见，原始数据越趋向正序，比较次数和移动次数越少。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shell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希尔排序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58545" y="1650365"/>
            <a:ext cx="1007554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希尔排序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 algn="ctr">
              <a:lnSpc>
                <a:spcPct val="100000"/>
              </a:lnSpc>
            </a:pP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	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希尔排序也称为“缩小增量排序”，基本原理是：首先将待排序的元素分为多个子序列，使得每个子序的元素个数相对较少，对各个子序分别进行直接插入排序，待整个待排序序列“基本有序后”，再对所有元素进行一次直接插入排序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shell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希尔排序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58545" y="1650365"/>
            <a:ext cx="1007554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具体步骤如下：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(1)选择一个步长序列t1, t2, ..., tk,满足ti &gt; tj(i &lt;ｊ)，tk = 1。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(2)按步长序列个数k，对待排序序列进行k趟排序。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(3)每趟排序，根据对应的步长ti，将待排序的序列分割成ti个子序列，分别对各个子序列进行直接插入排序。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shell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希尔排序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16386" name="文本框 16385"/>
          <p:cNvSpPr txBox="1"/>
          <p:nvPr/>
        </p:nvSpPr>
        <p:spPr>
          <a:xfrm>
            <a:off x="1433830" y="1202690"/>
            <a:ext cx="7162800" cy="3952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</a:rPr>
              <a:t>例，序列   49   38   65   97   76   13   27   48   55   4   19 排序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16387" name="文本框 16386"/>
          <p:cNvSpPr txBox="1"/>
          <p:nvPr/>
        </p:nvSpPr>
        <p:spPr>
          <a:xfrm>
            <a:off x="900113" y="2062163"/>
            <a:ext cx="19812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第一趟排序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16388" name="组合 16387"/>
          <p:cNvGrpSpPr/>
          <p:nvPr/>
        </p:nvGrpSpPr>
        <p:grpSpPr>
          <a:xfrm>
            <a:off x="2652713" y="2062163"/>
            <a:ext cx="5486400" cy="533400"/>
            <a:chOff x="0" y="0"/>
            <a:chExt cx="3456" cy="336"/>
          </a:xfrm>
        </p:grpSpPr>
        <p:sp>
          <p:nvSpPr>
            <p:cNvPr id="4" name="文本框 16388"/>
            <p:cNvSpPr txBox="1"/>
            <p:nvPr/>
          </p:nvSpPr>
          <p:spPr>
            <a:xfrm>
              <a:off x="0" y="0"/>
              <a:ext cx="34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49                               13                             19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6389" name="直接连接符 16389"/>
            <p:cNvSpPr/>
            <p:nvPr/>
          </p:nvSpPr>
          <p:spPr>
            <a:xfrm>
              <a:off x="144" y="336"/>
              <a:ext cx="2736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90" name="直接连接符 16390"/>
            <p:cNvSpPr/>
            <p:nvPr/>
          </p:nvSpPr>
          <p:spPr>
            <a:xfrm>
              <a:off x="144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91" name="直接连接符 16391"/>
            <p:cNvSpPr/>
            <p:nvPr/>
          </p:nvSpPr>
          <p:spPr>
            <a:xfrm>
              <a:off x="1536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92" name="直接连接符 16392"/>
            <p:cNvSpPr/>
            <p:nvPr/>
          </p:nvSpPr>
          <p:spPr>
            <a:xfrm>
              <a:off x="2880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6394" name="组合 16393"/>
          <p:cNvGrpSpPr/>
          <p:nvPr/>
        </p:nvGrpSpPr>
        <p:grpSpPr>
          <a:xfrm>
            <a:off x="3109913" y="2619375"/>
            <a:ext cx="3505200" cy="533400"/>
            <a:chOff x="0" y="0"/>
            <a:chExt cx="2208" cy="336"/>
          </a:xfrm>
        </p:grpSpPr>
        <p:sp>
          <p:nvSpPr>
            <p:cNvPr id="5" name="文本框 16394"/>
            <p:cNvSpPr txBox="1"/>
            <p:nvPr/>
          </p:nvSpPr>
          <p:spPr>
            <a:xfrm>
              <a:off x="0" y="0"/>
              <a:ext cx="22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38                               27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6395" name="直接连接符 16395"/>
            <p:cNvSpPr/>
            <p:nvPr/>
          </p:nvSpPr>
          <p:spPr>
            <a:xfrm>
              <a:off x="144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96" name="直接连接符 16396"/>
            <p:cNvSpPr/>
            <p:nvPr/>
          </p:nvSpPr>
          <p:spPr>
            <a:xfrm>
              <a:off x="1536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97" name="直接连接符 16397"/>
            <p:cNvSpPr/>
            <p:nvPr/>
          </p:nvSpPr>
          <p:spPr>
            <a:xfrm>
              <a:off x="144" y="336"/>
              <a:ext cx="1392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6399" name="组合 16398"/>
          <p:cNvGrpSpPr/>
          <p:nvPr/>
        </p:nvGrpSpPr>
        <p:grpSpPr>
          <a:xfrm>
            <a:off x="3567113" y="3176588"/>
            <a:ext cx="3505200" cy="533400"/>
            <a:chOff x="0" y="0"/>
            <a:chExt cx="2208" cy="336"/>
          </a:xfrm>
        </p:grpSpPr>
        <p:sp>
          <p:nvSpPr>
            <p:cNvPr id="6" name="文本框 16399"/>
            <p:cNvSpPr txBox="1"/>
            <p:nvPr/>
          </p:nvSpPr>
          <p:spPr>
            <a:xfrm>
              <a:off x="0" y="0"/>
              <a:ext cx="22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65                               48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6400" name="直接连接符 16400"/>
            <p:cNvSpPr/>
            <p:nvPr/>
          </p:nvSpPr>
          <p:spPr>
            <a:xfrm>
              <a:off x="144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1" name="直接连接符 16401"/>
            <p:cNvSpPr/>
            <p:nvPr/>
          </p:nvSpPr>
          <p:spPr>
            <a:xfrm>
              <a:off x="1536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2" name="直接连接符 16402"/>
            <p:cNvSpPr/>
            <p:nvPr/>
          </p:nvSpPr>
          <p:spPr>
            <a:xfrm>
              <a:off x="144" y="336"/>
              <a:ext cx="1392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6404" name="组合 16403"/>
          <p:cNvGrpSpPr/>
          <p:nvPr/>
        </p:nvGrpSpPr>
        <p:grpSpPr>
          <a:xfrm>
            <a:off x="3948113" y="3733800"/>
            <a:ext cx="3505200" cy="533400"/>
            <a:chOff x="0" y="0"/>
            <a:chExt cx="2208" cy="336"/>
          </a:xfrm>
        </p:grpSpPr>
        <p:sp>
          <p:nvSpPr>
            <p:cNvPr id="7" name="文本框 16404"/>
            <p:cNvSpPr txBox="1"/>
            <p:nvPr/>
          </p:nvSpPr>
          <p:spPr>
            <a:xfrm>
              <a:off x="0" y="0"/>
              <a:ext cx="22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97                               55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6405" name="直接连接符 16405"/>
            <p:cNvSpPr/>
            <p:nvPr/>
          </p:nvSpPr>
          <p:spPr>
            <a:xfrm>
              <a:off x="144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6" name="直接连接符 16406"/>
            <p:cNvSpPr/>
            <p:nvPr/>
          </p:nvSpPr>
          <p:spPr>
            <a:xfrm>
              <a:off x="1536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7" name="直接连接符 16407"/>
            <p:cNvSpPr/>
            <p:nvPr/>
          </p:nvSpPr>
          <p:spPr>
            <a:xfrm>
              <a:off x="144" y="336"/>
              <a:ext cx="1392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6409" name="组合 16408"/>
          <p:cNvGrpSpPr/>
          <p:nvPr/>
        </p:nvGrpSpPr>
        <p:grpSpPr>
          <a:xfrm>
            <a:off x="4405313" y="4308475"/>
            <a:ext cx="3505200" cy="533400"/>
            <a:chOff x="0" y="0"/>
            <a:chExt cx="2208" cy="336"/>
          </a:xfrm>
        </p:grpSpPr>
        <p:sp>
          <p:nvSpPr>
            <p:cNvPr id="8" name="文本框 16409"/>
            <p:cNvSpPr txBox="1"/>
            <p:nvPr/>
          </p:nvSpPr>
          <p:spPr>
            <a:xfrm>
              <a:off x="0" y="0"/>
              <a:ext cx="22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76                               4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6410" name="直接连接符 16410"/>
            <p:cNvSpPr/>
            <p:nvPr/>
          </p:nvSpPr>
          <p:spPr>
            <a:xfrm>
              <a:off x="122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11" name="直接连接符 16411"/>
            <p:cNvSpPr/>
            <p:nvPr/>
          </p:nvSpPr>
          <p:spPr>
            <a:xfrm>
              <a:off x="1514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12" name="直接连接符 16412"/>
            <p:cNvSpPr/>
            <p:nvPr/>
          </p:nvSpPr>
          <p:spPr>
            <a:xfrm>
              <a:off x="122" y="336"/>
              <a:ext cx="1392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6414" name="文本框 16413"/>
          <p:cNvSpPr txBox="1"/>
          <p:nvPr/>
        </p:nvSpPr>
        <p:spPr>
          <a:xfrm>
            <a:off x="2771775" y="5229225"/>
            <a:ext cx="5943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2" charset="0"/>
              </a:rPr>
              <a:t>13                              19                              49</a:t>
            </a:r>
            <a:endParaRPr lang="en-US" altLang="zh-CN" sz="2000" b="1">
              <a:solidFill>
                <a:schemeClr val="tx2"/>
              </a:solidFill>
              <a:latin typeface="Times New Roman" panose="02020603050405020304" pitchFamily="2" charset="0"/>
            </a:endParaRPr>
          </a:p>
        </p:txBody>
      </p:sp>
      <p:sp>
        <p:nvSpPr>
          <p:cNvPr id="16415" name="文本框 16414"/>
          <p:cNvSpPr txBox="1"/>
          <p:nvPr/>
        </p:nvSpPr>
        <p:spPr>
          <a:xfrm>
            <a:off x="3109913" y="5214938"/>
            <a:ext cx="38100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rPr>
              <a:t>27                              38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sp>
        <p:nvSpPr>
          <p:cNvPr id="16416" name="文本框 16415"/>
          <p:cNvSpPr txBox="1"/>
          <p:nvPr/>
        </p:nvSpPr>
        <p:spPr>
          <a:xfrm>
            <a:off x="3532188" y="5214938"/>
            <a:ext cx="3657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2" charset="0"/>
              </a:rPr>
              <a:t>48                              65</a:t>
            </a:r>
            <a:endParaRPr lang="en-US" altLang="zh-CN" sz="2000" b="1">
              <a:latin typeface="Times New Roman" panose="02020603050405020304" pitchFamily="2" charset="0"/>
            </a:endParaRPr>
          </a:p>
        </p:txBody>
      </p:sp>
      <p:sp>
        <p:nvSpPr>
          <p:cNvPr id="16417" name="文本框 16416"/>
          <p:cNvSpPr txBox="1"/>
          <p:nvPr/>
        </p:nvSpPr>
        <p:spPr>
          <a:xfrm>
            <a:off x="3971925" y="5214938"/>
            <a:ext cx="35052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rgbClr val="006600"/>
                </a:solidFill>
                <a:latin typeface="Times New Roman" panose="02020603050405020304" pitchFamily="2" charset="0"/>
              </a:rPr>
              <a:t>55                              97</a:t>
            </a:r>
            <a:endParaRPr lang="en-US" altLang="zh-CN" sz="2000" b="1">
              <a:solidFill>
                <a:srgbClr val="006600"/>
              </a:solidFill>
              <a:latin typeface="Times New Roman" panose="02020603050405020304" pitchFamily="2" charset="0"/>
            </a:endParaRPr>
          </a:p>
        </p:txBody>
      </p:sp>
      <p:sp>
        <p:nvSpPr>
          <p:cNvPr id="16418" name="文本框 16417"/>
          <p:cNvSpPr txBox="1"/>
          <p:nvPr/>
        </p:nvSpPr>
        <p:spPr>
          <a:xfrm>
            <a:off x="4464050" y="5214938"/>
            <a:ext cx="35052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rgbClr val="990099"/>
                </a:solidFill>
                <a:latin typeface="Times New Roman" panose="02020603050405020304" pitchFamily="2" charset="0"/>
              </a:rPr>
              <a:t>4                               76</a:t>
            </a:r>
            <a:endParaRPr lang="en-US" altLang="zh-CN" sz="2000" b="1">
              <a:solidFill>
                <a:srgbClr val="990099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7" grpId="0"/>
      <p:bldP spid="16414" grpId="0"/>
      <p:bldP spid="16415" grpId="0"/>
      <p:bldP spid="16416" grpId="0"/>
      <p:bldP spid="16417" grpId="0"/>
      <p:bldP spid="164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shell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希尔排序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17410" name="文本框 17409"/>
          <p:cNvSpPr txBox="1"/>
          <p:nvPr/>
        </p:nvSpPr>
        <p:spPr>
          <a:xfrm>
            <a:off x="2005013" y="2124075"/>
            <a:ext cx="19812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第二趟排序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3" name="组合 17410"/>
          <p:cNvGrpSpPr/>
          <p:nvPr/>
        </p:nvGrpSpPr>
        <p:grpSpPr>
          <a:xfrm>
            <a:off x="3733800" y="1619250"/>
            <a:ext cx="5943600" cy="396875"/>
            <a:chOff x="0" y="0"/>
            <a:chExt cx="3744" cy="250"/>
          </a:xfrm>
        </p:grpSpPr>
        <p:sp>
          <p:nvSpPr>
            <p:cNvPr id="17411" name="文本框 17411"/>
            <p:cNvSpPr txBox="1"/>
            <p:nvPr/>
          </p:nvSpPr>
          <p:spPr>
            <a:xfrm>
              <a:off x="0" y="0"/>
              <a:ext cx="37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2" charset="0"/>
                </a:rPr>
                <a:t>13                              19                              49</a:t>
              </a:r>
              <a:endParaRPr lang="en-US" altLang="zh-CN" sz="2000" b="1">
                <a:solidFill>
                  <a:schemeClr val="tx2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7412" name="文本框 17412"/>
            <p:cNvSpPr txBox="1"/>
            <p:nvPr/>
          </p:nvSpPr>
          <p:spPr>
            <a:xfrm>
              <a:off x="288" y="0"/>
              <a:ext cx="24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27                              38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  <p:sp>
          <p:nvSpPr>
            <p:cNvPr id="17413" name="文本框 17413"/>
            <p:cNvSpPr txBox="1"/>
            <p:nvPr/>
          </p:nvSpPr>
          <p:spPr>
            <a:xfrm>
              <a:off x="554" y="0"/>
              <a:ext cx="23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48                              65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  <p:sp>
          <p:nvSpPr>
            <p:cNvPr id="17414" name="文本框 17414"/>
            <p:cNvSpPr txBox="1"/>
            <p:nvPr/>
          </p:nvSpPr>
          <p:spPr>
            <a:xfrm>
              <a:off x="831" y="0"/>
              <a:ext cx="22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55                              97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  <p:sp>
          <p:nvSpPr>
            <p:cNvPr id="17415" name="文本框 17415"/>
            <p:cNvSpPr txBox="1"/>
            <p:nvPr/>
          </p:nvSpPr>
          <p:spPr>
            <a:xfrm>
              <a:off x="1141" y="0"/>
              <a:ext cx="22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4                               76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17417" name="组合 17416"/>
          <p:cNvGrpSpPr/>
          <p:nvPr/>
        </p:nvGrpSpPr>
        <p:grpSpPr>
          <a:xfrm>
            <a:off x="3757613" y="2124075"/>
            <a:ext cx="5486400" cy="533400"/>
            <a:chOff x="0" y="0"/>
            <a:chExt cx="3456" cy="336"/>
          </a:xfrm>
        </p:grpSpPr>
        <p:sp>
          <p:nvSpPr>
            <p:cNvPr id="9" name="文本框 17417"/>
            <p:cNvSpPr txBox="1"/>
            <p:nvPr/>
          </p:nvSpPr>
          <p:spPr>
            <a:xfrm>
              <a:off x="0" y="0"/>
              <a:ext cx="34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13                55                 38                 76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7418" name="直接连接符 17418"/>
            <p:cNvSpPr/>
            <p:nvPr/>
          </p:nvSpPr>
          <p:spPr>
            <a:xfrm>
              <a:off x="144" y="336"/>
              <a:ext cx="2496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19" name="直接连接符 17419"/>
            <p:cNvSpPr/>
            <p:nvPr/>
          </p:nvSpPr>
          <p:spPr>
            <a:xfrm>
              <a:off x="144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0" name="直接连接符 17420"/>
            <p:cNvSpPr/>
            <p:nvPr/>
          </p:nvSpPr>
          <p:spPr>
            <a:xfrm>
              <a:off x="960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1" name="直接连接符 17421"/>
            <p:cNvSpPr/>
            <p:nvPr/>
          </p:nvSpPr>
          <p:spPr>
            <a:xfrm>
              <a:off x="2640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2" name="直接连接符 17422"/>
            <p:cNvSpPr/>
            <p:nvPr/>
          </p:nvSpPr>
          <p:spPr>
            <a:xfrm>
              <a:off x="1776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7424" name="组合 17423"/>
          <p:cNvGrpSpPr/>
          <p:nvPr/>
        </p:nvGrpSpPr>
        <p:grpSpPr>
          <a:xfrm>
            <a:off x="4214813" y="2809875"/>
            <a:ext cx="4724400" cy="533400"/>
            <a:chOff x="0" y="0"/>
            <a:chExt cx="2976" cy="336"/>
          </a:xfrm>
        </p:grpSpPr>
        <p:sp>
          <p:nvSpPr>
            <p:cNvPr id="10" name="文本框 17424"/>
            <p:cNvSpPr txBox="1"/>
            <p:nvPr/>
          </p:nvSpPr>
          <p:spPr>
            <a:xfrm>
              <a:off x="0" y="0"/>
              <a:ext cx="29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27                 4                 </a:t>
              </a:r>
              <a:r>
                <a:rPr lang="en-US" altLang="zh-CN" sz="2000" b="1" baseline="30000">
                  <a:solidFill>
                    <a:schemeClr val="bg1"/>
                  </a:solidFill>
                  <a:latin typeface="Times New Roman" panose="02020603050405020304" pitchFamily="2" charset="0"/>
                </a:rPr>
                <a:t> </a:t>
              </a: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65                49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7425" name="直接连接符 17425"/>
            <p:cNvSpPr/>
            <p:nvPr/>
          </p:nvSpPr>
          <p:spPr>
            <a:xfrm>
              <a:off x="144" y="336"/>
              <a:ext cx="240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6" name="直接连接符 17426"/>
            <p:cNvSpPr/>
            <p:nvPr/>
          </p:nvSpPr>
          <p:spPr>
            <a:xfrm>
              <a:off x="144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7" name="直接连接符 17427"/>
            <p:cNvSpPr/>
            <p:nvPr/>
          </p:nvSpPr>
          <p:spPr>
            <a:xfrm>
              <a:off x="949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8" name="直接连接符 17428"/>
            <p:cNvSpPr/>
            <p:nvPr/>
          </p:nvSpPr>
          <p:spPr>
            <a:xfrm>
              <a:off x="2544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9" name="直接连接符 17429"/>
            <p:cNvSpPr/>
            <p:nvPr/>
          </p:nvSpPr>
          <p:spPr>
            <a:xfrm>
              <a:off x="1765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7431" name="组合 17430"/>
          <p:cNvGrpSpPr/>
          <p:nvPr/>
        </p:nvGrpSpPr>
        <p:grpSpPr>
          <a:xfrm>
            <a:off x="4672013" y="3419475"/>
            <a:ext cx="3505200" cy="533400"/>
            <a:chOff x="0" y="0"/>
            <a:chExt cx="2208" cy="336"/>
          </a:xfrm>
        </p:grpSpPr>
        <p:sp>
          <p:nvSpPr>
            <p:cNvPr id="11" name="文本框 17431"/>
            <p:cNvSpPr txBox="1"/>
            <p:nvPr/>
          </p:nvSpPr>
          <p:spPr>
            <a:xfrm>
              <a:off x="0" y="0"/>
              <a:ext cx="22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48                19                97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7432" name="直接连接符 17432"/>
            <p:cNvSpPr/>
            <p:nvPr/>
          </p:nvSpPr>
          <p:spPr>
            <a:xfrm>
              <a:off x="144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33" name="直接连接符 17433"/>
            <p:cNvSpPr/>
            <p:nvPr/>
          </p:nvSpPr>
          <p:spPr>
            <a:xfrm>
              <a:off x="956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34" name="直接连接符 17434"/>
            <p:cNvSpPr/>
            <p:nvPr/>
          </p:nvSpPr>
          <p:spPr>
            <a:xfrm>
              <a:off x="144" y="336"/>
              <a:ext cx="1584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35" name="直接连接符 17435"/>
            <p:cNvSpPr/>
            <p:nvPr/>
          </p:nvSpPr>
          <p:spPr>
            <a:xfrm>
              <a:off x="1728" y="240"/>
              <a:ext cx="0" cy="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7437" name="文本框 17436"/>
          <p:cNvSpPr txBox="1"/>
          <p:nvPr/>
        </p:nvSpPr>
        <p:spPr>
          <a:xfrm>
            <a:off x="3757613" y="4791075"/>
            <a:ext cx="51054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2" charset="0"/>
              </a:rPr>
              <a:t>13                38                 55                 76</a:t>
            </a:r>
            <a:endParaRPr lang="en-US" altLang="zh-CN" sz="2000" b="1">
              <a:solidFill>
                <a:schemeClr val="tx2"/>
              </a:solidFill>
              <a:latin typeface="Times New Roman" panose="02020603050405020304" pitchFamily="2" charset="0"/>
            </a:endParaRPr>
          </a:p>
        </p:txBody>
      </p:sp>
      <p:sp>
        <p:nvSpPr>
          <p:cNvPr id="17438" name="文本框 17437"/>
          <p:cNvSpPr txBox="1"/>
          <p:nvPr/>
        </p:nvSpPr>
        <p:spPr>
          <a:xfrm>
            <a:off x="4238625" y="4791075"/>
            <a:ext cx="49530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rPr>
              <a:t>4                 27                 </a:t>
            </a:r>
            <a:r>
              <a:rPr lang="en-US" altLang="zh-CN" sz="2000" b="1" baseline="30000">
                <a:solidFill>
                  <a:srgbClr val="FF0000"/>
                </a:solidFill>
                <a:latin typeface="Times New Roman" panose="02020603050405020304" pitchFamily="2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rPr>
              <a:t>49                65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sp>
        <p:nvSpPr>
          <p:cNvPr id="17439" name="文本框 17438"/>
          <p:cNvSpPr txBox="1"/>
          <p:nvPr/>
        </p:nvSpPr>
        <p:spPr>
          <a:xfrm>
            <a:off x="4595813" y="4791075"/>
            <a:ext cx="4038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2" charset="0"/>
              </a:rPr>
              <a:t>19                48                  97</a:t>
            </a:r>
            <a:endParaRPr lang="en-US" altLang="zh-CN" sz="2000" b="1">
              <a:latin typeface="Times New Roman" panose="02020603050405020304" pitchFamily="2" charset="0"/>
            </a:endParaRPr>
          </a:p>
        </p:txBody>
      </p:sp>
      <p:sp>
        <p:nvSpPr>
          <p:cNvPr id="17440" name="文本框 17439"/>
          <p:cNvSpPr txBox="1"/>
          <p:nvPr/>
        </p:nvSpPr>
        <p:spPr>
          <a:xfrm>
            <a:off x="2005013" y="5476875"/>
            <a:ext cx="30480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第三趟排序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17441" name="文本框 17440"/>
          <p:cNvSpPr txBox="1"/>
          <p:nvPr/>
        </p:nvSpPr>
        <p:spPr>
          <a:xfrm>
            <a:off x="3806825" y="5508625"/>
            <a:ext cx="54102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4   13   19   27  </a:t>
            </a:r>
            <a:r>
              <a:rPr lang="en-US" altLang="zh-CN" sz="2000" b="1" baseline="-25000">
                <a:solidFill>
                  <a:schemeClr val="bg1"/>
                </a:solidFill>
                <a:latin typeface="Times New Roman" panose="02020603050405020304" pitchFamily="2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38  </a:t>
            </a:r>
            <a:r>
              <a:rPr lang="en-US" altLang="zh-CN" sz="2000" b="1" baseline="30000">
                <a:solidFill>
                  <a:schemeClr val="bg1"/>
                </a:solidFill>
                <a:latin typeface="Times New Roman" panose="02020603050405020304" pitchFamily="2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48   49   </a:t>
            </a:r>
            <a:r>
              <a:rPr lang="en-US" altLang="zh-CN" sz="2000" b="1" baseline="30000">
                <a:solidFill>
                  <a:schemeClr val="bg1"/>
                </a:solidFill>
                <a:latin typeface="Times New Roman" panose="02020603050405020304" pitchFamily="2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55   65   76  </a:t>
            </a:r>
            <a:r>
              <a:rPr lang="en-US" altLang="zh-CN" sz="2000" b="1" baseline="30000">
                <a:solidFill>
                  <a:schemeClr val="bg1"/>
                </a:solidFill>
                <a:latin typeface="Times New Roman" panose="02020603050405020304" pitchFamily="2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97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37" grpId="0"/>
      <p:bldP spid="17438" grpId="0"/>
      <p:bldP spid="17439" grpId="0"/>
      <p:bldP spid="17440" grpId="0"/>
      <p:bldP spid="174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shell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希尔排序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31925" y="1946910"/>
            <a:ext cx="932751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希尔排序的特点：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时间复杂度：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希尔排序的时间复杂性在O（nlog</a:t>
            </a:r>
            <a:r>
              <a:rPr lang="zh-CN" altLang="en-US" sz="2400" baseline="-250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n）和O（n</a:t>
            </a:r>
            <a:r>
              <a:rPr lang="zh-CN" altLang="en-US" sz="2400" baseline="300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）之间，大致为O（n</a:t>
            </a:r>
            <a:r>
              <a:rPr lang="zh-CN" altLang="en-US" sz="2400" baseline="300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1.3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）。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稳定性：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不稳定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bubble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冒泡排序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1046480"/>
            <a:ext cx="932751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冒泡排序  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  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	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对于给定的n个记录，从第一个记录开始依次对相邻的两个记录进行比较，当前面的记录大于后面的记录时，交换其位置，进行一轮比较和交换位置后，n个记录中的最大记录将位于第n位；然后对前(n - 1)个记录进行第二轮比较；重复该过程直到进行比较的记录只剩下一个为止。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    冒泡排序基本思想是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: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对待排序的数字进行两两比较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,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如发现两个数字是反序的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,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则进行交换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,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直到无反序的记录为止。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0483" name="表格 20482"/>
          <p:cNvGraphicFramePr/>
          <p:nvPr/>
        </p:nvGraphicFramePr>
        <p:xfrm>
          <a:off x="4440238" y="1701800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99" name="表格 20498"/>
          <p:cNvGraphicFramePr/>
          <p:nvPr/>
        </p:nvGraphicFramePr>
        <p:xfrm>
          <a:off x="4440238" y="1701800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29</a:t>
                      </a:r>
                      <a:endParaRPr lang="en-US" altLang="x-none" sz="3000" dirty="0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18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515" name="未知"/>
          <p:cNvSpPr/>
          <p:nvPr/>
        </p:nvSpPr>
        <p:spPr>
          <a:xfrm rot="10800000">
            <a:off x="4800600" y="2349500"/>
            <a:ext cx="719138" cy="288925"/>
          </a:xfrm>
          <a:custGeom>
            <a:avLst/>
            <a:gdLst/>
            <a:ahLst/>
            <a:cxnLst/>
            <a:pathLst>
              <a:path w="363" h="136">
                <a:moveTo>
                  <a:pt x="0" y="136"/>
                </a:moveTo>
                <a:cubicBezTo>
                  <a:pt x="60" y="68"/>
                  <a:pt x="121" y="0"/>
                  <a:pt x="181" y="0"/>
                </a:cubicBezTo>
                <a:cubicBezTo>
                  <a:pt x="241" y="0"/>
                  <a:pt x="325" y="106"/>
                  <a:pt x="363" y="136"/>
                </a:cubicBezTo>
              </a:path>
            </a:pathLst>
          </a:custGeom>
          <a:noFill/>
          <a:ln w="50800" cap="flat" cmpd="sng">
            <a:solidFill>
              <a:srgbClr val="FF9933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16" name="未知"/>
          <p:cNvSpPr/>
          <p:nvPr/>
        </p:nvSpPr>
        <p:spPr>
          <a:xfrm rot="10800000">
            <a:off x="4800600" y="3213100"/>
            <a:ext cx="719138" cy="288925"/>
          </a:xfrm>
          <a:custGeom>
            <a:avLst/>
            <a:gdLst/>
            <a:ahLst/>
            <a:cxnLst/>
            <a:pathLst>
              <a:path w="363" h="136">
                <a:moveTo>
                  <a:pt x="0" y="136"/>
                </a:moveTo>
                <a:cubicBezTo>
                  <a:pt x="60" y="68"/>
                  <a:pt x="121" y="0"/>
                  <a:pt x="181" y="0"/>
                </a:cubicBezTo>
                <a:cubicBezTo>
                  <a:pt x="241" y="0"/>
                  <a:pt x="325" y="106"/>
                  <a:pt x="363" y="136"/>
                </a:cubicBezTo>
              </a:path>
            </a:pathLst>
          </a:custGeom>
          <a:noFill/>
          <a:ln w="50800" cap="flat" cmpd="sng">
            <a:solidFill>
              <a:srgbClr val="FF9933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17" name="未知"/>
          <p:cNvSpPr/>
          <p:nvPr/>
        </p:nvSpPr>
        <p:spPr>
          <a:xfrm rot="10800000">
            <a:off x="4800600" y="4149725"/>
            <a:ext cx="719138" cy="288925"/>
          </a:xfrm>
          <a:custGeom>
            <a:avLst/>
            <a:gdLst/>
            <a:ahLst/>
            <a:cxnLst/>
            <a:pathLst>
              <a:path w="363" h="136">
                <a:moveTo>
                  <a:pt x="0" y="136"/>
                </a:moveTo>
                <a:cubicBezTo>
                  <a:pt x="60" y="68"/>
                  <a:pt x="121" y="0"/>
                  <a:pt x="181" y="0"/>
                </a:cubicBezTo>
                <a:cubicBezTo>
                  <a:pt x="241" y="0"/>
                  <a:pt x="325" y="106"/>
                  <a:pt x="363" y="136"/>
                </a:cubicBezTo>
              </a:path>
            </a:pathLst>
          </a:custGeom>
          <a:noFill/>
          <a:ln w="50800" cap="flat" cmpd="sng">
            <a:solidFill>
              <a:srgbClr val="FF9933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18" name="未知"/>
          <p:cNvSpPr/>
          <p:nvPr/>
        </p:nvSpPr>
        <p:spPr>
          <a:xfrm rot="10800000">
            <a:off x="4800600" y="5156200"/>
            <a:ext cx="719138" cy="288925"/>
          </a:xfrm>
          <a:custGeom>
            <a:avLst/>
            <a:gdLst/>
            <a:ahLst/>
            <a:cxnLst/>
            <a:pathLst>
              <a:path w="363" h="136">
                <a:moveTo>
                  <a:pt x="0" y="136"/>
                </a:moveTo>
                <a:cubicBezTo>
                  <a:pt x="60" y="68"/>
                  <a:pt x="121" y="0"/>
                  <a:pt x="181" y="0"/>
                </a:cubicBezTo>
                <a:cubicBezTo>
                  <a:pt x="241" y="0"/>
                  <a:pt x="325" y="106"/>
                  <a:pt x="363" y="136"/>
                </a:cubicBezTo>
              </a:path>
            </a:pathLst>
          </a:custGeom>
          <a:noFill/>
          <a:ln w="50800" cap="flat" cmpd="sng">
            <a:solidFill>
              <a:srgbClr val="FF9933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0519" name="表格 20518"/>
          <p:cNvGraphicFramePr/>
          <p:nvPr/>
        </p:nvGraphicFramePr>
        <p:xfrm>
          <a:off x="4440238" y="1701800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35" name="表格 20534"/>
          <p:cNvGraphicFramePr/>
          <p:nvPr/>
        </p:nvGraphicFramePr>
        <p:xfrm>
          <a:off x="4440238" y="1701800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87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56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51" name="表格 20550"/>
          <p:cNvGraphicFramePr/>
          <p:nvPr/>
        </p:nvGraphicFramePr>
        <p:xfrm>
          <a:off x="4440238" y="1701800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67" name="表格 20566"/>
          <p:cNvGraphicFramePr/>
          <p:nvPr/>
        </p:nvGraphicFramePr>
        <p:xfrm>
          <a:off x="4440238" y="1701800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87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3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83" name="表格 20582"/>
          <p:cNvGraphicFramePr/>
          <p:nvPr/>
        </p:nvGraphicFramePr>
        <p:xfrm>
          <a:off x="4440238" y="1701800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99" name="表格 20598"/>
          <p:cNvGraphicFramePr/>
          <p:nvPr/>
        </p:nvGraphicFramePr>
        <p:xfrm>
          <a:off x="4440238" y="1701800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87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27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15" name="表格 20614"/>
          <p:cNvGraphicFramePr/>
          <p:nvPr/>
        </p:nvGraphicFramePr>
        <p:xfrm>
          <a:off x="4440238" y="1701800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u="sng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31" name="表格 20630"/>
          <p:cNvGraphicFramePr/>
          <p:nvPr/>
        </p:nvGraphicFramePr>
        <p:xfrm>
          <a:off x="4440238" y="2638425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28980"/>
                <a:gridCol w="671195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647" name="未知"/>
          <p:cNvSpPr/>
          <p:nvPr/>
        </p:nvSpPr>
        <p:spPr>
          <a:xfrm rot="10800000">
            <a:off x="4729163" y="6096000"/>
            <a:ext cx="719137" cy="288925"/>
          </a:xfrm>
          <a:custGeom>
            <a:avLst/>
            <a:gdLst/>
            <a:ahLst/>
            <a:cxnLst/>
            <a:pathLst>
              <a:path w="363" h="136">
                <a:moveTo>
                  <a:pt x="0" y="136"/>
                </a:moveTo>
                <a:cubicBezTo>
                  <a:pt x="60" y="68"/>
                  <a:pt x="121" y="0"/>
                  <a:pt x="181" y="0"/>
                </a:cubicBezTo>
                <a:cubicBezTo>
                  <a:pt x="241" y="0"/>
                  <a:pt x="325" y="106"/>
                  <a:pt x="363" y="136"/>
                </a:cubicBezTo>
              </a:path>
            </a:pathLst>
          </a:custGeom>
          <a:noFill/>
          <a:ln w="50800" cap="flat" cmpd="sng">
            <a:solidFill>
              <a:srgbClr val="FF9933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0648" name="表格 20647"/>
          <p:cNvGraphicFramePr/>
          <p:nvPr/>
        </p:nvGraphicFramePr>
        <p:xfrm>
          <a:off x="4440238" y="2638425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56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3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664" name="文本框 20663"/>
          <p:cNvSpPr txBox="1"/>
          <p:nvPr/>
        </p:nvSpPr>
        <p:spPr>
          <a:xfrm>
            <a:off x="3505200" y="1771650"/>
            <a:ext cx="1008063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2" charset="0"/>
              </a:rPr>
              <a:t>第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2" charset="0"/>
              </a:rPr>
              <a:t>1</a:t>
            </a:r>
            <a:r>
              <a:rPr lang="zh-CN" altLang="en-US" sz="2400" dirty="0">
                <a:latin typeface="Times New Roman" panose="02020603050405020304" pitchFamily="2" charset="0"/>
              </a:rPr>
              <a:t>趟</a:t>
            </a:r>
            <a:endParaRPr lang="zh-CN" altLang="en-US" sz="2400" dirty="0">
              <a:latin typeface="Times New Roman" panose="02020603050405020304" pitchFamily="2" charset="0"/>
            </a:endParaRPr>
          </a:p>
        </p:txBody>
      </p:sp>
      <p:graphicFrame>
        <p:nvGraphicFramePr>
          <p:cNvPr id="20665" name="表格 20664"/>
          <p:cNvGraphicFramePr/>
          <p:nvPr/>
        </p:nvGraphicFramePr>
        <p:xfrm>
          <a:off x="4440238" y="2638425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81" name="表格 20680"/>
          <p:cNvGraphicFramePr/>
          <p:nvPr/>
        </p:nvGraphicFramePr>
        <p:xfrm>
          <a:off x="4440238" y="2638425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56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27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97" name="表格 20696"/>
          <p:cNvGraphicFramePr/>
          <p:nvPr/>
        </p:nvGraphicFramePr>
        <p:xfrm>
          <a:off x="4440238" y="2638425"/>
          <a:ext cx="4200525" cy="549275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492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u="sng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13" name="表格 20712"/>
          <p:cNvGraphicFramePr/>
          <p:nvPr/>
        </p:nvGraphicFramePr>
        <p:xfrm>
          <a:off x="4440238" y="3502025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729" name="文本框 20728"/>
          <p:cNvSpPr txBox="1"/>
          <p:nvPr/>
        </p:nvSpPr>
        <p:spPr>
          <a:xfrm>
            <a:off x="3505200" y="2638425"/>
            <a:ext cx="1008063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2" charset="0"/>
              </a:rPr>
              <a:t>第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2" charset="0"/>
              </a:rPr>
              <a:t>2</a:t>
            </a:r>
            <a:r>
              <a:rPr lang="zh-CN" altLang="en-US" sz="2400" dirty="0">
                <a:latin typeface="Times New Roman" panose="02020603050405020304" pitchFamily="2" charset="0"/>
              </a:rPr>
              <a:t>趟</a:t>
            </a:r>
            <a:endParaRPr lang="zh-CN" altLang="en-US" sz="2400" dirty="0">
              <a:latin typeface="Times New Roman" panose="02020603050405020304" pitchFamily="2" charset="0"/>
            </a:endParaRPr>
          </a:p>
        </p:txBody>
      </p:sp>
      <p:graphicFrame>
        <p:nvGraphicFramePr>
          <p:cNvPr id="20730" name="表格 20729"/>
          <p:cNvGraphicFramePr/>
          <p:nvPr/>
        </p:nvGraphicFramePr>
        <p:xfrm>
          <a:off x="4440238" y="3502025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29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3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46" name="表格 20745"/>
          <p:cNvGraphicFramePr/>
          <p:nvPr/>
        </p:nvGraphicFramePr>
        <p:xfrm>
          <a:off x="4440238" y="3502025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62" name="表格 20761"/>
          <p:cNvGraphicFramePr/>
          <p:nvPr/>
        </p:nvGraphicFramePr>
        <p:xfrm>
          <a:off x="4440238" y="3502025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29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27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78" name="表格 20777"/>
          <p:cNvGraphicFramePr/>
          <p:nvPr/>
        </p:nvGraphicFramePr>
        <p:xfrm>
          <a:off x="4440238" y="4508500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94" name="表格 20793"/>
          <p:cNvGraphicFramePr/>
          <p:nvPr/>
        </p:nvGraphicFramePr>
        <p:xfrm>
          <a:off x="4440238" y="3502025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u="sng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000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810" name="文本框 20809"/>
          <p:cNvSpPr txBox="1"/>
          <p:nvPr/>
        </p:nvSpPr>
        <p:spPr>
          <a:xfrm>
            <a:off x="3505200" y="3571875"/>
            <a:ext cx="1008063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2" charset="0"/>
              </a:rPr>
              <a:t>第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2" charset="0"/>
              </a:rPr>
              <a:t>3</a:t>
            </a:r>
            <a:r>
              <a:rPr lang="zh-CN" altLang="en-US" sz="2400" dirty="0">
                <a:latin typeface="Times New Roman" panose="02020603050405020304" pitchFamily="2" charset="0"/>
              </a:rPr>
              <a:t>趟</a:t>
            </a:r>
            <a:endParaRPr lang="zh-CN" altLang="en-US" sz="2400" dirty="0">
              <a:latin typeface="Times New Roman" panose="02020603050405020304" pitchFamily="2" charset="0"/>
            </a:endParaRPr>
          </a:p>
        </p:txBody>
      </p:sp>
      <p:graphicFrame>
        <p:nvGraphicFramePr>
          <p:cNvPr id="20811" name="表格 20810"/>
          <p:cNvGraphicFramePr/>
          <p:nvPr/>
        </p:nvGraphicFramePr>
        <p:xfrm>
          <a:off x="4440238" y="4508500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18</a:t>
                      </a:r>
                      <a:endParaRPr lang="en-US" altLang="x-none" sz="3000" dirty="0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/>
                        <a:t>3</a:t>
                      </a:r>
                      <a:endParaRPr lang="en-US" altLang="x-none" sz="3000" dirty="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827" name="表格 20826"/>
          <p:cNvGraphicFramePr/>
          <p:nvPr/>
        </p:nvGraphicFramePr>
        <p:xfrm>
          <a:off x="4440238" y="4508500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843" name="表格 20842"/>
          <p:cNvGraphicFramePr/>
          <p:nvPr/>
        </p:nvGraphicFramePr>
        <p:xfrm>
          <a:off x="4440238" y="4508500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700405"/>
                <a:gridCol w="69977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u="sng" dirty="0">
                          <a:solidFill>
                            <a:srgbClr val="00FFFF"/>
                          </a:solidFill>
                        </a:rPr>
                        <a:t>27</a:t>
                      </a:r>
                      <a:endParaRPr lang="en-US" altLang="x-none" sz="3000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859" name="表格 20858"/>
          <p:cNvGraphicFramePr/>
          <p:nvPr/>
        </p:nvGraphicFramePr>
        <p:xfrm>
          <a:off x="4440238" y="5445125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688975"/>
                <a:gridCol w="71120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875" name="文本框 20874"/>
          <p:cNvSpPr txBox="1"/>
          <p:nvPr/>
        </p:nvSpPr>
        <p:spPr>
          <a:xfrm>
            <a:off x="3505200" y="4581525"/>
            <a:ext cx="1008063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2" charset="0"/>
              </a:rPr>
              <a:t>第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2" charset="0"/>
              </a:rPr>
              <a:t>4</a:t>
            </a:r>
            <a:r>
              <a:rPr lang="zh-CN" altLang="en-US" sz="2400" dirty="0">
                <a:latin typeface="Times New Roman" panose="02020603050405020304" pitchFamily="2" charset="0"/>
              </a:rPr>
              <a:t>趟</a:t>
            </a:r>
            <a:endParaRPr lang="zh-CN" altLang="en-US" sz="2400" dirty="0">
              <a:latin typeface="Times New Roman" panose="02020603050405020304" pitchFamily="2" charset="0"/>
            </a:endParaRPr>
          </a:p>
        </p:txBody>
      </p:sp>
      <p:graphicFrame>
        <p:nvGraphicFramePr>
          <p:cNvPr id="20876" name="表格 20875"/>
          <p:cNvGraphicFramePr/>
          <p:nvPr/>
        </p:nvGraphicFramePr>
        <p:xfrm>
          <a:off x="4440238" y="5445125"/>
          <a:ext cx="4200525" cy="590550"/>
        </p:xfrm>
        <a:graphic>
          <a:graphicData uri="http://schemas.openxmlformats.org/drawingml/2006/table">
            <a:tbl>
              <a:tblPr/>
              <a:tblGrid>
                <a:gridCol w="700405"/>
                <a:gridCol w="699770"/>
                <a:gridCol w="688975"/>
                <a:gridCol w="711200"/>
                <a:gridCol w="700405"/>
                <a:gridCol w="699770"/>
              </a:tblGrid>
              <a:tr h="5905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0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u="sng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000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27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000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0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892" name="文本框 20891"/>
          <p:cNvSpPr txBox="1"/>
          <p:nvPr/>
        </p:nvSpPr>
        <p:spPr>
          <a:xfrm>
            <a:off x="3576638" y="5518150"/>
            <a:ext cx="1008062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2" charset="0"/>
              </a:rPr>
              <a:t>第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2" charset="0"/>
              </a:rPr>
              <a:t>5</a:t>
            </a:r>
            <a:r>
              <a:rPr lang="zh-CN" altLang="en-US" sz="2400" dirty="0">
                <a:latin typeface="Times New Roman" panose="02020603050405020304" pitchFamily="2" charset="0"/>
              </a:rPr>
              <a:t>趟</a:t>
            </a:r>
            <a:endParaRPr lang="zh-CN" altLang="en-US" sz="2400" dirty="0">
              <a:latin typeface="Times New Roman" panose="02020603050405020304" pitchFamily="2" charset="0"/>
            </a:endParaRPr>
          </a:p>
        </p:txBody>
      </p:sp>
      <p:sp>
        <p:nvSpPr>
          <p:cNvPr id="2" name="文本框 20892"/>
          <p:cNvSpPr txBox="1"/>
          <p:nvPr/>
        </p:nvSpPr>
        <p:spPr>
          <a:xfrm>
            <a:off x="1774825" y="1196975"/>
            <a:ext cx="2808288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2" charset="0"/>
            </a:endParaRPr>
          </a:p>
        </p:txBody>
      </p:sp>
      <p:sp>
        <p:nvSpPr>
          <p:cNvPr id="20893" name="矩形 20893"/>
          <p:cNvSpPr/>
          <p:nvPr/>
        </p:nvSpPr>
        <p:spPr>
          <a:xfrm>
            <a:off x="1631950" y="188913"/>
            <a:ext cx="7210425" cy="417512"/>
          </a:xfrm>
          <a:prstGeom prst="rect">
            <a:avLst/>
          </a:prstGeom>
          <a:noFill/>
          <a:ln w="9525">
            <a:noFill/>
          </a:ln>
        </p:spPr>
        <p:txBody>
          <a:bodyPr lIns="45720" rIns="45720" anchor="ctr"/>
          <a:p>
            <a:pPr algn="ctr" eaLnBrk="0" hangingPunct="0"/>
            <a:endParaRPr lang="zh-CN" altLang="en-US" sz="4000" dirty="0">
              <a:solidFill>
                <a:schemeClr val="bg1"/>
              </a:solidFill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20894" name="矩形 20894"/>
          <p:cNvSpPr/>
          <p:nvPr/>
        </p:nvSpPr>
        <p:spPr>
          <a:xfrm>
            <a:off x="3000375" y="1052513"/>
            <a:ext cx="614172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eaLnBrk="0" hangingPunct="0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2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2" charset="0"/>
              </a:rPr>
              <a:t>将 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2" charset="0"/>
              </a:rPr>
              <a:t>29  18  87  56  3  27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2" charset="0"/>
              </a:rPr>
              <a:t>按由小到大排序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83540" y="258445"/>
            <a:ext cx="6052820" cy="788035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bubble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冒泡排序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33333E-6 L 0.07084 3.33333E-6 " pathEditMode="relative" ptsTypes="AA">
                                      <p:cBhvr>
                                        <p:cTn id="24" dur="20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4 1.48148E-6 L 0.14966 1.48148E-6 " pathEditMode="relative" ptsTypes="AA">
                                      <p:cBhvr>
                                        <p:cTn id="28" dur="20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66 1.48148E-6 L 0.2283 1.48148E-6 " pathEditMode="relative" ptsTypes="AA">
                                      <p:cBhvr>
                                        <p:cTn id="42" dur="20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83 1.48148E-6 L 0.30712 1.48148E-6 " pathEditMode="relative" ptsTypes="AA">
                                      <p:cBhvr>
                                        <p:cTn id="66" dur="20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066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-0.00024 L 0.07101 -0.00024 " pathEditMode="relative" ptsTypes="AA">
                                      <p:cBhvr>
                                        <p:cTn id="110" dur="2000" fill="hold"/>
                                        <p:tgtEl>
                                          <p:spTgt spid="205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101 -0.00024 L 0.14983 -0.00024 " pathEditMode="relative" ptsTypes="AA">
                                      <p:cBhvr>
                                        <p:cTn id="114" dur="2000" fill="hold"/>
                                        <p:tgtEl>
                                          <p:spTgt spid="205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2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2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83 -0.00024 L 0.22847 -0.00024 " pathEditMode="relative" ptsTypes="AA">
                                      <p:cBhvr>
                                        <p:cTn id="128" dur="2000" fill="hold"/>
                                        <p:tgtEl>
                                          <p:spTgt spid="205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2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2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2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2072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2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1.48148E-6 L 0.07101 1.48148E-6 " pathEditMode="relative" ptsTypes="AA">
                                      <p:cBhvr>
                                        <p:cTn id="162" dur="2000" fill="hold"/>
                                        <p:tgtEl>
                                          <p:spTgt spid="205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2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2" dur="500"/>
                                        <p:tgtEl>
                                          <p:spTgt spid="2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101 1.48148E-6 L 0.14983 1.48148E-6 " pathEditMode="relative" ptsTypes="AA">
                                      <p:cBhvr>
                                        <p:cTn id="176" dur="2000" fill="hold"/>
                                        <p:tgtEl>
                                          <p:spTgt spid="205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2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6" dur="500"/>
                                        <p:tgtEl>
                                          <p:spTgt spid="2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0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6" dur="500"/>
                                        <p:tgtEl>
                                          <p:spTgt spid="2081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1" dur="500"/>
                                        <p:tgtEl>
                                          <p:spTgt spid="2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1" dur="500"/>
                                        <p:tgtEl>
                                          <p:spTgt spid="20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6" dur="500"/>
                                        <p:tgtEl>
                                          <p:spTgt spid="2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7.40741E-7 L 0.07899 7.40741E-7 " pathEditMode="relative" ptsTypes="AA">
                                      <p:cBhvr>
                                        <p:cTn id="220" dur="20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5" dur="500"/>
                                        <p:tgtEl>
                                          <p:spTgt spid="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9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5" dur="500"/>
                                        <p:tgtEl>
                                          <p:spTgt spid="2087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0" dur="500"/>
                                        <p:tgtEl>
                                          <p:spTgt spid="20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5" dur="500"/>
                                        <p:tgtEl>
                                          <p:spTgt spid="2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0" dur="500"/>
                                        <p:tgtEl>
                                          <p:spTgt spid="20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4" dur="500"/>
                                        <p:tgtEl>
                                          <p:spTgt spid="20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0" dur="500"/>
                                        <p:tgtEl>
                                          <p:spTgt spid="2089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64" grpId="0" build="allAtOnce"/>
      <p:bldP spid="20729" grpId="0" build="allAtOnce"/>
      <p:bldP spid="20810" grpId="0" build="allAtOnce"/>
      <p:bldP spid="20875" grpId="0" build="allAtOnce"/>
      <p:bldP spid="20892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bubble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冒泡排序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930910" y="1791970"/>
            <a:ext cx="98933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冒泡排序特点分析：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时间复杂度：总共比较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n(n-1)/2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次  时间复杂度为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O(n</a:t>
            </a:r>
            <a:r>
              <a:rPr lang="en-US" altLang="zh-CN" sz="2800" baseline="300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)</a:t>
            </a:r>
            <a:endParaRPr lang="en-US" altLang="zh-CN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稳定性：稳定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quick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快速排序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864870" y="1046480"/>
            <a:ext cx="10161270" cy="470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快速排序  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 algn="ctr">
              <a:lnSpc>
                <a:spcPct val="2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  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	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快速排序是一种非常高效的排序方法，采用“分而治之”的思想，把大的拆分为小的，小的在拆分为更小的。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    原理是：对于一组给定的记录，通过一趟排序后，将原序列分为两部分，其中前部分的所有记录均比后部分的所有记录小，然后再依次对前后两部分的记录进行快速排序，递归该过程，直到序列中的所有记录均为有序为止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文本框 23553"/>
          <p:cNvSpPr txBox="1"/>
          <p:nvPr/>
        </p:nvSpPr>
        <p:spPr>
          <a:xfrm>
            <a:off x="4555808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18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55" name="文本框 23554"/>
          <p:cNvSpPr txBox="1"/>
          <p:nvPr/>
        </p:nvSpPr>
        <p:spPr>
          <a:xfrm>
            <a:off x="3763645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39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56" name="文本框 23555"/>
          <p:cNvSpPr txBox="1"/>
          <p:nvPr/>
        </p:nvSpPr>
        <p:spPr>
          <a:xfrm>
            <a:off x="6067108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3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57" name="文本框 23556"/>
          <p:cNvSpPr txBox="1"/>
          <p:nvPr/>
        </p:nvSpPr>
        <p:spPr>
          <a:xfrm>
            <a:off x="3042920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29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" name="矩形 23557"/>
          <p:cNvSpPr/>
          <p:nvPr/>
        </p:nvSpPr>
        <p:spPr>
          <a:xfrm>
            <a:off x="2438400" y="391160"/>
            <a:ext cx="661098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2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2" charset="0"/>
              </a:rPr>
              <a:t>将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2" charset="0"/>
              </a:rPr>
              <a:t>29 96 18 56 3 56 39 77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2" charset="0"/>
              </a:rPr>
              <a:t>按由小到大排序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59" name="文本框 23558"/>
          <p:cNvSpPr txBox="1"/>
          <p:nvPr/>
        </p:nvSpPr>
        <p:spPr>
          <a:xfrm>
            <a:off x="3403283" y="1345248"/>
            <a:ext cx="1008062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29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60" name="文本框 23559"/>
          <p:cNvSpPr txBox="1"/>
          <p:nvPr/>
        </p:nvSpPr>
        <p:spPr>
          <a:xfrm>
            <a:off x="4052570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96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61" name="文本框 23560"/>
          <p:cNvSpPr txBox="1"/>
          <p:nvPr/>
        </p:nvSpPr>
        <p:spPr>
          <a:xfrm>
            <a:off x="4628833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18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62" name="文本框 23561"/>
          <p:cNvSpPr txBox="1"/>
          <p:nvPr/>
        </p:nvSpPr>
        <p:spPr>
          <a:xfrm>
            <a:off x="5276533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56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63" name="文本框 23562"/>
          <p:cNvSpPr txBox="1"/>
          <p:nvPr/>
        </p:nvSpPr>
        <p:spPr>
          <a:xfrm>
            <a:off x="5924233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3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64" name="文本框 23563"/>
          <p:cNvSpPr txBox="1"/>
          <p:nvPr/>
        </p:nvSpPr>
        <p:spPr>
          <a:xfrm>
            <a:off x="7868920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77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65" name="文本框 23564"/>
          <p:cNvSpPr txBox="1"/>
          <p:nvPr/>
        </p:nvSpPr>
        <p:spPr>
          <a:xfrm>
            <a:off x="6500495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56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66" name="文本框 23565"/>
          <p:cNvSpPr txBox="1"/>
          <p:nvPr/>
        </p:nvSpPr>
        <p:spPr>
          <a:xfrm>
            <a:off x="7221220" y="1345248"/>
            <a:ext cx="719138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39 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67" name="文本框 23566"/>
          <p:cNvSpPr txBox="1"/>
          <p:nvPr/>
        </p:nvSpPr>
        <p:spPr>
          <a:xfrm>
            <a:off x="3763645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39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68" name="文本框 23567"/>
          <p:cNvSpPr txBox="1"/>
          <p:nvPr/>
        </p:nvSpPr>
        <p:spPr>
          <a:xfrm>
            <a:off x="7219633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39 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69" name="文本框 23568"/>
          <p:cNvSpPr txBox="1"/>
          <p:nvPr/>
        </p:nvSpPr>
        <p:spPr>
          <a:xfrm>
            <a:off x="3042920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29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70" name="文本框 23569"/>
          <p:cNvSpPr txBox="1"/>
          <p:nvPr/>
        </p:nvSpPr>
        <p:spPr>
          <a:xfrm>
            <a:off x="7219633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96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71" name="等腰三角形 23570"/>
          <p:cNvSpPr/>
          <p:nvPr/>
        </p:nvSpPr>
        <p:spPr>
          <a:xfrm rot="10800000">
            <a:off x="5492433" y="1129348"/>
            <a:ext cx="215900" cy="2159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2" charset="0"/>
            </a:endParaRPr>
          </a:p>
        </p:txBody>
      </p:sp>
      <p:grpSp>
        <p:nvGrpSpPr>
          <p:cNvPr id="23572" name="组合 23571"/>
          <p:cNvGrpSpPr/>
          <p:nvPr/>
        </p:nvGrpSpPr>
        <p:grpSpPr>
          <a:xfrm>
            <a:off x="3474720" y="2208848"/>
            <a:ext cx="433388" cy="727074"/>
            <a:chOff x="0" y="0"/>
            <a:chExt cx="273" cy="458"/>
          </a:xfrm>
        </p:grpSpPr>
        <p:sp>
          <p:nvSpPr>
            <p:cNvPr id="3" name="文本框 23572"/>
            <p:cNvSpPr txBox="1"/>
            <p:nvPr/>
          </p:nvSpPr>
          <p:spPr>
            <a:xfrm>
              <a:off x="0" y="90"/>
              <a:ext cx="27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Times New Roman" panose="02020603050405020304" pitchFamily="2" charset="0"/>
                </a:rPr>
                <a:t>x</a:t>
              </a:r>
              <a:endParaRPr lang="en-US" altLang="zh-CN" sz="3200" dirty="0">
                <a:solidFill>
                  <a:srgbClr val="FFFF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23573" name="直接连接符 23573"/>
            <p:cNvSpPr/>
            <p:nvPr/>
          </p:nvSpPr>
          <p:spPr>
            <a:xfrm flipV="1">
              <a:off x="136" y="0"/>
              <a:ext cx="0" cy="182"/>
            </a:xfrm>
            <a:prstGeom prst="line">
              <a:avLst/>
            </a:prstGeom>
            <a:ln w="4445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3575" name="文本框 23574"/>
          <p:cNvSpPr txBox="1"/>
          <p:nvPr/>
        </p:nvSpPr>
        <p:spPr>
          <a:xfrm>
            <a:off x="2684145" y="1272223"/>
            <a:ext cx="792163" cy="70675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2" charset="0"/>
              </a:rPr>
              <a:t>a</a:t>
            </a:r>
            <a:endParaRPr lang="en-US" altLang="zh-CN" sz="4000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76" name="文本框 23575"/>
          <p:cNvSpPr txBox="1"/>
          <p:nvPr/>
        </p:nvSpPr>
        <p:spPr>
          <a:xfrm>
            <a:off x="3547745" y="1848485"/>
            <a:ext cx="4318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1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77" name="文本框 23576"/>
          <p:cNvSpPr txBox="1"/>
          <p:nvPr/>
        </p:nvSpPr>
        <p:spPr>
          <a:xfrm>
            <a:off x="4195445" y="1848485"/>
            <a:ext cx="4318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2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78" name="文本框 23577"/>
          <p:cNvSpPr txBox="1"/>
          <p:nvPr/>
        </p:nvSpPr>
        <p:spPr>
          <a:xfrm>
            <a:off x="4843145" y="1848485"/>
            <a:ext cx="4318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3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79" name="文本框 23578"/>
          <p:cNvSpPr txBox="1"/>
          <p:nvPr/>
        </p:nvSpPr>
        <p:spPr>
          <a:xfrm>
            <a:off x="5419408" y="1848485"/>
            <a:ext cx="4318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4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80" name="文本框 23579"/>
          <p:cNvSpPr txBox="1"/>
          <p:nvPr/>
        </p:nvSpPr>
        <p:spPr>
          <a:xfrm>
            <a:off x="5995670" y="1848485"/>
            <a:ext cx="4318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5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81" name="文本框 23580"/>
          <p:cNvSpPr txBox="1"/>
          <p:nvPr/>
        </p:nvSpPr>
        <p:spPr>
          <a:xfrm>
            <a:off x="6643370" y="1848485"/>
            <a:ext cx="4318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6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82" name="文本框 23581"/>
          <p:cNvSpPr txBox="1"/>
          <p:nvPr/>
        </p:nvSpPr>
        <p:spPr>
          <a:xfrm>
            <a:off x="7364095" y="1848485"/>
            <a:ext cx="4318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7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83" name="文本框 23582"/>
          <p:cNvSpPr txBox="1"/>
          <p:nvPr/>
        </p:nvSpPr>
        <p:spPr>
          <a:xfrm>
            <a:off x="7940358" y="1848485"/>
            <a:ext cx="4318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8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84" name="文本框 23583"/>
          <p:cNvSpPr txBox="1"/>
          <p:nvPr/>
        </p:nvSpPr>
        <p:spPr>
          <a:xfrm>
            <a:off x="2611120" y="1848485"/>
            <a:ext cx="6477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2" charset="0"/>
              </a:rPr>
              <a:t>下标</a:t>
            </a:r>
            <a:endParaRPr lang="zh-CN" altLang="en-US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85" name="文本框 23584"/>
          <p:cNvSpPr txBox="1"/>
          <p:nvPr/>
        </p:nvSpPr>
        <p:spPr>
          <a:xfrm>
            <a:off x="4050983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96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86" name="文本框 23585"/>
          <p:cNvSpPr txBox="1"/>
          <p:nvPr/>
        </p:nvSpPr>
        <p:spPr>
          <a:xfrm>
            <a:off x="5276533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56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87" name="文本框 23586"/>
          <p:cNvSpPr txBox="1"/>
          <p:nvPr/>
        </p:nvSpPr>
        <p:spPr>
          <a:xfrm>
            <a:off x="6067108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3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88" name="文本框 23587"/>
          <p:cNvSpPr txBox="1"/>
          <p:nvPr/>
        </p:nvSpPr>
        <p:spPr>
          <a:xfrm>
            <a:off x="6500495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56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23589" name="组合 23588"/>
          <p:cNvGrpSpPr/>
          <p:nvPr/>
        </p:nvGrpSpPr>
        <p:grpSpPr>
          <a:xfrm>
            <a:off x="7867333" y="2208848"/>
            <a:ext cx="433387" cy="727074"/>
            <a:chOff x="0" y="0"/>
            <a:chExt cx="273" cy="458"/>
          </a:xfrm>
        </p:grpSpPr>
        <p:sp>
          <p:nvSpPr>
            <p:cNvPr id="4" name="文本框 23589"/>
            <p:cNvSpPr txBox="1"/>
            <p:nvPr/>
          </p:nvSpPr>
          <p:spPr>
            <a:xfrm>
              <a:off x="0" y="90"/>
              <a:ext cx="27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Times New Roman" panose="02020603050405020304" pitchFamily="2" charset="0"/>
                </a:rPr>
                <a:t>y</a:t>
              </a:r>
              <a:endParaRPr lang="en-US" altLang="zh-CN" sz="3200" dirty="0">
                <a:solidFill>
                  <a:srgbClr val="FFFF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23590" name="直接连接符 23590"/>
            <p:cNvSpPr/>
            <p:nvPr/>
          </p:nvSpPr>
          <p:spPr>
            <a:xfrm flipV="1">
              <a:off x="136" y="0"/>
              <a:ext cx="0" cy="182"/>
            </a:xfrm>
            <a:prstGeom prst="line">
              <a:avLst/>
            </a:prstGeom>
            <a:ln w="4445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3592" name="文本框 23591"/>
          <p:cNvSpPr txBox="1"/>
          <p:nvPr/>
        </p:nvSpPr>
        <p:spPr>
          <a:xfrm>
            <a:off x="4555808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18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593" name="文本框 23592"/>
          <p:cNvSpPr txBox="1"/>
          <p:nvPr/>
        </p:nvSpPr>
        <p:spPr>
          <a:xfrm>
            <a:off x="5274945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56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94" name="文本框 23593"/>
          <p:cNvSpPr txBox="1"/>
          <p:nvPr/>
        </p:nvSpPr>
        <p:spPr>
          <a:xfrm>
            <a:off x="7003733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77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95" name="文本框 23594"/>
          <p:cNvSpPr txBox="1"/>
          <p:nvPr/>
        </p:nvSpPr>
        <p:spPr>
          <a:xfrm>
            <a:off x="5518785" y="1493203"/>
            <a:ext cx="86518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x-none" sz="3600" b="1" noProof="1" dirty="0">
                <a:solidFill>
                  <a:srgbClr val="FF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56</a:t>
            </a:r>
            <a:endParaRPr lang="en-US" altLang="x-none" sz="3600" b="1" noProof="1" dirty="0">
              <a:solidFill>
                <a:srgbClr val="FF00FF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3596" name="文本框 23595"/>
          <p:cNvSpPr txBox="1"/>
          <p:nvPr/>
        </p:nvSpPr>
        <p:spPr>
          <a:xfrm>
            <a:off x="4050983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39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97" name="文本框 23596"/>
          <p:cNvSpPr txBox="1"/>
          <p:nvPr/>
        </p:nvSpPr>
        <p:spPr>
          <a:xfrm>
            <a:off x="6500495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56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98" name="文本框 23597"/>
          <p:cNvSpPr txBox="1"/>
          <p:nvPr/>
        </p:nvSpPr>
        <p:spPr>
          <a:xfrm>
            <a:off x="5276533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56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599" name="文本框 23598"/>
          <p:cNvSpPr txBox="1"/>
          <p:nvPr/>
        </p:nvSpPr>
        <p:spPr>
          <a:xfrm>
            <a:off x="4411345" y="2497773"/>
            <a:ext cx="863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x-none" sz="3600" b="1" noProof="1" dirty="0">
                <a:solidFill>
                  <a:srgbClr val="FF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18</a:t>
            </a:r>
            <a:endParaRPr lang="en-US" altLang="x-none" sz="3600" b="1" noProof="1" dirty="0">
              <a:solidFill>
                <a:srgbClr val="FF00FF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3600" name="文本框 23599"/>
          <p:cNvSpPr txBox="1"/>
          <p:nvPr/>
        </p:nvSpPr>
        <p:spPr>
          <a:xfrm>
            <a:off x="6500495" y="134524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56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601" name="文本框 23600"/>
          <p:cNvSpPr txBox="1"/>
          <p:nvPr/>
        </p:nvSpPr>
        <p:spPr>
          <a:xfrm>
            <a:off x="3187383" y="3505835"/>
            <a:ext cx="504825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1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602" name="文本框 23601"/>
          <p:cNvSpPr txBox="1"/>
          <p:nvPr/>
        </p:nvSpPr>
        <p:spPr>
          <a:xfrm>
            <a:off x="3906520" y="3505835"/>
            <a:ext cx="504825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2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603" name="文本框 23602"/>
          <p:cNvSpPr txBox="1"/>
          <p:nvPr/>
        </p:nvSpPr>
        <p:spPr>
          <a:xfrm>
            <a:off x="4771708" y="3505835"/>
            <a:ext cx="504825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3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604" name="文本框 23603"/>
          <p:cNvSpPr txBox="1"/>
          <p:nvPr/>
        </p:nvSpPr>
        <p:spPr>
          <a:xfrm>
            <a:off x="5419408" y="3505835"/>
            <a:ext cx="504825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4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3605" name="文本框 23604"/>
          <p:cNvSpPr txBox="1"/>
          <p:nvPr/>
        </p:nvSpPr>
        <p:spPr>
          <a:xfrm>
            <a:off x="6138545" y="3505835"/>
            <a:ext cx="504825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2" charset="0"/>
              </a:rPr>
              <a:t>5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23606" name="组合 23605"/>
          <p:cNvGrpSpPr/>
          <p:nvPr/>
        </p:nvGrpSpPr>
        <p:grpSpPr>
          <a:xfrm>
            <a:off x="3187383" y="3793173"/>
            <a:ext cx="433387" cy="727074"/>
            <a:chOff x="0" y="0"/>
            <a:chExt cx="273" cy="458"/>
          </a:xfrm>
        </p:grpSpPr>
        <p:sp>
          <p:nvSpPr>
            <p:cNvPr id="5" name="文本框 23606"/>
            <p:cNvSpPr txBox="1"/>
            <p:nvPr/>
          </p:nvSpPr>
          <p:spPr>
            <a:xfrm>
              <a:off x="0" y="90"/>
              <a:ext cx="27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Times New Roman" panose="02020603050405020304" pitchFamily="2" charset="0"/>
                </a:rPr>
                <a:t>x</a:t>
              </a:r>
              <a:endParaRPr lang="en-US" altLang="zh-CN" sz="3200" dirty="0">
                <a:solidFill>
                  <a:srgbClr val="FFFF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23607" name="直接连接符 23607"/>
            <p:cNvSpPr/>
            <p:nvPr/>
          </p:nvSpPr>
          <p:spPr>
            <a:xfrm flipV="1">
              <a:off x="136" y="0"/>
              <a:ext cx="0" cy="182"/>
            </a:xfrm>
            <a:prstGeom prst="line">
              <a:avLst/>
            </a:prstGeom>
            <a:ln w="4445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3609" name="组合 23608"/>
          <p:cNvGrpSpPr/>
          <p:nvPr/>
        </p:nvGrpSpPr>
        <p:grpSpPr>
          <a:xfrm>
            <a:off x="6138545" y="3793173"/>
            <a:ext cx="433388" cy="727074"/>
            <a:chOff x="0" y="0"/>
            <a:chExt cx="273" cy="458"/>
          </a:xfrm>
        </p:grpSpPr>
        <p:sp>
          <p:nvSpPr>
            <p:cNvPr id="6" name="文本框 23609"/>
            <p:cNvSpPr txBox="1"/>
            <p:nvPr/>
          </p:nvSpPr>
          <p:spPr>
            <a:xfrm>
              <a:off x="0" y="90"/>
              <a:ext cx="27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FF00"/>
                  </a:solidFill>
                  <a:latin typeface="Times New Roman" panose="02020603050405020304" pitchFamily="2" charset="0"/>
                </a:rPr>
                <a:t>y</a:t>
              </a:r>
              <a:endParaRPr lang="en-US" altLang="zh-CN" sz="3200" dirty="0">
                <a:solidFill>
                  <a:srgbClr val="FFFF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23610" name="直接连接符 23610"/>
            <p:cNvSpPr/>
            <p:nvPr/>
          </p:nvSpPr>
          <p:spPr>
            <a:xfrm flipV="1">
              <a:off x="136" y="0"/>
              <a:ext cx="0" cy="182"/>
            </a:xfrm>
            <a:prstGeom prst="line">
              <a:avLst/>
            </a:prstGeom>
            <a:ln w="4445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3612" name="文本框 23611"/>
          <p:cNvSpPr txBox="1"/>
          <p:nvPr/>
        </p:nvSpPr>
        <p:spPr>
          <a:xfrm>
            <a:off x="5995670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29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613" name="文本框 23612"/>
          <p:cNvSpPr txBox="1"/>
          <p:nvPr/>
        </p:nvSpPr>
        <p:spPr>
          <a:xfrm>
            <a:off x="3114358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3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614" name="文本框 23613"/>
          <p:cNvSpPr txBox="1"/>
          <p:nvPr/>
        </p:nvSpPr>
        <p:spPr>
          <a:xfrm>
            <a:off x="3763645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18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615" name="文本框 23614"/>
          <p:cNvSpPr txBox="1"/>
          <p:nvPr/>
        </p:nvSpPr>
        <p:spPr>
          <a:xfrm>
            <a:off x="4555808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39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616" name="文本框 23615"/>
          <p:cNvSpPr txBox="1"/>
          <p:nvPr/>
        </p:nvSpPr>
        <p:spPr>
          <a:xfrm>
            <a:off x="3763645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18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617" name="右大括号 23616"/>
          <p:cNvSpPr/>
          <p:nvPr/>
        </p:nvSpPr>
        <p:spPr>
          <a:xfrm rot="5400000">
            <a:off x="4698683" y="1056323"/>
            <a:ext cx="358775" cy="2520950"/>
          </a:xfrm>
          <a:prstGeom prst="rightBrace">
            <a:avLst>
              <a:gd name="adj1" fmla="val 58261"/>
              <a:gd name="adj2" fmla="val 47792"/>
            </a:avLst>
          </a:prstGeom>
          <a:noFill/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23618" name="文本框 23617"/>
          <p:cNvSpPr txBox="1"/>
          <p:nvPr/>
        </p:nvSpPr>
        <p:spPr>
          <a:xfrm>
            <a:off x="7867333" y="3001010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96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619" name="文本框 23618"/>
          <p:cNvSpPr txBox="1"/>
          <p:nvPr/>
        </p:nvSpPr>
        <p:spPr>
          <a:xfrm>
            <a:off x="4698683" y="4585335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39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620" name="文本框 23619"/>
          <p:cNvSpPr txBox="1"/>
          <p:nvPr/>
        </p:nvSpPr>
        <p:spPr>
          <a:xfrm>
            <a:off x="5419408" y="4585335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29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sp>
        <p:nvSpPr>
          <p:cNvPr id="23621" name="文本框 23620"/>
          <p:cNvSpPr txBox="1"/>
          <p:nvPr/>
        </p:nvSpPr>
        <p:spPr>
          <a:xfrm>
            <a:off x="6138545" y="4585335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56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622" name="文本框 23621"/>
          <p:cNvSpPr txBox="1"/>
          <p:nvPr/>
        </p:nvSpPr>
        <p:spPr>
          <a:xfrm>
            <a:off x="5419408" y="580929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  <a:latin typeface="Times New Roman" panose="02020603050405020304" pitchFamily="2" charset="0"/>
              </a:rPr>
              <a:t>39</a:t>
            </a:r>
            <a:endParaRPr lang="en-US" altLang="zh-CN" sz="3200" b="1" dirty="0">
              <a:solidFill>
                <a:srgbClr val="00FFFF"/>
              </a:solidFill>
              <a:latin typeface="Times New Roman" panose="02020603050405020304" pitchFamily="2" charset="0"/>
            </a:endParaRPr>
          </a:p>
        </p:txBody>
      </p:sp>
      <p:sp>
        <p:nvSpPr>
          <p:cNvPr id="23623" name="右大括号 23622"/>
          <p:cNvSpPr/>
          <p:nvPr/>
        </p:nvSpPr>
        <p:spPr>
          <a:xfrm rot="5400000">
            <a:off x="7722870" y="1848485"/>
            <a:ext cx="358775" cy="936625"/>
          </a:xfrm>
          <a:prstGeom prst="rightBrace">
            <a:avLst>
              <a:gd name="adj1" fmla="val 21646"/>
              <a:gd name="adj2" fmla="val 49995"/>
            </a:avLst>
          </a:prstGeom>
          <a:noFill/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23624" name="右大括号 23623"/>
          <p:cNvSpPr/>
          <p:nvPr/>
        </p:nvSpPr>
        <p:spPr>
          <a:xfrm rot="5400000">
            <a:off x="5416233" y="3358198"/>
            <a:ext cx="361950" cy="1657350"/>
          </a:xfrm>
          <a:prstGeom prst="rightBrace">
            <a:avLst>
              <a:gd name="adj1" fmla="val 37967"/>
              <a:gd name="adj2" fmla="val 45347"/>
            </a:avLst>
          </a:prstGeom>
          <a:noFill/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23625" name="右大括号 23624"/>
          <p:cNvSpPr/>
          <p:nvPr/>
        </p:nvSpPr>
        <p:spPr>
          <a:xfrm rot="5400000">
            <a:off x="5166995" y="4766310"/>
            <a:ext cx="360363" cy="1150938"/>
          </a:xfrm>
          <a:prstGeom prst="rightBrace">
            <a:avLst>
              <a:gd name="adj1" fmla="val 26482"/>
              <a:gd name="adj2" fmla="val 45347"/>
            </a:avLst>
          </a:prstGeom>
          <a:noFill/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23626" name="文本框 23625"/>
          <p:cNvSpPr txBox="1"/>
          <p:nvPr/>
        </p:nvSpPr>
        <p:spPr>
          <a:xfrm>
            <a:off x="4698683" y="5809298"/>
            <a:ext cx="647700" cy="58356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</a:rPr>
              <a:t>29</a:t>
            </a:r>
            <a:endParaRPr lang="en-US" altLang="zh-CN" sz="3200" b="1" dirty="0">
              <a:latin typeface="Times New Roman" panose="02020603050405020304" pitchFamily="2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quick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快速排序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0.07084 -3.33333E-6 " pathEditMode="relative" ptsTypes="AA">
                                      <p:cBhvr>
                                        <p:cTn id="84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22222E-6 L -0.06302 2.22222E-6 " pathEditMode="relative" ptsTypes="AA">
                                      <p:cBhvr>
                                        <p:cTn id="98" dur="500" fill="hold"/>
                                        <p:tgtEl>
                                          <p:spTgt spid="235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3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3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4 2.22222E-6 L 0.14167 2.22222E-6 " pathEditMode="relative" ptsTypes="AA">
                                      <p:cBhvr>
                                        <p:cTn id="121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167 2.22222E-6 L 0.20469 2.22222E-6 " pathEditMode="relative" ptsTypes="AA">
                                      <p:cBhvr>
                                        <p:cTn id="125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02 2.22222E-6 L -0.14184 2.22222E-6 " pathEditMode="relative" ptsTypes="AA">
                                      <p:cBhvr>
                                        <p:cTn id="134" dur="500" fill="hold"/>
                                        <p:tgtEl>
                                          <p:spTgt spid="235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3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3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3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3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3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3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469 2.22222E-6 L 0.26771 2.22222E-6 " pathEditMode="relative" ptsTypes="AA">
                                      <p:cBhvr>
                                        <p:cTn id="157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771 2.22222E-6 L 0.33854 2.22222E-6 " pathEditMode="relative" ptsTypes="AA">
                                      <p:cBhvr>
                                        <p:cTn id="161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184 2.22222E-6 L -0.21267 2.22222E-6 " pathEditMode="relative" ptsTypes="AA">
                                      <p:cBhvr>
                                        <p:cTn id="165" dur="500" fill="hold"/>
                                        <p:tgtEl>
                                          <p:spTgt spid="235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9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2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2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2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8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1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4" dur="500"/>
                                        <p:tgtEl>
                                          <p:spTgt spid="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0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3" dur="500"/>
                                        <p:tgtEl>
                                          <p:spTgt spid="2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9" dur="500"/>
                                        <p:tgtEl>
                                          <p:spTgt spid="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2" dur="500"/>
                                        <p:tgtEl>
                                          <p:spTgt spid="2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5" dur="500"/>
                                        <p:tgtEl>
                                          <p:spTgt spid="2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0" dur="500"/>
                                        <p:tgtEl>
                                          <p:spTgt spid="2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5" dur="500"/>
                                        <p:tgtEl>
                                          <p:spTgt spid="2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0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5" dur="500"/>
                                        <p:tgtEl>
                                          <p:spTgt spid="2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0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236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3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23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23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23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2.96296E-6 L 0.07084 -2.96296E-6 " pathEditMode="relative" rAng="0" ptsTypes="AA">
                                      <p:cBhvr>
                                        <p:cTn id="258" dur="500" fill="hold"/>
                                        <p:tgtEl>
                                          <p:spTgt spid="236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3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1.85185E-6 L -0.07882 -1.85185E-6 " pathEditMode="relative" ptsTypes="AA">
                                      <p:cBhvr>
                                        <p:cTn id="267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82 3.7037E-6 L -0.15764 3.7037E-6 " pathEditMode="relative" ptsTypes="AA">
                                      <p:cBhvr>
                                        <p:cTn id="271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6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23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23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236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23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23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4 3.7037E-6 L 0.16528 3.7037E-6 " pathEditMode="relative" ptsTypes="AA">
                                      <p:cBhvr>
                                        <p:cTn id="294" dur="500" fill="hold"/>
                                        <p:tgtEl>
                                          <p:spTgt spid="236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764 3.7037E-6 L -0.25208 3.7037E-6 " pathEditMode="relative" ptsTypes="AA">
                                      <p:cBhvr>
                                        <p:cTn id="298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2" dur="500"/>
                                        <p:tgtEl>
                                          <p:spTgt spid="23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5" dur="500"/>
                                        <p:tgtEl>
                                          <p:spTgt spid="23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1" dur="500"/>
                                        <p:tgtEl>
                                          <p:spTgt spid="2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6" dur="500"/>
                                        <p:tgtEl>
                                          <p:spTgt spid="2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1" dur="500"/>
                                        <p:tgtEl>
                                          <p:spTgt spid="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4" dur="500"/>
                                        <p:tgtEl>
                                          <p:spTgt spid="2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9" dur="500"/>
                                        <p:tgtEl>
                                          <p:spTgt spid="2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4" dur="500"/>
                                        <p:tgtEl>
                                          <p:spTgt spid="2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7" dur="500"/>
                                        <p:tgtEl>
                                          <p:spTgt spid="2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0" dur="500"/>
                                        <p:tgtEl>
                                          <p:spTgt spid="2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5" dur="500"/>
                                        <p:tgtEl>
                                          <p:spTgt spid="2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0" dur="500"/>
                                        <p:tgtEl>
                                          <p:spTgt spid="2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3" dur="500"/>
                                        <p:tgtEl>
                                          <p:spTgt spid="2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ldLvl="0" animBg="1"/>
      <p:bldP spid="23555" grpId="0" bldLvl="0" animBg="1"/>
      <p:bldP spid="23556" grpId="0" bldLvl="0" animBg="1"/>
      <p:bldP spid="23557" grpId="0" bldLvl="0" animBg="1"/>
      <p:bldP spid="23559" grpId="0" bldLvl="0" animBg="1"/>
      <p:bldP spid="23560" grpId="0" bldLvl="0" animBg="1"/>
      <p:bldP spid="23561" grpId="0" bldLvl="0" animBg="1"/>
      <p:bldP spid="23562" grpId="0" bldLvl="0" animBg="1"/>
      <p:bldP spid="23563" grpId="0" bldLvl="0" animBg="1"/>
      <p:bldP spid="23564" grpId="0" bldLvl="0" animBg="1"/>
      <p:bldP spid="23565" grpId="0" bldLvl="0" animBg="1"/>
      <p:bldP spid="23566" grpId="0" bldLvl="0" animBg="1"/>
      <p:bldP spid="23567" grpId="0" bldLvl="0" animBg="1"/>
      <p:bldP spid="23568" grpId="0" bldLvl="0" animBg="1"/>
      <p:bldP spid="23569" grpId="0" bldLvl="0" animBg="1"/>
      <p:bldP spid="23570" grpId="0" bldLvl="0" animBg="1"/>
      <p:bldP spid="23575" grpId="0"/>
      <p:bldP spid="23576" grpId="0"/>
      <p:bldP spid="23577" grpId="0"/>
      <p:bldP spid="23578" grpId="0"/>
      <p:bldP spid="23579" grpId="0"/>
      <p:bldP spid="23580" grpId="0"/>
      <p:bldP spid="23581" grpId="0"/>
      <p:bldP spid="23582" grpId="0"/>
      <p:bldP spid="23583" grpId="0"/>
      <p:bldP spid="23584" grpId="0"/>
      <p:bldP spid="23585" grpId="0" bldLvl="0" animBg="1"/>
      <p:bldP spid="23586" grpId="0" bldLvl="0" animBg="1"/>
      <p:bldP spid="23587" grpId="0" bldLvl="0" animBg="1"/>
      <p:bldP spid="23588" grpId="0" bldLvl="0" animBg="1"/>
      <p:bldP spid="23592" grpId="0" bldLvl="0" animBg="1"/>
      <p:bldP spid="23593" grpId="0" bldLvl="0" animBg="1"/>
      <p:bldP spid="23594" grpId="0" bldLvl="0" animBg="1"/>
      <p:bldP spid="23595" grpId="0"/>
      <p:bldP spid="23596" grpId="0" bldLvl="0" animBg="1"/>
      <p:bldP spid="23597" grpId="0" bldLvl="0" animBg="1"/>
      <p:bldP spid="23598" grpId="0" bldLvl="0" animBg="1"/>
      <p:bldP spid="23599" grpId="0"/>
      <p:bldP spid="23600" grpId="0" bldLvl="0" animBg="1"/>
      <p:bldP spid="23601" grpId="0"/>
      <p:bldP spid="23602" grpId="0"/>
      <p:bldP spid="23603" grpId="0"/>
      <p:bldP spid="23604" grpId="0"/>
      <p:bldP spid="23605" grpId="0"/>
      <p:bldP spid="23612" grpId="0" bldLvl="0" animBg="1"/>
      <p:bldP spid="23613" grpId="0" bldLvl="0" animBg="1"/>
      <p:bldP spid="23614" grpId="0" bldLvl="0" animBg="1"/>
      <p:bldP spid="23615" grpId="0" bldLvl="0" animBg="1"/>
      <p:bldP spid="23616" grpId="0" bldLvl="0" animBg="1"/>
      <p:bldP spid="23618" grpId="0" bldLvl="0" animBg="1"/>
      <p:bldP spid="23619" grpId="0" bldLvl="0" animBg="1"/>
      <p:bldP spid="23620" grpId="0" bldLvl="0" animBg="1"/>
      <p:bldP spid="23621" grpId="0" bldLvl="0" animBg="1"/>
      <p:bldP spid="23622" grpId="0" bldLvl="0" animBg="1"/>
      <p:bldP spid="23626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quick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快速排序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469515" y="1735455"/>
            <a:ext cx="58559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快速排序特点：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稳定性：不稳定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平均时间复杂度：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O(nlog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n)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简单选择排序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4870" y="1348105"/>
            <a:ext cx="10311765" cy="4227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简单选择排序    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60000"/>
              </a:lnSpc>
            </a:pP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	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是一种简单直观的排序算法，他的基本原理是：对于给定的一组记录，经过第一轮比较后得到最小的记录，然后将记录与第一个记录的位置进行交换；接着对不包括第一个记录以外的其他记录进行第二轮排序，得到最小的记录并与第二个记录进行位置交换；重负该过程，直到进行比较的记录只有一个为止。</a:t>
            </a:r>
            <a:endParaRPr lang="zh-CN" altLang="en-US" sz="2800" dirty="0">
              <a:solidFill>
                <a:schemeClr val="bg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5" name="标题 26625"/>
          <p:cNvSpPr>
            <a:spLocks noGrp="1"/>
          </p:cNvSpPr>
          <p:nvPr>
            <p:ph type="title"/>
          </p:nvPr>
        </p:nvSpPr>
        <p:spPr>
          <a:xfrm>
            <a:off x="1631950" y="188913"/>
            <a:ext cx="7210425" cy="417512"/>
          </a:xfrm>
        </p:spPr>
        <p:txBody>
          <a:bodyPr anchor="ctr">
            <a:normAutofit fontScale="90000"/>
          </a:bodyPr>
          <a:p>
            <a:r>
              <a:rPr lang="zh-CN" altLang="en-US" sz="3800" dirty="0">
                <a:ea typeface="黑体" panose="02010609060101010101" pitchFamily="2" charset="-122"/>
              </a:rPr>
              <a:t> </a:t>
            </a:r>
            <a:endParaRPr lang="zh-CN" altLang="en-US" sz="3800" dirty="0">
              <a:ea typeface="黑体" panose="02010609060101010101" pitchFamily="2" charset="-122"/>
            </a:endParaRPr>
          </a:p>
        </p:txBody>
      </p:sp>
      <p:graphicFrame>
        <p:nvGraphicFramePr>
          <p:cNvPr id="26627" name="表格 26626"/>
          <p:cNvGraphicFramePr/>
          <p:nvPr/>
        </p:nvGraphicFramePr>
        <p:xfrm>
          <a:off x="3447098" y="1292860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643" name="表格 26642"/>
          <p:cNvGraphicFramePr/>
          <p:nvPr/>
        </p:nvGraphicFramePr>
        <p:xfrm>
          <a:off x="3447098" y="1292860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29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659" name="燕尾形箭头 26658"/>
          <p:cNvSpPr/>
          <p:nvPr/>
        </p:nvSpPr>
        <p:spPr>
          <a:xfrm rot="5400000">
            <a:off x="4417060" y="822960"/>
            <a:ext cx="361950" cy="288925"/>
          </a:xfrm>
          <a:prstGeom prst="notchedRightArrow">
            <a:avLst>
              <a:gd name="adj1" fmla="val 50000"/>
              <a:gd name="adj2" fmla="val 31266"/>
            </a:avLst>
          </a:prstGeom>
          <a:solidFill>
            <a:srgbClr val="FF660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2" charset="0"/>
            </a:endParaRPr>
          </a:p>
        </p:txBody>
      </p:sp>
      <p:graphicFrame>
        <p:nvGraphicFramePr>
          <p:cNvPr id="26660" name="表格 26659"/>
          <p:cNvGraphicFramePr/>
          <p:nvPr/>
        </p:nvGraphicFramePr>
        <p:xfrm>
          <a:off x="3447098" y="1292860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676" name="表格 26675"/>
          <p:cNvGraphicFramePr/>
          <p:nvPr/>
        </p:nvGraphicFramePr>
        <p:xfrm>
          <a:off x="3447098" y="1292860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18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692" name="表格 26691"/>
          <p:cNvGraphicFramePr/>
          <p:nvPr/>
        </p:nvGraphicFramePr>
        <p:xfrm>
          <a:off x="3447098" y="1292860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708" name="表格 26707"/>
          <p:cNvGraphicFramePr/>
          <p:nvPr/>
        </p:nvGraphicFramePr>
        <p:xfrm>
          <a:off x="3447098" y="2373948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724" name="燕尾形箭头 26723"/>
          <p:cNvSpPr/>
          <p:nvPr/>
        </p:nvSpPr>
        <p:spPr>
          <a:xfrm rot="5400000">
            <a:off x="5210810" y="2046923"/>
            <a:ext cx="358775" cy="288925"/>
          </a:xfrm>
          <a:prstGeom prst="notchedRightArrow">
            <a:avLst>
              <a:gd name="adj1" fmla="val 50000"/>
              <a:gd name="adj2" fmla="val 30992"/>
            </a:avLst>
          </a:prstGeom>
          <a:solidFill>
            <a:srgbClr val="FF660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2" charset="0"/>
            </a:endParaRPr>
          </a:p>
        </p:txBody>
      </p:sp>
      <p:graphicFrame>
        <p:nvGraphicFramePr>
          <p:cNvPr id="26725" name="表格 26724"/>
          <p:cNvGraphicFramePr/>
          <p:nvPr/>
        </p:nvGraphicFramePr>
        <p:xfrm>
          <a:off x="3447098" y="2373948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741" name="文本框 26740"/>
          <p:cNvSpPr txBox="1"/>
          <p:nvPr/>
        </p:nvSpPr>
        <p:spPr>
          <a:xfrm>
            <a:off x="8200073" y="1364298"/>
            <a:ext cx="1512887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2" charset="0"/>
              </a:rPr>
              <a:t>第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2" charset="0"/>
              </a:rPr>
              <a:t>1</a:t>
            </a:r>
            <a:r>
              <a:rPr lang="zh-CN" altLang="en-US" sz="2400" dirty="0">
                <a:latin typeface="Times New Roman" panose="02020603050405020304" pitchFamily="2" charset="0"/>
              </a:rPr>
              <a:t>趟</a:t>
            </a:r>
            <a:endParaRPr lang="zh-CN" altLang="en-US" sz="2400" dirty="0">
              <a:latin typeface="Times New Roman" panose="02020603050405020304" pitchFamily="2" charset="0"/>
            </a:endParaRPr>
          </a:p>
        </p:txBody>
      </p:sp>
      <p:graphicFrame>
        <p:nvGraphicFramePr>
          <p:cNvPr id="26742" name="表格 26741"/>
          <p:cNvGraphicFramePr/>
          <p:nvPr/>
        </p:nvGraphicFramePr>
        <p:xfrm>
          <a:off x="3447098" y="3524885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758" name="文本框 26757"/>
          <p:cNvSpPr txBox="1"/>
          <p:nvPr/>
        </p:nvSpPr>
        <p:spPr>
          <a:xfrm>
            <a:off x="8271510" y="2443798"/>
            <a:ext cx="1514475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2" charset="0"/>
              </a:rPr>
              <a:t>第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2" charset="0"/>
              </a:rPr>
              <a:t>2</a:t>
            </a:r>
            <a:r>
              <a:rPr lang="zh-CN" altLang="en-US" sz="2400" dirty="0">
                <a:latin typeface="Times New Roman" panose="02020603050405020304" pitchFamily="2" charset="0"/>
              </a:rPr>
              <a:t>趟</a:t>
            </a:r>
            <a:endParaRPr lang="zh-CN" altLang="en-US" sz="2400" dirty="0">
              <a:latin typeface="Times New Roman" panose="02020603050405020304" pitchFamily="2" charset="0"/>
            </a:endParaRPr>
          </a:p>
        </p:txBody>
      </p:sp>
      <p:sp>
        <p:nvSpPr>
          <p:cNvPr id="26759" name="燕尾形箭头 26758"/>
          <p:cNvSpPr/>
          <p:nvPr/>
        </p:nvSpPr>
        <p:spPr>
          <a:xfrm rot="5400000">
            <a:off x="6002973" y="3128010"/>
            <a:ext cx="358775" cy="285750"/>
          </a:xfrm>
          <a:prstGeom prst="notchedRightArrow">
            <a:avLst>
              <a:gd name="adj1" fmla="val 50000"/>
              <a:gd name="adj2" fmla="val 31336"/>
            </a:avLst>
          </a:prstGeom>
          <a:solidFill>
            <a:srgbClr val="FF660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26760" name="燕尾形箭头 26759"/>
          <p:cNvSpPr/>
          <p:nvPr/>
        </p:nvSpPr>
        <p:spPr>
          <a:xfrm rot="5400000">
            <a:off x="7585710" y="5431473"/>
            <a:ext cx="358775" cy="288925"/>
          </a:xfrm>
          <a:prstGeom prst="notchedRightArrow">
            <a:avLst>
              <a:gd name="adj1" fmla="val 50000"/>
              <a:gd name="adj2" fmla="val 30992"/>
            </a:avLst>
          </a:prstGeom>
          <a:solidFill>
            <a:srgbClr val="FF660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26761" name="燕尾形箭头 26760"/>
          <p:cNvSpPr/>
          <p:nvPr/>
        </p:nvSpPr>
        <p:spPr>
          <a:xfrm rot="5400000">
            <a:off x="6795135" y="4278948"/>
            <a:ext cx="358775" cy="288925"/>
          </a:xfrm>
          <a:prstGeom prst="notchedRightArrow">
            <a:avLst>
              <a:gd name="adj1" fmla="val 50000"/>
              <a:gd name="adj2" fmla="val 30992"/>
            </a:avLst>
          </a:prstGeom>
          <a:solidFill>
            <a:srgbClr val="FF660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2" charset="0"/>
            </a:endParaRPr>
          </a:p>
        </p:txBody>
      </p:sp>
      <p:graphicFrame>
        <p:nvGraphicFramePr>
          <p:cNvPr id="26762" name="表格 26761"/>
          <p:cNvGraphicFramePr/>
          <p:nvPr/>
        </p:nvGraphicFramePr>
        <p:xfrm>
          <a:off x="3447098" y="3524885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778" name="表格 26777"/>
          <p:cNvGraphicFramePr/>
          <p:nvPr/>
        </p:nvGraphicFramePr>
        <p:xfrm>
          <a:off x="3447098" y="3524885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794" name="表格 26793"/>
          <p:cNvGraphicFramePr/>
          <p:nvPr/>
        </p:nvGraphicFramePr>
        <p:xfrm>
          <a:off x="3447098" y="3524885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27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810" name="表格 26809"/>
          <p:cNvGraphicFramePr/>
          <p:nvPr/>
        </p:nvGraphicFramePr>
        <p:xfrm>
          <a:off x="3447098" y="4677410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826" name="文本框 26825"/>
          <p:cNvSpPr txBox="1"/>
          <p:nvPr/>
        </p:nvSpPr>
        <p:spPr>
          <a:xfrm>
            <a:off x="8271510" y="3596323"/>
            <a:ext cx="1514475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2" charset="0"/>
              </a:rPr>
              <a:t>第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2" charset="0"/>
              </a:rPr>
              <a:t>3</a:t>
            </a:r>
            <a:r>
              <a:rPr lang="zh-CN" altLang="en-US" sz="2400" dirty="0">
                <a:latin typeface="Times New Roman" panose="02020603050405020304" pitchFamily="2" charset="0"/>
              </a:rPr>
              <a:t>趟</a:t>
            </a:r>
            <a:endParaRPr lang="zh-CN" altLang="en-US" sz="2400" dirty="0">
              <a:latin typeface="Times New Roman" panose="02020603050405020304" pitchFamily="2" charset="0"/>
            </a:endParaRPr>
          </a:p>
        </p:txBody>
      </p:sp>
      <p:graphicFrame>
        <p:nvGraphicFramePr>
          <p:cNvPr id="26827" name="表格 26826"/>
          <p:cNvGraphicFramePr/>
          <p:nvPr/>
        </p:nvGraphicFramePr>
        <p:xfrm>
          <a:off x="3447098" y="4677410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843" name="表格 26842"/>
          <p:cNvGraphicFramePr/>
          <p:nvPr/>
        </p:nvGraphicFramePr>
        <p:xfrm>
          <a:off x="3447098" y="4677410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859" name="表格 26858"/>
          <p:cNvGraphicFramePr/>
          <p:nvPr/>
        </p:nvGraphicFramePr>
        <p:xfrm>
          <a:off x="3447098" y="5756910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87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56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875" name="文本框 26874"/>
          <p:cNvSpPr txBox="1"/>
          <p:nvPr/>
        </p:nvSpPr>
        <p:spPr>
          <a:xfrm>
            <a:off x="8200073" y="4748848"/>
            <a:ext cx="1514475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2" charset="0"/>
              </a:rPr>
              <a:t>第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2" charset="0"/>
              </a:rPr>
              <a:t>4</a:t>
            </a:r>
            <a:r>
              <a:rPr lang="zh-CN" altLang="en-US" sz="2400" dirty="0">
                <a:latin typeface="Times New Roman" panose="02020603050405020304" pitchFamily="2" charset="0"/>
              </a:rPr>
              <a:t>趟</a:t>
            </a:r>
            <a:endParaRPr lang="zh-CN" altLang="en-US" sz="2400" dirty="0">
              <a:latin typeface="Times New Roman" panose="02020603050405020304" pitchFamily="2" charset="0"/>
            </a:endParaRPr>
          </a:p>
        </p:txBody>
      </p:sp>
      <p:graphicFrame>
        <p:nvGraphicFramePr>
          <p:cNvPr id="26876" name="表格 26875"/>
          <p:cNvGraphicFramePr/>
          <p:nvPr/>
        </p:nvGraphicFramePr>
        <p:xfrm>
          <a:off x="3447098" y="5756910"/>
          <a:ext cx="4690745" cy="609600"/>
        </p:xfrm>
        <a:graphic>
          <a:graphicData uri="http://schemas.openxmlformats.org/drawingml/2006/table">
            <a:tbl>
              <a:tblPr/>
              <a:tblGrid>
                <a:gridCol w="782955"/>
                <a:gridCol w="779145"/>
                <a:gridCol w="783590"/>
                <a:gridCol w="781050"/>
                <a:gridCol w="784225"/>
                <a:gridCol w="779780"/>
              </a:tblGrid>
              <a:tr h="6096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3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18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27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00FFFF"/>
                          </a:solidFill>
                        </a:rPr>
                        <a:t>29</a:t>
                      </a:r>
                      <a:endParaRPr lang="en-US" altLang="x-none" sz="3400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i="1" u="sng" dirty="0">
                          <a:solidFill>
                            <a:srgbClr val="00FFFF"/>
                          </a:solidFill>
                        </a:rPr>
                        <a:t>56</a:t>
                      </a:r>
                      <a:endParaRPr lang="en-US" altLang="x-none" sz="3400" i="1" u="sng" dirty="0">
                        <a:solidFill>
                          <a:srgbClr val="00FFFF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36830" lvl="0" indent="-36830" algn="ctr">
                        <a:buNone/>
                      </a:pPr>
                      <a:r>
                        <a:rPr lang="en-US" altLang="x-none" sz="3400" dirty="0">
                          <a:solidFill>
                            <a:srgbClr val="FFFF00"/>
                          </a:solidFill>
                        </a:rPr>
                        <a:t>87</a:t>
                      </a:r>
                      <a:endParaRPr lang="en-US" altLang="x-none" sz="3400" dirty="0">
                        <a:solidFill>
                          <a:srgbClr val="FFFF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892" name="文本框 26891"/>
          <p:cNvSpPr txBox="1"/>
          <p:nvPr/>
        </p:nvSpPr>
        <p:spPr>
          <a:xfrm>
            <a:off x="8200073" y="5828348"/>
            <a:ext cx="1512887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2" charset="0"/>
              </a:rPr>
              <a:t>第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2" charset="0"/>
              </a:rPr>
              <a:t>5</a:t>
            </a:r>
            <a:r>
              <a:rPr lang="zh-CN" altLang="en-US" sz="2400" dirty="0">
                <a:latin typeface="Times New Roman" panose="02020603050405020304" pitchFamily="2" charset="0"/>
              </a:rPr>
              <a:t>趟</a:t>
            </a:r>
            <a:endParaRPr lang="zh-CN" altLang="en-US" sz="2400" dirty="0">
              <a:latin typeface="Times New Roman" panose="02020603050405020304" pitchFamily="2" charset="0"/>
            </a:endParaRPr>
          </a:p>
        </p:txBody>
      </p:sp>
      <p:sp>
        <p:nvSpPr>
          <p:cNvPr id="2" name="文本框 26892"/>
          <p:cNvSpPr txBox="1"/>
          <p:nvPr/>
        </p:nvSpPr>
        <p:spPr>
          <a:xfrm>
            <a:off x="2837180" y="340360"/>
            <a:ext cx="57067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</a:rPr>
              <a:t>将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2" charset="0"/>
              </a:rPr>
              <a:t>29  18  87  56  3  27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</a:rPr>
              <a:t>按由小到大排序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简单选择排序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.07882 -1.11111E-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66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82 -1.11111E-6 L 0.16545 -1.1111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66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545 5.92593E-6 L 0.25208 5.92593E-6 " pathEditMode="relative" ptsTypes="AA">
                                      <p:cBhvr>
                                        <p:cTn id="34" dur="2000" fill="hold"/>
                                        <p:tgtEl>
                                          <p:spTgt spid="266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08 2.59259E-6 L 0.3309 2.59259E-6 " pathEditMode="relative" ptsTypes="AA">
                                      <p:cBhvr>
                                        <p:cTn id="43" dur="2000" fill="hold"/>
                                        <p:tgtEl>
                                          <p:spTgt spid="266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266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674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48148E-6 L 0.07882 1.48148E-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267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82 -5.92593E-6 L 0.17326 -5.92593E-6 " pathEditMode="relative" ptsTypes="AA">
                                      <p:cBhvr>
                                        <p:cTn id="74" dur="2000" fill="hold"/>
                                        <p:tgtEl>
                                          <p:spTgt spid="267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326 -5.92593E-6 L 0.2599 -5.92593E-6 " pathEditMode="relative" ptsTypes="AA">
                                      <p:cBhvr>
                                        <p:cTn id="83" dur="2000" fill="hold"/>
                                        <p:tgtEl>
                                          <p:spTgt spid="267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26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675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26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1.11111E-6 L 0.08663 -1.11111E-6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267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63 2.59259E-6 L 0.17327 2.59259E-6 " pathEditMode="relative" ptsTypes="AA">
                                      <p:cBhvr>
                                        <p:cTn id="121" dur="2000" fill="hold"/>
                                        <p:tgtEl>
                                          <p:spTgt spid="267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26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0" dur="500"/>
                                        <p:tgtEl>
                                          <p:spTgt spid="26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2682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2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2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2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6 L 0.08664 -7.40741E-6 " pathEditMode="relative" ptsTypes="AA">
                                      <p:cBhvr>
                                        <p:cTn id="155" dur="2000" fill="hold"/>
                                        <p:tgtEl>
                                          <p:spTgt spid="267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26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4" dur="500"/>
                                        <p:tgtEl>
                                          <p:spTgt spid="26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2687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2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0" dur="500"/>
                                        <p:tgtEl>
                                          <p:spTgt spid="2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5" dur="500"/>
                                        <p:tgtEl>
                                          <p:spTgt spid="2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9" dur="500"/>
                                        <p:tgtEl>
                                          <p:spTgt spid="26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5" dur="500"/>
                                        <p:tgtEl>
                                          <p:spTgt spid="2689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select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简单选择排序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73810" y="1348105"/>
            <a:ext cx="9902825" cy="4227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简单选择排序的特点   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60000"/>
              </a:lnSpc>
            </a:pP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最大特点：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移动次数少；</a:t>
            </a:r>
            <a:endParaRPr lang="zh-CN" altLang="en-US" sz="2800" dirty="0">
              <a:solidFill>
                <a:schemeClr val="bg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时间复杂度：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总共比较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n(n-1)/2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次 ，移动次数最多n-1, 时间复杂度为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O(n</a:t>
            </a:r>
            <a:r>
              <a:rPr lang="en-US" altLang="zh-CN" sz="2800" baseline="300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)</a:t>
            </a:r>
            <a:endParaRPr lang="en-US" altLang="zh-CN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稳定性：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不稳定。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endParaRPr lang="zh-CN" altLang="en-US" sz="2800" dirty="0">
              <a:solidFill>
                <a:schemeClr val="bg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heap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堆排序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73810" y="1348105"/>
            <a:ext cx="99028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堆排序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	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堆排序是一种特殊的树形数据结构，其每个节点都有一个值，通常提到的堆都是指一棵完全二叉树，根节点的值小于(或大于)两个子节点的值，同时根节点的两个子树也分别是一个堆。堆排序主要包括两个过程：一是构建堆， 二是交换堆顶元素与最后一个元素的位置。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heap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堆排序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73810" y="1348105"/>
            <a:ext cx="10311765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堆排序的思想：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1.   将序列构造成一棵完全二叉树 ；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2.   把这棵普通的完全二叉树改造成堆，便可获取最小值 ；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3.   输出最小值 ；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4.   删除根结点，继续改造剩余树成堆，便可获取次小值 ；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5.   输出次小值 ；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6.   重复改造，输出次次小值、次次次小值，直至所有结点均输出，便得到一个排序 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1" name="文本框 30721"/>
          <p:cNvSpPr txBox="1"/>
          <p:nvPr/>
        </p:nvSpPr>
        <p:spPr>
          <a:xfrm>
            <a:off x="2720975" y="436245"/>
            <a:ext cx="59347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2" charset="0"/>
              </a:rPr>
              <a:t>例：序列    49   38   65   97   76   13   27   50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0723" name="文本框 30722"/>
          <p:cNvSpPr txBox="1"/>
          <p:nvPr/>
        </p:nvSpPr>
        <p:spPr>
          <a:xfrm>
            <a:off x="5953125" y="2219008"/>
            <a:ext cx="51847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1.  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按顺序依次构造成完全二叉树的结点；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30724" name="组合 30723"/>
          <p:cNvGrpSpPr/>
          <p:nvPr/>
        </p:nvGrpSpPr>
        <p:grpSpPr>
          <a:xfrm>
            <a:off x="3469005" y="2183765"/>
            <a:ext cx="609600" cy="415925"/>
            <a:chOff x="0" y="0"/>
            <a:chExt cx="384" cy="261"/>
          </a:xfrm>
        </p:grpSpPr>
        <p:sp>
          <p:nvSpPr>
            <p:cNvPr id="2" name="椭圆 30724"/>
            <p:cNvSpPr/>
            <p:nvPr/>
          </p:nvSpPr>
          <p:spPr>
            <a:xfrm>
              <a:off x="0" y="21"/>
              <a:ext cx="240" cy="24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2" charset="0"/>
              </a:endParaRPr>
            </a:p>
          </p:txBody>
        </p:sp>
        <p:sp>
          <p:nvSpPr>
            <p:cNvPr id="30725" name="文本框 30725"/>
            <p:cNvSpPr txBox="1"/>
            <p:nvPr/>
          </p:nvSpPr>
          <p:spPr>
            <a:xfrm>
              <a:off x="0" y="0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49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0727" name="组合 30726"/>
          <p:cNvGrpSpPr/>
          <p:nvPr/>
        </p:nvGrpSpPr>
        <p:grpSpPr>
          <a:xfrm>
            <a:off x="2783205" y="2580640"/>
            <a:ext cx="762000" cy="812800"/>
            <a:chOff x="0" y="0"/>
            <a:chExt cx="480" cy="512"/>
          </a:xfrm>
        </p:grpSpPr>
        <p:sp>
          <p:nvSpPr>
            <p:cNvPr id="3" name="直接连接符 30727"/>
            <p:cNvSpPr/>
            <p:nvPr/>
          </p:nvSpPr>
          <p:spPr>
            <a:xfrm flipH="1">
              <a:off x="192" y="0"/>
              <a:ext cx="288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0728" name="组合 30728"/>
            <p:cNvGrpSpPr/>
            <p:nvPr/>
          </p:nvGrpSpPr>
          <p:grpSpPr>
            <a:xfrm>
              <a:off x="0" y="251"/>
              <a:ext cx="384" cy="261"/>
              <a:chOff x="0" y="0"/>
              <a:chExt cx="384" cy="261"/>
            </a:xfrm>
          </p:grpSpPr>
          <p:sp>
            <p:nvSpPr>
              <p:cNvPr id="30729" name="椭圆 30729"/>
              <p:cNvSpPr/>
              <p:nvPr/>
            </p:nvSpPr>
            <p:spPr>
              <a:xfrm>
                <a:off x="0" y="21"/>
                <a:ext cx="240" cy="24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730" name="文本框 30730"/>
              <p:cNvSpPr txBox="1"/>
              <p:nvPr/>
            </p:nvSpPr>
            <p:spPr>
              <a:xfrm>
                <a:off x="0" y="0"/>
                <a:ext cx="38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anose="02020603050405020304" pitchFamily="2" charset="0"/>
                  </a:rPr>
                  <a:t>38</a:t>
                </a:r>
                <a:endParaRPr lang="en-US" altLang="zh-CN" sz="2000" b="1">
                  <a:latin typeface="Times New Roman" panose="02020603050405020304" pitchFamily="2" charset="0"/>
                </a:endParaRPr>
              </a:p>
            </p:txBody>
          </p:sp>
        </p:grpSp>
      </p:grpSp>
      <p:grpSp>
        <p:nvGrpSpPr>
          <p:cNvPr id="30732" name="组合 30731"/>
          <p:cNvGrpSpPr/>
          <p:nvPr/>
        </p:nvGrpSpPr>
        <p:grpSpPr>
          <a:xfrm>
            <a:off x="3791268" y="2580640"/>
            <a:ext cx="973137" cy="812800"/>
            <a:chOff x="0" y="0"/>
            <a:chExt cx="613" cy="512"/>
          </a:xfrm>
        </p:grpSpPr>
        <p:sp>
          <p:nvSpPr>
            <p:cNvPr id="4" name="直接连接符 30732"/>
            <p:cNvSpPr/>
            <p:nvPr/>
          </p:nvSpPr>
          <p:spPr>
            <a:xfrm>
              <a:off x="0" y="0"/>
              <a:ext cx="288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0733" name="组合 30733"/>
            <p:cNvGrpSpPr/>
            <p:nvPr/>
          </p:nvGrpSpPr>
          <p:grpSpPr>
            <a:xfrm>
              <a:off x="229" y="251"/>
              <a:ext cx="384" cy="261"/>
              <a:chOff x="0" y="0"/>
              <a:chExt cx="384" cy="261"/>
            </a:xfrm>
          </p:grpSpPr>
          <p:sp>
            <p:nvSpPr>
              <p:cNvPr id="30734" name="椭圆 30734"/>
              <p:cNvSpPr/>
              <p:nvPr/>
            </p:nvSpPr>
            <p:spPr>
              <a:xfrm>
                <a:off x="0" y="21"/>
                <a:ext cx="240" cy="24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735" name="文本框 30735"/>
              <p:cNvSpPr txBox="1"/>
              <p:nvPr/>
            </p:nvSpPr>
            <p:spPr>
              <a:xfrm>
                <a:off x="0" y="0"/>
                <a:ext cx="38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anose="02020603050405020304" pitchFamily="2" charset="0"/>
                  </a:rPr>
                  <a:t>65</a:t>
                </a:r>
                <a:endParaRPr lang="en-US" altLang="zh-CN" sz="2000" b="1">
                  <a:latin typeface="Times New Roman" panose="02020603050405020304" pitchFamily="2" charset="0"/>
                </a:endParaRPr>
              </a:p>
            </p:txBody>
          </p:sp>
        </p:grpSp>
      </p:grpSp>
      <p:grpSp>
        <p:nvGrpSpPr>
          <p:cNvPr id="30737" name="组合 30736"/>
          <p:cNvGrpSpPr/>
          <p:nvPr/>
        </p:nvGrpSpPr>
        <p:grpSpPr>
          <a:xfrm>
            <a:off x="2437130" y="3361690"/>
            <a:ext cx="609600" cy="838200"/>
            <a:chOff x="0" y="0"/>
            <a:chExt cx="384" cy="528"/>
          </a:xfrm>
        </p:grpSpPr>
        <p:grpSp>
          <p:nvGrpSpPr>
            <p:cNvPr id="5" name="组合 30737"/>
            <p:cNvGrpSpPr/>
            <p:nvPr/>
          </p:nvGrpSpPr>
          <p:grpSpPr>
            <a:xfrm>
              <a:off x="0" y="267"/>
              <a:ext cx="384" cy="261"/>
              <a:chOff x="0" y="0"/>
              <a:chExt cx="384" cy="261"/>
            </a:xfrm>
          </p:grpSpPr>
          <p:sp>
            <p:nvSpPr>
              <p:cNvPr id="30738" name="椭圆 30738"/>
              <p:cNvSpPr/>
              <p:nvPr/>
            </p:nvSpPr>
            <p:spPr>
              <a:xfrm>
                <a:off x="0" y="21"/>
                <a:ext cx="240" cy="24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739" name="文本框 30739"/>
              <p:cNvSpPr txBox="1"/>
              <p:nvPr/>
            </p:nvSpPr>
            <p:spPr>
              <a:xfrm>
                <a:off x="0" y="0"/>
                <a:ext cx="38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anose="02020603050405020304" pitchFamily="2" charset="0"/>
                  </a:rPr>
                  <a:t>97</a:t>
                </a:r>
                <a:endParaRPr lang="en-US" altLang="zh-CN" sz="2000" b="1">
                  <a:latin typeface="Times New Roman" panose="02020603050405020304" pitchFamily="2" charset="0"/>
                </a:endParaRPr>
              </a:p>
            </p:txBody>
          </p:sp>
        </p:grpSp>
        <p:sp>
          <p:nvSpPr>
            <p:cNvPr id="30740" name="直接连接符 30740"/>
            <p:cNvSpPr/>
            <p:nvPr/>
          </p:nvSpPr>
          <p:spPr>
            <a:xfrm flipH="1">
              <a:off x="170" y="0"/>
              <a:ext cx="144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0742" name="组合 30741"/>
          <p:cNvGrpSpPr/>
          <p:nvPr/>
        </p:nvGrpSpPr>
        <p:grpSpPr>
          <a:xfrm>
            <a:off x="3029268" y="3377565"/>
            <a:ext cx="709612" cy="822325"/>
            <a:chOff x="0" y="0"/>
            <a:chExt cx="447" cy="517"/>
          </a:xfrm>
        </p:grpSpPr>
        <p:grpSp>
          <p:nvGrpSpPr>
            <p:cNvPr id="6" name="组合 30742"/>
            <p:cNvGrpSpPr/>
            <p:nvPr/>
          </p:nvGrpSpPr>
          <p:grpSpPr>
            <a:xfrm>
              <a:off x="63" y="256"/>
              <a:ext cx="384" cy="261"/>
              <a:chOff x="0" y="0"/>
              <a:chExt cx="384" cy="261"/>
            </a:xfrm>
          </p:grpSpPr>
          <p:sp>
            <p:nvSpPr>
              <p:cNvPr id="30743" name="椭圆 30743"/>
              <p:cNvSpPr/>
              <p:nvPr/>
            </p:nvSpPr>
            <p:spPr>
              <a:xfrm>
                <a:off x="0" y="21"/>
                <a:ext cx="240" cy="24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744" name="文本框 30744"/>
              <p:cNvSpPr txBox="1"/>
              <p:nvPr/>
            </p:nvSpPr>
            <p:spPr>
              <a:xfrm>
                <a:off x="0" y="0"/>
                <a:ext cx="38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anose="02020603050405020304" pitchFamily="2" charset="0"/>
                  </a:rPr>
                  <a:t>76</a:t>
                </a:r>
                <a:endParaRPr lang="en-US" altLang="zh-CN" sz="2000" b="1">
                  <a:latin typeface="Times New Roman" panose="02020603050405020304" pitchFamily="2" charset="0"/>
                </a:endParaRPr>
              </a:p>
            </p:txBody>
          </p:sp>
        </p:grpSp>
        <p:sp>
          <p:nvSpPr>
            <p:cNvPr id="30745" name="直接连接符 30745"/>
            <p:cNvSpPr/>
            <p:nvPr/>
          </p:nvSpPr>
          <p:spPr>
            <a:xfrm>
              <a:off x="0" y="0"/>
              <a:ext cx="144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0747" name="组合 30746"/>
          <p:cNvGrpSpPr/>
          <p:nvPr/>
        </p:nvGrpSpPr>
        <p:grpSpPr>
          <a:xfrm>
            <a:off x="3808730" y="3361690"/>
            <a:ext cx="609600" cy="838200"/>
            <a:chOff x="0" y="0"/>
            <a:chExt cx="384" cy="528"/>
          </a:xfrm>
        </p:grpSpPr>
        <p:grpSp>
          <p:nvGrpSpPr>
            <p:cNvPr id="7" name="组合 30747"/>
            <p:cNvGrpSpPr/>
            <p:nvPr/>
          </p:nvGrpSpPr>
          <p:grpSpPr>
            <a:xfrm>
              <a:off x="0" y="267"/>
              <a:ext cx="384" cy="261"/>
              <a:chOff x="0" y="0"/>
              <a:chExt cx="384" cy="261"/>
            </a:xfrm>
          </p:grpSpPr>
          <p:sp>
            <p:nvSpPr>
              <p:cNvPr id="30748" name="椭圆 30748"/>
              <p:cNvSpPr/>
              <p:nvPr/>
            </p:nvSpPr>
            <p:spPr>
              <a:xfrm>
                <a:off x="0" y="21"/>
                <a:ext cx="240" cy="24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749" name="文本框 30749"/>
              <p:cNvSpPr txBox="1"/>
              <p:nvPr/>
            </p:nvSpPr>
            <p:spPr>
              <a:xfrm>
                <a:off x="0" y="0"/>
                <a:ext cx="38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anose="02020603050405020304" pitchFamily="2" charset="0"/>
                  </a:rPr>
                  <a:t>13</a:t>
                </a:r>
                <a:endParaRPr lang="en-US" altLang="zh-CN" sz="2000" b="1">
                  <a:latin typeface="Times New Roman" panose="02020603050405020304" pitchFamily="2" charset="0"/>
                </a:endParaRPr>
              </a:p>
            </p:txBody>
          </p:sp>
        </p:grpSp>
        <p:sp>
          <p:nvSpPr>
            <p:cNvPr id="30750" name="直接连接符 30750"/>
            <p:cNvSpPr/>
            <p:nvPr/>
          </p:nvSpPr>
          <p:spPr>
            <a:xfrm flipH="1">
              <a:off x="170" y="0"/>
              <a:ext cx="144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0752" name="组合 30751"/>
          <p:cNvGrpSpPr/>
          <p:nvPr/>
        </p:nvGrpSpPr>
        <p:grpSpPr>
          <a:xfrm>
            <a:off x="4400868" y="3377565"/>
            <a:ext cx="709612" cy="822325"/>
            <a:chOff x="0" y="0"/>
            <a:chExt cx="447" cy="517"/>
          </a:xfrm>
        </p:grpSpPr>
        <p:grpSp>
          <p:nvGrpSpPr>
            <p:cNvPr id="8" name="组合 30752"/>
            <p:cNvGrpSpPr/>
            <p:nvPr/>
          </p:nvGrpSpPr>
          <p:grpSpPr>
            <a:xfrm>
              <a:off x="63" y="256"/>
              <a:ext cx="384" cy="261"/>
              <a:chOff x="0" y="0"/>
              <a:chExt cx="384" cy="261"/>
            </a:xfrm>
          </p:grpSpPr>
          <p:sp>
            <p:nvSpPr>
              <p:cNvPr id="30753" name="椭圆 30753"/>
              <p:cNvSpPr/>
              <p:nvPr/>
            </p:nvSpPr>
            <p:spPr>
              <a:xfrm>
                <a:off x="0" y="21"/>
                <a:ext cx="240" cy="24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754" name="文本框 30754"/>
              <p:cNvSpPr txBox="1"/>
              <p:nvPr/>
            </p:nvSpPr>
            <p:spPr>
              <a:xfrm>
                <a:off x="0" y="0"/>
                <a:ext cx="38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anose="02020603050405020304" pitchFamily="2" charset="0"/>
                  </a:rPr>
                  <a:t>27</a:t>
                </a:r>
                <a:endParaRPr lang="en-US" altLang="zh-CN" sz="2000" b="1">
                  <a:latin typeface="Times New Roman" panose="02020603050405020304" pitchFamily="2" charset="0"/>
                </a:endParaRPr>
              </a:p>
            </p:txBody>
          </p:sp>
        </p:grpSp>
        <p:sp>
          <p:nvSpPr>
            <p:cNvPr id="30755" name="直接连接符 30755"/>
            <p:cNvSpPr/>
            <p:nvPr/>
          </p:nvSpPr>
          <p:spPr>
            <a:xfrm>
              <a:off x="0" y="0"/>
              <a:ext cx="144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0757" name="组合 30756"/>
          <p:cNvGrpSpPr/>
          <p:nvPr/>
        </p:nvGrpSpPr>
        <p:grpSpPr>
          <a:xfrm>
            <a:off x="2062480" y="4164965"/>
            <a:ext cx="609600" cy="838200"/>
            <a:chOff x="0" y="0"/>
            <a:chExt cx="384" cy="528"/>
          </a:xfrm>
        </p:grpSpPr>
        <p:grpSp>
          <p:nvGrpSpPr>
            <p:cNvPr id="9" name="组合 30757"/>
            <p:cNvGrpSpPr/>
            <p:nvPr/>
          </p:nvGrpSpPr>
          <p:grpSpPr>
            <a:xfrm>
              <a:off x="0" y="267"/>
              <a:ext cx="384" cy="261"/>
              <a:chOff x="0" y="0"/>
              <a:chExt cx="384" cy="261"/>
            </a:xfrm>
          </p:grpSpPr>
          <p:sp>
            <p:nvSpPr>
              <p:cNvPr id="30758" name="椭圆 30758"/>
              <p:cNvSpPr/>
              <p:nvPr/>
            </p:nvSpPr>
            <p:spPr>
              <a:xfrm>
                <a:off x="0" y="21"/>
                <a:ext cx="240" cy="24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759" name="文本框 30759"/>
              <p:cNvSpPr txBox="1"/>
              <p:nvPr/>
            </p:nvSpPr>
            <p:spPr>
              <a:xfrm>
                <a:off x="0" y="0"/>
                <a:ext cx="38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anose="02020603050405020304" pitchFamily="2" charset="0"/>
                  </a:rPr>
                  <a:t>50</a:t>
                </a:r>
                <a:endParaRPr lang="en-US" altLang="zh-CN" sz="2000" b="1">
                  <a:latin typeface="Times New Roman" panose="02020603050405020304" pitchFamily="2" charset="0"/>
                </a:endParaRPr>
              </a:p>
            </p:txBody>
          </p:sp>
        </p:grpSp>
        <p:sp>
          <p:nvSpPr>
            <p:cNvPr id="30760" name="直接连接符 30760"/>
            <p:cNvSpPr/>
            <p:nvPr/>
          </p:nvSpPr>
          <p:spPr>
            <a:xfrm flipH="1">
              <a:off x="170" y="0"/>
              <a:ext cx="144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0762" name="文本框 30761"/>
          <p:cNvSpPr txBox="1"/>
          <p:nvPr/>
        </p:nvSpPr>
        <p:spPr>
          <a:xfrm>
            <a:off x="5953125" y="2639695"/>
            <a:ext cx="609219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2.  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把完全二叉树改造成堆；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从下向上，父子交换；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0764" name="任意多边形 30763"/>
          <p:cNvSpPr/>
          <p:nvPr/>
        </p:nvSpPr>
        <p:spPr>
          <a:xfrm>
            <a:off x="2052955" y="4012565"/>
            <a:ext cx="355600" cy="609600"/>
          </a:xfrm>
          <a:custGeom>
            <a:avLst/>
            <a:gdLst/>
            <a:ahLst/>
            <a:cxnLst/>
            <a:pathLst>
              <a:path w="224" h="384">
                <a:moveTo>
                  <a:pt x="32" y="384"/>
                </a:moveTo>
                <a:cubicBezTo>
                  <a:pt x="16" y="296"/>
                  <a:pt x="0" y="208"/>
                  <a:pt x="32" y="144"/>
                </a:cubicBezTo>
                <a:cubicBezTo>
                  <a:pt x="64" y="80"/>
                  <a:pt x="192" y="24"/>
                  <a:pt x="224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765" name="组合 30764"/>
          <p:cNvGrpSpPr/>
          <p:nvPr/>
        </p:nvGrpSpPr>
        <p:grpSpPr>
          <a:xfrm>
            <a:off x="1833880" y="3783965"/>
            <a:ext cx="1212850" cy="1349375"/>
            <a:chOff x="0" y="0"/>
            <a:chExt cx="764" cy="849"/>
          </a:xfrm>
        </p:grpSpPr>
        <p:sp>
          <p:nvSpPr>
            <p:cNvPr id="10" name="矩形 30765"/>
            <p:cNvSpPr/>
            <p:nvPr/>
          </p:nvSpPr>
          <p:spPr>
            <a:xfrm>
              <a:off x="0" y="33"/>
              <a:ext cx="672" cy="81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2" charset="0"/>
              </a:endParaRPr>
            </a:p>
          </p:txBody>
        </p:sp>
        <p:grpSp>
          <p:nvGrpSpPr>
            <p:cNvPr id="30766" name="组合 30766"/>
            <p:cNvGrpSpPr/>
            <p:nvPr/>
          </p:nvGrpSpPr>
          <p:grpSpPr>
            <a:xfrm>
              <a:off x="144" y="0"/>
              <a:ext cx="620" cy="768"/>
              <a:chOff x="0" y="0"/>
              <a:chExt cx="620" cy="768"/>
            </a:xfrm>
          </p:grpSpPr>
          <p:grpSp>
            <p:nvGrpSpPr>
              <p:cNvPr id="30767" name="组合 30767"/>
              <p:cNvGrpSpPr/>
              <p:nvPr/>
            </p:nvGrpSpPr>
            <p:grpSpPr>
              <a:xfrm>
                <a:off x="236" y="0"/>
                <a:ext cx="384" cy="261"/>
                <a:chOff x="0" y="0"/>
                <a:chExt cx="384" cy="261"/>
              </a:xfrm>
            </p:grpSpPr>
            <p:sp>
              <p:nvSpPr>
                <p:cNvPr id="30768" name="椭圆 30768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769" name="文本框 30769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50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0770" name="组合 30770"/>
              <p:cNvGrpSpPr/>
              <p:nvPr/>
            </p:nvGrpSpPr>
            <p:grpSpPr>
              <a:xfrm>
                <a:off x="0" y="240"/>
                <a:ext cx="384" cy="528"/>
                <a:chOff x="0" y="0"/>
                <a:chExt cx="384" cy="528"/>
              </a:xfrm>
            </p:grpSpPr>
            <p:grpSp>
              <p:nvGrpSpPr>
                <p:cNvPr id="30771" name="组合 30771"/>
                <p:cNvGrpSpPr/>
                <p:nvPr/>
              </p:nvGrpSpPr>
              <p:grpSpPr>
                <a:xfrm>
                  <a:off x="0" y="267"/>
                  <a:ext cx="384" cy="261"/>
                  <a:chOff x="0" y="0"/>
                  <a:chExt cx="384" cy="261"/>
                </a:xfrm>
              </p:grpSpPr>
              <p:sp>
                <p:nvSpPr>
                  <p:cNvPr id="30772" name="椭圆 30772"/>
                  <p:cNvSpPr/>
                  <p:nvPr/>
                </p:nvSpPr>
                <p:spPr>
                  <a:xfrm>
                    <a:off x="0" y="21"/>
                    <a:ext cx="240" cy="240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p>
                    <a:endParaRPr lang="zh-CN" altLang="en-US"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30773" name="文本框 30773"/>
                  <p:cNvSpPr txBox="1"/>
                  <p:nvPr/>
                </p:nvSpPr>
                <p:spPr>
                  <a:xfrm>
                    <a:off x="0" y="0"/>
                    <a:ext cx="384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>
                        <a:solidFill>
                          <a:schemeClr val="tx2"/>
                        </a:solidFill>
                        <a:latin typeface="Times New Roman" panose="02020603050405020304" pitchFamily="2" charset="0"/>
                      </a:rPr>
                      <a:t>97</a:t>
                    </a:r>
                    <a:endPara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</p:grpSp>
            <p:sp>
              <p:nvSpPr>
                <p:cNvPr id="30774" name="直接连接符 30774"/>
                <p:cNvSpPr/>
                <p:nvPr/>
              </p:nvSpPr>
              <p:spPr>
                <a:xfrm flipH="1">
                  <a:off x="170" y="0"/>
                  <a:ext cx="144" cy="28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30776" name="任意多边形 30775"/>
          <p:cNvSpPr/>
          <p:nvPr/>
        </p:nvSpPr>
        <p:spPr>
          <a:xfrm>
            <a:off x="3781743" y="3234690"/>
            <a:ext cx="355600" cy="609600"/>
          </a:xfrm>
          <a:custGeom>
            <a:avLst/>
            <a:gdLst/>
            <a:ahLst/>
            <a:cxnLst/>
            <a:pathLst>
              <a:path w="224" h="384">
                <a:moveTo>
                  <a:pt x="32" y="384"/>
                </a:moveTo>
                <a:cubicBezTo>
                  <a:pt x="16" y="296"/>
                  <a:pt x="0" y="208"/>
                  <a:pt x="32" y="144"/>
                </a:cubicBezTo>
                <a:cubicBezTo>
                  <a:pt x="64" y="80"/>
                  <a:pt x="192" y="24"/>
                  <a:pt x="224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777" name="组合 30776"/>
          <p:cNvGrpSpPr/>
          <p:nvPr/>
        </p:nvGrpSpPr>
        <p:grpSpPr>
          <a:xfrm>
            <a:off x="3738880" y="2771140"/>
            <a:ext cx="1031875" cy="1495425"/>
            <a:chOff x="0" y="0"/>
            <a:chExt cx="650" cy="942"/>
          </a:xfrm>
        </p:grpSpPr>
        <p:grpSp>
          <p:nvGrpSpPr>
            <p:cNvPr id="11" name="组合 30777"/>
            <p:cNvGrpSpPr/>
            <p:nvPr/>
          </p:nvGrpSpPr>
          <p:grpSpPr>
            <a:xfrm>
              <a:off x="0" y="0"/>
              <a:ext cx="628" cy="942"/>
              <a:chOff x="0" y="0"/>
              <a:chExt cx="628" cy="942"/>
            </a:xfrm>
          </p:grpSpPr>
          <p:sp>
            <p:nvSpPr>
              <p:cNvPr id="30778" name="矩形 30778"/>
              <p:cNvSpPr/>
              <p:nvPr/>
            </p:nvSpPr>
            <p:spPr>
              <a:xfrm>
                <a:off x="0" y="174"/>
                <a:ext cx="384" cy="76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779" name="矩形 30779"/>
              <p:cNvSpPr/>
              <p:nvPr/>
            </p:nvSpPr>
            <p:spPr>
              <a:xfrm>
                <a:off x="340" y="0"/>
                <a:ext cx="288" cy="38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30780" name="组合 30780"/>
            <p:cNvGrpSpPr/>
            <p:nvPr/>
          </p:nvGrpSpPr>
          <p:grpSpPr>
            <a:xfrm>
              <a:off x="48" y="133"/>
              <a:ext cx="602" cy="768"/>
              <a:chOff x="0" y="0"/>
              <a:chExt cx="602" cy="768"/>
            </a:xfrm>
          </p:grpSpPr>
          <p:grpSp>
            <p:nvGrpSpPr>
              <p:cNvPr id="30781" name="组合 30781"/>
              <p:cNvGrpSpPr/>
              <p:nvPr/>
            </p:nvGrpSpPr>
            <p:grpSpPr>
              <a:xfrm>
                <a:off x="218" y="0"/>
                <a:ext cx="384" cy="261"/>
                <a:chOff x="0" y="0"/>
                <a:chExt cx="384" cy="261"/>
              </a:xfrm>
            </p:grpSpPr>
            <p:sp>
              <p:nvSpPr>
                <p:cNvPr id="30782" name="椭圆 30782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783" name="文本框 30783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13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0784" name="组合 30784"/>
              <p:cNvGrpSpPr/>
              <p:nvPr/>
            </p:nvGrpSpPr>
            <p:grpSpPr>
              <a:xfrm>
                <a:off x="0" y="240"/>
                <a:ext cx="384" cy="528"/>
                <a:chOff x="0" y="0"/>
                <a:chExt cx="384" cy="528"/>
              </a:xfrm>
            </p:grpSpPr>
            <p:grpSp>
              <p:nvGrpSpPr>
                <p:cNvPr id="30785" name="组合 30785"/>
                <p:cNvGrpSpPr/>
                <p:nvPr/>
              </p:nvGrpSpPr>
              <p:grpSpPr>
                <a:xfrm>
                  <a:off x="0" y="267"/>
                  <a:ext cx="384" cy="261"/>
                  <a:chOff x="0" y="0"/>
                  <a:chExt cx="384" cy="261"/>
                </a:xfrm>
              </p:grpSpPr>
              <p:sp>
                <p:nvSpPr>
                  <p:cNvPr id="30786" name="椭圆 30786"/>
                  <p:cNvSpPr/>
                  <p:nvPr/>
                </p:nvSpPr>
                <p:spPr>
                  <a:xfrm>
                    <a:off x="0" y="21"/>
                    <a:ext cx="240" cy="240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p>
                    <a:endParaRPr lang="zh-CN" altLang="en-US"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30787" name="文本框 30787"/>
                  <p:cNvSpPr txBox="1"/>
                  <p:nvPr/>
                </p:nvSpPr>
                <p:spPr>
                  <a:xfrm>
                    <a:off x="0" y="0"/>
                    <a:ext cx="384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>
                        <a:solidFill>
                          <a:schemeClr val="tx2"/>
                        </a:solidFill>
                        <a:latin typeface="Times New Roman" panose="02020603050405020304" pitchFamily="2" charset="0"/>
                      </a:rPr>
                      <a:t>65</a:t>
                    </a:r>
                    <a:endPara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</p:grpSp>
            <p:sp>
              <p:nvSpPr>
                <p:cNvPr id="30788" name="直接连接符 30788"/>
                <p:cNvSpPr/>
                <p:nvPr/>
              </p:nvSpPr>
              <p:spPr>
                <a:xfrm flipH="1">
                  <a:off x="170" y="0"/>
                  <a:ext cx="144" cy="28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30790" name="任意多边形 30789"/>
          <p:cNvSpPr/>
          <p:nvPr/>
        </p:nvSpPr>
        <p:spPr>
          <a:xfrm>
            <a:off x="3873818" y="2406015"/>
            <a:ext cx="457200" cy="546100"/>
          </a:xfrm>
          <a:custGeom>
            <a:avLst/>
            <a:gdLst/>
            <a:ahLst/>
            <a:cxnLst/>
            <a:pathLst>
              <a:path w="288" h="344">
                <a:moveTo>
                  <a:pt x="288" y="344"/>
                </a:moveTo>
                <a:cubicBezTo>
                  <a:pt x="288" y="228"/>
                  <a:pt x="288" y="112"/>
                  <a:pt x="240" y="56"/>
                </a:cubicBezTo>
                <a:cubicBezTo>
                  <a:pt x="192" y="0"/>
                  <a:pt x="96" y="4"/>
                  <a:pt x="0" y="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791" name="组合 30790"/>
          <p:cNvGrpSpPr/>
          <p:nvPr/>
        </p:nvGrpSpPr>
        <p:grpSpPr>
          <a:xfrm>
            <a:off x="3205480" y="2031365"/>
            <a:ext cx="1793875" cy="1362075"/>
            <a:chOff x="0" y="0"/>
            <a:chExt cx="1130" cy="858"/>
          </a:xfrm>
        </p:grpSpPr>
        <p:grpSp>
          <p:nvGrpSpPr>
            <p:cNvPr id="12" name="组合 30791"/>
            <p:cNvGrpSpPr/>
            <p:nvPr/>
          </p:nvGrpSpPr>
          <p:grpSpPr>
            <a:xfrm>
              <a:off x="0" y="0"/>
              <a:ext cx="1130" cy="849"/>
              <a:chOff x="0" y="0"/>
              <a:chExt cx="1130" cy="849"/>
            </a:xfrm>
          </p:grpSpPr>
          <p:sp>
            <p:nvSpPr>
              <p:cNvPr id="30792" name="矩形 30792"/>
              <p:cNvSpPr/>
              <p:nvPr/>
            </p:nvSpPr>
            <p:spPr>
              <a:xfrm>
                <a:off x="218" y="81"/>
                <a:ext cx="912" cy="76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793" name="矩形 30793"/>
              <p:cNvSpPr/>
              <p:nvPr/>
            </p:nvSpPr>
            <p:spPr>
              <a:xfrm>
                <a:off x="0" y="0"/>
                <a:ext cx="384" cy="33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30794" name="组合 30794"/>
            <p:cNvGrpSpPr/>
            <p:nvPr/>
          </p:nvGrpSpPr>
          <p:grpSpPr>
            <a:xfrm>
              <a:off x="166" y="96"/>
              <a:ext cx="816" cy="762"/>
              <a:chOff x="0" y="0"/>
              <a:chExt cx="816" cy="762"/>
            </a:xfrm>
          </p:grpSpPr>
          <p:grpSp>
            <p:nvGrpSpPr>
              <p:cNvPr id="30795" name="组合 30795"/>
              <p:cNvGrpSpPr/>
              <p:nvPr/>
            </p:nvGrpSpPr>
            <p:grpSpPr>
              <a:xfrm>
                <a:off x="0" y="0"/>
                <a:ext cx="384" cy="261"/>
                <a:chOff x="0" y="0"/>
                <a:chExt cx="384" cy="261"/>
              </a:xfrm>
            </p:grpSpPr>
            <p:sp>
              <p:nvSpPr>
                <p:cNvPr id="30796" name="椭圆 30796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797" name="文本框 30797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13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0798" name="组合 30798"/>
              <p:cNvGrpSpPr/>
              <p:nvPr/>
            </p:nvGrpSpPr>
            <p:grpSpPr>
              <a:xfrm>
                <a:off x="203" y="250"/>
                <a:ext cx="613" cy="512"/>
                <a:chOff x="0" y="0"/>
                <a:chExt cx="613" cy="512"/>
              </a:xfrm>
            </p:grpSpPr>
            <p:sp>
              <p:nvSpPr>
                <p:cNvPr id="30799" name="直接连接符 30799"/>
                <p:cNvSpPr/>
                <p:nvPr/>
              </p:nvSpPr>
              <p:spPr>
                <a:xfrm>
                  <a:off x="0" y="0"/>
                  <a:ext cx="288" cy="28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30800" name="组合 30800"/>
                <p:cNvGrpSpPr/>
                <p:nvPr/>
              </p:nvGrpSpPr>
              <p:grpSpPr>
                <a:xfrm>
                  <a:off x="229" y="251"/>
                  <a:ext cx="384" cy="261"/>
                  <a:chOff x="0" y="0"/>
                  <a:chExt cx="384" cy="261"/>
                </a:xfrm>
              </p:grpSpPr>
              <p:sp>
                <p:nvSpPr>
                  <p:cNvPr id="30801" name="椭圆 30801"/>
                  <p:cNvSpPr/>
                  <p:nvPr/>
                </p:nvSpPr>
                <p:spPr>
                  <a:xfrm>
                    <a:off x="0" y="21"/>
                    <a:ext cx="240" cy="240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p>
                    <a:endParaRPr lang="zh-CN" altLang="en-US"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30802" name="文本框 30802"/>
                  <p:cNvSpPr txBox="1"/>
                  <p:nvPr/>
                </p:nvSpPr>
                <p:spPr>
                  <a:xfrm>
                    <a:off x="0" y="0"/>
                    <a:ext cx="384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>
                        <a:solidFill>
                          <a:schemeClr val="tx2"/>
                        </a:solidFill>
                        <a:latin typeface="Times New Roman" panose="02020603050405020304" pitchFamily="2" charset="0"/>
                      </a:rPr>
                      <a:t>49</a:t>
                    </a:r>
                    <a:endPara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</p:grpSp>
          </p:grpSp>
        </p:grpSp>
      </p:grpSp>
      <p:sp>
        <p:nvSpPr>
          <p:cNvPr id="30804" name="任意多边形 30803"/>
          <p:cNvSpPr/>
          <p:nvPr/>
        </p:nvSpPr>
        <p:spPr>
          <a:xfrm flipH="1">
            <a:off x="4577080" y="3250565"/>
            <a:ext cx="355600" cy="609600"/>
          </a:xfrm>
          <a:custGeom>
            <a:avLst/>
            <a:gdLst/>
            <a:ahLst/>
            <a:cxnLst/>
            <a:pathLst>
              <a:path w="224" h="384">
                <a:moveTo>
                  <a:pt x="32" y="384"/>
                </a:moveTo>
                <a:cubicBezTo>
                  <a:pt x="16" y="296"/>
                  <a:pt x="0" y="208"/>
                  <a:pt x="32" y="144"/>
                </a:cubicBezTo>
                <a:cubicBezTo>
                  <a:pt x="64" y="80"/>
                  <a:pt x="192" y="24"/>
                  <a:pt x="224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805" name="组合 30804"/>
          <p:cNvGrpSpPr/>
          <p:nvPr/>
        </p:nvGrpSpPr>
        <p:grpSpPr>
          <a:xfrm>
            <a:off x="3815080" y="2869565"/>
            <a:ext cx="1336675" cy="1600200"/>
            <a:chOff x="0" y="0"/>
            <a:chExt cx="842" cy="1008"/>
          </a:xfrm>
        </p:grpSpPr>
        <p:grpSp>
          <p:nvGrpSpPr>
            <p:cNvPr id="13" name="组合 30805"/>
            <p:cNvGrpSpPr/>
            <p:nvPr/>
          </p:nvGrpSpPr>
          <p:grpSpPr>
            <a:xfrm>
              <a:off x="0" y="0"/>
              <a:ext cx="842" cy="1008"/>
              <a:chOff x="0" y="0"/>
              <a:chExt cx="842" cy="1008"/>
            </a:xfrm>
          </p:grpSpPr>
          <p:sp>
            <p:nvSpPr>
              <p:cNvPr id="30806" name="矩形 30806"/>
              <p:cNvSpPr/>
              <p:nvPr/>
            </p:nvSpPr>
            <p:spPr>
              <a:xfrm>
                <a:off x="314" y="0"/>
                <a:ext cx="528" cy="100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807" name="矩形 30807"/>
              <p:cNvSpPr/>
              <p:nvPr/>
            </p:nvSpPr>
            <p:spPr>
              <a:xfrm>
                <a:off x="0" y="96"/>
                <a:ext cx="480" cy="24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30808" name="组合 30808"/>
            <p:cNvGrpSpPr/>
            <p:nvPr/>
          </p:nvGrpSpPr>
          <p:grpSpPr>
            <a:xfrm>
              <a:off x="214" y="74"/>
              <a:ext cx="602" cy="768"/>
              <a:chOff x="0" y="0"/>
              <a:chExt cx="602" cy="768"/>
            </a:xfrm>
          </p:grpSpPr>
          <p:grpSp>
            <p:nvGrpSpPr>
              <p:cNvPr id="30809" name="组合 30809"/>
              <p:cNvGrpSpPr/>
              <p:nvPr/>
            </p:nvGrpSpPr>
            <p:grpSpPr>
              <a:xfrm>
                <a:off x="155" y="251"/>
                <a:ext cx="447" cy="517"/>
                <a:chOff x="0" y="0"/>
                <a:chExt cx="447" cy="517"/>
              </a:xfrm>
            </p:grpSpPr>
            <p:grpSp>
              <p:nvGrpSpPr>
                <p:cNvPr id="30810" name="组合 30810"/>
                <p:cNvGrpSpPr/>
                <p:nvPr/>
              </p:nvGrpSpPr>
              <p:grpSpPr>
                <a:xfrm>
                  <a:off x="63" y="256"/>
                  <a:ext cx="384" cy="261"/>
                  <a:chOff x="0" y="0"/>
                  <a:chExt cx="384" cy="261"/>
                </a:xfrm>
              </p:grpSpPr>
              <p:sp>
                <p:nvSpPr>
                  <p:cNvPr id="30811" name="椭圆 30811"/>
                  <p:cNvSpPr/>
                  <p:nvPr/>
                </p:nvSpPr>
                <p:spPr>
                  <a:xfrm>
                    <a:off x="0" y="21"/>
                    <a:ext cx="240" cy="240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p>
                    <a:endParaRPr lang="zh-CN" altLang="en-US"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30812" name="文本框 30812"/>
                  <p:cNvSpPr txBox="1"/>
                  <p:nvPr/>
                </p:nvSpPr>
                <p:spPr>
                  <a:xfrm>
                    <a:off x="0" y="0"/>
                    <a:ext cx="384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>
                        <a:solidFill>
                          <a:schemeClr val="tx2"/>
                        </a:solidFill>
                        <a:latin typeface="Times New Roman" panose="02020603050405020304" pitchFamily="2" charset="0"/>
                      </a:rPr>
                      <a:t>49</a:t>
                    </a:r>
                    <a:endPara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</p:grpSp>
            <p:sp>
              <p:nvSpPr>
                <p:cNvPr id="30813" name="直接连接符 30813"/>
                <p:cNvSpPr/>
                <p:nvPr/>
              </p:nvSpPr>
              <p:spPr>
                <a:xfrm>
                  <a:off x="0" y="0"/>
                  <a:ext cx="144" cy="28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0814" name="组合 30814"/>
              <p:cNvGrpSpPr/>
              <p:nvPr/>
            </p:nvGrpSpPr>
            <p:grpSpPr>
              <a:xfrm>
                <a:off x="0" y="0"/>
                <a:ext cx="384" cy="261"/>
                <a:chOff x="0" y="0"/>
                <a:chExt cx="384" cy="261"/>
              </a:xfrm>
            </p:grpSpPr>
            <p:sp>
              <p:nvSpPr>
                <p:cNvPr id="30815" name="椭圆 30815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816" name="文本框 30816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27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</p:grpSp>
      </p:grpSp>
      <p:sp>
        <p:nvSpPr>
          <p:cNvPr id="30818" name="文本框 30817"/>
          <p:cNvSpPr txBox="1"/>
          <p:nvPr/>
        </p:nvSpPr>
        <p:spPr>
          <a:xfrm>
            <a:off x="5952808" y="3114993"/>
            <a:ext cx="33528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3.  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取得最小值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13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0819" name="文本框 30818"/>
          <p:cNvSpPr txBox="1"/>
          <p:nvPr/>
        </p:nvSpPr>
        <p:spPr>
          <a:xfrm>
            <a:off x="5952808" y="3555365"/>
            <a:ext cx="41052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</a:rPr>
              <a:t>4.   删除 13 ，重新改造成新堆；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0820" name="任意多边形 30819"/>
          <p:cNvSpPr/>
          <p:nvPr/>
        </p:nvSpPr>
        <p:spPr>
          <a:xfrm>
            <a:off x="1910080" y="2336165"/>
            <a:ext cx="1524000" cy="2286000"/>
          </a:xfrm>
          <a:custGeom>
            <a:avLst/>
            <a:gdLst/>
            <a:ahLst/>
            <a:cxnLst/>
            <a:pathLst>
              <a:path w="960" h="1440">
                <a:moveTo>
                  <a:pt x="96" y="1440"/>
                </a:moveTo>
                <a:cubicBezTo>
                  <a:pt x="48" y="1080"/>
                  <a:pt x="0" y="720"/>
                  <a:pt x="144" y="480"/>
                </a:cubicBezTo>
                <a:cubicBezTo>
                  <a:pt x="288" y="240"/>
                  <a:pt x="624" y="120"/>
                  <a:pt x="960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821" name="组合 30820"/>
          <p:cNvGrpSpPr/>
          <p:nvPr/>
        </p:nvGrpSpPr>
        <p:grpSpPr>
          <a:xfrm>
            <a:off x="1903730" y="2113915"/>
            <a:ext cx="2174875" cy="3060700"/>
            <a:chOff x="0" y="0"/>
            <a:chExt cx="1370" cy="1927"/>
          </a:xfrm>
        </p:grpSpPr>
        <p:grpSp>
          <p:nvGrpSpPr>
            <p:cNvPr id="14" name="组合 30821"/>
            <p:cNvGrpSpPr/>
            <p:nvPr/>
          </p:nvGrpSpPr>
          <p:grpSpPr>
            <a:xfrm>
              <a:off x="0" y="0"/>
              <a:ext cx="1344" cy="1927"/>
              <a:chOff x="0" y="0"/>
              <a:chExt cx="1344" cy="1927"/>
            </a:xfrm>
          </p:grpSpPr>
          <p:sp>
            <p:nvSpPr>
              <p:cNvPr id="30822" name="矩形 30822"/>
              <p:cNvSpPr/>
              <p:nvPr/>
            </p:nvSpPr>
            <p:spPr>
              <a:xfrm>
                <a:off x="0" y="1591"/>
                <a:ext cx="528" cy="33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823" name="矩形 30823"/>
              <p:cNvSpPr/>
              <p:nvPr/>
            </p:nvSpPr>
            <p:spPr>
              <a:xfrm>
                <a:off x="960" y="0"/>
                <a:ext cx="384" cy="2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30824" name="组合 30824"/>
            <p:cNvGrpSpPr/>
            <p:nvPr/>
          </p:nvGrpSpPr>
          <p:grpSpPr>
            <a:xfrm>
              <a:off x="100" y="44"/>
              <a:ext cx="1270" cy="1776"/>
              <a:chOff x="0" y="0"/>
              <a:chExt cx="1270" cy="1776"/>
            </a:xfrm>
          </p:grpSpPr>
          <p:grpSp>
            <p:nvGrpSpPr>
              <p:cNvPr id="30825" name="组合 30825"/>
              <p:cNvGrpSpPr/>
              <p:nvPr/>
            </p:nvGrpSpPr>
            <p:grpSpPr>
              <a:xfrm>
                <a:off x="0" y="1515"/>
                <a:ext cx="384" cy="261"/>
                <a:chOff x="0" y="0"/>
                <a:chExt cx="384" cy="261"/>
              </a:xfrm>
            </p:grpSpPr>
            <p:sp>
              <p:nvSpPr>
                <p:cNvPr id="30826" name="椭圆 30826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827" name="文本框 30827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13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0828" name="组合 30828"/>
              <p:cNvGrpSpPr/>
              <p:nvPr/>
            </p:nvGrpSpPr>
            <p:grpSpPr>
              <a:xfrm>
                <a:off x="886" y="0"/>
                <a:ext cx="384" cy="261"/>
                <a:chOff x="0" y="0"/>
                <a:chExt cx="384" cy="261"/>
              </a:xfrm>
            </p:grpSpPr>
            <p:sp>
              <p:nvSpPr>
                <p:cNvPr id="30829" name="椭圆 30829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830" name="文本框 30830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97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</p:grpSp>
      </p:grpSp>
      <p:grpSp>
        <p:nvGrpSpPr>
          <p:cNvPr id="30832" name="组合 30831"/>
          <p:cNvGrpSpPr/>
          <p:nvPr/>
        </p:nvGrpSpPr>
        <p:grpSpPr>
          <a:xfrm>
            <a:off x="2326005" y="4199890"/>
            <a:ext cx="234950" cy="422275"/>
            <a:chOff x="0" y="0"/>
            <a:chExt cx="148" cy="266"/>
          </a:xfrm>
        </p:grpSpPr>
        <p:sp>
          <p:nvSpPr>
            <p:cNvPr id="15" name="矩形 30832"/>
            <p:cNvSpPr/>
            <p:nvPr/>
          </p:nvSpPr>
          <p:spPr>
            <a:xfrm>
              <a:off x="0" y="0"/>
              <a:ext cx="144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2" charset="0"/>
              </a:endParaRPr>
            </a:p>
          </p:txBody>
        </p:sp>
        <p:sp>
          <p:nvSpPr>
            <p:cNvPr id="30833" name="矩形 30833"/>
            <p:cNvSpPr/>
            <p:nvPr/>
          </p:nvSpPr>
          <p:spPr>
            <a:xfrm>
              <a:off x="4" y="122"/>
              <a:ext cx="144" cy="14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2" charset="0"/>
              </a:endParaRPr>
            </a:p>
          </p:txBody>
        </p:sp>
      </p:grpSp>
      <p:sp>
        <p:nvSpPr>
          <p:cNvPr id="30835" name="任意多边形 30834"/>
          <p:cNvSpPr/>
          <p:nvPr/>
        </p:nvSpPr>
        <p:spPr>
          <a:xfrm>
            <a:off x="3891280" y="2399665"/>
            <a:ext cx="457200" cy="546100"/>
          </a:xfrm>
          <a:custGeom>
            <a:avLst/>
            <a:gdLst/>
            <a:ahLst/>
            <a:cxnLst/>
            <a:pathLst>
              <a:path w="288" h="344">
                <a:moveTo>
                  <a:pt x="288" y="344"/>
                </a:moveTo>
                <a:cubicBezTo>
                  <a:pt x="288" y="228"/>
                  <a:pt x="288" y="112"/>
                  <a:pt x="240" y="56"/>
                </a:cubicBezTo>
                <a:cubicBezTo>
                  <a:pt x="192" y="0"/>
                  <a:pt x="96" y="4"/>
                  <a:pt x="0" y="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836" name="组合 30835"/>
          <p:cNvGrpSpPr/>
          <p:nvPr/>
        </p:nvGrpSpPr>
        <p:grpSpPr>
          <a:xfrm>
            <a:off x="3205480" y="2040890"/>
            <a:ext cx="1793875" cy="1362075"/>
            <a:chOff x="0" y="0"/>
            <a:chExt cx="1130" cy="858"/>
          </a:xfrm>
        </p:grpSpPr>
        <p:grpSp>
          <p:nvGrpSpPr>
            <p:cNvPr id="16" name="组合 30836"/>
            <p:cNvGrpSpPr/>
            <p:nvPr/>
          </p:nvGrpSpPr>
          <p:grpSpPr>
            <a:xfrm>
              <a:off x="0" y="0"/>
              <a:ext cx="1130" cy="849"/>
              <a:chOff x="0" y="0"/>
              <a:chExt cx="1130" cy="849"/>
            </a:xfrm>
          </p:grpSpPr>
          <p:sp>
            <p:nvSpPr>
              <p:cNvPr id="30837" name="矩形 30837"/>
              <p:cNvSpPr/>
              <p:nvPr/>
            </p:nvSpPr>
            <p:spPr>
              <a:xfrm>
                <a:off x="218" y="81"/>
                <a:ext cx="912" cy="76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838" name="矩形 30838"/>
              <p:cNvSpPr/>
              <p:nvPr/>
            </p:nvSpPr>
            <p:spPr>
              <a:xfrm>
                <a:off x="0" y="0"/>
                <a:ext cx="384" cy="33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30839" name="组合 30839"/>
            <p:cNvGrpSpPr/>
            <p:nvPr/>
          </p:nvGrpSpPr>
          <p:grpSpPr>
            <a:xfrm>
              <a:off x="166" y="96"/>
              <a:ext cx="816" cy="762"/>
              <a:chOff x="0" y="0"/>
              <a:chExt cx="816" cy="762"/>
            </a:xfrm>
          </p:grpSpPr>
          <p:grpSp>
            <p:nvGrpSpPr>
              <p:cNvPr id="30840" name="组合 30840"/>
              <p:cNvGrpSpPr/>
              <p:nvPr/>
            </p:nvGrpSpPr>
            <p:grpSpPr>
              <a:xfrm>
                <a:off x="0" y="0"/>
                <a:ext cx="384" cy="261"/>
                <a:chOff x="0" y="0"/>
                <a:chExt cx="384" cy="261"/>
              </a:xfrm>
            </p:grpSpPr>
            <p:sp>
              <p:nvSpPr>
                <p:cNvPr id="30841" name="椭圆 30841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842" name="文本框 30842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27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0843" name="组合 30843"/>
              <p:cNvGrpSpPr/>
              <p:nvPr/>
            </p:nvGrpSpPr>
            <p:grpSpPr>
              <a:xfrm>
                <a:off x="203" y="250"/>
                <a:ext cx="613" cy="512"/>
                <a:chOff x="0" y="0"/>
                <a:chExt cx="613" cy="512"/>
              </a:xfrm>
            </p:grpSpPr>
            <p:sp>
              <p:nvSpPr>
                <p:cNvPr id="30844" name="直接连接符 30844"/>
                <p:cNvSpPr/>
                <p:nvPr/>
              </p:nvSpPr>
              <p:spPr>
                <a:xfrm>
                  <a:off x="0" y="0"/>
                  <a:ext cx="288" cy="28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30845" name="组合 30845"/>
                <p:cNvGrpSpPr/>
                <p:nvPr/>
              </p:nvGrpSpPr>
              <p:grpSpPr>
                <a:xfrm>
                  <a:off x="229" y="251"/>
                  <a:ext cx="384" cy="261"/>
                  <a:chOff x="0" y="0"/>
                  <a:chExt cx="384" cy="261"/>
                </a:xfrm>
              </p:grpSpPr>
              <p:sp>
                <p:nvSpPr>
                  <p:cNvPr id="30846" name="椭圆 30846"/>
                  <p:cNvSpPr/>
                  <p:nvPr/>
                </p:nvSpPr>
                <p:spPr>
                  <a:xfrm>
                    <a:off x="0" y="21"/>
                    <a:ext cx="240" cy="240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p>
                    <a:endParaRPr lang="zh-CN" altLang="en-US"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30847" name="文本框 30847"/>
                  <p:cNvSpPr txBox="1"/>
                  <p:nvPr/>
                </p:nvSpPr>
                <p:spPr>
                  <a:xfrm>
                    <a:off x="0" y="0"/>
                    <a:ext cx="384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>
                        <a:solidFill>
                          <a:schemeClr val="tx2"/>
                        </a:solidFill>
                        <a:latin typeface="Times New Roman" panose="02020603050405020304" pitchFamily="2" charset="0"/>
                      </a:rPr>
                      <a:t>97</a:t>
                    </a:r>
                    <a:endPara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</p:grpSp>
          </p:grpSp>
        </p:grpSp>
      </p:grpSp>
      <p:sp>
        <p:nvSpPr>
          <p:cNvPr id="30849" name="任意多边形 30848"/>
          <p:cNvSpPr/>
          <p:nvPr/>
        </p:nvSpPr>
        <p:spPr>
          <a:xfrm flipH="1">
            <a:off x="4577080" y="3250565"/>
            <a:ext cx="355600" cy="609600"/>
          </a:xfrm>
          <a:custGeom>
            <a:avLst/>
            <a:gdLst/>
            <a:ahLst/>
            <a:cxnLst/>
            <a:pathLst>
              <a:path w="224" h="384">
                <a:moveTo>
                  <a:pt x="32" y="384"/>
                </a:moveTo>
                <a:cubicBezTo>
                  <a:pt x="16" y="296"/>
                  <a:pt x="0" y="208"/>
                  <a:pt x="32" y="144"/>
                </a:cubicBezTo>
                <a:cubicBezTo>
                  <a:pt x="64" y="80"/>
                  <a:pt x="192" y="24"/>
                  <a:pt x="224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850" name="组合 30849"/>
          <p:cNvGrpSpPr/>
          <p:nvPr/>
        </p:nvGrpSpPr>
        <p:grpSpPr>
          <a:xfrm>
            <a:off x="3815080" y="2869565"/>
            <a:ext cx="1336675" cy="1600200"/>
            <a:chOff x="0" y="0"/>
            <a:chExt cx="842" cy="1008"/>
          </a:xfrm>
        </p:grpSpPr>
        <p:grpSp>
          <p:nvGrpSpPr>
            <p:cNvPr id="17" name="组合 30850"/>
            <p:cNvGrpSpPr/>
            <p:nvPr/>
          </p:nvGrpSpPr>
          <p:grpSpPr>
            <a:xfrm>
              <a:off x="0" y="0"/>
              <a:ext cx="842" cy="1008"/>
              <a:chOff x="0" y="0"/>
              <a:chExt cx="842" cy="1008"/>
            </a:xfrm>
          </p:grpSpPr>
          <p:sp>
            <p:nvSpPr>
              <p:cNvPr id="30851" name="矩形 30851"/>
              <p:cNvSpPr/>
              <p:nvPr/>
            </p:nvSpPr>
            <p:spPr>
              <a:xfrm>
                <a:off x="314" y="0"/>
                <a:ext cx="528" cy="100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852" name="矩形 30852"/>
              <p:cNvSpPr/>
              <p:nvPr/>
            </p:nvSpPr>
            <p:spPr>
              <a:xfrm>
                <a:off x="0" y="96"/>
                <a:ext cx="480" cy="24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30853" name="组合 30853"/>
            <p:cNvGrpSpPr/>
            <p:nvPr/>
          </p:nvGrpSpPr>
          <p:grpSpPr>
            <a:xfrm>
              <a:off x="214" y="74"/>
              <a:ext cx="602" cy="768"/>
              <a:chOff x="0" y="0"/>
              <a:chExt cx="602" cy="768"/>
            </a:xfrm>
          </p:grpSpPr>
          <p:grpSp>
            <p:nvGrpSpPr>
              <p:cNvPr id="30854" name="组合 30854"/>
              <p:cNvGrpSpPr/>
              <p:nvPr/>
            </p:nvGrpSpPr>
            <p:grpSpPr>
              <a:xfrm>
                <a:off x="155" y="251"/>
                <a:ext cx="447" cy="517"/>
                <a:chOff x="0" y="0"/>
                <a:chExt cx="447" cy="517"/>
              </a:xfrm>
            </p:grpSpPr>
            <p:grpSp>
              <p:nvGrpSpPr>
                <p:cNvPr id="30855" name="组合 30855"/>
                <p:cNvGrpSpPr/>
                <p:nvPr/>
              </p:nvGrpSpPr>
              <p:grpSpPr>
                <a:xfrm>
                  <a:off x="63" y="256"/>
                  <a:ext cx="384" cy="261"/>
                  <a:chOff x="0" y="0"/>
                  <a:chExt cx="384" cy="261"/>
                </a:xfrm>
              </p:grpSpPr>
              <p:sp>
                <p:nvSpPr>
                  <p:cNvPr id="30856" name="椭圆 30856"/>
                  <p:cNvSpPr/>
                  <p:nvPr/>
                </p:nvSpPr>
                <p:spPr>
                  <a:xfrm>
                    <a:off x="0" y="21"/>
                    <a:ext cx="240" cy="240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p>
                    <a:endParaRPr lang="zh-CN" altLang="en-US"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30857" name="文本框 30857"/>
                  <p:cNvSpPr txBox="1"/>
                  <p:nvPr/>
                </p:nvSpPr>
                <p:spPr>
                  <a:xfrm>
                    <a:off x="0" y="0"/>
                    <a:ext cx="384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>
                        <a:solidFill>
                          <a:schemeClr val="tx2"/>
                        </a:solidFill>
                        <a:latin typeface="Times New Roman" panose="02020603050405020304" pitchFamily="2" charset="0"/>
                      </a:rPr>
                      <a:t>97</a:t>
                    </a:r>
                    <a:endPara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</p:grpSp>
            <p:sp>
              <p:nvSpPr>
                <p:cNvPr id="30858" name="直接连接符 30858"/>
                <p:cNvSpPr/>
                <p:nvPr/>
              </p:nvSpPr>
              <p:spPr>
                <a:xfrm>
                  <a:off x="0" y="0"/>
                  <a:ext cx="144" cy="28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0859" name="组合 30859"/>
              <p:cNvGrpSpPr/>
              <p:nvPr/>
            </p:nvGrpSpPr>
            <p:grpSpPr>
              <a:xfrm>
                <a:off x="0" y="0"/>
                <a:ext cx="384" cy="261"/>
                <a:chOff x="0" y="0"/>
                <a:chExt cx="384" cy="261"/>
              </a:xfrm>
            </p:grpSpPr>
            <p:sp>
              <p:nvSpPr>
                <p:cNvPr id="30860" name="椭圆 30860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861" name="文本框 30861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49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</p:grpSp>
      </p:grpSp>
      <p:sp>
        <p:nvSpPr>
          <p:cNvPr id="30863" name="文本框 30862"/>
          <p:cNvSpPr txBox="1"/>
          <p:nvPr/>
        </p:nvSpPr>
        <p:spPr>
          <a:xfrm>
            <a:off x="5952808" y="3994468"/>
            <a:ext cx="34290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5.  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取得次小值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27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；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0864" name="文本框 30863"/>
          <p:cNvSpPr txBox="1"/>
          <p:nvPr/>
        </p:nvSpPr>
        <p:spPr>
          <a:xfrm>
            <a:off x="5952808" y="4393248"/>
            <a:ext cx="38862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6.  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删除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27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，重新改造成新堆；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0865" name="任意多边形 30864"/>
          <p:cNvSpPr/>
          <p:nvPr/>
        </p:nvSpPr>
        <p:spPr>
          <a:xfrm>
            <a:off x="3967480" y="2336165"/>
            <a:ext cx="990600" cy="1524000"/>
          </a:xfrm>
          <a:custGeom>
            <a:avLst/>
            <a:gdLst/>
            <a:ahLst/>
            <a:cxnLst/>
            <a:pathLst>
              <a:path w="624" h="960">
                <a:moveTo>
                  <a:pt x="0" y="0"/>
                </a:moveTo>
                <a:cubicBezTo>
                  <a:pt x="216" y="88"/>
                  <a:pt x="432" y="176"/>
                  <a:pt x="528" y="336"/>
                </a:cubicBezTo>
                <a:cubicBezTo>
                  <a:pt x="624" y="496"/>
                  <a:pt x="600" y="728"/>
                  <a:pt x="576" y="96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866" name="组合 30865"/>
          <p:cNvGrpSpPr/>
          <p:nvPr/>
        </p:nvGrpSpPr>
        <p:grpSpPr>
          <a:xfrm>
            <a:off x="3281680" y="2183765"/>
            <a:ext cx="1828800" cy="2270125"/>
            <a:chOff x="0" y="0"/>
            <a:chExt cx="1152" cy="1429"/>
          </a:xfrm>
        </p:grpSpPr>
        <p:grpSp>
          <p:nvGrpSpPr>
            <p:cNvPr id="18" name="组合 30866"/>
            <p:cNvGrpSpPr/>
            <p:nvPr/>
          </p:nvGrpSpPr>
          <p:grpSpPr>
            <a:xfrm>
              <a:off x="0" y="0"/>
              <a:ext cx="1104" cy="1429"/>
              <a:chOff x="0" y="0"/>
              <a:chExt cx="1104" cy="1429"/>
            </a:xfrm>
          </p:grpSpPr>
          <p:sp>
            <p:nvSpPr>
              <p:cNvPr id="30867" name="矩形 30867"/>
              <p:cNvSpPr/>
              <p:nvPr/>
            </p:nvSpPr>
            <p:spPr>
              <a:xfrm>
                <a:off x="720" y="1045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868" name="矩形 30868"/>
              <p:cNvSpPr/>
              <p:nvPr/>
            </p:nvSpPr>
            <p:spPr>
              <a:xfrm>
                <a:off x="0" y="0"/>
                <a:ext cx="528" cy="24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30869" name="组合 30869"/>
            <p:cNvGrpSpPr/>
            <p:nvPr/>
          </p:nvGrpSpPr>
          <p:grpSpPr>
            <a:xfrm>
              <a:off x="118" y="0"/>
              <a:ext cx="1034" cy="1268"/>
              <a:chOff x="0" y="0"/>
              <a:chExt cx="1034" cy="1268"/>
            </a:xfrm>
          </p:grpSpPr>
          <p:grpSp>
            <p:nvGrpSpPr>
              <p:cNvPr id="30870" name="组合 30870"/>
              <p:cNvGrpSpPr/>
              <p:nvPr/>
            </p:nvGrpSpPr>
            <p:grpSpPr>
              <a:xfrm>
                <a:off x="0" y="0"/>
                <a:ext cx="384" cy="261"/>
                <a:chOff x="0" y="0"/>
                <a:chExt cx="384" cy="261"/>
              </a:xfrm>
            </p:grpSpPr>
            <p:sp>
              <p:nvSpPr>
                <p:cNvPr id="30871" name="椭圆 30871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872" name="文本框 30872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97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0873" name="组合 30873"/>
              <p:cNvGrpSpPr/>
              <p:nvPr/>
            </p:nvGrpSpPr>
            <p:grpSpPr>
              <a:xfrm>
                <a:off x="650" y="1007"/>
                <a:ext cx="384" cy="261"/>
                <a:chOff x="0" y="0"/>
                <a:chExt cx="384" cy="261"/>
              </a:xfrm>
            </p:grpSpPr>
            <p:sp>
              <p:nvSpPr>
                <p:cNvPr id="30874" name="椭圆 30874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875" name="文本框 30875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27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</p:grpSp>
      </p:grpSp>
      <p:grpSp>
        <p:nvGrpSpPr>
          <p:cNvPr id="30877" name="组合 30876"/>
          <p:cNvGrpSpPr/>
          <p:nvPr/>
        </p:nvGrpSpPr>
        <p:grpSpPr>
          <a:xfrm>
            <a:off x="4348480" y="3402965"/>
            <a:ext cx="304800" cy="415925"/>
            <a:chOff x="0" y="0"/>
            <a:chExt cx="192" cy="262"/>
          </a:xfrm>
        </p:grpSpPr>
        <p:sp>
          <p:nvSpPr>
            <p:cNvPr id="19" name="矩形 30877"/>
            <p:cNvSpPr/>
            <p:nvPr/>
          </p:nvSpPr>
          <p:spPr>
            <a:xfrm>
              <a:off x="0" y="70"/>
              <a:ext cx="192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2" charset="0"/>
              </a:endParaRPr>
            </a:p>
          </p:txBody>
        </p:sp>
        <p:sp>
          <p:nvSpPr>
            <p:cNvPr id="30878" name="矩形 30878"/>
            <p:cNvSpPr/>
            <p:nvPr/>
          </p:nvSpPr>
          <p:spPr>
            <a:xfrm>
              <a:off x="26" y="0"/>
              <a:ext cx="144" cy="9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2" charset="0"/>
              </a:endParaRPr>
            </a:p>
          </p:txBody>
        </p:sp>
      </p:grpSp>
      <p:sp>
        <p:nvSpPr>
          <p:cNvPr id="30880" name="任意多边形 30879"/>
          <p:cNvSpPr/>
          <p:nvPr/>
        </p:nvSpPr>
        <p:spPr>
          <a:xfrm>
            <a:off x="2900680" y="2399665"/>
            <a:ext cx="533400" cy="546100"/>
          </a:xfrm>
          <a:custGeom>
            <a:avLst/>
            <a:gdLst/>
            <a:ahLst/>
            <a:cxnLst/>
            <a:pathLst>
              <a:path w="336" h="344">
                <a:moveTo>
                  <a:pt x="0" y="344"/>
                </a:moveTo>
                <a:cubicBezTo>
                  <a:pt x="20" y="228"/>
                  <a:pt x="40" y="112"/>
                  <a:pt x="96" y="56"/>
                </a:cubicBezTo>
                <a:cubicBezTo>
                  <a:pt x="152" y="0"/>
                  <a:pt x="244" y="4"/>
                  <a:pt x="336" y="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881" name="组合 30880"/>
          <p:cNvGrpSpPr/>
          <p:nvPr/>
        </p:nvGrpSpPr>
        <p:grpSpPr>
          <a:xfrm>
            <a:off x="2460943" y="2161540"/>
            <a:ext cx="1735137" cy="1231900"/>
            <a:chOff x="0" y="0"/>
            <a:chExt cx="1093" cy="777"/>
          </a:xfrm>
        </p:grpSpPr>
        <p:grpSp>
          <p:nvGrpSpPr>
            <p:cNvPr id="20" name="组合 30881"/>
            <p:cNvGrpSpPr/>
            <p:nvPr/>
          </p:nvGrpSpPr>
          <p:grpSpPr>
            <a:xfrm>
              <a:off x="0" y="0"/>
              <a:ext cx="1093" cy="768"/>
              <a:chOff x="0" y="0"/>
              <a:chExt cx="1093" cy="768"/>
            </a:xfrm>
          </p:grpSpPr>
          <p:sp>
            <p:nvSpPr>
              <p:cNvPr id="30882" name="矩形 30882"/>
              <p:cNvSpPr/>
              <p:nvPr/>
            </p:nvSpPr>
            <p:spPr>
              <a:xfrm>
                <a:off x="0" y="0"/>
                <a:ext cx="816" cy="76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883" name="矩形 30883"/>
              <p:cNvSpPr/>
              <p:nvPr/>
            </p:nvSpPr>
            <p:spPr>
              <a:xfrm>
                <a:off x="661" y="48"/>
                <a:ext cx="432" cy="19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30884" name="组合 30884"/>
            <p:cNvGrpSpPr/>
            <p:nvPr/>
          </p:nvGrpSpPr>
          <p:grpSpPr>
            <a:xfrm>
              <a:off x="196" y="15"/>
              <a:ext cx="816" cy="762"/>
              <a:chOff x="0" y="0"/>
              <a:chExt cx="816" cy="762"/>
            </a:xfrm>
          </p:grpSpPr>
          <p:sp>
            <p:nvSpPr>
              <p:cNvPr id="30885" name="直接连接符 30885"/>
              <p:cNvSpPr/>
              <p:nvPr/>
            </p:nvSpPr>
            <p:spPr>
              <a:xfrm flipH="1">
                <a:off x="192" y="250"/>
                <a:ext cx="288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30886" name="组合 30886"/>
              <p:cNvGrpSpPr/>
              <p:nvPr/>
            </p:nvGrpSpPr>
            <p:grpSpPr>
              <a:xfrm>
                <a:off x="0" y="501"/>
                <a:ext cx="384" cy="261"/>
                <a:chOff x="0" y="0"/>
                <a:chExt cx="384" cy="261"/>
              </a:xfrm>
            </p:grpSpPr>
            <p:sp>
              <p:nvSpPr>
                <p:cNvPr id="30887" name="椭圆 30887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888" name="文本框 30888"/>
                <p:cNvSpPr txBox="1"/>
                <p:nvPr/>
              </p:nvSpPr>
              <p:spPr>
                <a:xfrm>
                  <a:off x="0" y="0"/>
                  <a:ext cx="384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97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  <p:grpSp>
            <p:nvGrpSpPr>
              <p:cNvPr id="30889" name="组合 30889"/>
              <p:cNvGrpSpPr/>
              <p:nvPr/>
            </p:nvGrpSpPr>
            <p:grpSpPr>
              <a:xfrm>
                <a:off x="432" y="0"/>
                <a:ext cx="384" cy="261"/>
                <a:chOff x="0" y="0"/>
                <a:chExt cx="384" cy="261"/>
              </a:xfrm>
            </p:grpSpPr>
            <p:sp>
              <p:nvSpPr>
                <p:cNvPr id="30890" name="椭圆 30890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891" name="文本框 30891"/>
                <p:cNvSpPr txBox="1"/>
                <p:nvPr/>
              </p:nvSpPr>
              <p:spPr>
                <a:xfrm>
                  <a:off x="0" y="0"/>
                  <a:ext cx="384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38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</p:grpSp>
      </p:grpSp>
      <p:sp>
        <p:nvSpPr>
          <p:cNvPr id="30893" name="任意多边形 30892"/>
          <p:cNvSpPr/>
          <p:nvPr/>
        </p:nvSpPr>
        <p:spPr>
          <a:xfrm>
            <a:off x="2392680" y="3250565"/>
            <a:ext cx="355600" cy="609600"/>
          </a:xfrm>
          <a:custGeom>
            <a:avLst/>
            <a:gdLst/>
            <a:ahLst/>
            <a:cxnLst/>
            <a:pathLst>
              <a:path w="224" h="384">
                <a:moveTo>
                  <a:pt x="32" y="384"/>
                </a:moveTo>
                <a:cubicBezTo>
                  <a:pt x="16" y="296"/>
                  <a:pt x="0" y="208"/>
                  <a:pt x="32" y="144"/>
                </a:cubicBezTo>
                <a:cubicBezTo>
                  <a:pt x="64" y="80"/>
                  <a:pt x="192" y="24"/>
                  <a:pt x="224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894" name="组合 30893"/>
          <p:cNvGrpSpPr/>
          <p:nvPr/>
        </p:nvGrpSpPr>
        <p:grpSpPr>
          <a:xfrm>
            <a:off x="2097405" y="2793365"/>
            <a:ext cx="1377950" cy="1524000"/>
            <a:chOff x="0" y="0"/>
            <a:chExt cx="868" cy="960"/>
          </a:xfrm>
        </p:grpSpPr>
        <p:grpSp>
          <p:nvGrpSpPr>
            <p:cNvPr id="21" name="组合 30894"/>
            <p:cNvGrpSpPr/>
            <p:nvPr/>
          </p:nvGrpSpPr>
          <p:grpSpPr>
            <a:xfrm>
              <a:off x="0" y="0"/>
              <a:ext cx="868" cy="960"/>
              <a:chOff x="0" y="0"/>
              <a:chExt cx="868" cy="960"/>
            </a:xfrm>
          </p:grpSpPr>
          <p:sp>
            <p:nvSpPr>
              <p:cNvPr id="30895" name="矩形 30895"/>
              <p:cNvSpPr/>
              <p:nvPr/>
            </p:nvSpPr>
            <p:spPr>
              <a:xfrm>
                <a:off x="0" y="0"/>
                <a:ext cx="576" cy="96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  <p:sp>
            <p:nvSpPr>
              <p:cNvPr id="30896" name="矩形 30896"/>
              <p:cNvSpPr/>
              <p:nvPr/>
            </p:nvSpPr>
            <p:spPr>
              <a:xfrm>
                <a:off x="580" y="166"/>
                <a:ext cx="288" cy="19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2" charset="0"/>
                </a:endParaRPr>
              </a:p>
            </p:txBody>
          </p:sp>
        </p:grpSp>
        <p:grpSp>
          <p:nvGrpSpPr>
            <p:cNvPr id="30897" name="组合 30897"/>
            <p:cNvGrpSpPr/>
            <p:nvPr/>
          </p:nvGrpSpPr>
          <p:grpSpPr>
            <a:xfrm>
              <a:off x="218" y="122"/>
              <a:ext cx="595" cy="768"/>
              <a:chOff x="0" y="0"/>
              <a:chExt cx="595" cy="768"/>
            </a:xfrm>
          </p:grpSpPr>
          <p:grpSp>
            <p:nvGrpSpPr>
              <p:cNvPr id="30898" name="组合 30898"/>
              <p:cNvGrpSpPr/>
              <p:nvPr/>
            </p:nvGrpSpPr>
            <p:grpSpPr>
              <a:xfrm>
                <a:off x="0" y="240"/>
                <a:ext cx="384" cy="528"/>
                <a:chOff x="0" y="0"/>
                <a:chExt cx="384" cy="528"/>
              </a:xfrm>
            </p:grpSpPr>
            <p:grpSp>
              <p:nvGrpSpPr>
                <p:cNvPr id="30899" name="组合 30899"/>
                <p:cNvGrpSpPr/>
                <p:nvPr/>
              </p:nvGrpSpPr>
              <p:grpSpPr>
                <a:xfrm>
                  <a:off x="0" y="267"/>
                  <a:ext cx="384" cy="261"/>
                  <a:chOff x="0" y="0"/>
                  <a:chExt cx="384" cy="261"/>
                </a:xfrm>
              </p:grpSpPr>
              <p:sp>
                <p:nvSpPr>
                  <p:cNvPr id="30900" name="椭圆 30900"/>
                  <p:cNvSpPr/>
                  <p:nvPr/>
                </p:nvSpPr>
                <p:spPr>
                  <a:xfrm>
                    <a:off x="0" y="21"/>
                    <a:ext cx="240" cy="240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p>
                    <a:endParaRPr lang="zh-CN" altLang="en-US">
                      <a:latin typeface="Times New Roman" panose="02020603050405020304" pitchFamily="2" charset="0"/>
                    </a:endParaRPr>
                  </a:p>
                </p:txBody>
              </p:sp>
              <p:sp>
                <p:nvSpPr>
                  <p:cNvPr id="30901" name="文本框 30901"/>
                  <p:cNvSpPr txBox="1"/>
                  <p:nvPr/>
                </p:nvSpPr>
                <p:spPr>
                  <a:xfrm>
                    <a:off x="0" y="0"/>
                    <a:ext cx="384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>
                        <a:solidFill>
                          <a:schemeClr val="tx2"/>
                        </a:solidFill>
                        <a:latin typeface="Times New Roman" panose="02020603050405020304" pitchFamily="2" charset="0"/>
                      </a:rPr>
                      <a:t>97</a:t>
                    </a:r>
                    <a:endPara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endParaRPr>
                  </a:p>
                </p:txBody>
              </p:sp>
            </p:grpSp>
            <p:sp>
              <p:nvSpPr>
                <p:cNvPr id="30902" name="直接连接符 30902"/>
                <p:cNvSpPr/>
                <p:nvPr/>
              </p:nvSpPr>
              <p:spPr>
                <a:xfrm flipH="1">
                  <a:off x="170" y="0"/>
                  <a:ext cx="144" cy="28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0903" name="组合 30903"/>
              <p:cNvGrpSpPr/>
              <p:nvPr/>
            </p:nvGrpSpPr>
            <p:grpSpPr>
              <a:xfrm>
                <a:off x="211" y="0"/>
                <a:ext cx="384" cy="261"/>
                <a:chOff x="0" y="0"/>
                <a:chExt cx="384" cy="261"/>
              </a:xfrm>
            </p:grpSpPr>
            <p:sp>
              <p:nvSpPr>
                <p:cNvPr id="30904" name="椭圆 30904"/>
                <p:cNvSpPr/>
                <p:nvPr/>
              </p:nvSpPr>
              <p:spPr>
                <a:xfrm>
                  <a:off x="0" y="21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2" charset="0"/>
                  </a:endParaRPr>
                </a:p>
              </p:txBody>
            </p:sp>
            <p:sp>
              <p:nvSpPr>
                <p:cNvPr id="30905" name="文本框 30905"/>
                <p:cNvSpPr txBox="1"/>
                <p:nvPr/>
              </p:nvSpPr>
              <p:spPr>
                <a:xfrm>
                  <a:off x="0" y="0"/>
                  <a:ext cx="38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50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2" charset="0"/>
                  </a:endParaRPr>
                </a:p>
              </p:txBody>
            </p:sp>
          </p:grpSp>
        </p:grpSp>
      </p:grpSp>
      <p:sp>
        <p:nvSpPr>
          <p:cNvPr id="30907" name="文本框 30906"/>
          <p:cNvSpPr txBox="1"/>
          <p:nvPr/>
        </p:nvSpPr>
        <p:spPr>
          <a:xfrm>
            <a:off x="5952808" y="4792345"/>
            <a:ext cx="34290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7.   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取得次次小值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38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；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83556" y="272684"/>
            <a:ext cx="6034478" cy="788014"/>
            <a:chOff x="383556" y="258714"/>
            <a:chExt cx="6034478" cy="788014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heap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堆排序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  <p:bldP spid="30762" grpId="0"/>
      <p:bldP spid="30818" grpId="0"/>
      <p:bldP spid="30819" grpId="0"/>
      <p:bldP spid="30863" grpId="0"/>
      <p:bldP spid="30864" grpId="0"/>
      <p:bldP spid="3090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heap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堆排序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73810" y="1348105"/>
            <a:ext cx="1031176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堆排序的特点：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稳定性：不稳定</a:t>
            </a:r>
            <a:endParaRPr lang="zh-CN" alt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时间复杂度：O(nlogn)</a:t>
            </a:r>
            <a:endParaRPr lang="zh-CN" alt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zh-CN" alt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8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堆排序对记录较少的文件效果一般，但对于记录较多的文件很有效果，其运行时间主要耗费在创建堆与调整堆上</a:t>
            </a:r>
            <a:endParaRPr lang="zh-CN" alt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Merge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归并排序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14730" y="1164590"/>
            <a:ext cx="10311765" cy="4874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归并排序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 algn="ctr">
              <a:lnSpc>
                <a:spcPct val="60000"/>
              </a:lnSpc>
              <a:buNone/>
            </a:pP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	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利用递归与分治技术将数据序列划分为越来越小的半子表，再对半子表排序，最后再用递归步骤将排好序的半子表合并成为越来越大的有序序列。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    原理如下：对于给定的一组记录，首先将两个相邻的长度为1的子序列进行归并，得到n/2个长度为2或者1的有序子序列，在将其两两归并，反复执行此过程，直到得到一个有序的序列为止。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Merge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归并排序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3797" name="文本框 33797"/>
          <p:cNvSpPr txBox="1"/>
          <p:nvPr/>
        </p:nvSpPr>
        <p:spPr>
          <a:xfrm>
            <a:off x="2117725" y="1046480"/>
            <a:ext cx="7229475" cy="5175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</a:rPr>
              <a:t>例：将49  38  65  97  76  13  27由小到大排序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3799" name="文本框 33798"/>
          <p:cNvSpPr txBox="1"/>
          <p:nvPr/>
        </p:nvSpPr>
        <p:spPr>
          <a:xfrm>
            <a:off x="2117408" y="2226310"/>
            <a:ext cx="7646987" cy="30178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endParaRPr lang="zh-CN" altLang="en-US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初始化关键字: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[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49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[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38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[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65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[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97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[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76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[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13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[</a:t>
            </a:r>
            <a:r>
              <a:rPr lang="zh-CN" altLang="en-US" sz="2400" dirty="0">
                <a:solidFill>
                  <a:schemeClr val="folHlink"/>
                </a:solidFill>
                <a:latin typeface="宋体" panose="02010600030101010101" pitchFamily="2" charset="-122"/>
              </a:rPr>
              <a:t>27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</a:t>
            </a:r>
            <a:endParaRPr lang="zh-CN" altLang="en-US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endParaRPr lang="zh-CN" altLang="en-US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一趟归并后：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 [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38  49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 [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65  97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  [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13  76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[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27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</a:t>
            </a:r>
            <a:endParaRPr lang="zh-CN" altLang="en-US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endParaRPr lang="zh-CN" altLang="en-US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二趟归并后：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   [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38 49 65  97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      [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13 27 76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</a:t>
            </a:r>
            <a:endParaRPr lang="zh-CN" altLang="en-US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endParaRPr lang="zh-CN" altLang="en-US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三趟归并后：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    [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13  27  38  49  65  76  97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]    </a:t>
            </a:r>
            <a:endParaRPr lang="zh-CN" altLang="en-US" sz="24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charRg st="1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9">
                                            <p:txEl>
                                              <p:charRg st="1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charRg st="44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9">
                                            <p:txEl>
                                              <p:charRg st="44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charRg st="87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9">
                                            <p:txEl>
                                              <p:charRg st="87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charRg st="129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99">
                                            <p:txEl>
                                              <p:charRg st="129" end="1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Merge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归并排序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3799" name="文本框 33798"/>
          <p:cNvSpPr txBox="1"/>
          <p:nvPr/>
        </p:nvSpPr>
        <p:spPr>
          <a:xfrm>
            <a:off x="2117408" y="2226310"/>
            <a:ext cx="7646987" cy="19380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归并排序特点：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平均时间复杂度：   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O(nlog</a:t>
            </a:r>
            <a:r>
              <a:rPr lang="en-US" altLang="zh-CN" sz="2400" baseline="-250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2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n)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稳定性：    稳定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Radix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基数排序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3799" name="文本框 33798"/>
          <p:cNvSpPr txBox="1"/>
          <p:nvPr/>
        </p:nvSpPr>
        <p:spPr>
          <a:xfrm>
            <a:off x="1014730" y="1337310"/>
            <a:ext cx="9875520" cy="3747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基数排序（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Radix Sorting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）是一种借助多关键字排序的思想对单逻辑关键字进行关系的方法。基数排序不需要进行记录关键字间的比较。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主要分为两个过程：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(1)分配，先从个位开始，根据位值(0-9)分别放到0~9号桶中（比如53,个位为3，则放入3号桶中）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(2)收集，再将放置在0~9号桶中的数据按顺序放到数组中 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5" name="文本框 36865"/>
          <p:cNvSpPr txBox="1"/>
          <p:nvPr/>
        </p:nvSpPr>
        <p:spPr>
          <a:xfrm>
            <a:off x="1651000" y="836930"/>
            <a:ext cx="94869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2" charset="0"/>
              </a:rPr>
              <a:t>例，序列         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2" charset="0"/>
              </a:rPr>
              <a:t>278    109    063    930    589    184    505   269    008    083</a:t>
            </a:r>
            <a:endParaRPr lang="en-US" altLang="zh-CN" sz="24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867" name="文本框 36866"/>
          <p:cNvSpPr txBox="1"/>
          <p:nvPr/>
        </p:nvSpPr>
        <p:spPr>
          <a:xfrm>
            <a:off x="1981200" y="1435100"/>
            <a:ext cx="16002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第一趟分配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868" name="文本框 36867"/>
          <p:cNvSpPr txBox="1"/>
          <p:nvPr/>
        </p:nvSpPr>
        <p:spPr>
          <a:xfrm>
            <a:off x="3810000" y="1450975"/>
            <a:ext cx="63246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0       1       2        3        4        5        6       7       8       9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36869" name="组合 36868"/>
          <p:cNvGrpSpPr/>
          <p:nvPr/>
        </p:nvGrpSpPr>
        <p:grpSpPr>
          <a:xfrm>
            <a:off x="8551863" y="1876425"/>
            <a:ext cx="685800" cy="568316"/>
            <a:chOff x="0" y="0"/>
            <a:chExt cx="432" cy="359"/>
          </a:xfrm>
        </p:grpSpPr>
        <p:sp>
          <p:nvSpPr>
            <p:cNvPr id="2" name="直接连接符 36869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870" name="文本框 36870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27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8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872" name="组合 36871"/>
          <p:cNvGrpSpPr/>
          <p:nvPr/>
        </p:nvGrpSpPr>
        <p:grpSpPr>
          <a:xfrm>
            <a:off x="9126538" y="1876425"/>
            <a:ext cx="685800" cy="568316"/>
            <a:chOff x="0" y="0"/>
            <a:chExt cx="432" cy="359"/>
          </a:xfrm>
        </p:grpSpPr>
        <p:sp>
          <p:nvSpPr>
            <p:cNvPr id="3" name="直接连接符 36872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873" name="文本框 36873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10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9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875" name="组合 36874"/>
          <p:cNvGrpSpPr/>
          <p:nvPr/>
        </p:nvGrpSpPr>
        <p:grpSpPr>
          <a:xfrm>
            <a:off x="5503863" y="1876425"/>
            <a:ext cx="685800" cy="568316"/>
            <a:chOff x="0" y="0"/>
            <a:chExt cx="432" cy="359"/>
          </a:xfrm>
        </p:grpSpPr>
        <p:sp>
          <p:nvSpPr>
            <p:cNvPr id="4" name="直接连接符 36875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876" name="文本框 36876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06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3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878" name="组合 36877"/>
          <p:cNvGrpSpPr/>
          <p:nvPr/>
        </p:nvGrpSpPr>
        <p:grpSpPr>
          <a:xfrm>
            <a:off x="3716338" y="1876425"/>
            <a:ext cx="685800" cy="568316"/>
            <a:chOff x="0" y="0"/>
            <a:chExt cx="432" cy="359"/>
          </a:xfrm>
        </p:grpSpPr>
        <p:sp>
          <p:nvSpPr>
            <p:cNvPr id="5" name="直接连接符 36878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879" name="文本框 36879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93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0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881" name="组合 36880"/>
          <p:cNvGrpSpPr/>
          <p:nvPr/>
        </p:nvGrpSpPr>
        <p:grpSpPr>
          <a:xfrm>
            <a:off x="9126538" y="2441575"/>
            <a:ext cx="685800" cy="568325"/>
            <a:chOff x="0" y="0"/>
            <a:chExt cx="432" cy="357"/>
          </a:xfrm>
        </p:grpSpPr>
        <p:sp>
          <p:nvSpPr>
            <p:cNvPr id="6" name="直接连接符 36881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882" name="文本框 36882"/>
            <p:cNvSpPr txBox="1"/>
            <p:nvPr/>
          </p:nvSpPr>
          <p:spPr>
            <a:xfrm>
              <a:off x="0" y="107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58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9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884" name="组合 36883"/>
          <p:cNvGrpSpPr/>
          <p:nvPr/>
        </p:nvGrpSpPr>
        <p:grpSpPr>
          <a:xfrm>
            <a:off x="6148388" y="1876425"/>
            <a:ext cx="685800" cy="568316"/>
            <a:chOff x="0" y="0"/>
            <a:chExt cx="432" cy="359"/>
          </a:xfrm>
        </p:grpSpPr>
        <p:sp>
          <p:nvSpPr>
            <p:cNvPr id="7" name="直接连接符 36884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885" name="文本框 36885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18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4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887" name="组合 36886"/>
          <p:cNvGrpSpPr/>
          <p:nvPr/>
        </p:nvGrpSpPr>
        <p:grpSpPr>
          <a:xfrm>
            <a:off x="6781800" y="1876425"/>
            <a:ext cx="685800" cy="568316"/>
            <a:chOff x="0" y="0"/>
            <a:chExt cx="432" cy="359"/>
          </a:xfrm>
        </p:grpSpPr>
        <p:sp>
          <p:nvSpPr>
            <p:cNvPr id="8" name="直接连接符 36887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888" name="文本框 36888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50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5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890" name="组合 36889"/>
          <p:cNvGrpSpPr/>
          <p:nvPr/>
        </p:nvGrpSpPr>
        <p:grpSpPr>
          <a:xfrm>
            <a:off x="9126538" y="2974975"/>
            <a:ext cx="685800" cy="568325"/>
            <a:chOff x="0" y="0"/>
            <a:chExt cx="432" cy="357"/>
          </a:xfrm>
        </p:grpSpPr>
        <p:sp>
          <p:nvSpPr>
            <p:cNvPr id="9" name="直接连接符 36890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891" name="文本框 36891"/>
            <p:cNvSpPr txBox="1"/>
            <p:nvPr/>
          </p:nvSpPr>
          <p:spPr>
            <a:xfrm>
              <a:off x="0" y="107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26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9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893" name="组合 36892"/>
          <p:cNvGrpSpPr/>
          <p:nvPr/>
        </p:nvGrpSpPr>
        <p:grpSpPr>
          <a:xfrm>
            <a:off x="8558213" y="2441575"/>
            <a:ext cx="685800" cy="568325"/>
            <a:chOff x="0" y="0"/>
            <a:chExt cx="432" cy="357"/>
          </a:xfrm>
        </p:grpSpPr>
        <p:sp>
          <p:nvSpPr>
            <p:cNvPr id="10" name="直接连接符 36893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894" name="文本框 36894"/>
            <p:cNvSpPr txBox="1"/>
            <p:nvPr/>
          </p:nvSpPr>
          <p:spPr>
            <a:xfrm>
              <a:off x="0" y="107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00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8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896" name="组合 36895"/>
          <p:cNvGrpSpPr/>
          <p:nvPr/>
        </p:nvGrpSpPr>
        <p:grpSpPr>
          <a:xfrm>
            <a:off x="5503863" y="2441575"/>
            <a:ext cx="685800" cy="568325"/>
            <a:chOff x="0" y="0"/>
            <a:chExt cx="432" cy="357"/>
          </a:xfrm>
        </p:grpSpPr>
        <p:sp>
          <p:nvSpPr>
            <p:cNvPr id="11" name="直接连接符 36896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897" name="文本框 36897"/>
            <p:cNvSpPr txBox="1"/>
            <p:nvPr/>
          </p:nvSpPr>
          <p:spPr>
            <a:xfrm>
              <a:off x="0" y="107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08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3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sp>
        <p:nvSpPr>
          <p:cNvPr id="36899" name="文本框 36898"/>
          <p:cNvSpPr txBox="1"/>
          <p:nvPr/>
        </p:nvSpPr>
        <p:spPr>
          <a:xfrm>
            <a:off x="1981200" y="3644900"/>
            <a:ext cx="16764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第一趟收集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00" name="文本框 36899"/>
          <p:cNvSpPr txBox="1"/>
          <p:nvPr/>
        </p:nvSpPr>
        <p:spPr>
          <a:xfrm>
            <a:off x="3657600" y="3644900"/>
            <a:ext cx="9906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930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01" name="文本框 36900"/>
          <p:cNvSpPr txBox="1"/>
          <p:nvPr/>
        </p:nvSpPr>
        <p:spPr>
          <a:xfrm>
            <a:off x="4343400" y="3644900"/>
            <a:ext cx="14478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063   083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02" name="文本框 36901"/>
          <p:cNvSpPr txBox="1"/>
          <p:nvPr/>
        </p:nvSpPr>
        <p:spPr>
          <a:xfrm>
            <a:off x="5562600" y="3644900"/>
            <a:ext cx="14478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184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03" name="文本框 36902"/>
          <p:cNvSpPr txBox="1"/>
          <p:nvPr/>
        </p:nvSpPr>
        <p:spPr>
          <a:xfrm>
            <a:off x="6196013" y="3644900"/>
            <a:ext cx="14478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505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04" name="文本框 36903"/>
          <p:cNvSpPr txBox="1"/>
          <p:nvPr/>
        </p:nvSpPr>
        <p:spPr>
          <a:xfrm>
            <a:off x="6805613" y="3644900"/>
            <a:ext cx="14478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278    008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05" name="文本框 36904"/>
          <p:cNvSpPr txBox="1"/>
          <p:nvPr/>
        </p:nvSpPr>
        <p:spPr>
          <a:xfrm>
            <a:off x="8077200" y="3644900"/>
            <a:ext cx="19050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109   589   269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06" name="文本框 36905"/>
          <p:cNvSpPr txBox="1"/>
          <p:nvPr/>
        </p:nvSpPr>
        <p:spPr>
          <a:xfrm>
            <a:off x="1981200" y="4102100"/>
            <a:ext cx="17526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第二趟分配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07" name="文本框 36906"/>
          <p:cNvSpPr txBox="1"/>
          <p:nvPr/>
        </p:nvSpPr>
        <p:spPr>
          <a:xfrm>
            <a:off x="3810000" y="4102100"/>
            <a:ext cx="63246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0       1       2        3        4        5        6       7       8       9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36908" name="组合 36907"/>
          <p:cNvGrpSpPr/>
          <p:nvPr/>
        </p:nvGrpSpPr>
        <p:grpSpPr>
          <a:xfrm>
            <a:off x="5486400" y="4483100"/>
            <a:ext cx="685800" cy="568325"/>
            <a:chOff x="0" y="0"/>
            <a:chExt cx="432" cy="357"/>
          </a:xfrm>
        </p:grpSpPr>
        <p:sp>
          <p:nvSpPr>
            <p:cNvPr id="12" name="直接连接符 36908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909" name="文本框 36909"/>
            <p:cNvSpPr txBox="1"/>
            <p:nvPr/>
          </p:nvSpPr>
          <p:spPr>
            <a:xfrm>
              <a:off x="0" y="107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9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3</a:t>
              </a:r>
              <a:r>
                <a:rPr lang="en-US" altLang="zh-CN" sz="2000" b="1">
                  <a:latin typeface="Times New Roman" panose="02020603050405020304" pitchFamily="2" charset="0"/>
                </a:rPr>
                <a:t>0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911" name="组合 36910"/>
          <p:cNvGrpSpPr/>
          <p:nvPr/>
        </p:nvGrpSpPr>
        <p:grpSpPr>
          <a:xfrm>
            <a:off x="7391400" y="4483100"/>
            <a:ext cx="685800" cy="568325"/>
            <a:chOff x="0" y="0"/>
            <a:chExt cx="432" cy="357"/>
          </a:xfrm>
        </p:grpSpPr>
        <p:sp>
          <p:nvSpPr>
            <p:cNvPr id="13" name="直接连接符 36911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912" name="文本框 36912"/>
            <p:cNvSpPr txBox="1"/>
            <p:nvPr/>
          </p:nvSpPr>
          <p:spPr>
            <a:xfrm>
              <a:off x="0" y="107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0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6</a:t>
              </a:r>
              <a:r>
                <a:rPr lang="en-US" altLang="zh-CN" sz="2000" b="1">
                  <a:latin typeface="Times New Roman" panose="02020603050405020304" pitchFamily="2" charset="0"/>
                </a:rPr>
                <a:t>3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914" name="组合 36913"/>
          <p:cNvGrpSpPr/>
          <p:nvPr/>
        </p:nvGrpSpPr>
        <p:grpSpPr>
          <a:xfrm>
            <a:off x="8534400" y="4483100"/>
            <a:ext cx="685800" cy="568325"/>
            <a:chOff x="0" y="0"/>
            <a:chExt cx="432" cy="357"/>
          </a:xfrm>
        </p:grpSpPr>
        <p:sp>
          <p:nvSpPr>
            <p:cNvPr id="14" name="直接连接符 36914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915" name="文本框 36915"/>
            <p:cNvSpPr txBox="1"/>
            <p:nvPr/>
          </p:nvSpPr>
          <p:spPr>
            <a:xfrm>
              <a:off x="0" y="107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0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8</a:t>
              </a:r>
              <a:r>
                <a:rPr lang="en-US" altLang="zh-CN" sz="2000" b="1">
                  <a:latin typeface="Times New Roman" panose="02020603050405020304" pitchFamily="2" charset="0"/>
                </a:rPr>
                <a:t>3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917" name="组合 36916"/>
          <p:cNvGrpSpPr/>
          <p:nvPr/>
        </p:nvGrpSpPr>
        <p:grpSpPr>
          <a:xfrm>
            <a:off x="8534400" y="5060950"/>
            <a:ext cx="685800" cy="568316"/>
            <a:chOff x="0" y="0"/>
            <a:chExt cx="432" cy="359"/>
          </a:xfrm>
        </p:grpSpPr>
        <p:sp>
          <p:nvSpPr>
            <p:cNvPr id="15" name="直接连接符 36917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918" name="文本框 36918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1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8</a:t>
              </a:r>
              <a:r>
                <a:rPr lang="en-US" altLang="zh-CN" sz="2000" b="1">
                  <a:latin typeface="Times New Roman" panose="02020603050405020304" pitchFamily="2" charset="0"/>
                </a:rPr>
                <a:t>4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920" name="组合 36919"/>
          <p:cNvGrpSpPr/>
          <p:nvPr/>
        </p:nvGrpSpPr>
        <p:grpSpPr>
          <a:xfrm>
            <a:off x="3716338" y="4483100"/>
            <a:ext cx="685800" cy="568325"/>
            <a:chOff x="0" y="0"/>
            <a:chExt cx="432" cy="357"/>
          </a:xfrm>
        </p:grpSpPr>
        <p:sp>
          <p:nvSpPr>
            <p:cNvPr id="16" name="直接连接符 36920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921" name="文本框 36921"/>
            <p:cNvSpPr txBox="1"/>
            <p:nvPr/>
          </p:nvSpPr>
          <p:spPr>
            <a:xfrm>
              <a:off x="0" y="107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5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0</a:t>
              </a:r>
              <a:r>
                <a:rPr lang="en-US" altLang="zh-CN" sz="2000" b="1">
                  <a:latin typeface="Times New Roman" panose="02020603050405020304" pitchFamily="2" charset="0"/>
                </a:rPr>
                <a:t>5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923" name="组合 36922"/>
          <p:cNvGrpSpPr/>
          <p:nvPr/>
        </p:nvGrpSpPr>
        <p:grpSpPr>
          <a:xfrm>
            <a:off x="7983538" y="4483100"/>
            <a:ext cx="685800" cy="568325"/>
            <a:chOff x="0" y="0"/>
            <a:chExt cx="432" cy="357"/>
          </a:xfrm>
        </p:grpSpPr>
        <p:sp>
          <p:nvSpPr>
            <p:cNvPr id="17" name="直接连接符 36923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924" name="文本框 36924"/>
            <p:cNvSpPr txBox="1"/>
            <p:nvPr/>
          </p:nvSpPr>
          <p:spPr>
            <a:xfrm>
              <a:off x="0" y="107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2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7</a:t>
              </a:r>
              <a:r>
                <a:rPr lang="en-US" altLang="zh-CN" sz="2000" b="1">
                  <a:latin typeface="Times New Roman" panose="02020603050405020304" pitchFamily="2" charset="0"/>
                </a:rPr>
                <a:t>8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926" name="组合 36925"/>
          <p:cNvGrpSpPr/>
          <p:nvPr/>
        </p:nvGrpSpPr>
        <p:grpSpPr>
          <a:xfrm>
            <a:off x="3716338" y="5060950"/>
            <a:ext cx="685800" cy="568316"/>
            <a:chOff x="0" y="0"/>
            <a:chExt cx="432" cy="359"/>
          </a:xfrm>
        </p:grpSpPr>
        <p:sp>
          <p:nvSpPr>
            <p:cNvPr id="18" name="直接连接符 36926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927" name="文本框 36927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0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0</a:t>
              </a:r>
              <a:r>
                <a:rPr lang="en-US" altLang="zh-CN" sz="2000" b="1">
                  <a:latin typeface="Times New Roman" panose="02020603050405020304" pitchFamily="2" charset="0"/>
                </a:rPr>
                <a:t>8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929" name="组合 36928"/>
          <p:cNvGrpSpPr/>
          <p:nvPr/>
        </p:nvGrpSpPr>
        <p:grpSpPr>
          <a:xfrm>
            <a:off x="3716338" y="5594350"/>
            <a:ext cx="685800" cy="568316"/>
            <a:chOff x="0" y="0"/>
            <a:chExt cx="432" cy="359"/>
          </a:xfrm>
        </p:grpSpPr>
        <p:sp>
          <p:nvSpPr>
            <p:cNvPr id="19" name="直接连接符 36929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930" name="文本框 36930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1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0</a:t>
              </a:r>
              <a:r>
                <a:rPr lang="en-US" altLang="zh-CN" sz="2000" b="1">
                  <a:latin typeface="Times New Roman" panose="02020603050405020304" pitchFamily="2" charset="0"/>
                </a:rPr>
                <a:t>9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932" name="组合 36931"/>
          <p:cNvGrpSpPr/>
          <p:nvPr/>
        </p:nvGrpSpPr>
        <p:grpSpPr>
          <a:xfrm>
            <a:off x="8534400" y="5594350"/>
            <a:ext cx="685800" cy="568316"/>
            <a:chOff x="0" y="0"/>
            <a:chExt cx="432" cy="359"/>
          </a:xfrm>
        </p:grpSpPr>
        <p:sp>
          <p:nvSpPr>
            <p:cNvPr id="20" name="直接连接符 36932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933" name="文本框 36933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5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8</a:t>
              </a:r>
              <a:r>
                <a:rPr lang="en-US" altLang="zh-CN" sz="2000" b="1">
                  <a:latin typeface="Times New Roman" panose="02020603050405020304" pitchFamily="2" charset="0"/>
                </a:rPr>
                <a:t>9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6935" name="组合 36934"/>
          <p:cNvGrpSpPr/>
          <p:nvPr/>
        </p:nvGrpSpPr>
        <p:grpSpPr>
          <a:xfrm>
            <a:off x="7391400" y="5060950"/>
            <a:ext cx="685800" cy="568316"/>
            <a:chOff x="0" y="0"/>
            <a:chExt cx="432" cy="359"/>
          </a:xfrm>
        </p:grpSpPr>
        <p:sp>
          <p:nvSpPr>
            <p:cNvPr id="21" name="直接连接符 36935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6936" name="文本框 36936"/>
            <p:cNvSpPr txBox="1"/>
            <p:nvPr/>
          </p:nvSpPr>
          <p:spPr>
            <a:xfrm>
              <a:off x="0" y="107"/>
              <a:ext cx="4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2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6</a:t>
              </a:r>
              <a:r>
                <a:rPr lang="en-US" altLang="zh-CN" sz="2000" b="1">
                  <a:latin typeface="Times New Roman" panose="02020603050405020304" pitchFamily="2" charset="0"/>
                </a:rPr>
                <a:t>9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sp>
        <p:nvSpPr>
          <p:cNvPr id="36938" name="文本框 36937"/>
          <p:cNvSpPr txBox="1"/>
          <p:nvPr/>
        </p:nvSpPr>
        <p:spPr>
          <a:xfrm>
            <a:off x="1981200" y="6235700"/>
            <a:ext cx="16764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第二趟收集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39" name="文本框 36938"/>
          <p:cNvSpPr txBox="1"/>
          <p:nvPr/>
        </p:nvSpPr>
        <p:spPr>
          <a:xfrm>
            <a:off x="3581400" y="6235700"/>
            <a:ext cx="19812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505    008    109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40" name="文本框 36939"/>
          <p:cNvSpPr txBox="1"/>
          <p:nvPr/>
        </p:nvSpPr>
        <p:spPr>
          <a:xfrm>
            <a:off x="5562600" y="6235700"/>
            <a:ext cx="6864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930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41" name="文本框 36940"/>
          <p:cNvSpPr txBox="1"/>
          <p:nvPr/>
        </p:nvSpPr>
        <p:spPr>
          <a:xfrm>
            <a:off x="6248400" y="6235700"/>
            <a:ext cx="139001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063   269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42" name="文本框 36941"/>
          <p:cNvSpPr txBox="1"/>
          <p:nvPr/>
        </p:nvSpPr>
        <p:spPr>
          <a:xfrm>
            <a:off x="7467600" y="6235700"/>
            <a:ext cx="78613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278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6943" name="文本框 36942"/>
          <p:cNvSpPr txBox="1"/>
          <p:nvPr/>
        </p:nvSpPr>
        <p:spPr>
          <a:xfrm>
            <a:off x="8077200" y="6235700"/>
            <a:ext cx="19812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083   184   589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Radix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基数排序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68" grpId="0"/>
      <p:bldP spid="36899" grpId="0"/>
      <p:bldP spid="36900" grpId="0"/>
      <p:bldP spid="36901" grpId="0"/>
      <p:bldP spid="36902" grpId="0"/>
      <p:bldP spid="36903" grpId="0"/>
      <p:bldP spid="36904" grpId="0"/>
      <p:bldP spid="36905" grpId="0"/>
      <p:bldP spid="36906" grpId="0"/>
      <p:bldP spid="36907" grpId="0"/>
      <p:bldP spid="36938" grpId="0"/>
      <p:bldP spid="36939" grpId="0"/>
      <p:bldP spid="36940" grpId="0"/>
      <p:bldP spid="36941" grpId="0"/>
      <p:bldP spid="36942" grpId="0"/>
      <p:bldP spid="3694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7889" name="组合 37889"/>
          <p:cNvGrpSpPr/>
          <p:nvPr/>
        </p:nvGrpSpPr>
        <p:grpSpPr>
          <a:xfrm>
            <a:off x="2063750" y="1600200"/>
            <a:ext cx="8077200" cy="398463"/>
            <a:chOff x="0" y="0"/>
            <a:chExt cx="5088" cy="251"/>
          </a:xfrm>
        </p:grpSpPr>
        <p:sp>
          <p:nvSpPr>
            <p:cNvPr id="37890" name="文本框 37890"/>
            <p:cNvSpPr txBox="1"/>
            <p:nvPr/>
          </p:nvSpPr>
          <p:spPr>
            <a:xfrm>
              <a:off x="0" y="0"/>
              <a:ext cx="10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第二趟收集</a:t>
              </a:r>
              <a:endPara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7891" name="文本框 37891"/>
            <p:cNvSpPr txBox="1"/>
            <p:nvPr/>
          </p:nvSpPr>
          <p:spPr>
            <a:xfrm>
              <a:off x="1008" y="0"/>
              <a:ext cx="124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505    008    109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7892" name="文本框 37892"/>
            <p:cNvSpPr txBox="1"/>
            <p:nvPr/>
          </p:nvSpPr>
          <p:spPr>
            <a:xfrm>
              <a:off x="2256" y="0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930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7893" name="文本框 37893"/>
            <p:cNvSpPr txBox="1"/>
            <p:nvPr/>
          </p:nvSpPr>
          <p:spPr>
            <a:xfrm>
              <a:off x="2688" y="0"/>
              <a:ext cx="91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063   269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7894" name="文本框 37894"/>
            <p:cNvSpPr txBox="1"/>
            <p:nvPr/>
          </p:nvSpPr>
          <p:spPr>
            <a:xfrm>
              <a:off x="3456" y="0"/>
              <a:ext cx="124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278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37895" name="文本框 37895"/>
            <p:cNvSpPr txBox="1"/>
            <p:nvPr/>
          </p:nvSpPr>
          <p:spPr>
            <a:xfrm>
              <a:off x="3840" y="0"/>
              <a:ext cx="124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2" charset="0"/>
                </a:rPr>
                <a:t>083   184   589</a:t>
              </a:r>
              <a:endPara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</p:grpSp>
      <p:sp>
        <p:nvSpPr>
          <p:cNvPr id="37897" name="文本框 37896"/>
          <p:cNvSpPr txBox="1"/>
          <p:nvPr/>
        </p:nvSpPr>
        <p:spPr>
          <a:xfrm>
            <a:off x="2063750" y="2133600"/>
            <a:ext cx="22098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第三趟分配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7898" name="文本框 37897"/>
          <p:cNvSpPr txBox="1"/>
          <p:nvPr/>
        </p:nvSpPr>
        <p:spPr>
          <a:xfrm>
            <a:off x="3892550" y="2133600"/>
            <a:ext cx="63246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0       1       2        3        4        5        6       7       8       9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37899" name="组合 37898"/>
          <p:cNvGrpSpPr/>
          <p:nvPr/>
        </p:nvGrpSpPr>
        <p:grpSpPr>
          <a:xfrm>
            <a:off x="6864350" y="2590800"/>
            <a:ext cx="685800" cy="568326"/>
            <a:chOff x="0" y="0"/>
            <a:chExt cx="432" cy="358"/>
          </a:xfrm>
        </p:grpSpPr>
        <p:sp>
          <p:nvSpPr>
            <p:cNvPr id="2" name="直接连接符 37899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7900" name="文本框 37900"/>
            <p:cNvSpPr txBox="1"/>
            <p:nvPr/>
          </p:nvSpPr>
          <p:spPr>
            <a:xfrm>
              <a:off x="0" y="107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5</a:t>
              </a:r>
              <a:r>
                <a:rPr lang="en-US" altLang="zh-CN" sz="2000" b="1">
                  <a:latin typeface="Times New Roman" panose="02020603050405020304" pitchFamily="2" charset="0"/>
                </a:rPr>
                <a:t>05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02" name="组合 37901"/>
          <p:cNvGrpSpPr/>
          <p:nvPr/>
        </p:nvGrpSpPr>
        <p:grpSpPr>
          <a:xfrm>
            <a:off x="3800475" y="2590800"/>
            <a:ext cx="685800" cy="568326"/>
            <a:chOff x="0" y="0"/>
            <a:chExt cx="432" cy="358"/>
          </a:xfrm>
        </p:grpSpPr>
        <p:sp>
          <p:nvSpPr>
            <p:cNvPr id="3" name="直接连接符 37902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7903" name="文本框 37903"/>
            <p:cNvSpPr txBox="1"/>
            <p:nvPr/>
          </p:nvSpPr>
          <p:spPr>
            <a:xfrm>
              <a:off x="0" y="107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0</a:t>
              </a:r>
              <a:r>
                <a:rPr lang="en-US" altLang="zh-CN" sz="2000" b="1">
                  <a:latin typeface="Times New Roman" panose="02020603050405020304" pitchFamily="2" charset="0"/>
                </a:rPr>
                <a:t>08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05" name="组合 37904"/>
          <p:cNvGrpSpPr/>
          <p:nvPr/>
        </p:nvGrpSpPr>
        <p:grpSpPr>
          <a:xfrm>
            <a:off x="4368800" y="2590800"/>
            <a:ext cx="685800" cy="568326"/>
            <a:chOff x="0" y="0"/>
            <a:chExt cx="432" cy="358"/>
          </a:xfrm>
        </p:grpSpPr>
        <p:sp>
          <p:nvSpPr>
            <p:cNvPr id="4" name="直接连接符 37905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7906" name="文本框 37906"/>
            <p:cNvSpPr txBox="1"/>
            <p:nvPr/>
          </p:nvSpPr>
          <p:spPr>
            <a:xfrm>
              <a:off x="0" y="107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1</a:t>
              </a:r>
              <a:r>
                <a:rPr lang="en-US" altLang="zh-CN" sz="2000" b="1">
                  <a:latin typeface="Times New Roman" panose="02020603050405020304" pitchFamily="2" charset="0"/>
                </a:rPr>
                <a:t>09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08" name="组合 37907"/>
          <p:cNvGrpSpPr/>
          <p:nvPr/>
        </p:nvGrpSpPr>
        <p:grpSpPr>
          <a:xfrm>
            <a:off x="9210675" y="2590800"/>
            <a:ext cx="685800" cy="568326"/>
            <a:chOff x="0" y="0"/>
            <a:chExt cx="432" cy="358"/>
          </a:xfrm>
        </p:grpSpPr>
        <p:sp>
          <p:nvSpPr>
            <p:cNvPr id="5" name="直接连接符 37908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7909" name="文本框 37909"/>
            <p:cNvSpPr txBox="1"/>
            <p:nvPr/>
          </p:nvSpPr>
          <p:spPr>
            <a:xfrm>
              <a:off x="0" y="107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9</a:t>
              </a:r>
              <a:r>
                <a:rPr lang="en-US" altLang="zh-CN" sz="2000" b="1">
                  <a:latin typeface="Times New Roman" panose="02020603050405020304" pitchFamily="2" charset="0"/>
                </a:rPr>
                <a:t>30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11" name="组合 37910"/>
          <p:cNvGrpSpPr/>
          <p:nvPr/>
        </p:nvGrpSpPr>
        <p:grpSpPr>
          <a:xfrm>
            <a:off x="3800475" y="3167063"/>
            <a:ext cx="685800" cy="568324"/>
            <a:chOff x="0" y="0"/>
            <a:chExt cx="432" cy="358"/>
          </a:xfrm>
        </p:grpSpPr>
        <p:sp>
          <p:nvSpPr>
            <p:cNvPr id="6" name="直接连接符 37911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7912" name="文本框 37912"/>
            <p:cNvSpPr txBox="1"/>
            <p:nvPr/>
          </p:nvSpPr>
          <p:spPr>
            <a:xfrm>
              <a:off x="0" y="107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0</a:t>
              </a:r>
              <a:r>
                <a:rPr lang="en-US" altLang="zh-CN" sz="2000" b="1">
                  <a:latin typeface="Times New Roman" panose="02020603050405020304" pitchFamily="2" charset="0"/>
                </a:rPr>
                <a:t>63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14" name="组合 37913"/>
          <p:cNvGrpSpPr/>
          <p:nvPr/>
        </p:nvGrpSpPr>
        <p:grpSpPr>
          <a:xfrm>
            <a:off x="4959350" y="2590800"/>
            <a:ext cx="685800" cy="568326"/>
            <a:chOff x="0" y="0"/>
            <a:chExt cx="432" cy="358"/>
          </a:xfrm>
        </p:grpSpPr>
        <p:sp>
          <p:nvSpPr>
            <p:cNvPr id="7" name="直接连接符 37914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7915" name="文本框 37915"/>
            <p:cNvSpPr txBox="1"/>
            <p:nvPr/>
          </p:nvSpPr>
          <p:spPr>
            <a:xfrm>
              <a:off x="0" y="107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2</a:t>
              </a:r>
              <a:r>
                <a:rPr lang="en-US" altLang="zh-CN" sz="2000" b="1">
                  <a:latin typeface="Times New Roman" panose="02020603050405020304" pitchFamily="2" charset="0"/>
                </a:rPr>
                <a:t>69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17" name="组合 37916"/>
          <p:cNvGrpSpPr/>
          <p:nvPr/>
        </p:nvGrpSpPr>
        <p:grpSpPr>
          <a:xfrm>
            <a:off x="4959350" y="3167063"/>
            <a:ext cx="685800" cy="568324"/>
            <a:chOff x="0" y="0"/>
            <a:chExt cx="432" cy="358"/>
          </a:xfrm>
        </p:grpSpPr>
        <p:sp>
          <p:nvSpPr>
            <p:cNvPr id="8" name="直接连接符 37917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7918" name="文本框 37918"/>
            <p:cNvSpPr txBox="1"/>
            <p:nvPr/>
          </p:nvSpPr>
          <p:spPr>
            <a:xfrm>
              <a:off x="0" y="107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2</a:t>
              </a:r>
              <a:r>
                <a:rPr lang="en-US" altLang="zh-CN" sz="2000" b="1">
                  <a:latin typeface="Times New Roman" panose="02020603050405020304" pitchFamily="2" charset="0"/>
                </a:rPr>
                <a:t>78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20" name="组合 37919"/>
          <p:cNvGrpSpPr/>
          <p:nvPr/>
        </p:nvGrpSpPr>
        <p:grpSpPr>
          <a:xfrm>
            <a:off x="3800475" y="3700463"/>
            <a:ext cx="685800" cy="568324"/>
            <a:chOff x="0" y="0"/>
            <a:chExt cx="432" cy="358"/>
          </a:xfrm>
        </p:grpSpPr>
        <p:sp>
          <p:nvSpPr>
            <p:cNvPr id="9" name="直接连接符 37920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7921" name="文本框 37921"/>
            <p:cNvSpPr txBox="1"/>
            <p:nvPr/>
          </p:nvSpPr>
          <p:spPr>
            <a:xfrm>
              <a:off x="0" y="107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0</a:t>
              </a:r>
              <a:r>
                <a:rPr lang="en-US" altLang="zh-CN" sz="2000" b="1">
                  <a:latin typeface="Times New Roman" panose="02020603050405020304" pitchFamily="2" charset="0"/>
                </a:rPr>
                <a:t>83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23" name="组合 37922"/>
          <p:cNvGrpSpPr/>
          <p:nvPr/>
        </p:nvGrpSpPr>
        <p:grpSpPr>
          <a:xfrm>
            <a:off x="4368800" y="3167063"/>
            <a:ext cx="685800" cy="568324"/>
            <a:chOff x="0" y="0"/>
            <a:chExt cx="432" cy="358"/>
          </a:xfrm>
        </p:grpSpPr>
        <p:sp>
          <p:nvSpPr>
            <p:cNvPr id="10" name="直接连接符 37923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7924" name="文本框 37924"/>
            <p:cNvSpPr txBox="1"/>
            <p:nvPr/>
          </p:nvSpPr>
          <p:spPr>
            <a:xfrm>
              <a:off x="0" y="107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1</a:t>
              </a:r>
              <a:r>
                <a:rPr lang="en-US" altLang="zh-CN" sz="2000" b="1">
                  <a:latin typeface="Times New Roman" panose="02020603050405020304" pitchFamily="2" charset="0"/>
                </a:rPr>
                <a:t>84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37926" name="组合 37925"/>
          <p:cNvGrpSpPr/>
          <p:nvPr/>
        </p:nvGrpSpPr>
        <p:grpSpPr>
          <a:xfrm>
            <a:off x="6864350" y="3167063"/>
            <a:ext cx="685800" cy="568324"/>
            <a:chOff x="0" y="0"/>
            <a:chExt cx="432" cy="358"/>
          </a:xfrm>
        </p:grpSpPr>
        <p:sp>
          <p:nvSpPr>
            <p:cNvPr id="11" name="直接连接符 37926"/>
            <p:cNvSpPr/>
            <p:nvPr/>
          </p:nvSpPr>
          <p:spPr>
            <a:xfrm>
              <a:off x="155" y="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37927" name="文本框 37927"/>
            <p:cNvSpPr txBox="1"/>
            <p:nvPr/>
          </p:nvSpPr>
          <p:spPr>
            <a:xfrm>
              <a:off x="0" y="107"/>
              <a:ext cx="4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</a:rPr>
                <a:t>5</a:t>
              </a:r>
              <a:r>
                <a:rPr lang="en-US" altLang="zh-CN" sz="2000" b="1">
                  <a:latin typeface="Times New Roman" panose="02020603050405020304" pitchFamily="2" charset="0"/>
                </a:rPr>
                <a:t>89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</p:grpSp>
      <p:sp>
        <p:nvSpPr>
          <p:cNvPr id="37929" name="文本框 37928"/>
          <p:cNvSpPr txBox="1"/>
          <p:nvPr/>
        </p:nvSpPr>
        <p:spPr>
          <a:xfrm>
            <a:off x="2063750" y="4495800"/>
            <a:ext cx="20574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2" charset="0"/>
              </a:rPr>
              <a:t>第三趟收集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7930" name="文本框 37929"/>
          <p:cNvSpPr txBox="1"/>
          <p:nvPr/>
        </p:nvSpPr>
        <p:spPr>
          <a:xfrm>
            <a:off x="3663950" y="4495800"/>
            <a:ext cx="25908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008    063    083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7931" name="文本框 37930"/>
          <p:cNvSpPr txBox="1"/>
          <p:nvPr/>
        </p:nvSpPr>
        <p:spPr>
          <a:xfrm>
            <a:off x="5645150" y="4495800"/>
            <a:ext cx="25908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109    184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7932" name="文本框 37931"/>
          <p:cNvSpPr txBox="1"/>
          <p:nvPr/>
        </p:nvSpPr>
        <p:spPr>
          <a:xfrm>
            <a:off x="6940550" y="4495800"/>
            <a:ext cx="25908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269   278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7933" name="文本框 37932"/>
          <p:cNvSpPr txBox="1"/>
          <p:nvPr/>
        </p:nvSpPr>
        <p:spPr>
          <a:xfrm>
            <a:off x="8159750" y="4495800"/>
            <a:ext cx="12966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505   589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sp>
        <p:nvSpPr>
          <p:cNvPr id="37934" name="文本框 37933"/>
          <p:cNvSpPr txBox="1"/>
          <p:nvPr/>
        </p:nvSpPr>
        <p:spPr>
          <a:xfrm>
            <a:off x="9378950" y="4495800"/>
            <a:ext cx="6858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2" charset="0"/>
              </a:rPr>
              <a:t>930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Radix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基数排序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7" grpId="0"/>
      <p:bldP spid="37898" grpId="0"/>
      <p:bldP spid="37929" grpId="0"/>
      <p:bldP spid="37930" grpId="0"/>
      <p:bldP spid="37931" grpId="0"/>
      <p:bldP spid="37932" grpId="0"/>
      <p:bldP spid="37933" grpId="0"/>
      <p:bldP spid="3793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Radix 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基数排序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3799" name="文本框 33798"/>
          <p:cNvSpPr txBox="1"/>
          <p:nvPr/>
        </p:nvSpPr>
        <p:spPr>
          <a:xfrm>
            <a:off x="1833245" y="1337310"/>
            <a:ext cx="616458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基数排序的特点：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稳  定  性：稳定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时间复杂度：O(kn)(k表示整形的最高位)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空间复杂度：O(10n) 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排序算法的比较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9" name="文本框 39939"/>
          <p:cNvSpPr txBox="1"/>
          <p:nvPr/>
        </p:nvSpPr>
        <p:spPr>
          <a:xfrm>
            <a:off x="1776413" y="1917700"/>
            <a:ext cx="87645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endParaRPr lang="en-US" altLang="en-US">
              <a:latin typeface="Times New Roman" panose="02020603050405020304" pitchFamily="2" charset="0"/>
            </a:endParaRPr>
          </a:p>
        </p:txBody>
      </p:sp>
      <p:sp>
        <p:nvSpPr>
          <p:cNvPr id="39940" name="文本框 39940"/>
          <p:cNvSpPr txBox="1"/>
          <p:nvPr/>
        </p:nvSpPr>
        <p:spPr>
          <a:xfrm>
            <a:off x="2112963" y="1870075"/>
            <a:ext cx="62880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endParaRPr lang="en-US" altLang="en-US">
              <a:latin typeface="Times New Roman" panose="02020603050405020304" pitchFamily="2" charset="0"/>
            </a:endParaRPr>
          </a:p>
        </p:txBody>
      </p:sp>
      <p:graphicFrame>
        <p:nvGraphicFramePr>
          <p:cNvPr id="39942" name="表格 39941"/>
          <p:cNvGraphicFramePr/>
          <p:nvPr>
            <p:custDataLst>
              <p:tags r:id="rId1"/>
            </p:custDataLst>
          </p:nvPr>
        </p:nvGraphicFramePr>
        <p:xfrm>
          <a:off x="1720850" y="1348740"/>
          <a:ext cx="9064625" cy="4822825"/>
        </p:xfrm>
        <a:graphic>
          <a:graphicData uri="http://schemas.openxmlformats.org/drawingml/2006/table">
            <a:tbl>
              <a:tblPr/>
              <a:tblGrid>
                <a:gridCol w="1292860"/>
                <a:gridCol w="1296035"/>
                <a:gridCol w="1292860"/>
                <a:gridCol w="1294130"/>
                <a:gridCol w="1294765"/>
                <a:gridCol w="1293495"/>
                <a:gridCol w="1300480"/>
              </a:tblGrid>
              <a:tr h="53467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排序方法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最好时间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平均时间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最坏时间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辅助存储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稳定性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备注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53721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选择排序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O(n^2)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O(n^2)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O(n^2)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  O(1)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不稳定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3594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插入排序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O(n^2)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O(n^2)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  O(1)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稳定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3594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冒泡排序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O(n^2)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O(n^2)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  O(1)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稳定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3530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希尔排序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O(n^1.3)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O(nlogn)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O(n^2)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  O(1)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不稳定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3467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快速排序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O(nlogn)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O(nlogn)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O(n^2)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  O(logn)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不稳定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3467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堆排序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O(nlogn)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O(nlogn)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O(nlogn)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  O(1)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不稳定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3784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归并排序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O(nlogn)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O(nlogn)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O(nlogn)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  O(n)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稳定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365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基数排序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O(kn)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O(kn)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O(kn)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   O(n)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稳定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  <a:defRPr sz="2400" b="0" i="0" u="none" kern="1200" baseline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lvl="1" indent="-285750">
                        <a:buSzPct val="60000"/>
                        <a:defRPr sz="2000" kern="1200">
                          <a:solidFill>
                            <a:schemeClr val="tx2"/>
                          </a:solidFill>
                        </a:defRPr>
                      </a:lvl2pPr>
                      <a:lvl3pPr marL="1143000" lvl="2" indent="-228600">
                        <a:buClr>
                          <a:schemeClr val="folHlink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folHlink"/>
                        </a:buClr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vert="horz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排序比较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排序比较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39545" y="1960880"/>
            <a:ext cx="93129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从平均情况看：堆排序、归并排序、快速排序胜过希尔排序。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从最好情况看：冒泡排序和直接插入排序更胜一筹。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从最差情况看：堆排序和归并排序强过快速排序。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2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34135" y="1767840"/>
            <a:ext cx="952436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2" charset="0"/>
                <a:sym typeface="+mn-ea"/>
              </a:rPr>
              <a:t>        虽然直接插入排序和冒泡排序速度比较慢，但是当初始序列整体或局部有序是，这两种算法的效率比较高。当初始序列整体或局部有序时，快速排序算法效率会下降。当排序序列较小且不要求稳定性是，直接排序效率较好；要求稳定性时，冒泡排序法效率较好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sort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排序比较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16910" y="2105660"/>
            <a:ext cx="5758180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600">
                <a:solidFill>
                  <a:schemeClr val="bg1"/>
                </a:solidFill>
              </a:rPr>
              <a:t>over</a:t>
            </a:r>
            <a:endParaRPr lang="en-US" altLang="zh-CN" sz="16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8129280f-7018-4859-b918-6a611360a8ad}"/>
  <p:tag name="TABLE_ENDDRAG_ORIGIN_RECT" val="713*379"/>
  <p:tag name="TABLE_ENDDRAG_RECT" val="145*134*713*37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7285</Words>
  <Application>WPS 演示</Application>
  <PresentationFormat>宽屏</PresentationFormat>
  <Paragraphs>1414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4" baseType="lpstr">
      <vt:lpstr>Arial</vt:lpstr>
      <vt:lpstr>宋体</vt:lpstr>
      <vt:lpstr>Wingdings</vt:lpstr>
      <vt:lpstr>文鼎习字体</vt:lpstr>
      <vt:lpstr>Nexa Light</vt:lpstr>
      <vt:lpstr>Vrinda</vt:lpstr>
      <vt:lpstr>华康少女文字W5(P)</vt:lpstr>
      <vt:lpstr>方正清刻本悦宋简体</vt:lpstr>
      <vt:lpstr>Arial</vt:lpstr>
      <vt:lpstr>华康海报体W12(P)</vt:lpstr>
      <vt:lpstr>微软雅黑</vt:lpstr>
      <vt:lpstr>华文细黑</vt:lpstr>
      <vt:lpstr>Neris Thin</vt:lpstr>
      <vt:lpstr>hakuyoxingshu7000</vt:lpstr>
      <vt:lpstr>Calibri</vt:lpstr>
      <vt:lpstr>Arial Unicode MS</vt:lpstr>
      <vt:lpstr>Calibri Light</vt:lpstr>
      <vt:lpstr>Segoe Print</vt:lpstr>
      <vt:lpstr>Times New Roman</vt:lpstr>
      <vt:lpstr>黑体</vt:lpstr>
      <vt:lpstr>Gulim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冒泡排序</vt:lpstr>
      <vt:lpstr>PowerPoint 演示文稿</vt:lpstr>
      <vt:lpstr>PowerPoint 演示文稿</vt:lpstr>
      <vt:lpstr>快速排序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排序算法比较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50</cp:revision>
  <dcterms:created xsi:type="dcterms:W3CDTF">2017-11-17T09:39:00Z</dcterms:created>
  <dcterms:modified xsi:type="dcterms:W3CDTF">2020-12-04T06:49:49Z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